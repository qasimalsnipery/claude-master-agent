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90" r:id="rId3"/>
    <p:sldId id="262" r:id="rId4"/>
    <p:sldId id="263" r:id="rId5"/>
    <p:sldId id="264" r:id="rId6"/>
    <p:sldId id="269" r:id="rId7"/>
    <p:sldId id="306" r:id="rId8"/>
    <p:sldId id="266" r:id="rId9"/>
    <p:sldId id="309" r:id="rId10"/>
    <p:sldId id="308" r:id="rId11"/>
    <p:sldId id="270" r:id="rId12"/>
    <p:sldId id="272" r:id="rId13"/>
    <p:sldId id="307" r:id="rId14"/>
    <p:sldId id="275" r:id="rId15"/>
    <p:sldId id="276" r:id="rId16"/>
    <p:sldId id="277" r:id="rId17"/>
    <p:sldId id="279" r:id="rId18"/>
    <p:sldId id="280" r:id="rId19"/>
    <p:sldId id="281" r:id="rId20"/>
    <p:sldId id="314" r:id="rId21"/>
    <p:sldId id="317" r:id="rId22"/>
    <p:sldId id="318" r:id="rId23"/>
    <p:sldId id="319" r:id="rId24"/>
    <p:sldId id="320" r:id="rId25"/>
    <p:sldId id="321" r:id="rId26"/>
    <p:sldId id="322" r:id="rId27"/>
    <p:sldId id="323" r:id="rId28"/>
    <p:sldId id="324" r:id="rId29"/>
    <p:sldId id="325" r:id="rId30"/>
    <p:sldId id="326" r:id="rId31"/>
    <p:sldId id="327" r:id="rId32"/>
    <p:sldId id="329" r:id="rId33"/>
    <p:sldId id="32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821" y="3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2791187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2073677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3130984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2493737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3607501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4081231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159686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1363394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1370560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2166366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BED47-06EA-4CB9-ABED-418FCF355FEB}"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90A3A-A6F8-49A5-8853-428CB900F71E}" type="slidenum">
              <a:rPr lang="en-US" smtClean="0"/>
              <a:pPr/>
              <a:t>‹#›</a:t>
            </a:fld>
            <a:endParaRPr lang="en-US"/>
          </a:p>
        </p:txBody>
      </p:sp>
    </p:spTree>
    <p:extLst>
      <p:ext uri="{BB962C8B-B14F-4D97-AF65-F5344CB8AC3E}">
        <p14:creationId xmlns:p14="http://schemas.microsoft.com/office/powerpoint/2010/main" val="2638404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BED47-06EA-4CB9-ABED-418FCF355FEB}" type="datetimeFigureOut">
              <a:rPr lang="en-US" smtClean="0"/>
              <a:pPr/>
              <a:t>12/16/2024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090A3A-A6F8-49A5-8853-428CB900F71E}" type="slidenum">
              <a:rPr lang="en-US" smtClean="0"/>
              <a:pPr/>
              <a:t>‹#›</a:t>
            </a:fld>
            <a:endParaRPr lang="en-US"/>
          </a:p>
        </p:txBody>
      </p:sp>
    </p:spTree>
    <p:extLst>
      <p:ext uri="{BB962C8B-B14F-4D97-AF65-F5344CB8AC3E}">
        <p14:creationId xmlns:p14="http://schemas.microsoft.com/office/powerpoint/2010/main" val="3053239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www.google.com.iq/url?sa=i&amp;rct=j&amp;q=questions&amp;source=images&amp;cd=&amp;cad=rja&amp;docid=4QdkraWDAPgh0M&amp;tbnid=GH1F5Eu4_ZrquM:&amp;ved=0CAUQjRw&amp;url=http://businessnetworking.com/4-questions-start-new-year-right/&amp;ei=ZJzsUvylD4jMtQbP5YGoBA&amp;bvm=bv.60444564,d.bGQ&amp;psig=AFQjCNGD2yDIvJPD1TK0nB2HQa_oggf9xQ&amp;ust=1391324560421121"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5" name="Rectangle 4"/>
          <p:cNvSpPr/>
          <p:nvPr/>
        </p:nvSpPr>
        <p:spPr>
          <a:xfrm>
            <a:off x="-165386" y="145817"/>
            <a:ext cx="9195085" cy="3785652"/>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Non-communicable </a:t>
            </a:r>
            <a:r>
              <a:rPr lang="en-US" sz="6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diseases</a:t>
            </a:r>
          </a:p>
          <a:p>
            <a:pPr algn="ctr"/>
            <a:r>
              <a:rPr lang="en-US" sz="6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 </a:t>
            </a:r>
            <a:r>
              <a:rPr lang="en-US" sz="6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(NCDs</a:t>
            </a:r>
            <a:r>
              <a:rPr lang="en-US" sz="6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 and life style changes</a:t>
            </a:r>
            <a:endParaRPr lang="en-US" sz="6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endParaRPr>
          </a:p>
        </p:txBody>
      </p:sp>
      <p:sp>
        <p:nvSpPr>
          <p:cNvPr id="9" name="TextBox 8"/>
          <p:cNvSpPr txBox="1"/>
          <p:nvPr/>
        </p:nvSpPr>
        <p:spPr>
          <a:xfrm>
            <a:off x="304800" y="3931469"/>
            <a:ext cx="8780929" cy="2923877"/>
          </a:xfrm>
          <a:prstGeom prst="rect">
            <a:avLst/>
          </a:prstGeom>
          <a:noFill/>
        </p:spPr>
        <p:txBody>
          <a:bodyPr wrap="square" rtlCol="0">
            <a:spAutoFit/>
          </a:bodyPr>
          <a:lstStyle/>
          <a:p>
            <a:pPr algn="ctr" rtl="1"/>
            <a:r>
              <a:rPr lang="en-US" sz="3600" b="1" dirty="0" smtClean="0">
                <a:latin typeface="Times New Roman" panose="02020603050405020304" pitchFamily="18" charset="0"/>
                <a:cs typeface="Times New Roman" panose="02020603050405020304" pitchFamily="18" charset="0"/>
              </a:rPr>
              <a:t>Assistant professor </a:t>
            </a:r>
          </a:p>
          <a:p>
            <a:pPr algn="ctr" rtl="1"/>
            <a:r>
              <a:rPr lang="en-US" sz="3600" b="1" dirty="0" smtClean="0">
                <a:latin typeface="Times New Roman" panose="02020603050405020304" pitchFamily="18" charset="0"/>
                <a:cs typeface="Times New Roman" panose="02020603050405020304" pitchFamily="18" charset="0"/>
              </a:rPr>
              <a:t>Dr</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Abdulfattah</a:t>
            </a:r>
            <a:r>
              <a:rPr lang="en-US" sz="3600" b="1" dirty="0">
                <a:latin typeface="Times New Roman" panose="02020603050405020304" pitchFamily="18" charset="0"/>
                <a:cs typeface="Times New Roman" panose="02020603050405020304" pitchFamily="18" charset="0"/>
              </a:rPr>
              <a:t> </a:t>
            </a:r>
            <a:r>
              <a:rPr lang="en-US" sz="3600" b="1" dirty="0" smtClean="0">
                <a:latin typeface="Times New Roman" panose="02020603050405020304" pitchFamily="18" charset="0"/>
                <a:cs typeface="Times New Roman" panose="02020603050405020304" pitchFamily="18" charset="0"/>
              </a:rPr>
              <a:t>Hama Rahim </a:t>
            </a:r>
            <a:r>
              <a:rPr lang="en-US" sz="3600" b="1" dirty="0" err="1" smtClean="0">
                <a:latin typeface="Times New Roman" panose="02020603050405020304" pitchFamily="18" charset="0"/>
                <a:cs typeface="Times New Roman" panose="02020603050405020304" pitchFamily="18" charset="0"/>
              </a:rPr>
              <a:t>Hawramei</a:t>
            </a:r>
            <a:endParaRPr lang="en-US" sz="3600" b="1" dirty="0" smtClean="0">
              <a:latin typeface="Times New Roman" panose="02020603050405020304" pitchFamily="18" charset="0"/>
              <a:cs typeface="Times New Roman" panose="02020603050405020304" pitchFamily="18" charset="0"/>
            </a:endParaRPr>
          </a:p>
          <a:p>
            <a:pPr algn="ctr" rtl="1"/>
            <a:r>
              <a:rPr lang="en-US" sz="2800" dirty="0" err="1" smtClean="0">
                <a:latin typeface="Times New Roman" panose="02020603050405020304" pitchFamily="18" charset="0"/>
                <a:cs typeface="Times New Roman" panose="02020603050405020304" pitchFamily="18" charset="0"/>
              </a:rPr>
              <a:t>M.Sc</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-Community Medicine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F.I.B.M.S-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Community </a:t>
            </a:r>
            <a:r>
              <a:rPr lang="en-US" sz="2800" dirty="0" smtClean="0">
                <a:latin typeface="Times New Roman" panose="02020603050405020304" pitchFamily="18" charset="0"/>
                <a:cs typeface="Times New Roman" panose="02020603050405020304" pitchFamily="18" charset="0"/>
              </a:rPr>
              <a:t>Medicine</a:t>
            </a:r>
            <a:endParaRPr lang="en-US" sz="2800" dirty="0">
              <a:latin typeface="Times New Roman" panose="02020603050405020304" pitchFamily="18" charset="0"/>
              <a:cs typeface="Times New Roman" panose="02020603050405020304" pitchFamily="18" charset="0"/>
            </a:endParaRPr>
          </a:p>
          <a:p>
            <a:pPr algn="ctr" rtl="1"/>
            <a:r>
              <a:rPr lang="en-US" sz="2800" dirty="0" smtClean="0">
                <a:latin typeface="Times New Roman" panose="02020603050405020304" pitchFamily="18" charset="0"/>
                <a:cs typeface="Times New Roman" panose="02020603050405020304" pitchFamily="18" charset="0"/>
              </a:rPr>
              <a:t>College </a:t>
            </a:r>
            <a:r>
              <a:rPr lang="en-US" sz="2800" dirty="0">
                <a:latin typeface="Times New Roman" panose="02020603050405020304" pitchFamily="18" charset="0"/>
                <a:cs typeface="Times New Roman" panose="02020603050405020304" pitchFamily="18" charset="0"/>
              </a:rPr>
              <a:t>of </a:t>
            </a:r>
            <a:r>
              <a:rPr lang="en-US" sz="2800" dirty="0" smtClean="0">
                <a:latin typeface="Times New Roman" panose="02020603050405020304" pitchFamily="18" charset="0"/>
                <a:cs typeface="Times New Roman" panose="02020603050405020304" pitchFamily="18" charset="0"/>
              </a:rPr>
              <a:t>Medicine-University </a:t>
            </a:r>
            <a:r>
              <a:rPr lang="en-US" sz="2800" dirty="0">
                <a:latin typeface="Times New Roman" panose="02020603050405020304" pitchFamily="18" charset="0"/>
                <a:cs typeface="Times New Roman" panose="02020603050405020304" pitchFamily="18" charset="0"/>
              </a:rPr>
              <a:t>of </a:t>
            </a:r>
            <a:r>
              <a:rPr lang="en-US" sz="2800" dirty="0" err="1">
                <a:latin typeface="Times New Roman" panose="02020603050405020304" pitchFamily="18" charset="0"/>
                <a:cs typeface="Times New Roman" panose="02020603050405020304" pitchFamily="18" charset="0"/>
              </a:rPr>
              <a:t>Sulaimani</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833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451431" y="2895600"/>
            <a:ext cx="7696200" cy="2677656"/>
          </a:xfrm>
          <a:prstGeom prst="rect">
            <a:avLst/>
          </a:prstGeom>
        </p:spPr>
        <p:txBody>
          <a:bodyPr wrap="square">
            <a:spAutoFit/>
          </a:bodyPr>
          <a:lstStyle/>
          <a:p>
            <a:pPr marL="457200" lvl="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 to non communicable diseases.</a:t>
            </a:r>
          </a:p>
          <a:p>
            <a:pPr marL="457200" lvl="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Life styles and related to </a:t>
            </a:r>
            <a:r>
              <a:rPr lang="en-US" sz="2800" dirty="0" smtClean="0">
                <a:latin typeface="Times New Roman" panose="02020603050405020304" pitchFamily="18" charset="0"/>
                <a:cs typeface="Times New Roman" panose="02020603050405020304" pitchFamily="18" charset="0"/>
              </a:rPr>
              <a:t>health </a:t>
            </a:r>
          </a:p>
          <a:p>
            <a:pPr marL="457200" lvl="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Prevention </a:t>
            </a:r>
            <a:r>
              <a:rPr lang="en-US" sz="2800" dirty="0" smtClean="0">
                <a:latin typeface="Times New Roman" panose="02020603050405020304" pitchFamily="18" charset="0"/>
                <a:cs typeface="Times New Roman" panose="02020603050405020304" pitchFamily="18" charset="0"/>
              </a:rPr>
              <a:t>of NCD</a:t>
            </a:r>
          </a:p>
          <a:p>
            <a:pPr marL="457200" lvl="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Key </a:t>
            </a:r>
            <a:r>
              <a:rPr lang="en-US" sz="2800" dirty="0">
                <a:latin typeface="Times New Roman" panose="02020603050405020304" pitchFamily="18" charset="0"/>
                <a:cs typeface="Times New Roman" panose="02020603050405020304" pitchFamily="18" charset="0"/>
              </a:rPr>
              <a:t>Challenges </a:t>
            </a:r>
            <a:r>
              <a:rPr lang="en-US" sz="2800" dirty="0" smtClean="0">
                <a:latin typeface="Times New Roman" panose="02020603050405020304" pitchFamily="18" charset="0"/>
                <a:cs typeface="Times New Roman" panose="02020603050405020304" pitchFamily="18" charset="0"/>
              </a:rPr>
              <a:t>of Non-Communicable </a:t>
            </a:r>
            <a:r>
              <a:rPr lang="en-US" sz="2800" dirty="0">
                <a:latin typeface="Times New Roman" panose="02020603050405020304" pitchFamily="18" charset="0"/>
                <a:cs typeface="Times New Roman" panose="02020603050405020304" pitchFamily="18" charset="0"/>
              </a:rPr>
              <a:t>Diseases in </a:t>
            </a:r>
            <a:r>
              <a:rPr lang="en-US" sz="2800" dirty="0" smtClean="0">
                <a:latin typeface="Times New Roman" panose="02020603050405020304" pitchFamily="18" charset="0"/>
                <a:cs typeface="Times New Roman" panose="02020603050405020304" pitchFamily="18" charset="0"/>
              </a:rPr>
              <a:t>Iraq.</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Potential Solutions and Recommendations</a:t>
            </a:r>
            <a:r>
              <a:rPr lang="en-US" sz="2800" dirty="0" smtClean="0">
                <a:latin typeface="Times New Roman" panose="02020603050405020304" pitchFamily="18" charset="0"/>
                <a:cs typeface="Times New Roman" panose="02020603050405020304" pitchFamily="18" charset="0"/>
              </a:rPr>
              <a:t>:</a:t>
            </a:r>
          </a:p>
        </p:txBody>
      </p:sp>
      <p:sp>
        <p:nvSpPr>
          <p:cNvPr id="5" name="TextBox 4"/>
          <p:cNvSpPr txBox="1"/>
          <p:nvPr/>
        </p:nvSpPr>
        <p:spPr>
          <a:xfrm>
            <a:off x="1524000" y="14286"/>
            <a:ext cx="3425233" cy="1015663"/>
          </a:xfrm>
          <a:prstGeom prst="rect">
            <a:avLst/>
          </a:prstGeom>
          <a:noFill/>
        </p:spPr>
        <p:txBody>
          <a:bodyPr wrap="none" rtlCol="0">
            <a:spAutoFit/>
          </a:bodyPr>
          <a:lstStyle/>
          <a:p>
            <a:r>
              <a:rPr lang="en-US" sz="60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lang="en-US" sz="6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304800" y="1323963"/>
            <a:ext cx="8382000" cy="1200329"/>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the end of this Presentation, you will be able to understand and clarify:</a:t>
            </a:r>
            <a:endPar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ircle(in)">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533400" y="1062097"/>
            <a:ext cx="8458200" cy="4524315"/>
          </a:xfrm>
          <a:prstGeom prst="rect">
            <a:avLst/>
          </a:prstGeom>
        </p:spPr>
        <p:txBody>
          <a:bodyPr wrap="square">
            <a:spAutoFit/>
          </a:bodyPr>
          <a:lstStyle/>
          <a:p>
            <a:pPr marL="457200" indent="-457200" algn="just">
              <a:buClr>
                <a:srgbClr val="C00000"/>
              </a:buCl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They are </a:t>
            </a:r>
            <a:r>
              <a:rPr lang="en-US" sz="3200" b="1" dirty="0">
                <a:latin typeface="Times New Roman" panose="02020603050405020304" pitchFamily="18" charset="0"/>
                <a:cs typeface="Times New Roman" panose="02020603050405020304" pitchFamily="18" charset="0"/>
              </a:rPr>
              <a:t>not passed </a:t>
            </a:r>
            <a:r>
              <a:rPr lang="en-US" sz="3200" dirty="0">
                <a:latin typeface="Times New Roman" panose="02020603050405020304" pitchFamily="18" charset="0"/>
                <a:cs typeface="Times New Roman" panose="02020603050405020304" pitchFamily="18" charset="0"/>
              </a:rPr>
              <a:t>from person to </a:t>
            </a:r>
            <a:r>
              <a:rPr lang="en-US" sz="3200" dirty="0" smtClean="0">
                <a:latin typeface="Times New Roman" panose="02020603050405020304" pitchFamily="18" charset="0"/>
                <a:cs typeface="Times New Roman" panose="02020603050405020304" pitchFamily="18" charset="0"/>
              </a:rPr>
              <a:t>person.</a:t>
            </a:r>
          </a:p>
          <a:p>
            <a:pPr marL="457200" indent="-457200" algn="just">
              <a:buClr>
                <a:srgbClr val="C00000"/>
              </a:buClr>
              <a:buFont typeface="Wingdings" panose="05000000000000000000" pitchFamily="2" charset="2"/>
              <a:buChar char="v"/>
            </a:pPr>
            <a:endParaRPr lang="en-US" sz="3200" dirty="0">
              <a:latin typeface="Times New Roman" panose="02020603050405020304" pitchFamily="18" charset="0"/>
              <a:cs typeface="Times New Roman" panose="02020603050405020304" pitchFamily="18" charset="0"/>
            </a:endParaRPr>
          </a:p>
          <a:p>
            <a:pPr marL="457200" indent="-457200" algn="just">
              <a:buClr>
                <a:srgbClr val="C00000"/>
              </a:buCl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They are of </a:t>
            </a:r>
            <a:r>
              <a:rPr lang="en-US" sz="3200" b="1" dirty="0">
                <a:latin typeface="Times New Roman" panose="02020603050405020304" pitchFamily="18" charset="0"/>
                <a:cs typeface="Times New Roman" panose="02020603050405020304" pitchFamily="18" charset="0"/>
              </a:rPr>
              <a:t>long duration </a:t>
            </a:r>
            <a:r>
              <a:rPr lang="en-US" sz="3200" dirty="0">
                <a:latin typeface="Times New Roman" panose="02020603050405020304" pitchFamily="18" charset="0"/>
                <a:cs typeface="Times New Roman" panose="02020603050405020304" pitchFamily="18" charset="0"/>
              </a:rPr>
              <a:t>and generally </a:t>
            </a:r>
            <a:r>
              <a:rPr lang="en-US" sz="3200" b="1" dirty="0">
                <a:latin typeface="Times New Roman" panose="02020603050405020304" pitchFamily="18" charset="0"/>
                <a:cs typeface="Times New Roman" panose="02020603050405020304" pitchFamily="18" charset="0"/>
              </a:rPr>
              <a:t>slow progression. </a:t>
            </a:r>
            <a:endParaRPr lang="en-US" sz="3200" b="1" dirty="0" smtClean="0">
              <a:latin typeface="Times New Roman" panose="02020603050405020304" pitchFamily="18" charset="0"/>
              <a:cs typeface="Times New Roman" panose="02020603050405020304" pitchFamily="18" charset="0"/>
            </a:endParaRPr>
          </a:p>
          <a:p>
            <a:pPr marL="457200" indent="-457200" algn="just">
              <a:buClr>
                <a:srgbClr val="C00000"/>
              </a:buClr>
              <a:buFont typeface="Wingdings" panose="05000000000000000000" pitchFamily="2" charset="2"/>
              <a:buChar char="v"/>
            </a:pPr>
            <a:endParaRPr lang="en-US" sz="3200" dirty="0" smtClean="0">
              <a:latin typeface="Times New Roman" panose="02020603050405020304" pitchFamily="18" charset="0"/>
              <a:cs typeface="Times New Roman" panose="02020603050405020304" pitchFamily="18" charset="0"/>
            </a:endParaRPr>
          </a:p>
          <a:p>
            <a:pPr marL="457200" indent="-457200" algn="just">
              <a:buClr>
                <a:srgbClr val="C00000"/>
              </a:buCl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An </a:t>
            </a:r>
            <a:r>
              <a:rPr lang="en-US" sz="3200" dirty="0">
                <a:latin typeface="Times New Roman" panose="02020603050405020304" pitchFamily="18" charset="0"/>
                <a:cs typeface="Times New Roman" panose="02020603050405020304" pitchFamily="18" charset="0"/>
              </a:rPr>
              <a:t>impairment of bodily structure </a:t>
            </a:r>
            <a:r>
              <a:rPr lang="en-US" sz="3200" dirty="0" smtClean="0">
                <a:latin typeface="Times New Roman" panose="02020603050405020304" pitchFamily="18" charset="0"/>
                <a:cs typeface="Times New Roman" panose="02020603050405020304" pitchFamily="18" charset="0"/>
              </a:rPr>
              <a:t>that necessitates </a:t>
            </a:r>
            <a:r>
              <a:rPr lang="en-US" sz="3200" dirty="0">
                <a:latin typeface="Times New Roman" panose="02020603050405020304" pitchFamily="18" charset="0"/>
                <a:cs typeface="Times New Roman" panose="02020603050405020304" pitchFamily="18" charset="0"/>
              </a:rPr>
              <a:t>a modification of the patient's normal </a:t>
            </a:r>
            <a:r>
              <a:rPr lang="en-US" sz="3200" dirty="0" smtClean="0">
                <a:latin typeface="Times New Roman" panose="02020603050405020304" pitchFamily="18" charset="0"/>
                <a:cs typeface="Times New Roman" panose="02020603050405020304" pitchFamily="18" charset="0"/>
              </a:rPr>
              <a:t>life, and </a:t>
            </a:r>
            <a:r>
              <a:rPr lang="en-US" sz="3200" dirty="0">
                <a:latin typeface="Times New Roman" panose="02020603050405020304" pitchFamily="18" charset="0"/>
                <a:cs typeface="Times New Roman" panose="02020603050405020304" pitchFamily="18" charset="0"/>
              </a:rPr>
              <a:t>has persisted over an extended period of </a:t>
            </a:r>
            <a:r>
              <a:rPr lang="en-US" sz="3200" dirty="0" smtClean="0">
                <a:latin typeface="Times New Roman" panose="02020603050405020304" pitchFamily="18" charset="0"/>
                <a:cs typeface="Times New Roman" panose="02020603050405020304" pitchFamily="18" charset="0"/>
              </a:rPr>
              <a:t>time.</a:t>
            </a:r>
            <a:endParaRPr lang="en-US" sz="3200" dirty="0">
              <a:latin typeface="Times New Roman" panose="02020603050405020304" pitchFamily="18" charset="0"/>
              <a:cs typeface="Times New Roman" panose="02020603050405020304" pitchFamily="18" charset="0"/>
            </a:endParaRPr>
          </a:p>
        </p:txBody>
      </p:sp>
      <p:sp>
        <p:nvSpPr>
          <p:cNvPr id="5" name="Rectangle 4"/>
          <p:cNvSpPr/>
          <p:nvPr/>
        </p:nvSpPr>
        <p:spPr>
          <a:xfrm>
            <a:off x="533400" y="0"/>
            <a:ext cx="8458200" cy="923330"/>
          </a:xfrm>
          <a:prstGeom prst="rect">
            <a:avLst/>
          </a:prstGeom>
        </p:spPr>
        <p:txBody>
          <a:bodyPr wrap="square">
            <a:spAutoFit/>
          </a:bodyPr>
          <a:lstStyle/>
          <a:p>
            <a:pPr algn="ctr"/>
            <a:r>
              <a:rPr lang="en-US" sz="54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Definition</a:t>
            </a:r>
            <a:endPar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52400" y="76200"/>
            <a:ext cx="1237595" cy="45724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6" name="Rectangle 5"/>
          <p:cNvSpPr/>
          <p:nvPr/>
        </p:nvSpPr>
        <p:spPr>
          <a:xfrm>
            <a:off x="304800" y="794504"/>
            <a:ext cx="8382000" cy="5693866"/>
          </a:xfrm>
          <a:prstGeom prst="rect">
            <a:avLst/>
          </a:prstGeom>
        </p:spPr>
        <p:txBody>
          <a:bodyPr wrap="square">
            <a:spAutoFit/>
          </a:bodyPr>
          <a:lstStyle/>
          <a:p>
            <a:pPr algn="just"/>
            <a:endParaRPr lang="en-US" sz="4000" b="1"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71500" indent="-571500" algn="just">
              <a:buClr>
                <a:srgbClr val="C00000"/>
              </a:buCl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An </a:t>
            </a:r>
            <a:r>
              <a:rPr lang="en-US" sz="3600" dirty="0">
                <a:latin typeface="Times New Roman" panose="02020603050405020304" pitchFamily="18" charset="0"/>
                <a:cs typeface="Times New Roman" panose="02020603050405020304" pitchFamily="18" charset="0"/>
              </a:rPr>
              <a:t>acute illness usually consists of a simple </a:t>
            </a:r>
            <a:r>
              <a:rPr lang="en-US" sz="3600" dirty="0" smtClean="0">
                <a:latin typeface="Times New Roman" panose="02020603050405020304" pitchFamily="18" charset="0"/>
                <a:cs typeface="Times New Roman" panose="02020603050405020304" pitchFamily="18" charset="0"/>
              </a:rPr>
              <a:t>episode of </a:t>
            </a:r>
            <a:r>
              <a:rPr lang="en-US" sz="3600" dirty="0">
                <a:latin typeface="Times New Roman" panose="02020603050405020304" pitchFamily="18" charset="0"/>
                <a:cs typeface="Times New Roman" panose="02020603050405020304" pitchFamily="18" charset="0"/>
              </a:rPr>
              <a:t>fairly short duration from which the patient returns </a:t>
            </a:r>
            <a:r>
              <a:rPr lang="en-US" sz="3600" dirty="0" smtClean="0">
                <a:latin typeface="Times New Roman" panose="02020603050405020304" pitchFamily="18" charset="0"/>
                <a:cs typeface="Times New Roman" panose="02020603050405020304" pitchFamily="18" charset="0"/>
              </a:rPr>
              <a:t>to normal activity.</a:t>
            </a:r>
          </a:p>
          <a:p>
            <a:pPr marL="571500" indent="-571500" algn="just">
              <a:buClr>
                <a:srgbClr val="C00000"/>
              </a:buClr>
              <a:buFont typeface="Wingdings" panose="05000000000000000000" pitchFamily="2" charset="2"/>
              <a:buChar char="v"/>
            </a:pPr>
            <a:endParaRPr lang="en-US" sz="3600" dirty="0" smtClean="0">
              <a:latin typeface="Times New Roman" panose="02020603050405020304" pitchFamily="18" charset="0"/>
              <a:cs typeface="Times New Roman" panose="02020603050405020304" pitchFamily="18" charset="0"/>
            </a:endParaRPr>
          </a:p>
          <a:p>
            <a:pPr marL="571500" indent="-571500" algn="just">
              <a:buClr>
                <a:srgbClr val="C00000"/>
              </a:buCl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A </a:t>
            </a:r>
            <a:r>
              <a:rPr lang="en-US" sz="3600" dirty="0">
                <a:latin typeface="Times New Roman" panose="02020603050405020304" pitchFamily="18" charset="0"/>
                <a:cs typeface="Times New Roman" panose="02020603050405020304" pitchFamily="18" charset="0"/>
              </a:rPr>
              <a:t>chronic illness is one of </a:t>
            </a:r>
            <a:r>
              <a:rPr lang="en-US" sz="3600" dirty="0" smtClean="0">
                <a:latin typeface="Times New Roman" panose="02020603050405020304" pitchFamily="18" charset="0"/>
                <a:cs typeface="Times New Roman" panose="02020603050405020304" pitchFamily="18" charset="0"/>
              </a:rPr>
              <a:t>long duration </a:t>
            </a:r>
            <a:r>
              <a:rPr lang="en-US" sz="3600" dirty="0">
                <a:latin typeface="Times New Roman" panose="02020603050405020304" pitchFamily="18" charset="0"/>
                <a:cs typeface="Times New Roman" panose="02020603050405020304" pitchFamily="18" charset="0"/>
              </a:rPr>
              <a:t>in which the patient is </a:t>
            </a:r>
            <a:r>
              <a:rPr lang="en-US" sz="3600" dirty="0" smtClean="0">
                <a:latin typeface="Times New Roman" panose="02020603050405020304" pitchFamily="18" charset="0"/>
                <a:cs typeface="Times New Roman" panose="02020603050405020304" pitchFamily="18" charset="0"/>
              </a:rPr>
              <a:t>permanently incapacitated </a:t>
            </a:r>
            <a:r>
              <a:rPr lang="en-US" sz="3600" dirty="0">
                <a:latin typeface="Times New Roman" panose="02020603050405020304" pitchFamily="18" charset="0"/>
                <a:cs typeface="Times New Roman" panose="02020603050405020304" pitchFamily="18" charset="0"/>
              </a:rPr>
              <a:t>to a more or less marked degree. </a:t>
            </a:r>
            <a:endParaRPr lang="en-US" sz="3600" dirty="0" smtClean="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52400" y="76200"/>
            <a:ext cx="1237595" cy="457240"/>
          </a:xfrm>
          <a:prstGeom prst="rect">
            <a:avLst/>
          </a:prstGeom>
        </p:spPr>
      </p:pic>
      <p:sp>
        <p:nvSpPr>
          <p:cNvPr id="3" name="Rectangle 2"/>
          <p:cNvSpPr/>
          <p:nvPr/>
        </p:nvSpPr>
        <p:spPr>
          <a:xfrm>
            <a:off x="1524000" y="508538"/>
            <a:ext cx="6858000" cy="707886"/>
          </a:xfrm>
          <a:prstGeom prst="rect">
            <a:avLst/>
          </a:prstGeom>
        </p:spPr>
        <p:txBody>
          <a:bodyPr wrap="square">
            <a:spAutoFit/>
          </a:bodyPr>
          <a:lstStyle/>
          <a:p>
            <a:pPr lvl="0" algn="just"/>
            <a:r>
              <a:rPr lang="en-US" sz="4000" b="1" dirty="0">
                <a:solidFill>
                  <a:srgbClr val="1F497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Some authors maintain that :</a:t>
            </a:r>
          </a:p>
        </p:txBody>
      </p:sp>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228600" y="2496602"/>
            <a:ext cx="8856980" cy="3108543"/>
          </a:xfrm>
          <a:prstGeom prst="rect">
            <a:avLst/>
          </a:prstGeom>
        </p:spPr>
        <p:txBody>
          <a:bodyPr wrap="square">
            <a:spAutoFit/>
          </a:bodyPr>
          <a:lstStyle/>
          <a:p>
            <a:pPr algn="just"/>
            <a:endParaRPr lang="en-US" sz="2800" dirty="0">
              <a:latin typeface="Times New Roman" panose="02020603050405020304" pitchFamily="18" charset="0"/>
              <a:cs typeface="Times New Roman" panose="02020603050405020304" pitchFamily="18" charset="0"/>
            </a:endParaRPr>
          </a:p>
          <a:p>
            <a:pPr marL="457200" indent="-457200" algn="just">
              <a:buClr>
                <a:schemeClr val="accent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are permanent.</a:t>
            </a:r>
            <a:endParaRPr lang="en-US" sz="2800" dirty="0">
              <a:latin typeface="Times New Roman" panose="02020603050405020304" pitchFamily="18" charset="0"/>
              <a:cs typeface="Times New Roman" panose="02020603050405020304" pitchFamily="18" charset="0"/>
            </a:endParaRPr>
          </a:p>
          <a:p>
            <a:pPr marL="457200" indent="-457200" algn="just">
              <a:buClr>
                <a:schemeClr val="accent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leave </a:t>
            </a:r>
            <a:r>
              <a:rPr lang="en-US" sz="2800" dirty="0">
                <a:latin typeface="Times New Roman" panose="02020603050405020304" pitchFamily="18" charset="0"/>
                <a:cs typeface="Times New Roman" panose="02020603050405020304" pitchFamily="18" charset="0"/>
              </a:rPr>
              <a:t>residual </a:t>
            </a:r>
            <a:r>
              <a:rPr lang="en-US" sz="2800" dirty="0" smtClean="0">
                <a:latin typeface="Times New Roman" panose="02020603050405020304" pitchFamily="18" charset="0"/>
                <a:cs typeface="Times New Roman" panose="02020603050405020304" pitchFamily="18" charset="0"/>
              </a:rPr>
              <a:t>disability.</a:t>
            </a:r>
            <a:endParaRPr lang="en-US" sz="2800" dirty="0">
              <a:latin typeface="Times New Roman" panose="02020603050405020304" pitchFamily="18" charset="0"/>
              <a:cs typeface="Times New Roman" panose="02020603050405020304" pitchFamily="18" charset="0"/>
            </a:endParaRPr>
          </a:p>
          <a:p>
            <a:pPr marL="457200" indent="-457200" algn="just">
              <a:buClr>
                <a:schemeClr val="accent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are </a:t>
            </a:r>
            <a:r>
              <a:rPr lang="en-US" sz="2800" dirty="0">
                <a:latin typeface="Times New Roman" panose="02020603050405020304" pitchFamily="18" charset="0"/>
                <a:cs typeface="Times New Roman" panose="02020603050405020304" pitchFamily="18" charset="0"/>
              </a:rPr>
              <a:t>caused by non-reversible pathological </a:t>
            </a:r>
            <a:r>
              <a:rPr lang="en-US" sz="2800" dirty="0" smtClean="0">
                <a:latin typeface="Times New Roman" panose="02020603050405020304" pitchFamily="18" charset="0"/>
                <a:cs typeface="Times New Roman" panose="02020603050405020304" pitchFamily="18" charset="0"/>
              </a:rPr>
              <a:t>alteration.</a:t>
            </a:r>
            <a:endParaRPr lang="en-US" sz="2800" dirty="0">
              <a:latin typeface="Times New Roman" panose="02020603050405020304" pitchFamily="18" charset="0"/>
              <a:cs typeface="Times New Roman" panose="02020603050405020304" pitchFamily="18" charset="0"/>
            </a:endParaRPr>
          </a:p>
          <a:p>
            <a:pPr marL="457200" indent="-457200" algn="just">
              <a:buClr>
                <a:schemeClr val="accent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require </a:t>
            </a:r>
            <a:r>
              <a:rPr lang="en-US" sz="2800" dirty="0">
                <a:latin typeface="Times New Roman" panose="02020603050405020304" pitchFamily="18" charset="0"/>
                <a:cs typeface="Times New Roman" panose="02020603050405020304" pitchFamily="18" charset="0"/>
              </a:rPr>
              <a:t>special training of the patient for </a:t>
            </a:r>
            <a:r>
              <a:rPr lang="en-US" sz="2800" dirty="0" smtClean="0">
                <a:latin typeface="Times New Roman" panose="02020603050405020304" pitchFamily="18" charset="0"/>
                <a:cs typeface="Times New Roman" panose="02020603050405020304" pitchFamily="18" charset="0"/>
              </a:rPr>
              <a:t>rehabilitation.</a:t>
            </a:r>
            <a:endParaRPr lang="en-US" sz="2800" dirty="0">
              <a:latin typeface="Times New Roman" panose="02020603050405020304" pitchFamily="18" charset="0"/>
              <a:cs typeface="Times New Roman" panose="02020603050405020304" pitchFamily="18" charset="0"/>
            </a:endParaRPr>
          </a:p>
          <a:p>
            <a:pPr marL="457200" indent="-457200" algn="just">
              <a:buClr>
                <a:schemeClr val="accent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expected </a:t>
            </a:r>
            <a:r>
              <a:rPr lang="en-US" sz="2800" dirty="0">
                <a:latin typeface="Times New Roman" panose="02020603050405020304" pitchFamily="18" charset="0"/>
                <a:cs typeface="Times New Roman" panose="02020603050405020304" pitchFamily="18" charset="0"/>
              </a:rPr>
              <a:t>to require a long period of </a:t>
            </a:r>
            <a:r>
              <a:rPr lang="en-US" sz="2800" dirty="0" smtClean="0">
                <a:latin typeface="Times New Roman" panose="02020603050405020304" pitchFamily="18" charset="0"/>
                <a:cs typeface="Times New Roman" panose="02020603050405020304" pitchFamily="18" charset="0"/>
              </a:rPr>
              <a:t>supervision, observation </a:t>
            </a:r>
            <a:r>
              <a:rPr lang="en-US" sz="2800" dirty="0">
                <a:latin typeface="Times New Roman" panose="02020603050405020304" pitchFamily="18" charset="0"/>
                <a:cs typeface="Times New Roman" panose="02020603050405020304" pitchFamily="18" charset="0"/>
              </a:rPr>
              <a:t>or </a:t>
            </a:r>
            <a:r>
              <a:rPr lang="en-US" sz="2800" dirty="0" smtClean="0">
                <a:latin typeface="Times New Roman" panose="02020603050405020304" pitchFamily="18" charset="0"/>
                <a:cs typeface="Times New Roman" panose="02020603050405020304" pitchFamily="18" charset="0"/>
              </a:rPr>
              <a:t>care“.</a:t>
            </a:r>
            <a:endParaRPr lang="en-US" sz="2800" dirty="0">
              <a:latin typeface="Times New Roman" panose="02020603050405020304" pitchFamily="18" charset="0"/>
              <a:cs typeface="Times New Roman" panose="02020603050405020304" pitchFamily="18" charset="0"/>
            </a:endParaRPr>
          </a:p>
        </p:txBody>
      </p:sp>
      <p:sp>
        <p:nvSpPr>
          <p:cNvPr id="5" name="Rectangle 4"/>
          <p:cNvSpPr/>
          <p:nvPr/>
        </p:nvSpPr>
        <p:spPr>
          <a:xfrm>
            <a:off x="515620" y="685800"/>
            <a:ext cx="8569960" cy="1815882"/>
          </a:xfrm>
          <a:prstGeom prst="rect">
            <a:avLst/>
          </a:prstGeom>
        </p:spPr>
        <p:txBody>
          <a:bodyPr wrap="square">
            <a:spAutoFit/>
          </a:bodyPr>
          <a:lstStyle/>
          <a:p>
            <a:pPr lvl="0" algn="just"/>
            <a:r>
              <a:rPr lang="en-US" sz="2800" b="1"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Commission on Chronic Illness in USA has defined "chronic diseases" as "comprising all impairments or deviations from normal, which have one or more of the following characteristics :</a:t>
            </a: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5" name="Right Arrow 4"/>
          <p:cNvSpPr/>
          <p:nvPr/>
        </p:nvSpPr>
        <p:spPr>
          <a:xfrm>
            <a:off x="7086600" y="5943600"/>
            <a:ext cx="1066800" cy="341248"/>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 name="Rectangle 5"/>
          <p:cNvSpPr/>
          <p:nvPr/>
        </p:nvSpPr>
        <p:spPr>
          <a:xfrm>
            <a:off x="523240" y="1447932"/>
            <a:ext cx="8610600" cy="4031873"/>
          </a:xfrm>
          <a:prstGeom prst="rect">
            <a:avLst/>
          </a:prstGeom>
        </p:spPr>
        <p:txBody>
          <a:bodyPr wrap="square">
            <a:spAutoFit/>
          </a:bodyPr>
          <a:lstStyle/>
          <a:p>
            <a:pPr algn="just">
              <a:buFont typeface="Arial" panose="020B0604020202020204" pitchFamily="34" charset="0"/>
              <a:buChar char="•"/>
            </a:pPr>
            <a:r>
              <a:rPr lang="en-US" sz="3200" dirty="0" smtClean="0">
                <a:solidFill>
                  <a:srgbClr val="3C4245"/>
                </a:solidFill>
                <a:latin typeface="Times New Roman" panose="02020603050405020304" pitchFamily="18" charset="0"/>
                <a:cs typeface="Times New Roman" panose="02020603050405020304" pitchFamily="18" charset="0"/>
              </a:rPr>
              <a:t>Non communicable </a:t>
            </a:r>
            <a:r>
              <a:rPr lang="en-US" sz="3200" dirty="0">
                <a:solidFill>
                  <a:srgbClr val="3C4245"/>
                </a:solidFill>
                <a:latin typeface="Times New Roman" panose="02020603050405020304" pitchFamily="18" charset="0"/>
                <a:cs typeface="Times New Roman" panose="02020603050405020304" pitchFamily="18" charset="0"/>
              </a:rPr>
              <a:t>diseases (NCDs) kill 41 million people each year, equivalent to 74% of all deaths globally.</a:t>
            </a:r>
          </a:p>
          <a:p>
            <a:pPr algn="just">
              <a:buFont typeface="Arial" panose="020B0604020202020204" pitchFamily="34" charset="0"/>
              <a:buChar char="•"/>
            </a:pPr>
            <a:r>
              <a:rPr lang="en-US" sz="3200" dirty="0">
                <a:solidFill>
                  <a:srgbClr val="3C4245"/>
                </a:solidFill>
                <a:latin typeface="Times New Roman" panose="02020603050405020304" pitchFamily="18" charset="0"/>
                <a:cs typeface="Times New Roman" panose="02020603050405020304" pitchFamily="18" charset="0"/>
              </a:rPr>
              <a:t>Each year, 17 million people die from a NCD before age 70; 86% of these premature deaths occur in low- and middle-income countries.</a:t>
            </a:r>
          </a:p>
          <a:p>
            <a:pPr algn="just">
              <a:buFont typeface="Arial" panose="020B0604020202020204" pitchFamily="34" charset="0"/>
              <a:buChar char="•"/>
            </a:pPr>
            <a:r>
              <a:rPr lang="en-US" sz="3200" dirty="0">
                <a:solidFill>
                  <a:srgbClr val="3C4245"/>
                </a:solidFill>
                <a:latin typeface="Times New Roman" panose="02020603050405020304" pitchFamily="18" charset="0"/>
                <a:cs typeface="Times New Roman" panose="02020603050405020304" pitchFamily="18" charset="0"/>
              </a:rPr>
              <a:t>Of all NCD deaths, 77% are in low- and middle-income countries</a:t>
            </a:r>
            <a:r>
              <a:rPr lang="en-US" sz="3200" dirty="0" smtClean="0">
                <a:solidFill>
                  <a:srgbClr val="3C4245"/>
                </a:solidFill>
                <a:latin typeface="Times New Roman" panose="02020603050405020304" pitchFamily="18" charset="0"/>
                <a:cs typeface="Times New Roman" panose="02020603050405020304" pitchFamily="18" charset="0"/>
              </a:rPr>
              <a:t>.</a:t>
            </a:r>
            <a:endParaRPr lang="en-US" sz="3200" dirty="0">
              <a:solidFill>
                <a:srgbClr val="3C4245"/>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441960" y="5830974"/>
            <a:ext cx="4572000" cy="646331"/>
          </a:xfrm>
          <a:prstGeom prst="rect">
            <a:avLst/>
          </a:prstGeom>
        </p:spPr>
        <p:txBody>
          <a:bodyPr>
            <a:spAutoFit/>
          </a:bodyPr>
          <a:lstStyle/>
          <a:p>
            <a:r>
              <a:rPr lang="en-US" dirty="0"/>
              <a:t>https://www.who.int/news-room/fact-sheets/detail/noncommunicable-diseases</a:t>
            </a:r>
          </a:p>
        </p:txBody>
      </p:sp>
      <p:sp>
        <p:nvSpPr>
          <p:cNvPr id="14" name="TextBox 13"/>
          <p:cNvSpPr txBox="1"/>
          <p:nvPr/>
        </p:nvSpPr>
        <p:spPr>
          <a:xfrm>
            <a:off x="2726041" y="173433"/>
            <a:ext cx="4204997" cy="923330"/>
          </a:xfrm>
          <a:prstGeom prst="rect">
            <a:avLst/>
          </a:prstGeom>
          <a:noFill/>
        </p:spPr>
        <p:txBody>
          <a:bodyPr wrap="none" rtlCol="0">
            <a:spAutoFit/>
          </a:bodyPr>
          <a:lstStyle/>
          <a:p>
            <a:r>
              <a:rPr lang="en-US" sz="54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 statistics</a:t>
            </a:r>
            <a:endPar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5" name="Rectangle 4"/>
          <p:cNvSpPr/>
          <p:nvPr/>
        </p:nvSpPr>
        <p:spPr>
          <a:xfrm>
            <a:off x="591820" y="764024"/>
            <a:ext cx="8458200" cy="5693866"/>
          </a:xfrm>
          <a:prstGeom prst="rect">
            <a:avLst/>
          </a:prstGeom>
        </p:spPr>
        <p:txBody>
          <a:bodyPr wrap="square">
            <a:spAutoFit/>
          </a:bodyPr>
          <a:lstStyle/>
          <a:p>
            <a:pPr algn="just">
              <a:buFont typeface="Arial" panose="020B0604020202020204" pitchFamily="34" charset="0"/>
              <a:buChar char="•"/>
            </a:pPr>
            <a:r>
              <a:rPr lang="en-US" sz="2800" dirty="0">
                <a:solidFill>
                  <a:srgbClr val="3C4245"/>
                </a:solidFill>
                <a:latin typeface="Times New Roman" panose="02020603050405020304" pitchFamily="18" charset="0"/>
                <a:cs typeface="Times New Roman" panose="02020603050405020304" pitchFamily="18" charset="0"/>
              </a:rPr>
              <a:t>Cardiovascular diseases account for most NCD deaths, or 17.9 million people annually, followed by cancers (9.3 million), chronic respiratory diseases (4.1 million), and diabetes (2.0 million including kidney disease deaths caused by diabetes).</a:t>
            </a:r>
          </a:p>
          <a:p>
            <a:pPr algn="just">
              <a:buFont typeface="Arial" panose="020B0604020202020204" pitchFamily="34" charset="0"/>
              <a:buChar char="•"/>
            </a:pPr>
            <a:r>
              <a:rPr lang="en-US" sz="2800" dirty="0">
                <a:solidFill>
                  <a:srgbClr val="3C4245"/>
                </a:solidFill>
                <a:latin typeface="Times New Roman" panose="02020603050405020304" pitchFamily="18" charset="0"/>
                <a:cs typeface="Times New Roman" panose="02020603050405020304" pitchFamily="18" charset="0"/>
              </a:rPr>
              <a:t>These four groups of diseases account for over 80% of all premature NCD deaths.</a:t>
            </a:r>
          </a:p>
          <a:p>
            <a:pPr algn="just">
              <a:buFont typeface="Arial" panose="020B0604020202020204" pitchFamily="34" charset="0"/>
              <a:buChar char="•"/>
            </a:pPr>
            <a:r>
              <a:rPr lang="en-US" sz="2800" dirty="0">
                <a:solidFill>
                  <a:srgbClr val="3C4245"/>
                </a:solidFill>
                <a:latin typeface="Times New Roman" panose="02020603050405020304" pitchFamily="18" charset="0"/>
                <a:cs typeface="Times New Roman" panose="02020603050405020304" pitchFamily="18" charset="0"/>
              </a:rPr>
              <a:t>Tobacco use, physical inactivity, the harmful use of alcohol, unhealthy diets and air pollution all increase the risk of dying from an NCD.</a:t>
            </a:r>
          </a:p>
          <a:p>
            <a:pPr algn="just">
              <a:buFont typeface="Arial" panose="020B0604020202020204" pitchFamily="34" charset="0"/>
              <a:buChar char="•"/>
            </a:pPr>
            <a:r>
              <a:rPr lang="en-US" sz="2800" dirty="0">
                <a:solidFill>
                  <a:srgbClr val="3C4245"/>
                </a:solidFill>
                <a:latin typeface="Times New Roman" panose="02020603050405020304" pitchFamily="18" charset="0"/>
                <a:cs typeface="Times New Roman" panose="02020603050405020304" pitchFamily="18" charset="0"/>
              </a:rPr>
              <a:t>Detection, screening and treatment of NCDs, as well as palliative care, are key components of the response to NCDs.</a:t>
            </a:r>
            <a:endParaRPr lang="en-US" sz="2800" i="0" dirty="0">
              <a:solidFill>
                <a:srgbClr val="3C4245"/>
              </a:solidFill>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12532486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609600" y="914400"/>
            <a:ext cx="8229600" cy="5262979"/>
          </a:xfrm>
          <a:prstGeom prst="rect">
            <a:avLst/>
          </a:prstGeom>
        </p:spPr>
        <p:txBody>
          <a:bodyPr wrap="square">
            <a:spAutoFit/>
          </a:bodyPr>
          <a:lstStyle/>
          <a:p>
            <a:pPr algn="just"/>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Non-communicable diseases (NCDs) </a:t>
            </a:r>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include different kinds of diseases:</a:t>
            </a:r>
          </a:p>
          <a:p>
            <a:pPr marL="342900" indent="-342900" algn="just">
              <a:buClr>
                <a:schemeClr val="tx2"/>
              </a:buClr>
              <a:buFont typeface="Wingdings" pitchFamily="2" charset="2"/>
              <a:buChar char="v"/>
            </a:pPr>
            <a:r>
              <a:rPr lang="en-US" sz="2400" dirty="0" smtClean="0">
                <a:latin typeface="Times New Roman" panose="02020603050405020304" pitchFamily="18" charset="0"/>
                <a:cs typeface="Times New Roman" panose="02020603050405020304" pitchFamily="18" charset="0"/>
              </a:rPr>
              <a:t>Cardiovascular</a:t>
            </a:r>
          </a:p>
          <a:p>
            <a:pPr marL="342900" indent="-342900" algn="just">
              <a:buClr>
                <a:schemeClr val="tx2"/>
              </a:buClr>
              <a:buFont typeface="Wingdings" pitchFamily="2" charset="2"/>
              <a:buChar char="v"/>
            </a:pPr>
            <a:r>
              <a:rPr lang="en-US" sz="2400" dirty="0">
                <a:latin typeface="Times New Roman" panose="02020603050405020304" pitchFamily="18" charset="0"/>
                <a:cs typeface="Times New Roman" panose="02020603050405020304" pitchFamily="18" charset="0"/>
              </a:rPr>
              <a:t>Cancer</a:t>
            </a:r>
            <a:r>
              <a:rPr lang="en-US" sz="2400" dirty="0" smtClean="0">
                <a:latin typeface="Times New Roman" panose="02020603050405020304" pitchFamily="18" charset="0"/>
                <a:cs typeface="Times New Roman" panose="02020603050405020304" pitchFamily="18" charset="0"/>
              </a:rPr>
              <a:t>.</a:t>
            </a:r>
          </a:p>
          <a:p>
            <a:pPr marL="342900" indent="-342900" algn="just">
              <a:buClr>
                <a:schemeClr val="tx2"/>
              </a:buClr>
              <a:buFont typeface="Wingdings" pitchFamily="2" charset="2"/>
              <a:buChar char="v"/>
            </a:pPr>
            <a:r>
              <a:rPr lang="en-US" sz="2400" dirty="0" smtClean="0">
                <a:latin typeface="Times New Roman" panose="02020603050405020304" pitchFamily="18" charset="0"/>
                <a:cs typeface="Times New Roman" panose="02020603050405020304" pitchFamily="18" charset="0"/>
              </a:rPr>
              <a:t>Chronic </a:t>
            </a:r>
            <a:r>
              <a:rPr lang="en-US" sz="2400" dirty="0">
                <a:latin typeface="Times New Roman" panose="02020603050405020304" pitchFamily="18" charset="0"/>
                <a:cs typeface="Times New Roman" panose="02020603050405020304" pitchFamily="18" charset="0"/>
              </a:rPr>
              <a:t>nonspecific respiratory diseases (e.g., chronic </a:t>
            </a:r>
            <a:r>
              <a:rPr lang="en-US" sz="2400" dirty="0" err="1" smtClean="0">
                <a:latin typeface="Times New Roman" panose="02020603050405020304" pitchFamily="18" charset="0"/>
                <a:cs typeface="Times New Roman" panose="02020603050405020304" pitchFamily="18" charset="0"/>
              </a:rPr>
              <a:t>bronchitis,emphysema</a:t>
            </a:r>
            <a:r>
              <a:rPr lang="en-US" sz="2400" dirty="0">
                <a:latin typeface="Times New Roman" panose="02020603050405020304" pitchFamily="18" charset="0"/>
                <a:cs typeface="Times New Roman" panose="02020603050405020304" pitchFamily="18" charset="0"/>
              </a:rPr>
              <a:t>, asthma</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gn="just">
              <a:buClr>
                <a:schemeClr val="tx2"/>
              </a:buClr>
              <a:buFont typeface="Wingdings" pitchFamily="2" charset="2"/>
              <a:buChar char="v"/>
            </a:pPr>
            <a:r>
              <a:rPr lang="en-US" sz="2400" dirty="0">
                <a:latin typeface="Times New Roman" panose="02020603050405020304" pitchFamily="18" charset="0"/>
                <a:cs typeface="Times New Roman" panose="02020603050405020304" pitchFamily="18" charset="0"/>
              </a:rPr>
              <a:t>Diabetes.</a:t>
            </a:r>
          </a:p>
          <a:p>
            <a:pPr marL="342900" indent="-342900" algn="just">
              <a:buClr>
                <a:schemeClr val="tx2"/>
              </a:buClr>
              <a:buFont typeface="Wingdings" pitchFamily="2" charset="2"/>
              <a:buChar char="v"/>
            </a:pPr>
            <a:r>
              <a:rPr lang="en-US" sz="2400" dirty="0">
                <a:latin typeface="Times New Roman" panose="02020603050405020304" pitchFamily="18" charset="0"/>
                <a:cs typeface="Times New Roman" panose="02020603050405020304" pitchFamily="18" charset="0"/>
              </a:rPr>
              <a:t>Obesity</a:t>
            </a:r>
            <a:r>
              <a:rPr lang="en-US" sz="2400" dirty="0" smtClean="0">
                <a:latin typeface="Times New Roman" panose="02020603050405020304" pitchFamily="18" charset="0"/>
                <a:cs typeface="Times New Roman" panose="02020603050405020304" pitchFamily="18" charset="0"/>
              </a:rPr>
              <a:t>.</a:t>
            </a:r>
          </a:p>
          <a:p>
            <a:pPr marL="342900" indent="-342900" algn="just">
              <a:buClr>
                <a:schemeClr val="tx2"/>
              </a:buClr>
              <a:buFont typeface="Wingdings" pitchFamily="2" charset="2"/>
              <a:buChar char="v"/>
            </a:pPr>
            <a:r>
              <a:rPr lang="en-US" sz="2400" dirty="0">
                <a:latin typeface="Times New Roman" panose="02020603050405020304" pitchFamily="18" charset="0"/>
                <a:cs typeface="Times New Roman" panose="02020603050405020304" pitchFamily="18" charset="0"/>
              </a:rPr>
              <a:t>N</a:t>
            </a:r>
            <a:r>
              <a:rPr lang="en-US" sz="2400" dirty="0" smtClean="0">
                <a:latin typeface="Times New Roman" panose="02020603050405020304" pitchFamily="18" charset="0"/>
                <a:cs typeface="Times New Roman" panose="02020603050405020304" pitchFamily="18" charset="0"/>
              </a:rPr>
              <a:t>ervous </a:t>
            </a:r>
            <a:r>
              <a:rPr lang="en-US" sz="2400" dirty="0">
                <a:latin typeface="Times New Roman" panose="02020603050405020304" pitchFamily="18" charset="0"/>
                <a:cs typeface="Times New Roman" panose="02020603050405020304" pitchFamily="18" charset="0"/>
              </a:rPr>
              <a:t>and mental </a:t>
            </a:r>
            <a:r>
              <a:rPr lang="en-US" sz="2400" dirty="0" smtClean="0">
                <a:latin typeface="Times New Roman" panose="02020603050405020304" pitchFamily="18" charset="0"/>
                <a:cs typeface="Times New Roman" panose="02020603050405020304" pitchFamily="18" charset="0"/>
              </a:rPr>
              <a:t>diseases</a:t>
            </a:r>
          </a:p>
          <a:p>
            <a:pPr marL="342900" indent="-342900" algn="just">
              <a:buClr>
                <a:schemeClr val="tx2"/>
              </a:buClr>
              <a:buFont typeface="Wingdings" pitchFamily="2" charset="2"/>
              <a:buChar char="v"/>
            </a:pPr>
            <a:r>
              <a:rPr lang="en-US" sz="2400" dirty="0" err="1" smtClean="0">
                <a:latin typeface="Times New Roman" panose="02020603050405020304" pitchFamily="18" charset="0"/>
                <a:cs typeface="Times New Roman" panose="02020603050405020304" pitchFamily="18" charset="0"/>
              </a:rPr>
              <a:t>Musculo</a:t>
            </a:r>
            <a:r>
              <a:rPr lang="en-US" sz="2400" dirty="0" smtClean="0">
                <a:latin typeface="Times New Roman" panose="02020603050405020304" pitchFamily="18" charset="0"/>
                <a:cs typeface="Times New Roman" panose="02020603050405020304" pitchFamily="18" charset="0"/>
              </a:rPr>
              <a:t>-skeletal conditions </a:t>
            </a:r>
            <a:r>
              <a:rPr lang="en-US" sz="2400" dirty="0">
                <a:latin typeface="Times New Roman" panose="02020603050405020304" pitchFamily="18" charset="0"/>
                <a:cs typeface="Times New Roman" panose="02020603050405020304" pitchFamily="18" charset="0"/>
              </a:rPr>
              <a:t>such as arthritis and allied </a:t>
            </a:r>
            <a:r>
              <a:rPr lang="en-US" sz="2400" dirty="0" smtClean="0">
                <a:latin typeface="Times New Roman" panose="02020603050405020304" pitchFamily="18" charset="0"/>
                <a:cs typeface="Times New Roman" panose="02020603050405020304" pitchFamily="18" charset="0"/>
              </a:rPr>
              <a:t>diseases.</a:t>
            </a:r>
          </a:p>
          <a:p>
            <a:pPr marL="342900" indent="-342900" algn="just">
              <a:buClr>
                <a:schemeClr val="tx2"/>
              </a:buClr>
              <a:buFont typeface="Wingdings" pitchFamily="2" charset="2"/>
              <a:buChar char="v"/>
            </a:pPr>
            <a:r>
              <a:rPr lang="en-US" sz="2400" dirty="0" smtClean="0">
                <a:latin typeface="Times New Roman" panose="02020603050405020304" pitchFamily="18" charset="0"/>
                <a:cs typeface="Times New Roman" panose="02020603050405020304" pitchFamily="18" charset="0"/>
              </a:rPr>
              <a:t>Permanent </a:t>
            </a:r>
            <a:r>
              <a:rPr lang="en-US" sz="2400" dirty="0">
                <a:latin typeface="Times New Roman" panose="02020603050405020304" pitchFamily="18" charset="0"/>
                <a:cs typeface="Times New Roman" panose="02020603050405020304" pitchFamily="18" charset="0"/>
              </a:rPr>
              <a:t>results of </a:t>
            </a:r>
            <a:r>
              <a:rPr lang="en-US" sz="2400" dirty="0" smtClean="0">
                <a:latin typeface="Times New Roman" panose="02020603050405020304" pitchFamily="18" charset="0"/>
                <a:cs typeface="Times New Roman" panose="02020603050405020304" pitchFamily="18" charset="0"/>
              </a:rPr>
              <a:t>accidents.</a:t>
            </a:r>
          </a:p>
          <a:p>
            <a:pPr marL="342900" indent="-342900" algn="just">
              <a:buClr>
                <a:schemeClr val="tx2"/>
              </a:buClr>
              <a:buFont typeface="Wingdings" pitchFamily="2" charset="2"/>
              <a:buChar char="v"/>
            </a:pPr>
            <a:r>
              <a:rPr lang="en-US" sz="2400" dirty="0" smtClean="0">
                <a:latin typeface="Times New Roman" panose="02020603050405020304" pitchFamily="18" charset="0"/>
                <a:cs typeface="Times New Roman" panose="02020603050405020304" pitchFamily="18" charset="0"/>
              </a:rPr>
              <a:t>Senility</a:t>
            </a:r>
            <a:r>
              <a:rPr lang="en-US" sz="2400" dirty="0">
                <a:latin typeface="Times New Roman" panose="02020603050405020304" pitchFamily="18" charset="0"/>
                <a:cs typeface="Times New Roman" panose="02020603050405020304" pitchFamily="18" charset="0"/>
              </a:rPr>
              <a:t>.</a:t>
            </a:r>
          </a:p>
          <a:p>
            <a:pPr marL="342900" indent="-342900" algn="just">
              <a:buClr>
                <a:schemeClr val="tx2"/>
              </a:buClr>
              <a:buFont typeface="Wingdings" pitchFamily="2" charset="2"/>
              <a:buChar char="v"/>
            </a:pPr>
            <a:r>
              <a:rPr lang="en-US" sz="2400" dirty="0" smtClean="0">
                <a:latin typeface="Times New Roman" panose="02020603050405020304" pitchFamily="18" charset="0"/>
                <a:cs typeface="Times New Roman" panose="02020603050405020304" pitchFamily="18" charset="0"/>
              </a:rPr>
              <a:t>Blindness.</a:t>
            </a:r>
          </a:p>
        </p:txBody>
      </p:sp>
      <p:sp>
        <p:nvSpPr>
          <p:cNvPr id="5" name="TextBox 4"/>
          <p:cNvSpPr txBox="1"/>
          <p:nvPr/>
        </p:nvSpPr>
        <p:spPr>
          <a:xfrm>
            <a:off x="2299431" y="76200"/>
            <a:ext cx="4103175" cy="830997"/>
          </a:xfrm>
          <a:prstGeom prst="rect">
            <a:avLst/>
          </a:prstGeom>
          <a:noFill/>
        </p:spPr>
        <p:txBody>
          <a:bodyPr wrap="none" rtlCol="0">
            <a:spAutoFit/>
          </a:bodyPr>
          <a:lstStyle/>
          <a:p>
            <a:r>
              <a:rPr lang="en-US" sz="4800" b="1"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Types of </a:t>
            </a:r>
            <a:r>
              <a:rPr lang="en-US" sz="4800" b="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NCDs</a:t>
            </a: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1026"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2248" t="6692" r="21695"/>
          <a:stretch/>
        </p:blipFill>
        <p:spPr bwMode="auto">
          <a:xfrm>
            <a:off x="6691745" y="1407616"/>
            <a:ext cx="2452255" cy="408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62000" y="1407616"/>
            <a:ext cx="6432017" cy="4154984"/>
          </a:xfrm>
          <a:prstGeom prst="rect">
            <a:avLst/>
          </a:prstGeom>
          <a:noFill/>
        </p:spPr>
        <p:txBody>
          <a:bodyPr wrap="none" rtlCol="0">
            <a:spAutoFit/>
          </a:bodyPr>
          <a:lstStyle/>
          <a:p>
            <a:r>
              <a:rPr lang="en-US" sz="8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a:t>
            </a:r>
          </a:p>
          <a:p>
            <a:r>
              <a:rPr lang="en-US" sz="8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NCD </a:t>
            </a:r>
          </a:p>
          <a:p>
            <a:r>
              <a:rPr lang="en-US" sz="8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preventable?</a:t>
            </a:r>
            <a:endParaRPr lang="en-US" sz="8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a:stretch>
            <a:fillRect/>
          </a:stretch>
        </p:blipFill>
        <p:spPr>
          <a:xfrm>
            <a:off x="76201" y="76200"/>
            <a:ext cx="1240276" cy="457200"/>
          </a:xfrm>
          <a:prstGeom prst="rect">
            <a:avLst/>
          </a:prstGeom>
        </p:spPr>
      </p:pic>
    </p:spTree>
    <p:extLst>
      <p:ext uri="{BB962C8B-B14F-4D97-AF65-F5344CB8AC3E}">
        <p14:creationId xmlns:p14="http://schemas.microsoft.com/office/powerpoint/2010/main" val="125168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ircle(in)">
                                      <p:cBhvr>
                                        <p:cTn id="7" dur="2000"/>
                                        <p:tgtEl>
                                          <p:spTgt spid="102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457200" y="838200"/>
            <a:ext cx="8610600" cy="5078313"/>
          </a:xfrm>
          <a:prstGeom prst="rect">
            <a:avLst/>
          </a:prstGeom>
        </p:spPr>
        <p:txBody>
          <a:bodyPr wrap="square">
            <a:spAutoFit/>
          </a:bodyPr>
          <a:lstStyle/>
          <a:p>
            <a:pPr marL="571500" indent="-571500" algn="just">
              <a:buClr>
                <a:srgbClr val="C00000"/>
              </a:buCl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These </a:t>
            </a:r>
            <a:r>
              <a:rPr lang="en-US" sz="3600" dirty="0">
                <a:latin typeface="Times New Roman" panose="02020603050405020304" pitchFamily="18" charset="0"/>
                <a:cs typeface="Times New Roman" panose="02020603050405020304" pitchFamily="18" charset="0"/>
              </a:rPr>
              <a:t>diseases are preventable</a:t>
            </a:r>
            <a:r>
              <a:rPr lang="en-US" sz="3600" dirty="0" smtClean="0">
                <a:latin typeface="Times New Roman" panose="02020603050405020304" pitchFamily="18" charset="0"/>
                <a:cs typeface="Times New Roman" panose="02020603050405020304" pitchFamily="18" charset="0"/>
              </a:rPr>
              <a:t>.</a:t>
            </a:r>
          </a:p>
          <a:p>
            <a:pPr marL="571500" indent="-571500" algn="just">
              <a:buClr>
                <a:srgbClr val="C00000"/>
              </a:buCl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Up </a:t>
            </a:r>
            <a:r>
              <a:rPr lang="en-US" sz="3600" dirty="0">
                <a:latin typeface="Times New Roman" panose="02020603050405020304" pitchFamily="18" charset="0"/>
                <a:cs typeface="Times New Roman" panose="02020603050405020304" pitchFamily="18" charset="0"/>
              </a:rPr>
              <a:t>to </a:t>
            </a:r>
            <a:r>
              <a:rPr lang="en-US" sz="3600" b="1" dirty="0">
                <a:latin typeface="Times New Roman" panose="02020603050405020304" pitchFamily="18" charset="0"/>
                <a:cs typeface="Times New Roman" panose="02020603050405020304" pitchFamily="18" charset="0"/>
              </a:rPr>
              <a:t>80%</a:t>
            </a:r>
            <a:r>
              <a:rPr lang="en-US" sz="3600" dirty="0">
                <a:latin typeface="Times New Roman" panose="02020603050405020304" pitchFamily="18" charset="0"/>
                <a:cs typeface="Times New Roman" panose="02020603050405020304" pitchFamily="18" charset="0"/>
              </a:rPr>
              <a:t> of </a:t>
            </a:r>
            <a:r>
              <a:rPr lang="en-US" sz="3600" b="1" dirty="0" smtClean="0">
                <a:latin typeface="Times New Roman" panose="02020603050405020304" pitchFamily="18" charset="0"/>
                <a:cs typeface="Times New Roman" panose="02020603050405020304" pitchFamily="18" charset="0"/>
              </a:rPr>
              <a:t>heart disease</a:t>
            </a:r>
            <a:r>
              <a:rPr lang="en-US" sz="3600" b="1" dirty="0">
                <a:latin typeface="Times New Roman" panose="02020603050405020304" pitchFamily="18" charset="0"/>
                <a:cs typeface="Times New Roman" panose="02020603050405020304" pitchFamily="18" charset="0"/>
              </a:rPr>
              <a:t>, stroke, and type 2 diabetes and over a third </a:t>
            </a:r>
            <a:r>
              <a:rPr lang="en-US" sz="3600" b="1" dirty="0" smtClean="0">
                <a:latin typeface="Times New Roman" panose="02020603050405020304" pitchFamily="18" charset="0"/>
                <a:cs typeface="Times New Roman" panose="02020603050405020304" pitchFamily="18" charset="0"/>
              </a:rPr>
              <a:t>of cancers </a:t>
            </a:r>
            <a:r>
              <a:rPr lang="en-US" sz="3600" dirty="0">
                <a:latin typeface="Times New Roman" panose="02020603050405020304" pitchFamily="18" charset="0"/>
                <a:cs typeface="Times New Roman" panose="02020603050405020304" pitchFamily="18" charset="0"/>
              </a:rPr>
              <a:t>could be prevented by eliminating shared </a:t>
            </a:r>
            <a:r>
              <a:rPr lang="en-US" sz="3600" dirty="0" smtClean="0">
                <a:latin typeface="Times New Roman" panose="02020603050405020304" pitchFamily="18" charset="0"/>
                <a:cs typeface="Times New Roman" panose="02020603050405020304" pitchFamily="18" charset="0"/>
              </a:rPr>
              <a:t>risk Factors.</a:t>
            </a:r>
          </a:p>
          <a:p>
            <a:pPr marL="571500" indent="-571500" algn="just">
              <a:buClr>
                <a:srgbClr val="C00000"/>
              </a:buClr>
              <a:buFont typeface="Wingdings" panose="05000000000000000000" pitchFamily="2" charset="2"/>
              <a:buChar char="v"/>
            </a:pPr>
            <a:endParaRPr lang="en-US" sz="3600" dirty="0" smtClean="0">
              <a:latin typeface="Times New Roman" panose="02020603050405020304" pitchFamily="18" charset="0"/>
              <a:cs typeface="Times New Roman" panose="02020603050405020304" pitchFamily="18" charset="0"/>
            </a:endParaRPr>
          </a:p>
          <a:p>
            <a:pPr marL="571500" indent="-571500" algn="just">
              <a:buClr>
                <a:srgbClr val="C00000"/>
              </a:buClr>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M</a:t>
            </a:r>
            <a:r>
              <a:rPr lang="en-US" sz="3600" dirty="0" smtClean="0">
                <a:latin typeface="Times New Roman" panose="02020603050405020304" pitchFamily="18" charset="0"/>
                <a:cs typeface="Times New Roman" panose="02020603050405020304" pitchFamily="18" charset="0"/>
              </a:rPr>
              <a:t>ainly preventable risk factors are </a:t>
            </a:r>
            <a:r>
              <a:rPr lang="en-US" sz="3600" dirty="0">
                <a:latin typeface="Times New Roman" panose="02020603050405020304" pitchFamily="18" charset="0"/>
                <a:cs typeface="Times New Roman" panose="02020603050405020304" pitchFamily="18" charset="0"/>
              </a:rPr>
              <a:t>tobacco use, unhealthy diet, </a:t>
            </a:r>
            <a:r>
              <a:rPr lang="en-US" sz="3600" dirty="0" smtClean="0">
                <a:latin typeface="Times New Roman" panose="02020603050405020304" pitchFamily="18" charset="0"/>
                <a:cs typeface="Times New Roman" panose="02020603050405020304" pitchFamily="18" charset="0"/>
              </a:rPr>
              <a:t>physical inactivity </a:t>
            </a:r>
            <a:r>
              <a:rPr lang="en-US" sz="3600" dirty="0">
                <a:latin typeface="Times New Roman" panose="02020603050405020304" pitchFamily="18" charset="0"/>
                <a:cs typeface="Times New Roman" panose="02020603050405020304" pitchFamily="18" charset="0"/>
              </a:rPr>
              <a:t>and the harmful use of alcohol.</a:t>
            </a: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248922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1026" name="Picture 2" descr="http://t1.gstatic.com/images?q=tbn:ANd9GcQ_tus4JoN1Pzsq-O2KnV7EBkc4f0yog1k5nQ6NHIqc_zv3T91nS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65196"/>
            <a:ext cx="6387299" cy="47378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382960" y="242886"/>
            <a:ext cx="7287572" cy="1107996"/>
          </a:xfrm>
          <a:prstGeom prst="rect">
            <a:avLst/>
          </a:prstGeom>
          <a:noFill/>
        </p:spPr>
        <p:txBody>
          <a:bodyPr wrap="none" rtlCol="0">
            <a:spAutoFit/>
          </a:bodyPr>
          <a:lstStyle/>
          <a:p>
            <a:r>
              <a:rPr lang="en-US" sz="66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Why NCD happen?</a:t>
            </a:r>
            <a:endParaRPr lang="en-US" sz="66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circle(in)">
                                      <p:cBhvr>
                                        <p:cTn id="10"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ounded Rectangle 2"/>
          <p:cNvSpPr/>
          <p:nvPr/>
        </p:nvSpPr>
        <p:spPr>
          <a:xfrm>
            <a:off x="685800" y="242886"/>
            <a:ext cx="2438400" cy="10668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Urbanization</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Rounded Rectangle 8"/>
          <p:cNvSpPr/>
          <p:nvPr/>
        </p:nvSpPr>
        <p:spPr>
          <a:xfrm>
            <a:off x="3581400" y="242886"/>
            <a:ext cx="2438400" cy="10668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industrialization</a:t>
            </a:r>
          </a:p>
        </p:txBody>
      </p:sp>
      <p:sp>
        <p:nvSpPr>
          <p:cNvPr id="10" name="Rounded Rectangle 9"/>
          <p:cNvSpPr/>
          <p:nvPr/>
        </p:nvSpPr>
        <p:spPr>
          <a:xfrm>
            <a:off x="6324600" y="242886"/>
            <a:ext cx="2438400" cy="10668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modernization</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685800" y="5015805"/>
            <a:ext cx="8229600"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 </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Communicable diseases</a:t>
            </a:r>
          </a:p>
          <a:p>
            <a:pPr algn="ct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Chronic diseases </a:t>
            </a:r>
          </a:p>
          <a:p>
            <a:pPr algn="ct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Lifestyle Diseases</a:t>
            </a:r>
          </a:p>
        </p:txBody>
      </p:sp>
      <p:sp>
        <p:nvSpPr>
          <p:cNvPr id="5" name="Down Arrow 4"/>
          <p:cNvSpPr/>
          <p:nvPr/>
        </p:nvSpPr>
        <p:spPr>
          <a:xfrm rot="1232111">
            <a:off x="6754204" y="1391641"/>
            <a:ext cx="685800" cy="1206343"/>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2" name="Down Arrow 11"/>
          <p:cNvSpPr/>
          <p:nvPr/>
        </p:nvSpPr>
        <p:spPr>
          <a:xfrm rot="20177530">
            <a:off x="1781128" y="1391398"/>
            <a:ext cx="685800" cy="1206343"/>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3" name="Down Arrow 12"/>
          <p:cNvSpPr/>
          <p:nvPr/>
        </p:nvSpPr>
        <p:spPr>
          <a:xfrm>
            <a:off x="4396957" y="1377545"/>
            <a:ext cx="685800" cy="1206343"/>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4" name="Rounded Rectangle 13"/>
          <p:cNvSpPr/>
          <p:nvPr/>
        </p:nvSpPr>
        <p:spPr>
          <a:xfrm>
            <a:off x="2133600" y="2667000"/>
            <a:ext cx="5254336" cy="1066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Life style changes</a:t>
            </a:r>
            <a:endPar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Down Arrow 15"/>
          <p:cNvSpPr/>
          <p:nvPr/>
        </p:nvSpPr>
        <p:spPr>
          <a:xfrm>
            <a:off x="4380797" y="3809462"/>
            <a:ext cx="685800" cy="1206343"/>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2000"/>
                                        <p:tgtEl>
                                          <p:spTgt spid="9"/>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circle(in)">
                                      <p:cBhvr>
                                        <p:cTn id="18" dur="2000"/>
                                        <p:tgtEl>
                                          <p:spTgt spid="12"/>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circle(in)">
                                      <p:cBhvr>
                                        <p:cTn id="21" dur="2000"/>
                                        <p:tgtEl>
                                          <p:spTgt spid="13"/>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2000"/>
                                        <p:tgtEl>
                                          <p:spTgt spid="5"/>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ircle(in)">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circle(in)">
                                      <p:cBhvr>
                                        <p:cTn id="32" dur="2000"/>
                                        <p:tgtEl>
                                          <p:spTgt spid="16"/>
                                        </p:tgtEl>
                                      </p:cBhvr>
                                    </p:animEffect>
                                  </p:childTnLst>
                                </p:cTn>
                              </p:par>
                              <p:par>
                                <p:cTn id="33" presetID="6" presetClass="entr" presetSubtype="16"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P spid="5" grpId="0" animBg="1"/>
      <p:bldP spid="12" grpId="0" animBg="1"/>
      <p:bldP spid="13" grpId="0" animBg="1"/>
      <p:bldP spid="14"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3074" name="Picture 2" descr="C:\Users\Sony\Desktop\NCD\NCDs_tree_diagramme_high_resolution_image_V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0"/>
            <a:ext cx="8645236" cy="636925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76201" y="76200"/>
            <a:ext cx="1240276" cy="457200"/>
          </a:xfrm>
          <a:prstGeom prst="rect">
            <a:avLst/>
          </a:prstGeom>
        </p:spPr>
      </p:pic>
    </p:spTree>
    <p:extLst>
      <p:ext uri="{BB962C8B-B14F-4D97-AF65-F5344CB8AC3E}">
        <p14:creationId xmlns:p14="http://schemas.microsoft.com/office/powerpoint/2010/main" val="415596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heel(1)">
                                      <p:cBhvr>
                                        <p:cTn id="7" dur="2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5" name="Rectangle 4"/>
          <p:cNvSpPr/>
          <p:nvPr/>
        </p:nvSpPr>
        <p:spPr>
          <a:xfrm>
            <a:off x="2362200" y="76200"/>
            <a:ext cx="4937570" cy="830997"/>
          </a:xfrm>
          <a:prstGeom prst="rect">
            <a:avLst/>
          </a:prstGeom>
        </p:spPr>
        <p:txBody>
          <a:bodyPr wrap="none">
            <a:spAutoFit/>
          </a:bodyPr>
          <a:lstStyle/>
          <a:p>
            <a:r>
              <a:rPr lang="en-US" sz="4800" b="1" dirty="0">
                <a:solidFill>
                  <a:schemeClr val="tx2"/>
                </a:solidFill>
                <a:latin typeface="Times New Roman" panose="02020603050405020304" pitchFamily="18" charset="0"/>
                <a:cs typeface="Times New Roman" panose="02020603050405020304" pitchFamily="18" charset="0"/>
              </a:rPr>
              <a:t>What is </a:t>
            </a:r>
            <a:r>
              <a:rPr lang="en-US" sz="4800" b="1" dirty="0" smtClean="0">
                <a:solidFill>
                  <a:schemeClr val="tx2"/>
                </a:solidFill>
                <a:latin typeface="Times New Roman" panose="02020603050405020304" pitchFamily="18" charset="0"/>
                <a:cs typeface="Times New Roman" panose="02020603050405020304" pitchFamily="18" charset="0"/>
              </a:rPr>
              <a:t>Lifestyle</a:t>
            </a:r>
            <a:r>
              <a:rPr lang="en-US" sz="4800" b="1" dirty="0">
                <a:solidFill>
                  <a:schemeClr val="tx2"/>
                </a:solidFill>
                <a:latin typeface="Times New Roman" panose="02020603050405020304" pitchFamily="18" charset="0"/>
                <a:cs typeface="Times New Roman" panose="02020603050405020304" pitchFamily="18" charset="0"/>
              </a:rPr>
              <a:t>?</a:t>
            </a:r>
            <a:endParaRPr lang="en-US" sz="4800" dirty="0">
              <a:solidFill>
                <a:schemeClr val="tx2"/>
              </a:solidFill>
              <a:latin typeface="Times New Roman" panose="02020603050405020304" pitchFamily="18" charset="0"/>
              <a:cs typeface="Times New Roman" panose="02020603050405020304" pitchFamily="18" charset="0"/>
            </a:endParaRPr>
          </a:p>
        </p:txBody>
      </p:sp>
      <p:sp>
        <p:nvSpPr>
          <p:cNvPr id="6" name="Rectangle 5"/>
          <p:cNvSpPr/>
          <p:nvPr/>
        </p:nvSpPr>
        <p:spPr>
          <a:xfrm>
            <a:off x="533400" y="1219200"/>
            <a:ext cx="8153400" cy="5016758"/>
          </a:xfrm>
          <a:prstGeom prst="rect">
            <a:avLst/>
          </a:prstGeom>
        </p:spPr>
        <p:txBody>
          <a:bodyPr wrap="square">
            <a:spAutoFit/>
          </a:bodyPr>
          <a:lstStyle/>
          <a:p>
            <a:pPr marL="457200" indent="-457200" algn="just">
              <a:buClr>
                <a:srgbClr val="C00000"/>
              </a:buCl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Lifestyle indicates</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the </a:t>
            </a:r>
            <a:r>
              <a:rPr lang="en-US" sz="3200" b="1" dirty="0" smtClean="0">
                <a:latin typeface="Times New Roman" panose="02020603050405020304" pitchFamily="18" charset="0"/>
                <a:cs typeface="Times New Roman" panose="02020603050405020304" pitchFamily="18" charset="0"/>
              </a:rPr>
              <a:t>behavioral </a:t>
            </a:r>
            <a:r>
              <a:rPr lang="en-US" sz="3200" b="1" dirty="0">
                <a:latin typeface="Times New Roman" panose="02020603050405020304" pitchFamily="18" charset="0"/>
                <a:cs typeface="Times New Roman" panose="02020603050405020304" pitchFamily="18" charset="0"/>
              </a:rPr>
              <a:t>patterns </a:t>
            </a:r>
            <a:r>
              <a:rPr lang="en-US" sz="3200" dirty="0">
                <a:latin typeface="Times New Roman" panose="02020603050405020304" pitchFamily="18" charset="0"/>
                <a:cs typeface="Times New Roman" panose="02020603050405020304" pitchFamily="18" charset="0"/>
              </a:rPr>
              <a:t>which we routinely adopt and the </a:t>
            </a:r>
            <a:r>
              <a:rPr lang="en-US" sz="3200" dirty="0" smtClean="0">
                <a:latin typeface="Times New Roman" panose="02020603050405020304" pitchFamily="18" charset="0"/>
                <a:cs typeface="Times New Roman" panose="02020603050405020304" pitchFamily="18" charset="0"/>
              </a:rPr>
              <a:t>way we </a:t>
            </a:r>
            <a:r>
              <a:rPr lang="en-US" sz="3200" dirty="0">
                <a:latin typeface="Times New Roman" panose="02020603050405020304" pitchFamily="18" charset="0"/>
                <a:cs typeface="Times New Roman" panose="02020603050405020304" pitchFamily="18" charset="0"/>
              </a:rPr>
              <a:t>tend to (involuntarily) live our daily life, unless coerced </a:t>
            </a:r>
            <a:r>
              <a:rPr lang="en-US" sz="3200" dirty="0" smtClean="0">
                <a:latin typeface="Times New Roman" panose="02020603050405020304" pitchFamily="18" charset="0"/>
                <a:cs typeface="Times New Roman" panose="02020603050405020304" pitchFamily="18" charset="0"/>
              </a:rPr>
              <a:t>to change </a:t>
            </a:r>
            <a:r>
              <a:rPr lang="en-US" sz="3200" dirty="0">
                <a:latin typeface="Times New Roman" panose="02020603050405020304" pitchFamily="18" charset="0"/>
                <a:cs typeface="Times New Roman" panose="02020603050405020304" pitchFamily="18" charset="0"/>
              </a:rPr>
              <a:t>by some external stimulus. </a:t>
            </a:r>
            <a:endParaRPr lang="en-US" sz="3200" dirty="0" smtClean="0">
              <a:latin typeface="Times New Roman" panose="02020603050405020304" pitchFamily="18" charset="0"/>
              <a:cs typeface="Times New Roman" panose="02020603050405020304" pitchFamily="18" charset="0"/>
            </a:endParaRPr>
          </a:p>
          <a:p>
            <a:pPr marL="457200" indent="-457200" algn="just">
              <a:buClr>
                <a:srgbClr val="C00000"/>
              </a:buClr>
              <a:buFont typeface="Wingdings" panose="05000000000000000000" pitchFamily="2" charset="2"/>
              <a:buChar char="v"/>
            </a:pPr>
            <a:endParaRPr lang="en-US" sz="3200" dirty="0">
              <a:latin typeface="Times New Roman" panose="02020603050405020304" pitchFamily="18" charset="0"/>
              <a:cs typeface="Times New Roman" panose="02020603050405020304" pitchFamily="18" charset="0"/>
            </a:endParaRPr>
          </a:p>
          <a:p>
            <a:pPr marL="457200" indent="-457200" algn="just">
              <a:buClr>
                <a:srgbClr val="C00000"/>
              </a:buCl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Lifestyle </a:t>
            </a:r>
            <a:r>
              <a:rPr lang="en-US" sz="3200" dirty="0">
                <a:latin typeface="Times New Roman" panose="02020603050405020304" pitchFamily="18" charset="0"/>
                <a:cs typeface="Times New Roman" panose="02020603050405020304" pitchFamily="18" charset="0"/>
              </a:rPr>
              <a:t>is </a:t>
            </a:r>
            <a:r>
              <a:rPr lang="en-US" sz="3200" dirty="0" smtClean="0">
                <a:latin typeface="Times New Roman" panose="02020603050405020304" pitchFamily="18" charset="0"/>
                <a:cs typeface="Times New Roman" panose="02020603050405020304" pitchFamily="18" charset="0"/>
              </a:rPr>
              <a:t>mainly</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dependent </a:t>
            </a: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 psycho - social and environmental</a:t>
            </a:r>
            <a:r>
              <a:rPr lang="en-US" sz="3200" dirty="0">
                <a:latin typeface="Times New Roman" panose="02020603050405020304" pitchFamily="18" charset="0"/>
                <a:cs typeface="Times New Roman" panose="02020603050405020304" pitchFamily="18" charset="0"/>
              </a:rPr>
              <a:t> factors and, </a:t>
            </a:r>
            <a:r>
              <a:rPr lang="en-US"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a </a:t>
            </a: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smaller extent, on genetic influence</a:t>
            </a:r>
            <a:r>
              <a:rPr lang="en-US" sz="3200" b="1" dirty="0">
                <a:latin typeface="Times New Roman" panose="02020603050405020304" pitchFamily="18" charset="0"/>
                <a:cs typeface="Times New Roman" panose="02020603050405020304" pitchFamily="18" charset="0"/>
              </a:rPr>
              <a:t>s. </a:t>
            </a:r>
            <a:endParaRPr lang="en-US" sz="3200" b="1" dirty="0" smtClean="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
        <p:nvSpPr>
          <p:cNvPr id="9" name="Right Arrow 8"/>
          <p:cNvSpPr/>
          <p:nvPr/>
        </p:nvSpPr>
        <p:spPr>
          <a:xfrm>
            <a:off x="7086600" y="5867400"/>
            <a:ext cx="1295400" cy="457200"/>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ircle(in)">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304800" y="2906808"/>
            <a:ext cx="8763000" cy="3046988"/>
          </a:xfrm>
          <a:prstGeom prst="rect">
            <a:avLst/>
          </a:prstGeom>
        </p:spPr>
        <p:txBody>
          <a:bodyPr wrap="square">
            <a:spAutoFit/>
          </a:bodyPr>
          <a:lstStyle/>
          <a:p>
            <a:pPr marL="457200" indent="-457200" algn="just">
              <a:buClr>
                <a:srgbClr val="C00000"/>
              </a:buClr>
              <a:buFont typeface="Wingdings" panose="05000000000000000000" pitchFamily="2" charset="2"/>
              <a:buChar char="v"/>
            </a:pPr>
            <a:endParaRPr lang="en-US" sz="3200" dirty="0" smtClean="0">
              <a:latin typeface="Times New Roman" panose="02020603050405020304" pitchFamily="18" charset="0"/>
              <a:cs typeface="Times New Roman" panose="02020603050405020304" pitchFamily="18" charset="0"/>
            </a:endParaRPr>
          </a:p>
          <a:p>
            <a:pPr marL="457200" indent="-457200" algn="just">
              <a:buClr>
                <a:srgbClr val="C00000"/>
              </a:buCl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Since </a:t>
            </a:r>
            <a:r>
              <a:rPr lang="en-US" sz="3200" dirty="0">
                <a:latin typeface="Times New Roman" panose="02020603050405020304" pitchFamily="18" charset="0"/>
                <a:cs typeface="Times New Roman" panose="02020603050405020304" pitchFamily="18" charset="0"/>
              </a:rPr>
              <a:t>these </a:t>
            </a:r>
            <a:r>
              <a:rPr lang="en-US" sz="3200" dirty="0" smtClean="0">
                <a:latin typeface="Times New Roman" panose="02020603050405020304" pitchFamily="18" charset="0"/>
                <a:cs typeface="Times New Roman" panose="02020603050405020304" pitchFamily="18" charset="0"/>
              </a:rPr>
              <a:t>behavioral patterns are </a:t>
            </a:r>
            <a:r>
              <a:rPr lang="en-US" sz="3200" dirty="0">
                <a:latin typeface="Times New Roman" panose="02020603050405020304" pitchFamily="18" charset="0"/>
                <a:cs typeface="Times New Roman" panose="02020603050405020304" pitchFamily="18" charset="0"/>
              </a:rPr>
              <a:t>acquired very gradually, </a:t>
            </a:r>
            <a:r>
              <a:rPr lang="en-US" sz="3200" b="1" dirty="0">
                <a:latin typeface="Times New Roman" panose="02020603050405020304" pitchFamily="18" charset="0"/>
                <a:cs typeface="Times New Roman" panose="02020603050405020304" pitchFamily="18" charset="0"/>
              </a:rPr>
              <a:t>changing them becomes a </a:t>
            </a:r>
            <a:r>
              <a:rPr lang="en-US" sz="3200" b="1" dirty="0" smtClean="0">
                <a:latin typeface="Times New Roman" panose="02020603050405020304" pitchFamily="18" charset="0"/>
                <a:cs typeface="Times New Roman" panose="02020603050405020304" pitchFamily="18" charset="0"/>
              </a:rPr>
              <a:t>difficult </a:t>
            </a:r>
            <a:r>
              <a:rPr lang="en-US" sz="3200" dirty="0" smtClean="0">
                <a:latin typeface="Times New Roman" panose="02020603050405020304" pitchFamily="18" charset="0"/>
                <a:cs typeface="Times New Roman" panose="02020603050405020304" pitchFamily="18" charset="0"/>
              </a:rPr>
              <a:t>proposition </a:t>
            </a:r>
            <a:r>
              <a:rPr lang="en-US" sz="3200" dirty="0">
                <a:latin typeface="Times New Roman" panose="02020603050405020304" pitchFamily="18" charset="0"/>
                <a:cs typeface="Times New Roman" panose="02020603050405020304" pitchFamily="18" charset="0"/>
              </a:rPr>
              <a:t>and needs a lot of persuasiveness as well </a:t>
            </a:r>
            <a:r>
              <a:rPr lang="en-US" sz="3200" dirty="0" smtClean="0">
                <a:latin typeface="Times New Roman" panose="02020603050405020304" pitchFamily="18" charset="0"/>
                <a:cs typeface="Times New Roman" panose="02020603050405020304" pitchFamily="18" charset="0"/>
              </a:rPr>
              <a:t>as persistent </a:t>
            </a:r>
            <a:r>
              <a:rPr lang="en-US" sz="3200" dirty="0">
                <a:latin typeface="Times New Roman" panose="02020603050405020304" pitchFamily="18" charset="0"/>
                <a:cs typeface="Times New Roman" panose="02020603050405020304" pitchFamily="18" charset="0"/>
              </a:rPr>
              <a:t>approach on the part of the health care </a:t>
            </a:r>
            <a:r>
              <a:rPr lang="en-US" sz="3200" dirty="0" smtClean="0">
                <a:latin typeface="Times New Roman" panose="02020603050405020304" pitchFamily="18" charset="0"/>
                <a:cs typeface="Times New Roman" panose="02020603050405020304" pitchFamily="18" charset="0"/>
              </a:rPr>
              <a:t>providers including </a:t>
            </a:r>
            <a:r>
              <a:rPr lang="en-US" sz="3200" dirty="0">
                <a:latin typeface="Times New Roman" panose="02020603050405020304" pitchFamily="18" charset="0"/>
                <a:cs typeface="Times New Roman" panose="02020603050405020304" pitchFamily="18" charset="0"/>
              </a:rPr>
              <a:t>health educators.</a:t>
            </a:r>
          </a:p>
        </p:txBody>
      </p:sp>
      <p:sp>
        <p:nvSpPr>
          <p:cNvPr id="5" name="Rectangle 4"/>
          <p:cNvSpPr/>
          <p:nvPr/>
        </p:nvSpPr>
        <p:spPr>
          <a:xfrm>
            <a:off x="381000" y="674400"/>
            <a:ext cx="8763000" cy="2554545"/>
          </a:xfrm>
          <a:prstGeom prst="rect">
            <a:avLst/>
          </a:prstGeom>
        </p:spPr>
        <p:txBody>
          <a:bodyPr wrap="square">
            <a:spAutoFit/>
          </a:bodyPr>
          <a:lstStyle/>
          <a:p>
            <a:pPr marL="457200" lvl="0" indent="-457200" algn="just">
              <a:buClr>
                <a:srgbClr val="C00000"/>
              </a:buClr>
              <a:buFont typeface="Wingdings" panose="05000000000000000000" pitchFamily="2" charset="2"/>
              <a:buChar char="v"/>
            </a:pPr>
            <a:r>
              <a:rPr lang="en-US" sz="3200" b="1" dirty="0">
                <a:solidFill>
                  <a:prstClr val="black"/>
                </a:solidFill>
                <a:latin typeface="Times New Roman" panose="02020603050405020304" pitchFamily="18" charset="0"/>
                <a:cs typeface="Times New Roman" panose="02020603050405020304" pitchFamily="18" charset="0"/>
              </a:rPr>
              <a:t>Lifestyle</a:t>
            </a:r>
            <a:r>
              <a:rPr lang="en-US" sz="3200" dirty="0">
                <a:solidFill>
                  <a:prstClr val="black"/>
                </a:solidFill>
                <a:latin typeface="Times New Roman" panose="02020603050405020304" pitchFamily="18" charset="0"/>
                <a:cs typeface="Times New Roman" panose="02020603050405020304" pitchFamily="18" charset="0"/>
              </a:rPr>
              <a:t> is developed in the form of a set pattern of behavior, very gradually, over many years, in the way we eat, drink, exercise, use intoxicants, are predisposed to own health care and personal protection, sexual practices.</a:t>
            </a: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695"/>
          <a:stretch/>
        </p:blipFill>
        <p:spPr bwMode="auto">
          <a:xfrm>
            <a:off x="685800" y="1371600"/>
            <a:ext cx="8128351" cy="4454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426010" y="415222"/>
            <a:ext cx="6291979" cy="830997"/>
          </a:xfrm>
          <a:prstGeom prst="rect">
            <a:avLst/>
          </a:prstGeom>
          <a:noFill/>
        </p:spPr>
        <p:txBody>
          <a:bodyPr wrap="none" rtlCol="0">
            <a:spAutoFit/>
          </a:bodyPr>
          <a:lstStyle/>
          <a:p>
            <a:r>
              <a:rPr lang="en-US" sz="4800" b="1" dirty="0" smtClean="0">
                <a:solidFill>
                  <a:schemeClr val="tx2"/>
                </a:solidFill>
                <a:effectLst>
                  <a:outerShdw blurRad="38100" dist="38100" dir="2700000" algn="tl">
                    <a:srgbClr val="000000">
                      <a:alpha val="43137"/>
                    </a:srgbClr>
                  </a:outerShdw>
                </a:effectLst>
              </a:rPr>
              <a:t>Major life style diseases</a:t>
            </a:r>
            <a:endParaRPr lang="en-US" sz="4800" b="1" dirty="0">
              <a:solidFill>
                <a:schemeClr val="tx2"/>
              </a:solidFill>
              <a:effectLst>
                <a:outerShdw blurRad="38100" dist="38100" dir="2700000" algn="tl">
                  <a:srgbClr val="000000">
                    <a:alpha val="43137"/>
                  </a:srgbClr>
                </a:outerShdw>
              </a:effectLst>
            </a:endParaRPr>
          </a:p>
        </p:txBody>
      </p:sp>
      <p:pic>
        <p:nvPicPr>
          <p:cNvPr id="9" name="Picture 8"/>
          <p:cNvPicPr>
            <a:picLocks noChangeAspect="1"/>
          </p:cNvPicPr>
          <p:nvPr/>
        </p:nvPicPr>
        <p:blipFill>
          <a:blip r:embed="rId3"/>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circle(in)">
                                      <p:cBhvr>
                                        <p:cTn id="12"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228600" y="671691"/>
            <a:ext cx="8686800" cy="6186309"/>
          </a:xfrm>
          <a:prstGeom prst="rect">
            <a:avLst/>
          </a:prstGeom>
        </p:spPr>
        <p:txBody>
          <a:bodyPr wrap="square">
            <a:spAutoFit/>
          </a:bodyPr>
          <a:lstStyle/>
          <a:p>
            <a:pPr algn="just"/>
            <a:r>
              <a:rPr lang="en-US" sz="3600" b="1" dirty="0">
                <a:latin typeface="Times New Roman" panose="02020603050405020304" pitchFamily="18" charset="0"/>
                <a:cs typeface="Times New Roman" panose="02020603050405020304" pitchFamily="18" charset="0"/>
              </a:rPr>
              <a:t>What are the major components of </a:t>
            </a:r>
            <a:r>
              <a:rPr lang="en-US" sz="3600" b="1" dirty="0" smtClean="0">
                <a:latin typeface="Times New Roman" panose="02020603050405020304" pitchFamily="18" charset="0"/>
                <a:cs typeface="Times New Roman" panose="02020603050405020304" pitchFamily="18" charset="0"/>
              </a:rPr>
              <a:t>Lifestyle</a:t>
            </a:r>
            <a:r>
              <a:rPr lang="en-US" sz="3600" dirty="0" smtClean="0">
                <a:latin typeface="Times New Roman" panose="02020603050405020304" pitchFamily="18" charset="0"/>
                <a:cs typeface="Times New Roman" panose="02020603050405020304" pitchFamily="18" charset="0"/>
              </a:rPr>
              <a:t>: </a:t>
            </a:r>
          </a:p>
          <a:p>
            <a:pPr algn="just"/>
            <a:endParaRPr lang="en-US" sz="3600" dirty="0">
              <a:latin typeface="Times New Roman" panose="02020603050405020304" pitchFamily="18" charset="0"/>
              <a:cs typeface="Times New Roman" panose="02020603050405020304" pitchFamily="18" charset="0"/>
            </a:endParaRPr>
          </a:p>
          <a:p>
            <a:pPr marL="571500" indent="-571500" algn="just">
              <a:buClr>
                <a:srgbClr val="C00000"/>
              </a:buCl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lifestyle </a:t>
            </a:r>
            <a:r>
              <a:rPr lang="en-US" sz="3600" dirty="0">
                <a:latin typeface="Times New Roman" panose="02020603050405020304" pitchFamily="18" charset="0"/>
                <a:cs typeface="Times New Roman" panose="02020603050405020304" pitchFamily="18" charset="0"/>
              </a:rPr>
              <a:t>is more of attitudes and </a:t>
            </a:r>
            <a:r>
              <a:rPr lang="en-US" sz="3600" dirty="0" smtClean="0">
                <a:latin typeface="Times New Roman" panose="02020603050405020304" pitchFamily="18" charset="0"/>
                <a:cs typeface="Times New Roman" panose="02020603050405020304" pitchFamily="18" charset="0"/>
              </a:rPr>
              <a:t>behaviors, about  predispositions. </a:t>
            </a:r>
          </a:p>
          <a:p>
            <a:pPr marL="571500" indent="-571500" algn="just">
              <a:buClr>
                <a:srgbClr val="C00000"/>
              </a:buClr>
              <a:buFont typeface="Wingdings" panose="05000000000000000000" pitchFamily="2" charset="2"/>
              <a:buChar char="v"/>
            </a:pPr>
            <a:endParaRPr lang="en-US" sz="3600" dirty="0" smtClean="0">
              <a:latin typeface="Times New Roman" panose="02020603050405020304" pitchFamily="18" charset="0"/>
              <a:cs typeface="Times New Roman" panose="02020603050405020304" pitchFamily="18" charset="0"/>
            </a:endParaRPr>
          </a:p>
          <a:p>
            <a:pPr marL="571500" indent="-571500" algn="just">
              <a:buClr>
                <a:srgbClr val="C00000"/>
              </a:buCl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There are large </a:t>
            </a:r>
            <a:r>
              <a:rPr lang="en-US" sz="3600" dirty="0">
                <a:latin typeface="Times New Roman" panose="02020603050405020304" pitchFamily="18" charset="0"/>
                <a:cs typeface="Times New Roman" panose="02020603050405020304" pitchFamily="18" charset="0"/>
              </a:rPr>
              <a:t>number </a:t>
            </a:r>
            <a:r>
              <a:rPr lang="en-US" sz="3600" dirty="0" smtClean="0">
                <a:latin typeface="Times New Roman" panose="02020603050405020304" pitchFamily="18" charset="0"/>
                <a:cs typeface="Times New Roman" panose="02020603050405020304" pitchFamily="18" charset="0"/>
              </a:rPr>
              <a:t>of components </a:t>
            </a:r>
            <a:r>
              <a:rPr lang="en-US" sz="3600" dirty="0">
                <a:latin typeface="Times New Roman" panose="02020603050405020304" pitchFamily="18" charset="0"/>
                <a:cs typeface="Times New Roman" panose="02020603050405020304" pitchFamily="18" charset="0"/>
              </a:rPr>
              <a:t>of “lifestyle” which affect health, in the form </a:t>
            </a:r>
            <a:r>
              <a:rPr lang="en-US" sz="3600" dirty="0" smtClean="0">
                <a:latin typeface="Times New Roman" panose="02020603050405020304" pitchFamily="18" charset="0"/>
                <a:cs typeface="Times New Roman" panose="02020603050405020304" pitchFamily="18" charset="0"/>
              </a:rPr>
              <a:t>of the </a:t>
            </a:r>
            <a:r>
              <a:rPr lang="en-US" sz="3600" dirty="0">
                <a:latin typeface="Times New Roman" panose="02020603050405020304" pitchFamily="18" charset="0"/>
                <a:cs typeface="Times New Roman" panose="02020603050405020304" pitchFamily="18" charset="0"/>
              </a:rPr>
              <a:t>way we exercise, to sexual mores to habitual hand </a:t>
            </a:r>
            <a:r>
              <a:rPr lang="en-US" sz="3600" dirty="0" smtClean="0">
                <a:latin typeface="Times New Roman" panose="02020603050405020304" pitchFamily="18" charset="0"/>
                <a:cs typeface="Times New Roman" panose="02020603050405020304" pitchFamily="18" charset="0"/>
              </a:rPr>
              <a:t>washing before </a:t>
            </a:r>
            <a:r>
              <a:rPr lang="en-US" sz="3600" dirty="0">
                <a:latin typeface="Times New Roman" panose="02020603050405020304" pitchFamily="18" charset="0"/>
                <a:cs typeface="Times New Roman" panose="02020603050405020304" pitchFamily="18" charset="0"/>
              </a:rPr>
              <a:t>eating meals. </a:t>
            </a:r>
            <a:endParaRPr lang="en-US" sz="3600" dirty="0" smtClean="0">
              <a:latin typeface="Times New Roman" panose="02020603050405020304" pitchFamily="18" charset="0"/>
              <a:cs typeface="Times New Roman" panose="02020603050405020304" pitchFamily="18" charset="0"/>
            </a:endParaRPr>
          </a:p>
          <a:p>
            <a:pPr marL="571500" indent="-571500" algn="just">
              <a:buClr>
                <a:srgbClr val="C00000"/>
              </a:buClr>
              <a:buFont typeface="Wingdings" panose="05000000000000000000" pitchFamily="2" charset="2"/>
              <a:buChar char="v"/>
            </a:pPr>
            <a:endParaRPr lang="en-US" sz="36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533400" y="367605"/>
            <a:ext cx="8382000" cy="1384995"/>
          </a:xfrm>
          <a:prstGeom prst="rect">
            <a:avLst/>
          </a:prstGeom>
        </p:spPr>
        <p:txBody>
          <a:bodyPr wrap="square">
            <a:spAutoFit/>
          </a:bodyPr>
          <a:lstStyle/>
          <a:p>
            <a:pPr algn="just"/>
            <a:r>
              <a:rPr lang="en-US" sz="2800" b="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r>
              <a:rPr lang="en-US" sz="2800" b="1"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rom </a:t>
            </a:r>
            <a:r>
              <a:rPr lang="en-US" sz="2800" b="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preventive point of view, the major facets of lifestyle are </a:t>
            </a:r>
            <a:r>
              <a:rPr lang="en-US" sz="2800" b="1"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following(</a:t>
            </a:r>
            <a:r>
              <a:rPr lang="en-US" sz="2800" b="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Major Components of Unhealthy </a:t>
            </a:r>
            <a:r>
              <a:rPr lang="en-US" sz="2800" b="1"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Lifestyle).</a:t>
            </a:r>
            <a:endParaRPr lang="en-US" sz="2800" b="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p:cNvSpPr/>
          <p:nvPr/>
        </p:nvSpPr>
        <p:spPr>
          <a:xfrm>
            <a:off x="1006764" y="1752600"/>
            <a:ext cx="7527635" cy="4524315"/>
          </a:xfrm>
          <a:prstGeom prst="rect">
            <a:avLst/>
          </a:prstGeom>
        </p:spPr>
        <p:txBody>
          <a:bodyPr wrap="square">
            <a:spAutoFit/>
          </a:bodyPr>
          <a:lstStyle/>
          <a:p>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Lack of physical activity</a:t>
            </a:r>
          </a:p>
          <a:p>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Faulty dietary habits</a:t>
            </a:r>
          </a:p>
          <a:p>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Tobacco use</a:t>
            </a:r>
          </a:p>
          <a:p>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Excessive alcohol intake</a:t>
            </a:r>
          </a:p>
          <a:p>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Mental Stress</a:t>
            </a:r>
          </a:p>
          <a:p>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Disregard to personal safety regarding</a:t>
            </a:r>
          </a:p>
          <a:p>
            <a:r>
              <a:rPr lang="en-US" sz="3200" dirty="0">
                <a:latin typeface="Times New Roman" panose="02020603050405020304" pitchFamily="18" charset="0"/>
                <a:cs typeface="Times New Roman" panose="02020603050405020304" pitchFamily="18" charset="0"/>
              </a:rPr>
              <a:t>- Accidents</a:t>
            </a:r>
          </a:p>
          <a:p>
            <a:r>
              <a:rPr lang="en-US" sz="3200" dirty="0">
                <a:latin typeface="Times New Roman" panose="02020603050405020304" pitchFamily="18" charset="0"/>
                <a:cs typeface="Times New Roman" panose="02020603050405020304" pitchFamily="18" charset="0"/>
              </a:rPr>
              <a:t>- Personal hygiene</a:t>
            </a:r>
          </a:p>
          <a:p>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Unsafe Sex</a:t>
            </a:r>
            <a:endParaRPr lang="en-US" sz="32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609600" y="1354753"/>
            <a:ext cx="8382000" cy="4832092"/>
          </a:xfrm>
          <a:prstGeom prst="rect">
            <a:avLst/>
          </a:prstGeom>
        </p:spPr>
        <p:txBody>
          <a:bodyPr wrap="square">
            <a:spAutoFit/>
          </a:bodyPr>
          <a:lstStyle/>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Rapid </a:t>
            </a:r>
            <a:r>
              <a:rPr lang="en-US" sz="2800" dirty="0" smtClean="0">
                <a:latin typeface="Times New Roman" panose="02020603050405020304" pitchFamily="18" charset="0"/>
                <a:cs typeface="Times New Roman" panose="02020603050405020304" pitchFamily="18" charset="0"/>
              </a:rPr>
              <a:t>Industrialization </a:t>
            </a:r>
            <a:r>
              <a:rPr lang="en-US" sz="2800" dirty="0">
                <a:latin typeface="Times New Roman" panose="02020603050405020304" pitchFamily="18" charset="0"/>
                <a:cs typeface="Times New Roman" panose="02020603050405020304" pitchFamily="18" charset="0"/>
              </a:rPr>
              <a:t>/ Market economy</a:t>
            </a: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Increased global earnings</a:t>
            </a: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Materialism / consumerism</a:t>
            </a:r>
          </a:p>
          <a:p>
            <a:pPr marL="285750" indent="-285750">
              <a:buClr>
                <a:schemeClr val="tx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Mechanization</a:t>
            </a:r>
            <a:endParaRPr lang="en-US" sz="2800" dirty="0">
              <a:latin typeface="Times New Roman" panose="02020603050405020304" pitchFamily="18" charset="0"/>
              <a:cs typeface="Times New Roman" panose="02020603050405020304" pitchFamily="18" charset="0"/>
            </a:endParaRP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Ad - Driven Competitive Food Industry</a:t>
            </a: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TV, Cables, VCDs</a:t>
            </a: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Computers, Internet</a:t>
            </a: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Increasing market of tobacco and alcohol, more so driven by ads</a:t>
            </a:r>
          </a:p>
          <a:p>
            <a:pPr marL="285750" indent="-285750">
              <a:buClr>
                <a:schemeClr val="tx2"/>
              </a:buClr>
              <a:buFont typeface="Wingdings" pitchFamily="2" charset="2"/>
              <a:buChar char="v"/>
            </a:pPr>
            <a:r>
              <a:rPr lang="en-US" sz="2800" dirty="0" smtClean="0">
                <a:latin typeface="Times New Roman" panose="02020603050405020304" pitchFamily="18" charset="0"/>
                <a:cs typeface="Times New Roman" panose="02020603050405020304" pitchFamily="18" charset="0"/>
              </a:rPr>
              <a:t>Career </a:t>
            </a:r>
            <a:r>
              <a:rPr lang="en-US" sz="2800" dirty="0">
                <a:latin typeface="Times New Roman" panose="02020603050405020304" pitchFamily="18" charset="0"/>
                <a:cs typeface="Times New Roman" panose="02020603050405020304" pitchFamily="18" charset="0"/>
              </a:rPr>
              <a:t>Competitiveness</a:t>
            </a:r>
          </a:p>
          <a:p>
            <a:pPr marL="285750" indent="-285750">
              <a:buClr>
                <a:schemeClr val="tx2"/>
              </a:buClr>
              <a:buFont typeface="Wingdings" pitchFamily="2" charset="2"/>
              <a:buChar char="v"/>
            </a:pPr>
            <a:r>
              <a:rPr lang="en-US" sz="2800" dirty="0">
                <a:latin typeface="Times New Roman" panose="02020603050405020304" pitchFamily="18" charset="0"/>
                <a:cs typeface="Times New Roman" panose="02020603050405020304" pitchFamily="18" charset="0"/>
              </a:rPr>
              <a:t>Migration towards urban </a:t>
            </a:r>
            <a:r>
              <a:rPr lang="en-US" sz="2800" dirty="0" smtClean="0">
                <a:latin typeface="Times New Roman" panose="02020603050405020304" pitchFamily="18" charset="0"/>
                <a:cs typeface="Times New Roman" panose="02020603050405020304" pitchFamily="18" charset="0"/>
              </a:rPr>
              <a:t>areas</a:t>
            </a:r>
            <a:endParaRPr lang="en-US" sz="2800" dirty="0">
              <a:latin typeface="Times New Roman" panose="02020603050405020304" pitchFamily="18" charset="0"/>
              <a:cs typeface="Times New Roman" panose="02020603050405020304" pitchFamily="18" charset="0"/>
            </a:endParaRPr>
          </a:p>
        </p:txBody>
      </p:sp>
      <p:sp>
        <p:nvSpPr>
          <p:cNvPr id="5" name="Rectangle 4"/>
          <p:cNvSpPr/>
          <p:nvPr/>
        </p:nvSpPr>
        <p:spPr>
          <a:xfrm>
            <a:off x="457200" y="523202"/>
            <a:ext cx="8686800" cy="954107"/>
          </a:xfrm>
          <a:prstGeom prst="rect">
            <a:avLst/>
          </a:prstGeom>
        </p:spPr>
        <p:txBody>
          <a:bodyPr wrap="square">
            <a:spAutoFit/>
          </a:bodyPr>
          <a:lstStyle/>
          <a:p>
            <a:pPr algn="just"/>
            <a:r>
              <a:rPr lang="en-US" sz="2800" b="1" dirty="0" smtClean="0">
                <a:solidFill>
                  <a:schemeClr val="tx2"/>
                </a:solidFill>
                <a:latin typeface="Times New Roman" panose="02020603050405020304" pitchFamily="18" charset="0"/>
                <a:cs typeface="Times New Roman" panose="02020603050405020304" pitchFamily="18" charset="0"/>
              </a:rPr>
              <a:t>Socio-Environmental </a:t>
            </a:r>
            <a:r>
              <a:rPr lang="en-US" sz="2800" b="1" dirty="0">
                <a:solidFill>
                  <a:schemeClr val="tx2"/>
                </a:solidFill>
                <a:latin typeface="Times New Roman" panose="02020603050405020304" pitchFamily="18" charset="0"/>
                <a:cs typeface="Times New Roman" panose="02020603050405020304" pitchFamily="18" charset="0"/>
              </a:rPr>
              <a:t>Changes </a:t>
            </a:r>
            <a:r>
              <a:rPr lang="en-US" sz="2800" b="1" dirty="0" smtClean="0">
                <a:solidFill>
                  <a:schemeClr val="tx2"/>
                </a:solidFill>
                <a:latin typeface="Times New Roman" panose="02020603050405020304" pitchFamily="18" charset="0"/>
                <a:cs typeface="Times New Roman" panose="02020603050405020304" pitchFamily="18" charset="0"/>
              </a:rPr>
              <a:t>leading to Increase </a:t>
            </a:r>
            <a:r>
              <a:rPr lang="en-US" sz="2800" b="1" dirty="0">
                <a:solidFill>
                  <a:schemeClr val="tx2"/>
                </a:solidFill>
                <a:latin typeface="Times New Roman" panose="02020603050405020304" pitchFamily="18" charset="0"/>
                <a:cs typeface="Times New Roman" panose="02020603050405020304" pitchFamily="18" charset="0"/>
              </a:rPr>
              <a:t>Unhealthy </a:t>
            </a:r>
            <a:r>
              <a:rPr lang="en-US" sz="2800" b="1" dirty="0" smtClean="0">
                <a:solidFill>
                  <a:schemeClr val="tx2"/>
                </a:solidFill>
                <a:latin typeface="Times New Roman" panose="02020603050405020304" pitchFamily="18" charset="0"/>
                <a:cs typeface="Times New Roman" panose="02020603050405020304" pitchFamily="18" charset="0"/>
              </a:rPr>
              <a:t>Lifestyles</a:t>
            </a:r>
            <a:endParaRPr lang="en-US" sz="2800" dirty="0">
              <a:solidFill>
                <a:schemeClr val="tx2"/>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384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sp>
        <p:nvSpPr>
          <p:cNvPr id="3" name="Rectangle 2"/>
          <p:cNvSpPr/>
          <p:nvPr/>
        </p:nvSpPr>
        <p:spPr>
          <a:xfrm>
            <a:off x="685800" y="2377907"/>
            <a:ext cx="8382000" cy="2123658"/>
          </a:xfrm>
          <a:prstGeom prst="rect">
            <a:avLst/>
          </a:prstGeom>
        </p:spPr>
        <p:txBody>
          <a:bodyPr wrap="square">
            <a:spAutoFit/>
          </a:bodyPr>
          <a:lstStyle/>
          <a:p>
            <a:pPr algn="ctr"/>
            <a:r>
              <a:rPr lang="en-US" sz="4400" b="1" dirty="0">
                <a:solidFill>
                  <a:srgbClr val="FF0000"/>
                </a:solidFill>
                <a:effectLst>
                  <a:outerShdw blurRad="38100" dist="38100" dir="2700000" algn="tl">
                    <a:srgbClr val="000000">
                      <a:alpha val="43137"/>
                    </a:srgbClr>
                  </a:outerShdw>
                </a:effectLst>
              </a:rPr>
              <a:t>Key Challenges </a:t>
            </a:r>
            <a:r>
              <a:rPr lang="en-US" sz="4400" b="1" dirty="0" smtClean="0">
                <a:solidFill>
                  <a:srgbClr val="FF0000"/>
                </a:solidFill>
                <a:effectLst>
                  <a:outerShdw blurRad="38100" dist="38100" dir="2700000" algn="tl">
                    <a:srgbClr val="000000">
                      <a:alpha val="43137"/>
                    </a:srgbClr>
                  </a:outerShdw>
                </a:effectLst>
              </a:rPr>
              <a:t>of</a:t>
            </a:r>
          </a:p>
          <a:p>
            <a:pPr algn="ctr"/>
            <a:r>
              <a:rPr lang="en-US" sz="4400" b="1" dirty="0" smtClean="0">
                <a:solidFill>
                  <a:srgbClr val="FF0000"/>
                </a:solidFill>
                <a:effectLst>
                  <a:outerShdw blurRad="38100" dist="38100" dir="2700000" algn="tl">
                    <a:srgbClr val="000000">
                      <a:alpha val="43137"/>
                    </a:srgbClr>
                  </a:outerShdw>
                </a:effectLst>
              </a:rPr>
              <a:t> </a:t>
            </a:r>
            <a:r>
              <a:rPr lang="en-US" sz="4400" b="1" dirty="0">
                <a:solidFill>
                  <a:srgbClr val="FF0000"/>
                </a:solidFill>
                <a:effectLst>
                  <a:outerShdw blurRad="38100" dist="38100" dir="2700000" algn="tl">
                    <a:srgbClr val="000000">
                      <a:alpha val="43137"/>
                    </a:srgbClr>
                  </a:outerShdw>
                </a:effectLst>
              </a:rPr>
              <a:t>Non-Communicable Diseases in Iraq</a:t>
            </a:r>
          </a:p>
        </p:txBody>
      </p:sp>
      <p:pic>
        <p:nvPicPr>
          <p:cNvPr id="9" name="Picture 8"/>
          <p:cNvPicPr>
            <a:picLocks noChangeAspect="1"/>
          </p:cNvPicPr>
          <p:nvPr/>
        </p:nvPicPr>
        <p:blipFill>
          <a:blip r:embed="rId2"/>
          <a:stretch>
            <a:fillRect/>
          </a:stretch>
        </p:blipFill>
        <p:spPr>
          <a:xfrm>
            <a:off x="76201" y="76200"/>
            <a:ext cx="1240276" cy="457200"/>
          </a:xfrm>
          <a:prstGeom prst="rect">
            <a:avLst/>
          </a:prstGeom>
        </p:spPr>
      </p:pic>
    </p:spTree>
    <p:extLst>
      <p:ext uri="{BB962C8B-B14F-4D97-AF65-F5344CB8AC3E}">
        <p14:creationId xmlns:p14="http://schemas.microsoft.com/office/powerpoint/2010/main" val="3968218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40641" y="4114800"/>
            <a:ext cx="9144000" cy="1938992"/>
          </a:xfrm>
          <a:prstGeom prst="rect">
            <a:avLst/>
          </a:prstGeom>
        </p:spPr>
        <p:txBody>
          <a:bodyPr wrap="square">
            <a:spAutoFit/>
          </a:bodyPr>
          <a:lstStyle/>
          <a:p>
            <a:pPr algn="just"/>
            <a:r>
              <a:rPr lang="en-US" sz="2400" b="1" dirty="0" smtClean="0">
                <a:latin typeface="Times New Roman" panose="02020603050405020304" pitchFamily="18" charset="0"/>
                <a:cs typeface="Times New Roman" panose="02020603050405020304" pitchFamily="18" charset="0"/>
              </a:rPr>
              <a:t>Shift </a:t>
            </a:r>
            <a:r>
              <a:rPr lang="en-US" sz="2400" b="1" dirty="0">
                <a:latin typeface="Times New Roman" panose="02020603050405020304" pitchFamily="18" charset="0"/>
                <a:cs typeface="Times New Roman" panose="02020603050405020304" pitchFamily="18" charset="0"/>
              </a:rPr>
              <a:t>from infectious to chronic diseases: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Like </a:t>
            </a:r>
            <a:r>
              <a:rPr lang="en-US" sz="2400" dirty="0">
                <a:latin typeface="Times New Roman" panose="02020603050405020304" pitchFamily="18" charset="0"/>
                <a:cs typeface="Times New Roman" panose="02020603050405020304" pitchFamily="18" charset="0"/>
              </a:rPr>
              <a:t>many other countries, Iraq is experiencing a demographic and epidemiological transition, where the burden of infectious diseases is being replaced by NCDs, which now account for a large proportion of deaths.</a:t>
            </a:r>
          </a:p>
        </p:txBody>
      </p:sp>
      <p:sp>
        <p:nvSpPr>
          <p:cNvPr id="5" name="Rectangle 4"/>
          <p:cNvSpPr/>
          <p:nvPr/>
        </p:nvSpPr>
        <p:spPr>
          <a:xfrm>
            <a:off x="0" y="671691"/>
            <a:ext cx="7620000" cy="523220"/>
          </a:xfrm>
          <a:prstGeom prst="rect">
            <a:avLst/>
          </a:prstGeom>
        </p:spPr>
        <p:txBody>
          <a:bodyPr wrap="square">
            <a:spAutoFit/>
          </a:bodyPr>
          <a:lstStyle/>
          <a:p>
            <a:pPr lvl="0"/>
            <a:r>
              <a:rPr lang="en-US" sz="2800" b="1" dirty="0">
                <a:solidFill>
                  <a:prstClr val="black"/>
                </a:solidFill>
                <a:latin typeface="Times New Roman" panose="02020603050405020304" pitchFamily="18" charset="0"/>
                <a:cs typeface="Times New Roman" panose="02020603050405020304" pitchFamily="18" charset="0"/>
              </a:rPr>
              <a:t>1. High Prevalence and Rising Burden</a:t>
            </a:r>
          </a:p>
        </p:txBody>
      </p:sp>
      <p:sp>
        <p:nvSpPr>
          <p:cNvPr id="7" name="Rectangle 6"/>
          <p:cNvSpPr/>
          <p:nvPr/>
        </p:nvSpPr>
        <p:spPr>
          <a:xfrm>
            <a:off x="228599" y="1388984"/>
            <a:ext cx="8956041" cy="2308324"/>
          </a:xfrm>
          <a:prstGeom prst="rect">
            <a:avLst/>
          </a:prstGeom>
        </p:spPr>
        <p:txBody>
          <a:bodyPr wrap="square">
            <a:spAutoFit/>
          </a:bodyPr>
          <a:lstStyle/>
          <a:p>
            <a:pPr lvl="0"/>
            <a:r>
              <a:rPr lang="en-US" sz="2400" b="1" dirty="0">
                <a:solidFill>
                  <a:prstClr val="black"/>
                </a:solidFill>
                <a:latin typeface="Times New Roman" panose="02020603050405020304" pitchFamily="18" charset="0"/>
                <a:cs typeface="Times New Roman" panose="02020603050405020304" pitchFamily="18" charset="0"/>
              </a:rPr>
              <a:t>Increasing prevalence:</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smtClean="0">
                <a:solidFill>
                  <a:prstClr val="black"/>
                </a:solidFill>
                <a:latin typeface="Times New Roman" panose="02020603050405020304" pitchFamily="18" charset="0"/>
                <a:cs typeface="Times New Roman" panose="02020603050405020304" pitchFamily="18" charset="0"/>
              </a:rPr>
              <a:t>NCDs </a:t>
            </a:r>
            <a:r>
              <a:rPr lang="en-US" sz="2400" dirty="0">
                <a:solidFill>
                  <a:prstClr val="black"/>
                </a:solidFill>
                <a:latin typeface="Times New Roman" panose="02020603050405020304" pitchFamily="18" charset="0"/>
                <a:cs typeface="Times New Roman" panose="02020603050405020304" pitchFamily="18" charset="0"/>
              </a:rPr>
              <a:t>have been steadily increasing in Iraq, reflecting global trends.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smtClean="0">
                <a:solidFill>
                  <a:prstClr val="black"/>
                </a:solidFill>
                <a:latin typeface="Times New Roman" panose="02020603050405020304" pitchFamily="18" charset="0"/>
                <a:cs typeface="Times New Roman" panose="02020603050405020304" pitchFamily="18" charset="0"/>
              </a:rPr>
              <a:t>The </a:t>
            </a:r>
            <a:r>
              <a:rPr lang="en-US" sz="2400" dirty="0">
                <a:solidFill>
                  <a:prstClr val="black"/>
                </a:solidFill>
                <a:latin typeface="Times New Roman" panose="02020603050405020304" pitchFamily="18" charset="0"/>
                <a:cs typeface="Times New Roman" panose="02020603050405020304" pitchFamily="18" charset="0"/>
              </a:rPr>
              <a:t>country's population is aging, urbanization is rising, and lifestyle changes (such as poor diet and reduced physical activity) contribute to the growing incidence of conditions like heart disease, stroke, diabetes, and cancers.</a:t>
            </a:r>
          </a:p>
        </p:txBody>
      </p:sp>
    </p:spTree>
    <p:extLst>
      <p:ext uri="{BB962C8B-B14F-4D97-AF65-F5344CB8AC3E}">
        <p14:creationId xmlns:p14="http://schemas.microsoft.com/office/powerpoint/2010/main" val="13424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113030" y="5146595"/>
            <a:ext cx="8991599" cy="1200329"/>
          </a:xfrm>
          <a:prstGeom prst="rect">
            <a:avLst/>
          </a:prstGeom>
        </p:spPr>
        <p:txBody>
          <a:bodyPr wrap="square">
            <a:spAutoFit/>
          </a:bodyPr>
          <a:lstStyle/>
          <a:p>
            <a:pPr algn="just">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Alcohol </a:t>
            </a:r>
            <a:r>
              <a:rPr lang="en-US" sz="2400" b="1" dirty="0">
                <a:latin typeface="Times New Roman" panose="02020603050405020304" pitchFamily="18" charset="0"/>
                <a:cs typeface="Times New Roman" panose="02020603050405020304" pitchFamily="18" charset="0"/>
              </a:rPr>
              <a:t>consumption:</a:t>
            </a:r>
            <a:r>
              <a:rPr lang="en-US" sz="2400" dirty="0">
                <a:latin typeface="Times New Roman" panose="02020603050405020304" pitchFamily="18" charset="0"/>
                <a:cs typeface="Times New Roman" panose="02020603050405020304" pitchFamily="18" charset="0"/>
              </a:rPr>
              <a:t> While alcohol consumption is limited due to cultural and religious reasons, there are still some concerns regarding its use, particularly among certain segments of the population.</a:t>
            </a:r>
          </a:p>
        </p:txBody>
      </p:sp>
      <p:sp>
        <p:nvSpPr>
          <p:cNvPr id="5" name="Rectangle 4"/>
          <p:cNvSpPr/>
          <p:nvPr/>
        </p:nvSpPr>
        <p:spPr>
          <a:xfrm>
            <a:off x="1828800" y="390485"/>
            <a:ext cx="7010400" cy="584775"/>
          </a:xfrm>
          <a:prstGeom prst="rect">
            <a:avLst/>
          </a:prstGeom>
        </p:spPr>
        <p:txBody>
          <a:bodyPr wrap="square">
            <a:spAutoFit/>
          </a:bodyPr>
          <a:lstStyle/>
          <a:p>
            <a:pPr lvl="0"/>
            <a:r>
              <a:rPr lang="en-US" sz="3200" b="1" dirty="0">
                <a:solidFill>
                  <a:prstClr val="black"/>
                </a:solidFill>
                <a:latin typeface="Times New Roman" panose="02020603050405020304" pitchFamily="18" charset="0"/>
                <a:cs typeface="Times New Roman" panose="02020603050405020304" pitchFamily="18" charset="0"/>
              </a:rPr>
              <a:t>2. Lifestyle Factors and Risk Behaviors</a:t>
            </a:r>
          </a:p>
        </p:txBody>
      </p:sp>
      <p:sp>
        <p:nvSpPr>
          <p:cNvPr id="7" name="Rectangle 6"/>
          <p:cNvSpPr/>
          <p:nvPr/>
        </p:nvSpPr>
        <p:spPr>
          <a:xfrm>
            <a:off x="-25400" y="1174988"/>
            <a:ext cx="9169400" cy="1200329"/>
          </a:xfrm>
          <a:prstGeom prst="rect">
            <a:avLst/>
          </a:prstGeom>
        </p:spPr>
        <p:txBody>
          <a:bodyPr wrap="square">
            <a:spAutoFit/>
          </a:bodyPr>
          <a:lstStyle/>
          <a:p>
            <a:pPr lvl="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Unhealthy diet:</a:t>
            </a:r>
            <a:r>
              <a:rPr lang="en-US" sz="2400" dirty="0">
                <a:solidFill>
                  <a:prstClr val="black"/>
                </a:solidFill>
                <a:latin typeface="Times New Roman" panose="02020603050405020304" pitchFamily="18" charset="0"/>
                <a:cs typeface="Times New Roman" panose="02020603050405020304" pitchFamily="18" charset="0"/>
              </a:rPr>
              <a:t> The consumption of processed foods, high in sugars, fats, and salt, is common. This dietary pattern is a major contributor to obesity, hypertension, and diabetes.</a:t>
            </a:r>
          </a:p>
        </p:txBody>
      </p:sp>
      <p:sp>
        <p:nvSpPr>
          <p:cNvPr id="8" name="Rectangle 7"/>
          <p:cNvSpPr/>
          <p:nvPr/>
        </p:nvSpPr>
        <p:spPr>
          <a:xfrm>
            <a:off x="54611" y="2486283"/>
            <a:ext cx="9034778" cy="1200329"/>
          </a:xfrm>
          <a:prstGeom prst="rect">
            <a:avLst/>
          </a:prstGeom>
        </p:spPr>
        <p:txBody>
          <a:bodyPr wrap="square">
            <a:spAutoFit/>
          </a:bodyPr>
          <a:lstStyle/>
          <a:p>
            <a:pPr lvl="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Physical inactivity:</a:t>
            </a:r>
            <a:r>
              <a:rPr lang="en-US" sz="2400" dirty="0">
                <a:solidFill>
                  <a:prstClr val="black"/>
                </a:solidFill>
                <a:latin typeface="Times New Roman" panose="02020603050405020304" pitchFamily="18" charset="0"/>
                <a:cs typeface="Times New Roman" panose="02020603050405020304" pitchFamily="18" charset="0"/>
              </a:rPr>
              <a:t> With increasing urbanization, many Iraqis lead sedentary lifestyles, which is a major risk factor for cardiovascular disease, type 2 diabetes, and certain cancers.</a:t>
            </a:r>
          </a:p>
        </p:txBody>
      </p:sp>
      <p:sp>
        <p:nvSpPr>
          <p:cNvPr id="9" name="Rectangle 8"/>
          <p:cNvSpPr/>
          <p:nvPr/>
        </p:nvSpPr>
        <p:spPr>
          <a:xfrm>
            <a:off x="113030" y="3782338"/>
            <a:ext cx="9144000" cy="1200329"/>
          </a:xfrm>
          <a:prstGeom prst="rect">
            <a:avLst/>
          </a:prstGeom>
        </p:spPr>
        <p:txBody>
          <a:bodyPr wrap="square">
            <a:spAutoFit/>
          </a:bodyPr>
          <a:lstStyle/>
          <a:p>
            <a:pPr lvl="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Smoking and tobacco use:</a:t>
            </a:r>
            <a:r>
              <a:rPr lang="en-US" sz="2400" dirty="0">
                <a:solidFill>
                  <a:prstClr val="black"/>
                </a:solidFill>
                <a:latin typeface="Times New Roman" panose="02020603050405020304" pitchFamily="18" charset="0"/>
                <a:cs typeface="Times New Roman" panose="02020603050405020304" pitchFamily="18" charset="0"/>
              </a:rPr>
              <a:t> Smoking rates are relatively high, especially among men, and tobacco use is a significant contributor to lung cancer, respiratory diseases, and cardiovascular diseases.</a:t>
            </a:r>
          </a:p>
        </p:txBody>
      </p:sp>
    </p:spTree>
    <p:extLst>
      <p:ext uri="{BB962C8B-B14F-4D97-AF65-F5344CB8AC3E}">
        <p14:creationId xmlns:p14="http://schemas.microsoft.com/office/powerpoint/2010/main" val="27889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1000"/>
                                        <p:tgtEl>
                                          <p:spTgt spid="3"/>
                                        </p:tgtEl>
                                      </p:cBhvr>
                                    </p:animEffect>
                                    <p:anim calcmode="lin" valueType="num">
                                      <p:cBhvr>
                                        <p:cTn id="36" dur="1000" fill="hold"/>
                                        <p:tgtEl>
                                          <p:spTgt spid="3"/>
                                        </p:tgtEl>
                                        <p:attrNameLst>
                                          <p:attrName>ppt_x</p:attrName>
                                        </p:attrNameLst>
                                      </p:cBhvr>
                                      <p:tavLst>
                                        <p:tav tm="0">
                                          <p:val>
                                            <p:strVal val="#ppt_x"/>
                                          </p:val>
                                        </p:tav>
                                        <p:tav tm="100000">
                                          <p:val>
                                            <p:strVal val="#ppt_x"/>
                                          </p:val>
                                        </p:tav>
                                      </p:tavLst>
                                    </p:anim>
                                    <p:anim calcmode="lin" valueType="num">
                                      <p:cBhvr>
                                        <p:cTn id="3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152400" y="5242441"/>
            <a:ext cx="9144000" cy="1200329"/>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Inconsistent </a:t>
            </a:r>
            <a:r>
              <a:rPr lang="en-US" sz="2400" b="1" dirty="0">
                <a:latin typeface="Times New Roman" panose="02020603050405020304" pitchFamily="18" charset="0"/>
                <a:cs typeface="Times New Roman" panose="02020603050405020304" pitchFamily="18" charset="0"/>
              </a:rPr>
              <a:t>medical supply and medication availability:</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Essential </a:t>
            </a:r>
            <a:r>
              <a:rPr lang="en-US" sz="2400" dirty="0">
                <a:latin typeface="Times New Roman" panose="02020603050405020304" pitchFamily="18" charset="0"/>
                <a:cs typeface="Times New Roman" panose="02020603050405020304" pitchFamily="18" charset="0"/>
              </a:rPr>
              <a:t>drugs for treating conditions such as hypertension, diabetes, and cancer can be scarce, and supply chains are often disrupted.</a:t>
            </a:r>
          </a:p>
        </p:txBody>
      </p:sp>
      <p:sp>
        <p:nvSpPr>
          <p:cNvPr id="5" name="Rectangle 4"/>
          <p:cNvSpPr/>
          <p:nvPr/>
        </p:nvSpPr>
        <p:spPr>
          <a:xfrm>
            <a:off x="1507309" y="-5060"/>
            <a:ext cx="6281784" cy="523220"/>
          </a:xfrm>
          <a:prstGeom prst="rect">
            <a:avLst/>
          </a:prstGeom>
        </p:spPr>
        <p:txBody>
          <a:bodyPr wrap="none">
            <a:spAutoFit/>
          </a:bodyPr>
          <a:lstStyle/>
          <a:p>
            <a:pPr lvl="0"/>
            <a:r>
              <a:rPr lang="en-US" sz="2800" b="1" dirty="0">
                <a:solidFill>
                  <a:prstClr val="black"/>
                </a:solidFill>
                <a:latin typeface="Times New Roman" panose="02020603050405020304" pitchFamily="18" charset="0"/>
                <a:cs typeface="Times New Roman" panose="02020603050405020304" pitchFamily="18" charset="0"/>
              </a:rPr>
              <a:t>3. Healthcare Infrastructure and Access</a:t>
            </a:r>
          </a:p>
        </p:txBody>
      </p:sp>
      <p:sp>
        <p:nvSpPr>
          <p:cNvPr id="7" name="Rectangle 6"/>
          <p:cNvSpPr/>
          <p:nvPr/>
        </p:nvSpPr>
        <p:spPr>
          <a:xfrm>
            <a:off x="-10160" y="658519"/>
            <a:ext cx="9136158" cy="2308324"/>
          </a:xfrm>
          <a:prstGeom prst="rect">
            <a:avLst/>
          </a:prstGeom>
        </p:spPr>
        <p:txBody>
          <a:bodyPr wrap="square">
            <a:spAutoFit/>
          </a:bodyPr>
          <a:lstStyle/>
          <a:p>
            <a:pPr lvl="0" algn="just"/>
            <a:r>
              <a:rPr lang="en-US" sz="2400" b="1" dirty="0">
                <a:solidFill>
                  <a:prstClr val="black"/>
                </a:solidFill>
                <a:latin typeface="Times New Roman" panose="02020603050405020304" pitchFamily="18" charset="0"/>
                <a:cs typeface="Times New Roman" panose="02020603050405020304" pitchFamily="18" charset="0"/>
              </a:rPr>
              <a:t>Weak healthcare system:</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400" dirty="0" smtClean="0">
                <a:solidFill>
                  <a:prstClr val="black"/>
                </a:solidFill>
                <a:latin typeface="Times New Roman" panose="02020603050405020304" pitchFamily="18" charset="0"/>
                <a:cs typeface="Times New Roman" panose="02020603050405020304" pitchFamily="18" charset="0"/>
              </a:rPr>
              <a:t>Iraq's </a:t>
            </a:r>
            <a:r>
              <a:rPr lang="en-US" sz="2400" dirty="0">
                <a:solidFill>
                  <a:prstClr val="black"/>
                </a:solidFill>
                <a:latin typeface="Times New Roman" panose="02020603050405020304" pitchFamily="18" charset="0"/>
                <a:cs typeface="Times New Roman" panose="02020603050405020304" pitchFamily="18" charset="0"/>
              </a:rPr>
              <a:t>healthcare system has faced significant challenges due to years of conflict, economic instability, and underinvestment.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400" dirty="0" smtClean="0">
                <a:solidFill>
                  <a:prstClr val="black"/>
                </a:solidFill>
                <a:latin typeface="Times New Roman" panose="02020603050405020304" pitchFamily="18" charset="0"/>
                <a:cs typeface="Times New Roman" panose="02020603050405020304" pitchFamily="18" charset="0"/>
              </a:rPr>
              <a:t>The </a:t>
            </a:r>
            <a:r>
              <a:rPr lang="en-US" sz="2400" dirty="0">
                <a:solidFill>
                  <a:prstClr val="black"/>
                </a:solidFill>
                <a:latin typeface="Times New Roman" panose="02020603050405020304" pitchFamily="18" charset="0"/>
                <a:cs typeface="Times New Roman" panose="02020603050405020304" pitchFamily="18" charset="0"/>
              </a:rPr>
              <a:t>system is often overwhelmed, especially in rural and conflict-affected areas, leading to limited access to essential services and a lack of specialized care for managing NCDs.</a:t>
            </a:r>
          </a:p>
        </p:txBody>
      </p:sp>
      <p:sp>
        <p:nvSpPr>
          <p:cNvPr id="8" name="Rectangle 7"/>
          <p:cNvSpPr/>
          <p:nvPr/>
        </p:nvSpPr>
        <p:spPr>
          <a:xfrm>
            <a:off x="55881" y="2979546"/>
            <a:ext cx="9144000" cy="2308324"/>
          </a:xfrm>
          <a:prstGeom prst="rect">
            <a:avLst/>
          </a:prstGeom>
        </p:spPr>
        <p:txBody>
          <a:bodyPr wrap="square">
            <a:spAutoFit/>
          </a:bodyPr>
          <a:lstStyle/>
          <a:p>
            <a:pPr lvl="0"/>
            <a:r>
              <a:rPr lang="en-US" sz="2400" b="1" dirty="0">
                <a:solidFill>
                  <a:prstClr val="black"/>
                </a:solidFill>
                <a:latin typeface="Times New Roman" panose="02020603050405020304" pitchFamily="18" charset="0"/>
                <a:cs typeface="Times New Roman" panose="02020603050405020304" pitchFamily="18" charset="0"/>
              </a:rPr>
              <a:t>Limited healthcare resources:</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smtClean="0">
                <a:solidFill>
                  <a:prstClr val="black"/>
                </a:solidFill>
                <a:latin typeface="Times New Roman" panose="02020603050405020304" pitchFamily="18" charset="0"/>
                <a:cs typeface="Times New Roman" panose="02020603050405020304" pitchFamily="18" charset="0"/>
              </a:rPr>
              <a:t>There </a:t>
            </a:r>
            <a:r>
              <a:rPr lang="en-US" sz="2400" dirty="0">
                <a:solidFill>
                  <a:prstClr val="black"/>
                </a:solidFill>
                <a:latin typeface="Times New Roman" panose="02020603050405020304" pitchFamily="18" charset="0"/>
                <a:cs typeface="Times New Roman" panose="02020603050405020304" pitchFamily="18" charset="0"/>
              </a:rPr>
              <a:t>is a shortage of trained healthcare professionals, particularly in the fields of cardiology, oncology, and endocrinology. </a:t>
            </a:r>
            <a:endParaRPr lang="en-US" sz="2400" dirty="0" smtClean="0">
              <a:solidFill>
                <a:prstClr val="black"/>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2400" dirty="0" smtClean="0">
                <a:solidFill>
                  <a:prstClr val="black"/>
                </a:solidFill>
                <a:latin typeface="Times New Roman" panose="02020603050405020304" pitchFamily="18" charset="0"/>
                <a:cs typeface="Times New Roman" panose="02020603050405020304" pitchFamily="18" charset="0"/>
              </a:rPr>
              <a:t>Diagnostic </a:t>
            </a:r>
            <a:r>
              <a:rPr lang="en-US" sz="2400" dirty="0">
                <a:solidFill>
                  <a:prstClr val="black"/>
                </a:solidFill>
                <a:latin typeface="Times New Roman" panose="02020603050405020304" pitchFamily="18" charset="0"/>
                <a:cs typeface="Times New Roman" panose="02020603050405020304" pitchFamily="18" charset="0"/>
              </a:rPr>
              <a:t>and treatment facilities for chronic conditions are often inadequate, which makes early diagnosis and effective management more difficult.</a:t>
            </a:r>
          </a:p>
        </p:txBody>
      </p:sp>
    </p:spTree>
    <p:extLst>
      <p:ext uri="{BB962C8B-B14F-4D97-AF65-F5344CB8AC3E}">
        <p14:creationId xmlns:p14="http://schemas.microsoft.com/office/powerpoint/2010/main" val="2672294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40640" y="4718368"/>
            <a:ext cx="9144000" cy="1569660"/>
          </a:xfrm>
          <a:prstGeom prst="rect">
            <a:avLst/>
          </a:prstGeom>
        </p:spPr>
        <p:txBody>
          <a:bodyPr wrap="square">
            <a:spAutoFit/>
          </a:bodyPr>
          <a:lstStyle/>
          <a:p>
            <a:pPr algn="just">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Cultural </a:t>
            </a:r>
            <a:r>
              <a:rPr lang="en-US" sz="2400" b="1" dirty="0">
                <a:latin typeface="Times New Roman" panose="02020603050405020304" pitchFamily="18" charset="0"/>
                <a:cs typeface="Times New Roman" panose="02020603050405020304" pitchFamily="18" charset="0"/>
              </a:rPr>
              <a:t>and social factors:</a:t>
            </a:r>
            <a:r>
              <a:rPr lang="en-US" sz="2400" dirty="0">
                <a:latin typeface="Times New Roman" panose="02020603050405020304" pitchFamily="18" charset="0"/>
                <a:cs typeface="Times New Roman" panose="02020603050405020304" pitchFamily="18" charset="0"/>
              </a:rPr>
              <a:t> Cultural attitudes towards health, illness, and healthcare may prevent individuals from seeking care or adopting preventive measures. There may be stigma around diseases like mental illness or cancer, which further limits awareness and action.</a:t>
            </a:r>
          </a:p>
        </p:txBody>
      </p:sp>
      <p:sp>
        <p:nvSpPr>
          <p:cNvPr id="5" name="Rectangle 4"/>
          <p:cNvSpPr/>
          <p:nvPr/>
        </p:nvSpPr>
        <p:spPr>
          <a:xfrm>
            <a:off x="0" y="548640"/>
            <a:ext cx="7696200" cy="523220"/>
          </a:xfrm>
          <a:prstGeom prst="rect">
            <a:avLst/>
          </a:prstGeom>
        </p:spPr>
        <p:txBody>
          <a:bodyPr wrap="square">
            <a:spAutoFit/>
          </a:bodyPr>
          <a:lstStyle/>
          <a:p>
            <a:pPr lvl="0" algn="just"/>
            <a:r>
              <a:rPr lang="en-US" sz="2800" b="1" dirty="0">
                <a:solidFill>
                  <a:prstClr val="black"/>
                </a:solidFill>
                <a:latin typeface="Times New Roman" panose="02020603050405020304" pitchFamily="18" charset="0"/>
                <a:cs typeface="Times New Roman" panose="02020603050405020304" pitchFamily="18" charset="0"/>
              </a:rPr>
              <a:t>4. Limited Public Awareness and Education</a:t>
            </a:r>
          </a:p>
        </p:txBody>
      </p:sp>
      <p:sp>
        <p:nvSpPr>
          <p:cNvPr id="7" name="Rectangle 6"/>
          <p:cNvSpPr/>
          <p:nvPr/>
        </p:nvSpPr>
        <p:spPr>
          <a:xfrm>
            <a:off x="35560" y="1234727"/>
            <a:ext cx="9067800" cy="1569660"/>
          </a:xfrm>
          <a:prstGeom prst="rect">
            <a:avLst/>
          </a:prstGeom>
        </p:spPr>
        <p:txBody>
          <a:bodyPr wrap="square">
            <a:spAutoFit/>
          </a:bodyPr>
          <a:lstStyle/>
          <a:p>
            <a:pPr lvl="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Lack of awareness:</a:t>
            </a:r>
            <a:r>
              <a:rPr lang="en-US" sz="2400" dirty="0">
                <a:solidFill>
                  <a:prstClr val="black"/>
                </a:solidFill>
                <a:latin typeface="Times New Roman" panose="02020603050405020304" pitchFamily="18" charset="0"/>
                <a:cs typeface="Times New Roman" panose="02020603050405020304" pitchFamily="18" charset="0"/>
              </a:rPr>
              <a:t> Public awareness about the prevention and management of NCDs remains low in Iraq. Many individuals are unaware of the risk factors for these diseases or the importance of early screening and intervention.</a:t>
            </a:r>
          </a:p>
        </p:txBody>
      </p:sp>
      <p:sp>
        <p:nvSpPr>
          <p:cNvPr id="8" name="Rectangle 7"/>
          <p:cNvSpPr/>
          <p:nvPr/>
        </p:nvSpPr>
        <p:spPr>
          <a:xfrm>
            <a:off x="-40640" y="2944160"/>
            <a:ext cx="9220200" cy="1569660"/>
          </a:xfrm>
          <a:prstGeom prst="rect">
            <a:avLst/>
          </a:prstGeom>
        </p:spPr>
        <p:txBody>
          <a:bodyPr wrap="square">
            <a:spAutoFit/>
          </a:bodyPr>
          <a:lstStyle/>
          <a:p>
            <a:pPr lvl="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Limited health education programs:</a:t>
            </a:r>
            <a:r>
              <a:rPr lang="en-US" sz="2400" dirty="0">
                <a:solidFill>
                  <a:prstClr val="black"/>
                </a:solidFill>
                <a:latin typeface="Times New Roman" panose="02020603050405020304" pitchFamily="18" charset="0"/>
                <a:cs typeface="Times New Roman" panose="02020603050405020304" pitchFamily="18" charset="0"/>
              </a:rPr>
              <a:t> There is a need for widespread public health campaigns aimed at educating the population about the dangers of unhealthy behaviors such as smoking, poor diet, and lack of exercise.</a:t>
            </a:r>
          </a:p>
        </p:txBody>
      </p:sp>
    </p:spTree>
    <p:extLst>
      <p:ext uri="{BB962C8B-B14F-4D97-AF65-F5344CB8AC3E}">
        <p14:creationId xmlns:p14="http://schemas.microsoft.com/office/powerpoint/2010/main" val="365114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50800" y="3956310"/>
            <a:ext cx="9067800" cy="2246769"/>
          </a:xfrm>
          <a:prstGeom prst="rect">
            <a:avLst/>
          </a:prstGeom>
        </p:spPr>
        <p:txBody>
          <a:bodyPr wrap="square">
            <a:spAutoFit/>
          </a:bodyPr>
          <a:lstStyle/>
          <a:p>
            <a:r>
              <a:rPr lang="en-US" sz="2800" b="1" dirty="0" smtClean="0">
                <a:latin typeface="Times New Roman" panose="02020603050405020304" pitchFamily="18" charset="0"/>
                <a:cs typeface="Times New Roman" panose="02020603050405020304" pitchFamily="18" charset="0"/>
              </a:rPr>
              <a:t>Impact </a:t>
            </a:r>
            <a:r>
              <a:rPr lang="en-US" sz="2800" b="1" dirty="0">
                <a:latin typeface="Times New Roman" panose="02020603050405020304" pitchFamily="18" charset="0"/>
                <a:cs typeface="Times New Roman" panose="02020603050405020304" pitchFamily="18" charset="0"/>
              </a:rPr>
              <a:t>on productivity:</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NCDs </a:t>
            </a:r>
            <a:r>
              <a:rPr lang="en-US" sz="2800" dirty="0">
                <a:latin typeface="Times New Roman" panose="02020603050405020304" pitchFamily="18" charset="0"/>
                <a:cs typeface="Times New Roman" panose="02020603050405020304" pitchFamily="18" charset="0"/>
              </a:rPr>
              <a:t>lead to lost productivity due to illness, disability, and premature death. </a:t>
            </a:r>
            <a:endParaRPr lang="en-US" sz="28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reduces the country's economic output and increases the financial strain on the healthcare system and society.</a:t>
            </a:r>
          </a:p>
        </p:txBody>
      </p:sp>
      <p:sp>
        <p:nvSpPr>
          <p:cNvPr id="5" name="Rectangle 4"/>
          <p:cNvSpPr/>
          <p:nvPr/>
        </p:nvSpPr>
        <p:spPr>
          <a:xfrm>
            <a:off x="2590800" y="138623"/>
            <a:ext cx="3752950" cy="584775"/>
          </a:xfrm>
          <a:prstGeom prst="rect">
            <a:avLst/>
          </a:prstGeom>
        </p:spPr>
        <p:txBody>
          <a:bodyPr wrap="none">
            <a:spAutoFit/>
          </a:bodyPr>
          <a:lstStyle/>
          <a:p>
            <a:pPr lvl="0"/>
            <a:r>
              <a:rPr lang="en-US" sz="3200" b="1" dirty="0">
                <a:solidFill>
                  <a:prstClr val="black"/>
                </a:solidFill>
                <a:latin typeface="Times New Roman" panose="02020603050405020304" pitchFamily="18" charset="0"/>
                <a:cs typeface="Times New Roman" panose="02020603050405020304" pitchFamily="18" charset="0"/>
              </a:rPr>
              <a:t>5. Economic Burden</a:t>
            </a:r>
          </a:p>
        </p:txBody>
      </p:sp>
      <p:sp>
        <p:nvSpPr>
          <p:cNvPr id="7" name="Rectangle 6"/>
          <p:cNvSpPr/>
          <p:nvPr/>
        </p:nvSpPr>
        <p:spPr>
          <a:xfrm>
            <a:off x="76201" y="962884"/>
            <a:ext cx="9067800" cy="2677656"/>
          </a:xfrm>
          <a:prstGeom prst="rect">
            <a:avLst/>
          </a:prstGeom>
        </p:spPr>
        <p:txBody>
          <a:bodyPr wrap="square">
            <a:spAutoFit/>
          </a:bodyPr>
          <a:lstStyle/>
          <a:p>
            <a:pPr lvl="0" algn="just"/>
            <a:r>
              <a:rPr lang="en-US" sz="2800" b="1" dirty="0">
                <a:solidFill>
                  <a:prstClr val="black"/>
                </a:solidFill>
                <a:latin typeface="Times New Roman" panose="02020603050405020304" pitchFamily="18" charset="0"/>
                <a:cs typeface="Times New Roman" panose="02020603050405020304" pitchFamily="18" charset="0"/>
              </a:rPr>
              <a:t>Cost of treatment:</a:t>
            </a:r>
            <a:r>
              <a:rPr lang="en-US" sz="2800" dirty="0">
                <a:solidFill>
                  <a:prstClr val="black"/>
                </a:solidFill>
                <a:latin typeface="Times New Roman" panose="02020603050405020304" pitchFamily="18" charset="0"/>
                <a:cs typeface="Times New Roman" panose="02020603050405020304" pitchFamily="18" charset="0"/>
              </a:rPr>
              <a:t> </a:t>
            </a:r>
            <a:endParaRPr lang="en-US" sz="2800" dirty="0" smtClean="0">
              <a:solidFill>
                <a:prstClr val="black"/>
              </a:solidFill>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800" dirty="0" smtClean="0">
                <a:solidFill>
                  <a:prstClr val="black"/>
                </a:solidFill>
                <a:latin typeface="Times New Roman" panose="02020603050405020304" pitchFamily="18" charset="0"/>
                <a:cs typeface="Times New Roman" panose="02020603050405020304" pitchFamily="18" charset="0"/>
              </a:rPr>
              <a:t>The </a:t>
            </a:r>
            <a:r>
              <a:rPr lang="en-US" sz="2800" dirty="0">
                <a:solidFill>
                  <a:prstClr val="black"/>
                </a:solidFill>
                <a:latin typeface="Times New Roman" panose="02020603050405020304" pitchFamily="18" charset="0"/>
                <a:cs typeface="Times New Roman" panose="02020603050405020304" pitchFamily="18" charset="0"/>
              </a:rPr>
              <a:t>financial burden of treating NCDs can be overwhelming, particularly for individuals and families without adequate health insurance. </a:t>
            </a:r>
            <a:endParaRPr lang="en-US" sz="2800" dirty="0" smtClean="0">
              <a:solidFill>
                <a:prstClr val="black"/>
              </a:solidFill>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2800" dirty="0" smtClean="0">
                <a:solidFill>
                  <a:prstClr val="black"/>
                </a:solidFill>
                <a:latin typeface="Times New Roman" panose="02020603050405020304" pitchFamily="18" charset="0"/>
                <a:cs typeface="Times New Roman" panose="02020603050405020304" pitchFamily="18" charset="0"/>
              </a:rPr>
              <a:t>Many </a:t>
            </a:r>
            <a:r>
              <a:rPr lang="en-US" sz="2800" dirty="0">
                <a:solidFill>
                  <a:prstClr val="black"/>
                </a:solidFill>
                <a:latin typeface="Times New Roman" panose="02020603050405020304" pitchFamily="18" charset="0"/>
                <a:cs typeface="Times New Roman" panose="02020603050405020304" pitchFamily="18" charset="0"/>
              </a:rPr>
              <a:t>NCDs require long-term care, which is costly and often unaffordable for a significant portion of the population.</a:t>
            </a:r>
          </a:p>
        </p:txBody>
      </p:sp>
    </p:spTree>
    <p:extLst>
      <p:ext uri="{BB962C8B-B14F-4D97-AF65-F5344CB8AC3E}">
        <p14:creationId xmlns:p14="http://schemas.microsoft.com/office/powerpoint/2010/main" val="301583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38100" y="3733800"/>
            <a:ext cx="9067799" cy="2677656"/>
          </a:xfrm>
          <a:prstGeom prst="rect">
            <a:avLst/>
          </a:prstGeom>
        </p:spPr>
        <p:txBody>
          <a:bodyPr wrap="square">
            <a:spAutoFit/>
          </a:bodyPr>
          <a:lstStyle/>
          <a:p>
            <a:pPr>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Stress </a:t>
            </a:r>
            <a:r>
              <a:rPr lang="en-US" sz="2400" b="1" dirty="0">
                <a:latin typeface="Times New Roman" panose="02020603050405020304" pitchFamily="18" charset="0"/>
                <a:cs typeface="Times New Roman" panose="02020603050405020304" pitchFamily="18" charset="0"/>
              </a:rPr>
              <a:t>and mental health issues: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Conflict </a:t>
            </a:r>
            <a:r>
              <a:rPr lang="en-US" sz="2400" dirty="0">
                <a:latin typeface="Times New Roman" panose="02020603050405020304" pitchFamily="18" charset="0"/>
                <a:cs typeface="Times New Roman" panose="02020603050405020304" pitchFamily="18" charset="0"/>
              </a:rPr>
              <a:t>and displacement contribute to high levels of mental health issues, including stress, anxiety, and depression, which in turn may exacerbate NCDs. </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Mental </a:t>
            </a:r>
            <a:r>
              <a:rPr lang="en-US" sz="2400" dirty="0">
                <a:latin typeface="Times New Roman" panose="02020603050405020304" pitchFamily="18" charset="0"/>
                <a:cs typeface="Times New Roman" panose="02020603050405020304" pitchFamily="18" charset="0"/>
              </a:rPr>
              <a:t>health conditions often go unaddressed due to the stigma surrounding mental illness and the lack of mental health professionals.</a:t>
            </a:r>
          </a:p>
        </p:txBody>
      </p:sp>
      <p:sp>
        <p:nvSpPr>
          <p:cNvPr id="5" name="Rectangle 4"/>
          <p:cNvSpPr/>
          <p:nvPr/>
        </p:nvSpPr>
        <p:spPr>
          <a:xfrm>
            <a:off x="1524000" y="152400"/>
            <a:ext cx="6695439" cy="523220"/>
          </a:xfrm>
          <a:prstGeom prst="rect">
            <a:avLst/>
          </a:prstGeom>
        </p:spPr>
        <p:txBody>
          <a:bodyPr wrap="square">
            <a:spAutoFit/>
          </a:bodyPr>
          <a:lstStyle/>
          <a:p>
            <a:pPr lvl="0"/>
            <a:r>
              <a:rPr lang="en-US" sz="2800" b="1" dirty="0">
                <a:solidFill>
                  <a:prstClr val="black"/>
                </a:solidFill>
                <a:latin typeface="Times New Roman" panose="02020603050405020304" pitchFamily="18" charset="0"/>
                <a:cs typeface="Times New Roman" panose="02020603050405020304" pitchFamily="18" charset="0"/>
              </a:rPr>
              <a:t>6. Impact of Conflict and Displacement</a:t>
            </a:r>
          </a:p>
        </p:txBody>
      </p:sp>
      <p:sp>
        <p:nvSpPr>
          <p:cNvPr id="7" name="Rectangle 6"/>
          <p:cNvSpPr/>
          <p:nvPr/>
        </p:nvSpPr>
        <p:spPr>
          <a:xfrm>
            <a:off x="86360" y="1248312"/>
            <a:ext cx="9039857" cy="2308324"/>
          </a:xfrm>
          <a:prstGeom prst="rect">
            <a:avLst/>
          </a:prstGeom>
        </p:spPr>
        <p:txBody>
          <a:bodyPr wrap="square">
            <a:spAutoFit/>
          </a:bodyPr>
          <a:lstStyle/>
          <a:p>
            <a:pPr lvl="0" algn="just">
              <a:buFont typeface="Arial" panose="020B0604020202020204" pitchFamily="34" charset="0"/>
              <a:buChar char="•"/>
            </a:pPr>
            <a:r>
              <a:rPr lang="en-US" sz="2400" b="1" dirty="0">
                <a:solidFill>
                  <a:prstClr val="black"/>
                </a:solidFill>
                <a:latin typeface="Times New Roman" panose="02020603050405020304" pitchFamily="18" charset="0"/>
                <a:cs typeface="Times New Roman" panose="02020603050405020304" pitchFamily="18" charset="0"/>
              </a:rPr>
              <a:t>Displaced populations and healthcare disruption:</a:t>
            </a:r>
            <a:r>
              <a:rPr lang="en-US" sz="2400" dirty="0">
                <a:solidFill>
                  <a:prstClr val="black"/>
                </a:solidFill>
                <a:latin typeface="Times New Roman" panose="02020603050405020304" pitchFamily="18" charset="0"/>
                <a:cs typeface="Times New Roman" panose="02020603050405020304" pitchFamily="18" charset="0"/>
              </a:rPr>
              <a:t> </a:t>
            </a:r>
            <a:endParaRPr lang="en-US" sz="2400" dirty="0" smtClean="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US" sz="2400" dirty="0" smtClean="0">
                <a:solidFill>
                  <a:prstClr val="black"/>
                </a:solidFill>
                <a:latin typeface="Times New Roman" panose="02020603050405020304" pitchFamily="18" charset="0"/>
                <a:cs typeface="Times New Roman" panose="02020603050405020304" pitchFamily="18" charset="0"/>
              </a:rPr>
              <a:t>Iraq </a:t>
            </a:r>
            <a:r>
              <a:rPr lang="en-US" sz="2400" dirty="0">
                <a:solidFill>
                  <a:prstClr val="black"/>
                </a:solidFill>
                <a:latin typeface="Times New Roman" panose="02020603050405020304" pitchFamily="18" charset="0"/>
                <a:cs typeface="Times New Roman" panose="02020603050405020304" pitchFamily="18" charset="0"/>
              </a:rPr>
              <a:t>has experienced ongoing conflicts, including the war with ISIS, which has displaced millions of people and disrupted healthcare systems. </a:t>
            </a:r>
            <a:endParaRPr lang="en-US" sz="2400" dirty="0" smtClean="0">
              <a:solidFill>
                <a:prstClr val="black"/>
              </a:solidFill>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US" sz="2400" dirty="0" smtClean="0">
                <a:solidFill>
                  <a:prstClr val="black"/>
                </a:solidFill>
                <a:latin typeface="Times New Roman" panose="02020603050405020304" pitchFamily="18" charset="0"/>
                <a:cs typeface="Times New Roman" panose="02020603050405020304" pitchFamily="18" charset="0"/>
              </a:rPr>
              <a:t>Displaced </a:t>
            </a:r>
            <a:r>
              <a:rPr lang="en-US" sz="2400" dirty="0">
                <a:solidFill>
                  <a:prstClr val="black"/>
                </a:solidFill>
                <a:latin typeface="Times New Roman" panose="02020603050405020304" pitchFamily="18" charset="0"/>
                <a:cs typeface="Times New Roman" panose="02020603050405020304" pitchFamily="18" charset="0"/>
              </a:rPr>
              <a:t>individuals often face challenges accessing regular healthcare services, including treatment for chronic conditions.</a:t>
            </a:r>
          </a:p>
        </p:txBody>
      </p:sp>
    </p:spTree>
    <p:extLst>
      <p:ext uri="{BB962C8B-B14F-4D97-AF65-F5344CB8AC3E}">
        <p14:creationId xmlns:p14="http://schemas.microsoft.com/office/powerpoint/2010/main" val="62425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152400" y="4114800"/>
            <a:ext cx="8915400" cy="2246769"/>
          </a:xfrm>
          <a:prstGeom prst="rect">
            <a:avLst/>
          </a:prstGeom>
        </p:spPr>
        <p:txBody>
          <a:bodyPr wrap="square">
            <a:spAutoFit/>
          </a:bodyPr>
          <a:lstStyle/>
          <a:p>
            <a:pPr>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Post-war </a:t>
            </a:r>
            <a:r>
              <a:rPr lang="en-US" sz="2800" b="1" dirty="0">
                <a:latin typeface="Times New Roman" panose="02020603050405020304" pitchFamily="18" charset="0"/>
                <a:cs typeface="Times New Roman" panose="02020603050405020304" pitchFamily="18" charset="0"/>
              </a:rPr>
              <a:t>environmental damage:</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legacy of conflict has left Iraq with extensive environmental damage, such as landmines and hazardous waste, which can affect public health and contribute to chronic diseases over time.</a:t>
            </a:r>
          </a:p>
        </p:txBody>
      </p:sp>
      <p:sp>
        <p:nvSpPr>
          <p:cNvPr id="5" name="Rectangle 4"/>
          <p:cNvSpPr/>
          <p:nvPr/>
        </p:nvSpPr>
        <p:spPr>
          <a:xfrm>
            <a:off x="2133600" y="498471"/>
            <a:ext cx="4656018" cy="584775"/>
          </a:xfrm>
          <a:prstGeom prst="rect">
            <a:avLst/>
          </a:prstGeom>
        </p:spPr>
        <p:txBody>
          <a:bodyPr wrap="none">
            <a:spAutoFit/>
          </a:bodyPr>
          <a:lstStyle/>
          <a:p>
            <a:pPr lvl="0"/>
            <a:r>
              <a:rPr lang="en-US" sz="3200" b="1" dirty="0">
                <a:solidFill>
                  <a:prstClr val="black"/>
                </a:solidFill>
                <a:latin typeface="Times New Roman" panose="02020603050405020304" pitchFamily="18" charset="0"/>
                <a:cs typeface="Times New Roman" panose="02020603050405020304" pitchFamily="18" charset="0"/>
              </a:rPr>
              <a:t>7. Environmental Factors</a:t>
            </a:r>
          </a:p>
        </p:txBody>
      </p:sp>
      <p:sp>
        <p:nvSpPr>
          <p:cNvPr id="7" name="Rectangle 6"/>
          <p:cNvSpPr/>
          <p:nvPr/>
        </p:nvSpPr>
        <p:spPr>
          <a:xfrm>
            <a:off x="76201" y="1443841"/>
            <a:ext cx="8991599" cy="2246769"/>
          </a:xfrm>
          <a:prstGeom prst="rect">
            <a:avLst/>
          </a:prstGeom>
        </p:spPr>
        <p:txBody>
          <a:bodyPr wrap="square">
            <a:spAutoFit/>
          </a:bodyPr>
          <a:lstStyle/>
          <a:p>
            <a:pPr lvl="0" algn="just">
              <a:buFont typeface="Arial" panose="020B0604020202020204" pitchFamily="34" charset="0"/>
              <a:buChar char="•"/>
            </a:pPr>
            <a:r>
              <a:rPr lang="en-US" sz="2800" b="1" dirty="0">
                <a:solidFill>
                  <a:prstClr val="black"/>
                </a:solidFill>
                <a:latin typeface="Times New Roman" panose="02020603050405020304" pitchFamily="18" charset="0"/>
                <a:cs typeface="Times New Roman" panose="02020603050405020304" pitchFamily="18" charset="0"/>
              </a:rPr>
              <a:t>Pollution and environmental toxins:</a:t>
            </a:r>
            <a:r>
              <a:rPr lang="en-US" sz="2800" dirty="0">
                <a:solidFill>
                  <a:prstClr val="black"/>
                </a:solidFill>
                <a:latin typeface="Times New Roman" panose="02020603050405020304" pitchFamily="18" charset="0"/>
                <a:cs typeface="Times New Roman" panose="02020603050405020304" pitchFamily="18" charset="0"/>
              </a:rPr>
              <a:t> </a:t>
            </a:r>
            <a:endParaRPr lang="en-US" sz="2800" dirty="0" smtClean="0">
              <a:solidFill>
                <a:prstClr val="black"/>
              </a:solidFill>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smtClean="0">
                <a:solidFill>
                  <a:prstClr val="black"/>
                </a:solidFill>
                <a:latin typeface="Times New Roman" panose="02020603050405020304" pitchFamily="18" charset="0"/>
                <a:cs typeface="Times New Roman" panose="02020603050405020304" pitchFamily="18" charset="0"/>
              </a:rPr>
              <a:t>Air </a:t>
            </a:r>
            <a:r>
              <a:rPr lang="en-US" sz="2800" dirty="0">
                <a:solidFill>
                  <a:prstClr val="black"/>
                </a:solidFill>
                <a:latin typeface="Times New Roman" panose="02020603050405020304" pitchFamily="18" charset="0"/>
                <a:cs typeface="Times New Roman" panose="02020603050405020304" pitchFamily="18" charset="0"/>
              </a:rPr>
              <a:t>pollution, water contamination, and the effects of climate change are growing concerns in Iraq. </a:t>
            </a:r>
            <a:endParaRPr lang="en-US" sz="2800" dirty="0" smtClean="0">
              <a:solidFill>
                <a:prstClr val="black"/>
              </a:solidFill>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smtClean="0">
                <a:solidFill>
                  <a:prstClr val="black"/>
                </a:solidFill>
                <a:latin typeface="Times New Roman" panose="02020603050405020304" pitchFamily="18" charset="0"/>
                <a:cs typeface="Times New Roman" panose="02020603050405020304" pitchFamily="18" charset="0"/>
              </a:rPr>
              <a:t>Exposure </a:t>
            </a:r>
            <a:r>
              <a:rPr lang="en-US" sz="2800" dirty="0">
                <a:solidFill>
                  <a:prstClr val="black"/>
                </a:solidFill>
                <a:latin typeface="Times New Roman" panose="02020603050405020304" pitchFamily="18" charset="0"/>
                <a:cs typeface="Times New Roman" panose="02020603050405020304" pitchFamily="18" charset="0"/>
              </a:rPr>
              <a:t>to pollutants can exacerbate chronic respiratory diseases and cardiovascular conditions.</a:t>
            </a:r>
          </a:p>
        </p:txBody>
      </p:sp>
    </p:spTree>
    <p:extLst>
      <p:ext uri="{BB962C8B-B14F-4D97-AF65-F5344CB8AC3E}">
        <p14:creationId xmlns:p14="http://schemas.microsoft.com/office/powerpoint/2010/main" val="218262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38100" y="1143000"/>
            <a:ext cx="9067800" cy="4647426"/>
          </a:xfrm>
          <a:prstGeom prst="rect">
            <a:avLst/>
          </a:prstGeom>
        </p:spPr>
        <p:txBody>
          <a:bodyPr wrap="square">
            <a:spAutoFit/>
          </a:bodyPr>
          <a:lstStyle/>
          <a:p>
            <a:pPr algn="just"/>
            <a:r>
              <a:rPr lang="en-US" sz="3600" b="1" dirty="0">
                <a:latin typeface="Times New Roman" panose="02020603050405020304" pitchFamily="18" charset="0"/>
                <a:cs typeface="Times New Roman" panose="02020603050405020304" pitchFamily="18" charset="0"/>
              </a:rPr>
              <a:t>8. Aging </a:t>
            </a:r>
            <a:r>
              <a:rPr lang="en-US" sz="3600" b="1" dirty="0" smtClean="0">
                <a:latin typeface="Times New Roman" panose="02020603050405020304" pitchFamily="18" charset="0"/>
                <a:cs typeface="Times New Roman" panose="02020603050405020304" pitchFamily="18" charset="0"/>
              </a:rPr>
              <a:t>Population</a:t>
            </a:r>
          </a:p>
          <a:p>
            <a:pPr algn="just"/>
            <a:endParaRPr lang="en-US" sz="36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Increasing elderly population</a:t>
            </a:r>
            <a:r>
              <a:rPr lang="en-US" sz="3200" b="1"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As </a:t>
            </a:r>
            <a:r>
              <a:rPr lang="en-US" sz="3200" dirty="0">
                <a:latin typeface="Times New Roman" panose="02020603050405020304" pitchFamily="18" charset="0"/>
                <a:cs typeface="Times New Roman" panose="02020603050405020304" pitchFamily="18" charset="0"/>
              </a:rPr>
              <a:t>the population ages, the burden of NCDs will increase, as these diseases are more common in older age groups. </a:t>
            </a:r>
            <a:endParaRPr lang="en-US" sz="3200"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healthcare system will need to adjust to the growing needs of the elderly, including long-term care and rehabilitation.</a:t>
            </a:r>
          </a:p>
        </p:txBody>
      </p:sp>
    </p:spTree>
    <p:extLst>
      <p:ext uri="{BB962C8B-B14F-4D97-AF65-F5344CB8AC3E}">
        <p14:creationId xmlns:p14="http://schemas.microsoft.com/office/powerpoint/2010/main" val="33225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457200" y="686890"/>
            <a:ext cx="8449557" cy="646331"/>
          </a:xfrm>
          <a:prstGeom prst="rect">
            <a:avLst/>
          </a:prstGeom>
        </p:spPr>
        <p:txBody>
          <a:bodyPr wrap="none">
            <a:spAutoFit/>
          </a:bodyPr>
          <a:lstStyle/>
          <a:p>
            <a:r>
              <a:rPr lang="en-US" sz="3600" b="1" dirty="0">
                <a:solidFill>
                  <a:srgbClr val="FF0000"/>
                </a:solidFill>
                <a:effectLst>
                  <a:outerShdw blurRad="38100" dist="38100" dir="2700000" algn="tl">
                    <a:srgbClr val="000000">
                      <a:alpha val="43137"/>
                    </a:srgbClr>
                  </a:outerShdw>
                </a:effectLst>
              </a:rPr>
              <a:t>Potential Solutions and Recommendations:</a:t>
            </a:r>
          </a:p>
        </p:txBody>
      </p:sp>
      <p:sp>
        <p:nvSpPr>
          <p:cNvPr id="7" name="Rectangle 6"/>
          <p:cNvSpPr/>
          <p:nvPr/>
        </p:nvSpPr>
        <p:spPr>
          <a:xfrm>
            <a:off x="76200" y="3989882"/>
            <a:ext cx="8991599" cy="2246769"/>
          </a:xfrm>
          <a:prstGeom prst="rect">
            <a:avLst/>
          </a:prstGeom>
        </p:spPr>
        <p:txBody>
          <a:bodyPr wrap="square">
            <a:spAutoFit/>
          </a:bodyPr>
          <a:lstStyle/>
          <a:p>
            <a:pPr>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Training </a:t>
            </a:r>
            <a:r>
              <a:rPr lang="en-US" sz="2800" b="1" dirty="0">
                <a:latin typeface="Times New Roman" panose="02020603050405020304" pitchFamily="18" charset="0"/>
                <a:cs typeface="Times New Roman" panose="02020603050405020304" pitchFamily="18" charset="0"/>
              </a:rPr>
              <a:t>healthcare professionals:</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Increased </a:t>
            </a:r>
            <a:r>
              <a:rPr lang="en-US" sz="2800" dirty="0">
                <a:latin typeface="Times New Roman" panose="02020603050405020304" pitchFamily="18" charset="0"/>
                <a:cs typeface="Times New Roman" panose="02020603050405020304" pitchFamily="18" charset="0"/>
              </a:rPr>
              <a:t>investment in training doctors, nurses, and specialists in the management of NCDs is crucial. </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includes fostering expertise in areas such as cardiology, endocrinology, oncology, and rehabilitation.</a:t>
            </a:r>
          </a:p>
        </p:txBody>
      </p:sp>
      <p:sp>
        <p:nvSpPr>
          <p:cNvPr id="8" name="Rectangle 7"/>
          <p:cNvSpPr/>
          <p:nvPr/>
        </p:nvSpPr>
        <p:spPr>
          <a:xfrm>
            <a:off x="0" y="1447800"/>
            <a:ext cx="9144000" cy="2308324"/>
          </a:xfrm>
          <a:prstGeom prst="rect">
            <a:avLst/>
          </a:prstGeom>
        </p:spPr>
        <p:txBody>
          <a:bodyPr wrap="square">
            <a:spAutoFit/>
          </a:bodyPr>
          <a:lstStyle/>
          <a:p>
            <a:pPr lvl="0" algn="just"/>
            <a:r>
              <a:rPr lang="en-US" sz="3200" b="1" dirty="0">
                <a:solidFill>
                  <a:prstClr val="black"/>
                </a:solidFill>
                <a:latin typeface="Times New Roman" panose="02020603050405020304" pitchFamily="18" charset="0"/>
                <a:cs typeface="Times New Roman" panose="02020603050405020304" pitchFamily="18" charset="0"/>
              </a:rPr>
              <a:t>1. Strengthening Healthcare Systems</a:t>
            </a:r>
          </a:p>
          <a:p>
            <a:pPr lvl="0" algn="just">
              <a:buFont typeface="Arial" panose="020B0604020202020204" pitchFamily="34" charset="0"/>
              <a:buChar char="•"/>
            </a:pPr>
            <a:r>
              <a:rPr lang="en-US" sz="2800" b="1" dirty="0">
                <a:solidFill>
                  <a:prstClr val="black"/>
                </a:solidFill>
                <a:latin typeface="Times New Roman" panose="02020603050405020304" pitchFamily="18" charset="0"/>
                <a:cs typeface="Times New Roman" panose="02020603050405020304" pitchFamily="18" charset="0"/>
              </a:rPr>
              <a:t>Improving healthcare infrastructure:</a:t>
            </a:r>
            <a:r>
              <a:rPr lang="en-US" sz="2800" dirty="0">
                <a:solidFill>
                  <a:prstClr val="black"/>
                </a:solidFill>
                <a:latin typeface="Times New Roman" panose="02020603050405020304" pitchFamily="18" charset="0"/>
                <a:cs typeface="Times New Roman" panose="02020603050405020304" pitchFamily="18" charset="0"/>
              </a:rPr>
              <a:t> </a:t>
            </a:r>
            <a:endParaRPr lang="en-US" sz="2800" dirty="0" smtClean="0">
              <a:solidFill>
                <a:prstClr val="black"/>
              </a:solidFill>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smtClean="0">
                <a:solidFill>
                  <a:prstClr val="black"/>
                </a:solidFill>
                <a:latin typeface="Times New Roman" panose="02020603050405020304" pitchFamily="18" charset="0"/>
                <a:cs typeface="Times New Roman" panose="02020603050405020304" pitchFamily="18" charset="0"/>
              </a:rPr>
              <a:t>Iraq </a:t>
            </a:r>
            <a:r>
              <a:rPr lang="en-US" sz="2800" dirty="0">
                <a:solidFill>
                  <a:prstClr val="black"/>
                </a:solidFill>
                <a:latin typeface="Times New Roman" panose="02020603050405020304" pitchFamily="18" charset="0"/>
                <a:cs typeface="Times New Roman" panose="02020603050405020304" pitchFamily="18" charset="0"/>
              </a:rPr>
              <a:t>needs to invest in healthcare facilities, especially in underserved rural areas, and ensure that there are sufficient resources to provide care for NCD patients.</a:t>
            </a:r>
          </a:p>
        </p:txBody>
      </p:sp>
    </p:spTree>
    <p:extLst>
      <p:ext uri="{BB962C8B-B14F-4D97-AF65-F5344CB8AC3E}">
        <p14:creationId xmlns:p14="http://schemas.microsoft.com/office/powerpoint/2010/main" val="365392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81281" y="1623854"/>
            <a:ext cx="8991600" cy="4401205"/>
          </a:xfrm>
          <a:prstGeom prst="rect">
            <a:avLst/>
          </a:prstGeom>
        </p:spPr>
        <p:txBody>
          <a:bodyPr wrap="square">
            <a:spAutoFit/>
          </a:bodyPr>
          <a:lstStyle/>
          <a:p>
            <a:pPr algn="just"/>
            <a:r>
              <a:rPr lang="en-US" sz="2800" b="1" dirty="0" smtClean="0">
                <a:latin typeface="Times New Roman" panose="02020603050405020304" pitchFamily="18" charset="0"/>
                <a:cs typeface="Times New Roman" panose="02020603050405020304" pitchFamily="18" charset="0"/>
              </a:rPr>
              <a:t>Promoting </a:t>
            </a:r>
            <a:r>
              <a:rPr lang="en-US" sz="2800" b="1" dirty="0">
                <a:latin typeface="Times New Roman" panose="02020603050405020304" pitchFamily="18" charset="0"/>
                <a:cs typeface="Times New Roman" panose="02020603050405020304" pitchFamily="18" charset="0"/>
              </a:rPr>
              <a:t>healthy lifestyles:</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government and NGOs can collaborate to create public health campaigns that promote better nutrition, physical activity, smoking cessation, and the importance of regular health checkups</a:t>
            </a:r>
            <a:r>
              <a:rPr lang="en-US" sz="2800" dirty="0" smtClean="0">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Screening and early detection programs:</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Implementing </a:t>
            </a:r>
            <a:r>
              <a:rPr lang="en-US" sz="2800" dirty="0">
                <a:latin typeface="Times New Roman" panose="02020603050405020304" pitchFamily="18" charset="0"/>
                <a:cs typeface="Times New Roman" panose="02020603050405020304" pitchFamily="18" charset="0"/>
              </a:rPr>
              <a:t>nationwide screening programs for conditions like hypertension, diabetes, and cancer can help in early detection and prevention of complications.</a:t>
            </a:r>
          </a:p>
        </p:txBody>
      </p:sp>
      <p:sp>
        <p:nvSpPr>
          <p:cNvPr id="5" name="Rectangle 4"/>
          <p:cNvSpPr/>
          <p:nvPr/>
        </p:nvSpPr>
        <p:spPr>
          <a:xfrm>
            <a:off x="686179" y="643065"/>
            <a:ext cx="8529194"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2. Public Health Education and Awareness</a:t>
            </a:r>
          </a:p>
        </p:txBody>
      </p:sp>
    </p:spTree>
    <p:extLst>
      <p:ext uri="{BB962C8B-B14F-4D97-AF65-F5344CB8AC3E}">
        <p14:creationId xmlns:p14="http://schemas.microsoft.com/office/powerpoint/2010/main" val="367237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76201" y="4038600"/>
            <a:ext cx="8915400" cy="2246769"/>
          </a:xfrm>
          <a:prstGeom prst="rect">
            <a:avLst/>
          </a:prstGeom>
        </p:spPr>
        <p:txBody>
          <a:bodyPr wrap="square">
            <a:spAutoFit/>
          </a:bodyPr>
          <a:lstStyle/>
          <a:p>
            <a:pPr algn="just">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Regulation </a:t>
            </a:r>
            <a:r>
              <a:rPr lang="en-US" sz="2800" b="1" dirty="0">
                <a:latin typeface="Times New Roman" panose="02020603050405020304" pitchFamily="18" charset="0"/>
                <a:cs typeface="Times New Roman" panose="02020603050405020304" pitchFamily="18" charset="0"/>
              </a:rPr>
              <a:t>of unhealthy foods:</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Introducing </a:t>
            </a:r>
            <a:r>
              <a:rPr lang="en-US" sz="2800" dirty="0">
                <a:latin typeface="Times New Roman" panose="02020603050405020304" pitchFamily="18" charset="0"/>
                <a:cs typeface="Times New Roman" panose="02020603050405020304" pitchFamily="18" charset="0"/>
              </a:rPr>
              <a:t>taxes on unhealthy food products, labeling laws, and encouraging healthier food options in schools and public institutions can help curb the growing problem of obesity and related diseases.</a:t>
            </a:r>
          </a:p>
        </p:txBody>
      </p:sp>
      <p:sp>
        <p:nvSpPr>
          <p:cNvPr id="5" name="Rectangle 4"/>
          <p:cNvSpPr/>
          <p:nvPr/>
        </p:nvSpPr>
        <p:spPr>
          <a:xfrm>
            <a:off x="132080" y="614506"/>
            <a:ext cx="6116320" cy="584775"/>
          </a:xfrm>
          <a:prstGeom prst="rect">
            <a:avLst/>
          </a:prstGeom>
        </p:spPr>
        <p:txBody>
          <a:bodyPr wrap="square">
            <a:spAutoFit/>
          </a:bodyPr>
          <a:lstStyle/>
          <a:p>
            <a:pPr lvl="0"/>
            <a:r>
              <a:rPr lang="en-US" sz="3200" b="1" dirty="0">
                <a:solidFill>
                  <a:prstClr val="black"/>
                </a:solidFill>
                <a:latin typeface="Times New Roman" panose="02020603050405020304" pitchFamily="18" charset="0"/>
                <a:cs typeface="Times New Roman" panose="02020603050405020304" pitchFamily="18" charset="0"/>
              </a:rPr>
              <a:t>3. Policy and Legislative Action</a:t>
            </a:r>
          </a:p>
        </p:txBody>
      </p:sp>
      <p:sp>
        <p:nvSpPr>
          <p:cNvPr id="7" name="Rectangle 6"/>
          <p:cNvSpPr/>
          <p:nvPr/>
        </p:nvSpPr>
        <p:spPr>
          <a:xfrm>
            <a:off x="76201" y="1659285"/>
            <a:ext cx="9067799" cy="1815882"/>
          </a:xfrm>
          <a:prstGeom prst="rect">
            <a:avLst/>
          </a:prstGeom>
        </p:spPr>
        <p:txBody>
          <a:bodyPr wrap="square">
            <a:spAutoFit/>
          </a:bodyPr>
          <a:lstStyle/>
          <a:p>
            <a:pPr lvl="0">
              <a:buFont typeface="Arial" panose="020B0604020202020204" pitchFamily="34" charset="0"/>
              <a:buChar char="•"/>
            </a:pPr>
            <a:r>
              <a:rPr lang="en-US" sz="2800" b="1" dirty="0">
                <a:solidFill>
                  <a:prstClr val="black"/>
                </a:solidFill>
                <a:latin typeface="Times New Roman" panose="02020603050405020304" pitchFamily="18" charset="0"/>
                <a:cs typeface="Times New Roman" panose="02020603050405020304" pitchFamily="18" charset="0"/>
              </a:rPr>
              <a:t>Tobacco control and regulation:</a:t>
            </a:r>
            <a:r>
              <a:rPr lang="en-US" sz="2800" dirty="0">
                <a:solidFill>
                  <a:prstClr val="black"/>
                </a:solidFill>
                <a:latin typeface="Times New Roman" panose="02020603050405020304" pitchFamily="18" charset="0"/>
                <a:cs typeface="Times New Roman" panose="02020603050405020304" pitchFamily="18" charset="0"/>
              </a:rPr>
              <a:t> </a:t>
            </a:r>
            <a:endParaRPr lang="en-US" sz="2800" dirty="0" smtClean="0">
              <a:solidFill>
                <a:prstClr val="black"/>
              </a:solidFill>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US" sz="2800" dirty="0" smtClean="0">
                <a:solidFill>
                  <a:prstClr val="black"/>
                </a:solidFill>
                <a:latin typeface="Times New Roman" panose="02020603050405020304" pitchFamily="18" charset="0"/>
                <a:cs typeface="Times New Roman" panose="02020603050405020304" pitchFamily="18" charset="0"/>
              </a:rPr>
              <a:t>Strengthening </a:t>
            </a:r>
            <a:r>
              <a:rPr lang="en-US" sz="2800" dirty="0">
                <a:solidFill>
                  <a:prstClr val="black"/>
                </a:solidFill>
                <a:latin typeface="Times New Roman" panose="02020603050405020304" pitchFamily="18" charset="0"/>
                <a:cs typeface="Times New Roman" panose="02020603050405020304" pitchFamily="18" charset="0"/>
              </a:rPr>
              <a:t>laws around tobacco control, including public smoking bans, taxes on tobacco products, and anti-smoking education, could reduce tobacco-related NCDs.</a:t>
            </a:r>
          </a:p>
        </p:txBody>
      </p:sp>
    </p:spTree>
    <p:extLst>
      <p:ext uri="{BB962C8B-B14F-4D97-AF65-F5344CB8AC3E}">
        <p14:creationId xmlns:p14="http://schemas.microsoft.com/office/powerpoint/2010/main" val="384124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3" name="Rectangle 2"/>
          <p:cNvSpPr/>
          <p:nvPr/>
        </p:nvSpPr>
        <p:spPr>
          <a:xfrm>
            <a:off x="152400" y="3603367"/>
            <a:ext cx="8991600" cy="2246769"/>
          </a:xfrm>
          <a:prstGeom prst="rect">
            <a:avLst/>
          </a:prstGeom>
        </p:spPr>
        <p:txBody>
          <a:bodyPr wrap="square">
            <a:spAutoFit/>
          </a:bodyPr>
          <a:lstStyle/>
          <a:p>
            <a:pPr algn="just"/>
            <a:endParaRPr lang="en-US"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Access to affordable </a:t>
            </a:r>
            <a:r>
              <a:rPr lang="en-US" sz="2800" b="1" dirty="0" smtClean="0">
                <a:latin typeface="Times New Roman" panose="02020603050405020304" pitchFamily="18" charset="0"/>
                <a:cs typeface="Times New Roman" panose="02020603050405020304" pitchFamily="18" charset="0"/>
              </a:rPr>
              <a:t>healthcare:</a:t>
            </a:r>
            <a:endParaRPr lang="en-US" sz="2800" dirty="0" smtClean="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Ensuring </a:t>
            </a:r>
            <a:r>
              <a:rPr lang="en-US" sz="2800" dirty="0">
                <a:latin typeface="Times New Roman" panose="02020603050405020304" pitchFamily="18" charset="0"/>
                <a:cs typeface="Times New Roman" panose="02020603050405020304" pitchFamily="18" charset="0"/>
              </a:rPr>
              <a:t>that healthcare is accessible and affordable for all citizens, particularly the poor and displaced populations, will be crucial for managing NCDs effectively.</a:t>
            </a:r>
          </a:p>
        </p:txBody>
      </p:sp>
      <p:sp>
        <p:nvSpPr>
          <p:cNvPr id="5" name="Rectangle 4"/>
          <p:cNvSpPr/>
          <p:nvPr/>
        </p:nvSpPr>
        <p:spPr>
          <a:xfrm>
            <a:off x="762000" y="685800"/>
            <a:ext cx="8229600" cy="584775"/>
          </a:xfrm>
          <a:prstGeom prst="rect">
            <a:avLst/>
          </a:prstGeom>
        </p:spPr>
        <p:txBody>
          <a:bodyPr wrap="square">
            <a:spAutoFit/>
          </a:bodyPr>
          <a:lstStyle/>
          <a:p>
            <a:pPr lvl="0"/>
            <a:r>
              <a:rPr lang="en-US" sz="3200" b="1" dirty="0">
                <a:solidFill>
                  <a:prstClr val="black"/>
                </a:solidFill>
                <a:latin typeface="Times New Roman" panose="02020603050405020304" pitchFamily="18" charset="0"/>
                <a:cs typeface="Times New Roman" panose="02020603050405020304" pitchFamily="18" charset="0"/>
              </a:rPr>
              <a:t>4. Addressing Social Determinants of Health</a:t>
            </a:r>
          </a:p>
        </p:txBody>
      </p:sp>
      <p:sp>
        <p:nvSpPr>
          <p:cNvPr id="7" name="Rectangle 6"/>
          <p:cNvSpPr/>
          <p:nvPr/>
        </p:nvSpPr>
        <p:spPr>
          <a:xfrm>
            <a:off x="86361" y="1721059"/>
            <a:ext cx="9143999" cy="1815882"/>
          </a:xfrm>
          <a:prstGeom prst="rect">
            <a:avLst/>
          </a:prstGeom>
        </p:spPr>
        <p:txBody>
          <a:bodyPr wrap="square">
            <a:spAutoFit/>
          </a:bodyPr>
          <a:lstStyle/>
          <a:p>
            <a:pPr lvl="0">
              <a:buFont typeface="Arial" panose="020B0604020202020204" pitchFamily="34" charset="0"/>
              <a:buChar char="•"/>
            </a:pPr>
            <a:r>
              <a:rPr lang="en-US" sz="2800" b="1" dirty="0">
                <a:solidFill>
                  <a:prstClr val="black"/>
                </a:solidFill>
                <a:latin typeface="Times New Roman" panose="02020603050405020304" pitchFamily="18" charset="0"/>
                <a:cs typeface="Times New Roman" panose="02020603050405020304" pitchFamily="18" charset="0"/>
              </a:rPr>
              <a:t>Improving socio-economic conditions:</a:t>
            </a:r>
            <a:r>
              <a:rPr lang="en-US" sz="2800" dirty="0">
                <a:solidFill>
                  <a:prstClr val="black"/>
                </a:solidFill>
                <a:latin typeface="Times New Roman" panose="02020603050405020304" pitchFamily="18" charset="0"/>
                <a:cs typeface="Times New Roman" panose="02020603050405020304" pitchFamily="18" charset="0"/>
              </a:rPr>
              <a:t> </a:t>
            </a:r>
          </a:p>
          <a:p>
            <a:pPr marL="457200" lvl="0" indent="-457200">
              <a:buFont typeface="Wingdings" panose="05000000000000000000" pitchFamily="2" charset="2"/>
              <a:buChar char="Ø"/>
            </a:pPr>
            <a:r>
              <a:rPr lang="en-US" sz="2800" dirty="0">
                <a:solidFill>
                  <a:prstClr val="black"/>
                </a:solidFill>
                <a:latin typeface="Times New Roman" panose="02020603050405020304" pitchFamily="18" charset="0"/>
                <a:cs typeface="Times New Roman" panose="02020603050405020304" pitchFamily="18" charset="0"/>
              </a:rPr>
              <a:t>Economic development and poverty reduction efforts can reduce the social determinants of health, such as access to nutritious food, healthcare, and education.</a:t>
            </a:r>
          </a:p>
        </p:txBody>
      </p:sp>
    </p:spTree>
    <p:extLst>
      <p:ext uri="{BB962C8B-B14F-4D97-AF65-F5344CB8AC3E}">
        <p14:creationId xmlns:p14="http://schemas.microsoft.com/office/powerpoint/2010/main" val="419206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57890"/>
            <a:ext cx="9144000" cy="400110"/>
          </a:xfrm>
          <a:prstGeom prst="rect">
            <a:avLst/>
          </a:prstGeom>
        </p:spPr>
        <p:style>
          <a:lnRef idx="1">
            <a:schemeClr val="accent2"/>
          </a:lnRef>
          <a:fillRef idx="3">
            <a:schemeClr val="accent2"/>
          </a:fillRef>
          <a:effectRef idx="2">
            <a:schemeClr val="accent2"/>
          </a:effectRef>
          <a:fontRef idx="minor">
            <a:schemeClr val="lt1"/>
          </a:fontRef>
        </p:style>
        <p:txBody>
          <a:bodyPr wrap="square" lIns="91440" tIns="45720" rIns="91440" bIns="45720">
            <a:spAutoFit/>
          </a:bodyPr>
          <a:lstStyle/>
          <a:p>
            <a:pPr algn="ctr" rtl="1"/>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rPr>
              <a:t>Non-communicable diseases </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cs typeface="Ali_K_Alwand" pitchFamily="2" charset="-78"/>
            </a:endParaRPr>
          </a:p>
        </p:txBody>
      </p:sp>
      <p:sp>
        <p:nvSpPr>
          <p:cNvPr id="2" name="TextBox 1"/>
          <p:cNvSpPr txBox="1"/>
          <p:nvPr/>
        </p:nvSpPr>
        <p:spPr>
          <a:xfrm>
            <a:off x="4114800" y="3470514"/>
            <a:ext cx="184731" cy="707886"/>
          </a:xfrm>
          <a:prstGeom prst="rect">
            <a:avLst/>
          </a:prstGeom>
          <a:noFill/>
        </p:spPr>
        <p:txBody>
          <a:bodyPr wrap="none" rtlCol="0">
            <a:spAutoFit/>
          </a:bodyPr>
          <a:lstStyle/>
          <a:p>
            <a:endParaRPr lang="en-US" sz="4000" dirty="0"/>
          </a:p>
        </p:txBody>
      </p:sp>
      <p:pic>
        <p:nvPicPr>
          <p:cNvPr id="6" name="Picture 5"/>
          <p:cNvPicPr>
            <a:picLocks noChangeAspect="1"/>
          </p:cNvPicPr>
          <p:nvPr/>
        </p:nvPicPr>
        <p:blipFill>
          <a:blip r:embed="rId2"/>
          <a:stretch>
            <a:fillRect/>
          </a:stretch>
        </p:blipFill>
        <p:spPr>
          <a:xfrm>
            <a:off x="76201" y="76200"/>
            <a:ext cx="1240276" cy="457200"/>
          </a:xfrm>
          <a:prstGeom prst="rect">
            <a:avLst/>
          </a:prstGeom>
        </p:spPr>
      </p:pic>
      <p:sp>
        <p:nvSpPr>
          <p:cNvPr id="8" name="Rectangle 7"/>
          <p:cNvSpPr/>
          <p:nvPr/>
        </p:nvSpPr>
        <p:spPr>
          <a:xfrm>
            <a:off x="228600" y="2123420"/>
            <a:ext cx="8971280" cy="2862322"/>
          </a:xfrm>
          <a:prstGeom prst="rect">
            <a:avLst/>
          </a:prstGeom>
        </p:spPr>
        <p:txBody>
          <a:bodyPr wrap="square">
            <a:spAutoFit/>
          </a:bodyPr>
          <a:lstStyle/>
          <a:p>
            <a:pPr>
              <a:buFont typeface="Arial" panose="020B0604020202020204" pitchFamily="34" charset="0"/>
              <a:buChar char="•"/>
            </a:pPr>
            <a:r>
              <a:rPr lang="en-US" sz="3600" b="1" dirty="0" smtClean="0">
                <a:latin typeface="Times New Roman" panose="02020603050405020304" pitchFamily="18" charset="0"/>
                <a:cs typeface="Times New Roman" panose="02020603050405020304" pitchFamily="18" charset="0"/>
              </a:rPr>
              <a:t>Leveraging </a:t>
            </a:r>
            <a:r>
              <a:rPr lang="en-US" sz="3600" b="1" dirty="0">
                <a:latin typeface="Times New Roman" panose="02020603050405020304" pitchFamily="18" charset="0"/>
                <a:cs typeface="Times New Roman" panose="02020603050405020304" pitchFamily="18" charset="0"/>
              </a:rPr>
              <a:t>international aid:</a:t>
            </a:r>
            <a:r>
              <a:rPr lang="en-US" sz="3600" dirty="0">
                <a:latin typeface="Times New Roman" panose="02020603050405020304" pitchFamily="18" charset="0"/>
                <a:cs typeface="Times New Roman" panose="02020603050405020304" pitchFamily="18" charset="0"/>
              </a:rPr>
              <a:t> </a:t>
            </a:r>
            <a:endParaRPr lang="en-US" sz="3600" dirty="0" smtClean="0">
              <a:latin typeface="Times New Roman" panose="02020603050405020304" pitchFamily="18" charset="0"/>
              <a:cs typeface="Times New Roman" panose="02020603050405020304" pitchFamily="18" charset="0"/>
            </a:endParaRPr>
          </a:p>
          <a:p>
            <a:r>
              <a:rPr lang="en-US" sz="3600" dirty="0" smtClean="0">
                <a:latin typeface="Times New Roman" panose="02020603050405020304" pitchFamily="18" charset="0"/>
                <a:cs typeface="Times New Roman" panose="02020603050405020304" pitchFamily="18" charset="0"/>
              </a:rPr>
              <a:t>Iraq </a:t>
            </a:r>
            <a:r>
              <a:rPr lang="en-US" sz="3600" dirty="0">
                <a:latin typeface="Times New Roman" panose="02020603050405020304" pitchFamily="18" charset="0"/>
                <a:cs typeface="Times New Roman" panose="02020603050405020304" pitchFamily="18" charset="0"/>
              </a:rPr>
              <a:t>can benefit from international support, including financial aid, technical assistance, and capacity-building efforts to address the rising burden of NCDs.</a:t>
            </a:r>
          </a:p>
        </p:txBody>
      </p:sp>
      <p:sp>
        <p:nvSpPr>
          <p:cNvPr id="9" name="Rectangle 8"/>
          <p:cNvSpPr/>
          <p:nvPr/>
        </p:nvSpPr>
        <p:spPr>
          <a:xfrm>
            <a:off x="457200" y="648989"/>
            <a:ext cx="7924800" cy="1200329"/>
          </a:xfrm>
          <a:prstGeom prst="rect">
            <a:avLst/>
          </a:prstGeom>
        </p:spPr>
        <p:txBody>
          <a:bodyPr wrap="square">
            <a:spAutoFit/>
          </a:bodyPr>
          <a:lstStyle/>
          <a:p>
            <a:pPr lvl="0"/>
            <a:r>
              <a:rPr lang="en-US" sz="3600" b="1" dirty="0">
                <a:solidFill>
                  <a:prstClr val="black"/>
                </a:solidFill>
                <a:latin typeface="Times New Roman" panose="02020603050405020304" pitchFamily="18" charset="0"/>
                <a:cs typeface="Times New Roman" panose="02020603050405020304" pitchFamily="18" charset="0"/>
              </a:rPr>
              <a:t>5. International Collaboration and Support</a:t>
            </a:r>
          </a:p>
        </p:txBody>
      </p:sp>
    </p:spTree>
    <p:extLst>
      <p:ext uri="{BB962C8B-B14F-4D97-AF65-F5344CB8AC3E}">
        <p14:creationId xmlns:p14="http://schemas.microsoft.com/office/powerpoint/2010/main" val="25066297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TotalTime>
  <Words>2076</Words>
  <Application>Microsoft Office PowerPoint</Application>
  <PresentationFormat>On-screen Show (4:3)</PresentationFormat>
  <Paragraphs>213</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Ali_K_Alwand</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fattah fattah</cp:lastModifiedBy>
  <cp:revision>82</cp:revision>
  <dcterms:created xsi:type="dcterms:W3CDTF">2014-01-31T06:00:23Z</dcterms:created>
  <dcterms:modified xsi:type="dcterms:W3CDTF">2024-12-16T05:26:19Z</dcterms:modified>
</cp:coreProperties>
</file>