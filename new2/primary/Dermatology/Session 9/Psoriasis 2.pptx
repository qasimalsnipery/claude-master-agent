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304" r:id="rId2"/>
    <p:sldId id="30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0"/>
  </p:normalViewPr>
  <p:slideViewPr>
    <p:cSldViewPr snapToGrid="0">
      <p:cViewPr varScale="1">
        <p:scale>
          <a:sx n="87" d="100"/>
          <a:sy n="87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5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07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8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50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4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1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2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7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8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5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1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12/16/25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1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7E604-E0E4-D18E-47BB-971C5119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87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Q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soriasis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970D0-3A14-0B38-F1C3-598565F83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0464"/>
            <a:ext cx="10515600" cy="3321562"/>
          </a:xfrm>
        </p:spPr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Mohammed Yousif Saeed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Jaff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department of dermatology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of dermatology.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 of Kurdistan Society of Dermatologists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Consultant of dermatology .</a:t>
            </a:r>
          </a:p>
          <a:p>
            <a:endParaRPr lang="en-IQ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BBFE890-FAA7-3821-5E5C-677B1693B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974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73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CEF1A-94EC-C523-2C6E-D9479C1B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211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Q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B9A8-2C95-6472-E10F-AD7F859C9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4572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efinition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tiology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athogenesis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istology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ypes of Psoriasis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omplications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ifferential diagnosis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nvestigations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Q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reatment 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5BAEF5B-6B52-69C3-5C64-546444DE4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192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104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CB38-10C0-7DC7-9408-C5065E5A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Psoriasis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558D5-A11D-094A-71CE-606C4BD26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Psoriasis is a chronic, non-infectious,  inflammatory skin disorder, characterized by  well-defined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salmonpink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plaques bearing large  adherent silvery centrally attached scales.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1-3 % of most populations have psoriasis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Uncommon in American black people and  almost non-existent in American Indians.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start at any age but is rare under 10  years, and appears most often between 15  and 40 years.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course is unpredictable but is usually  chronic with exacerbations and remissions.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2A5F434-515E-07D7-1167-675D3304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18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308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68AE-573E-71AB-5E31-4E220A1A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Q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3C825-B6F6-16A5-82DB-44A259A0F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5" y="1903004"/>
            <a:ext cx="9956189" cy="4954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precise cause of psoriasis is still unknown. But  there is 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predisposition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trigger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key abnormalities in a psoriatic plaque: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Hyperproliferation of keratinocytes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Inflammatory cell infiltrate in which neutrophils,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necrosis factor and probably Th17 type T  lymphocytes predominate.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of these abnormalities can induce the other,  leading to a vicious cycle of keratinocyte proliferation  and inflammatory reaction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CFA08EC-4916-69BA-D3C5-12218B83F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809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830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D5B86-4DA0-808A-E537-DD9D0DD1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973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Q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redisposing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59D87-FE93-5F13-A5E1-162A90A34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5" y="2285999"/>
            <a:ext cx="10044679" cy="423278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Trauma If the psoriasis is active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Köbner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phenomenon)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Tonsillitis caused by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haemolytic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streptococci often triggers guttate psoriasis.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Hormonal Psoriasis frequently improves in pregnancy only to relapse postpartum.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Sunlight Improves most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psoriatics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10% become  worse.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Drugs Antimalarials, beta-blockers, IFN-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steroid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Cigarette smoking and alcohol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upset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8CA2DC-6389-6BC1-A60C-F5756BEF1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133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124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F5CEB-4677-F83B-0C7D-01E83FD6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0D1C6-A0CC-4F15-4EDF-D052F231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F57B4-0F43-FB18-FC99-904D54770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381000"/>
            <a:ext cx="7518400" cy="60960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8F3077B-1C27-669E-7CDE-EAE5B8635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213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10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8008-D34C-1564-1BA2-797055AC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83" y="1900851"/>
            <a:ext cx="9238434" cy="85755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Pathogenesis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B05FD9-D484-365E-3036-A7D45736D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264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800A-17F8-E9E4-B448-171C4025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2336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71EC1-FE37-590A-BEF0-6F4722289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85" y="2285999"/>
            <a:ext cx="10648334" cy="4439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inheritance modes.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type has onset in youth and a more common family  history of psoriasis, and the other has onset in late adulthood  in patients without obvious family history.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polygenic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child with one affected parent has a 16% chance of  developing the disease, and this rises to 50% if both parents  are affected.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Psoriatic fathers are more likely to pass on the disease to  their children than are psoriatic mothers.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non-psoriatic parents have a child with psoriasis, the risk  for subsequent children is about 10%.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E5E4347-695D-67C4-0D64-42918CBA0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736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390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EBA1-8A58-C2E1-48C6-EE2D0212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58" y="7620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B787-4C54-2858-B33E-252394351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926692" cy="38100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Concordant is 70% of monozygotic twins but in  only 20% of dizygotic ones.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Early-onset psoriasis shows a genetic linkage  with a psoriasis susceptibility locus (PSOR-1)  located on 6p21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PSORS-1 is the most important locus in  psoriasis, accounting for up to 50% of genetic  susceptibility to the disease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Eight other loci (PSORS-2 to 9) have been  identified.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HLA-Cw6 genotype developing psoriasis is 20  times that of those without it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066C6A-127B-9CEE-8E87-DA3D785D1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8763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30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07B10-D06D-C92F-F9A6-0F9B54C9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Epidermal cell kinetics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1B808-ED93-BF61-AD1C-C8CBCBFE1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epidermis of psoriasis replicates too quickly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Keratinocytes proliferate out of control, and  an excessive number of germinative cells  enter the cell cycle.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growth fraction of epidermal basal  cells is greatly increased to almost 100%  compared with 30% in normal skin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epidermal turnover time is greatly  shortened, to less than 10 days compared  with 30 to 60 days in normal skin.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15F48E2-C1EF-E1A3-4E67-7A25ECE50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762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8642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D7E7-0AEE-1E9E-84A7-B00C611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11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Inflammation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0EBB-2CA0-F2E6-42A5-CF7400B8D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events may well have a primary  role in the pathogenesis of the disease  of psoriasis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Inflammatory cells especially neutrophils  and lymphocytes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of inflammatory cytokines and  mediators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1B35EA-EE8E-6A72-0FFB-E456A0DF7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562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7416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4976-AAF2-368D-FD3E-743F9ADF4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58" y="51619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Histology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46911-503F-F6AF-C5C8-6437617F5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926692" cy="412954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changes are the following.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Parakeratosis (nuclei retained in the horny layer).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 thickening of the epidermis over the rete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ridges, but thinning over dermal papillae. Bleeding may occur when scale is scratched off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Auspitz’s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Epidermal polymorphonuclear leucocyte  infiltrates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micro-abscesses (described originally by Munro).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 and tortuous capillary loops in the dermal  papillae.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T-lymphocyte infiltrate in upper dermis.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CE33323-5C2F-26ED-D9A0-16BC7C008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652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820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6AB9-831A-C803-0E94-86DAB9C3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Histology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55715-D51A-F893-29ED-DAE6D5BF0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0E9640-268A-BFCF-740C-6F66AC77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37" y="2286000"/>
            <a:ext cx="11094308" cy="412954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9935BDE-4DC2-28A1-28E3-FFB323B5F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18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202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2B63-D0A0-D9DA-F249-A754BE68A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Plaque pattern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E0EF-B314-ADBD-CC0B-26212588E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type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Lesions are well demarcated and range from a  few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millimetres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centimetres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diameter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lesions are pink or red with large, centrally  adherent, silvery white, polygonal scales.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194B9C6-72B6-4452-82BA-C3EF3ECB5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18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5424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F2CE-1CA5-F6B3-A3A3-24BCDE3C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79CF-5F96-0C0A-461D-44747926A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2EBAE-5C65-9964-E859-DDDC90B31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323850"/>
            <a:ext cx="4686300" cy="62103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CFC9481-EC1D-5DF6-4895-11A69C009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18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145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D062-7B43-B0F2-CB72-43EA9136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89D4-8FB6-541F-1531-3E7C7F82B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4263311" cy="3810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Symmetrical sites  on the elbows,  knees, lower back  and scalp are sites  of predilection</a:t>
            </a:r>
          </a:p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38C9E-6370-D553-1FB8-EA20C5FC5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279" y="762000"/>
            <a:ext cx="4660900" cy="55372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11721F9-F882-2D73-6DFA-85CEF5CA4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2725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784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134E-9622-358A-4A81-002C75B1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98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Guttate  psoriasis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912F-D334-85DC-B436-CC1F81DFE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‘guttate’ means ‘drop-shaped’.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Seen in children and adolescents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the first sign of the disease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triggered by streptococcal tonsillitis.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Numerous small round red macules come up  suddenly on the trunk and soon become scaly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rash often clears in a few months but  plaque psoriasis may develop later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1E1153E-E83E-0A00-D700-845D538C1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18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2151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E99A-165F-2969-67C9-22B1D8399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5F26F-2770-3732-50F8-A28FC63A5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9A28F-9C85-B1E3-BE5C-D187AF56F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85942"/>
            <a:ext cx="7772400" cy="5886115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8D80F45-8C3E-24B1-D1C2-411AD8A3A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0243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7937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A1DB-5F6F-4753-2C03-249E87B6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4ED2B-98B1-31F0-2489-6325347C1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3938847" cy="3810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involved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psoriasis  overflows just  beyond the scalp  margin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hair  loss is rare</a:t>
            </a:r>
          </a:p>
          <a:p>
            <a:endParaRPr lang="en-IQ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044571-DFB6-24B1-2DFA-9AB6F8AC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75082"/>
            <a:ext cx="4720918" cy="472091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08BCD16-05D9-C0F7-F4E3-3DB1615C5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965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4239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C886-59E7-8120-6218-15F17A5F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25C38-DA9E-40BF-017C-517B34200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Involvement of the nails is common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Thimble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pitting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Onycholysis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(separation of the nail from  the nail bed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subungual hyperkeratosis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C12EE32-C717-E597-EC55-FADF416A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712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0184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AE242-A555-AC2D-97AA-D73C325E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CB5AD-3603-FC2E-23BE-95C963A6B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DD06F-F4B4-17F7-1C40-FB2F36EC4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79499"/>
            <a:ext cx="7772400" cy="5499002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86042A37-8306-FA76-7D70-30B643B22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921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4276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51E1-8878-9EDE-6151-FB8F17B4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843C-83FA-45A4-1A77-1FF34983A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5F7BC-AE24-6DB4-9D8B-F91349F0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550" y="196850"/>
            <a:ext cx="5168900" cy="64643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689F95F-AAC2-4D71-E50B-DAE028143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084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5920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4E22-72BA-AC28-C4DE-49EAF4EC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095F9-33CC-A32C-64AB-20D2B7081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Psoriasis of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submammary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axillary and anogenital  folds is not scaly although the glistening sharply  demarcated red plaques often with fissuring in the depth  of the fold, are still readily recognizable.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Flexural psoriasis is most common in women and in the  elderly, and is more common among HIV infected  individuals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D620AC3-3019-2EDA-8CA6-AA60CBDF7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0345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0923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7968-A5AF-26DC-2143-D90535BD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F712-D2FC-BCA6-B43E-537B84626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F9A53-0D01-455D-810A-CF2D10971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796" y="299312"/>
            <a:ext cx="8250404" cy="6259376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BB0E3B8-22CA-5C44-8F81-A66B2F0E0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23018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970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2C47-90D3-30A7-A42A-DC7CBD4A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25572-4FB4-355E-92BC-425A392E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Palms and soles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Palmar psoriasis may be hard to recognize, as its  lesions are often poorly demarcated and barely  erythematous.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fingers may develop painful fissures.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other times lesions are inflamed and studded with  1–2 mm pustules (palmoplantar pustulosis)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CD456B-82FE-4181-A504-C2D2D1BC0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5094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1281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332C-400F-2F8C-BAC0-3C01E4277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B54B2-C5AA-45C7-DFD8-92172515E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B7361-DCFE-8C2E-1538-F3C94328C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50" y="273050"/>
            <a:ext cx="5346700" cy="63119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2C7D3E8-8E56-37E8-6F55-331B97825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18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190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DBF4-3050-55E8-9DD6-2322268AB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Erythrodermic  psoriasis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C38C-D04D-3D79-350A-61153A81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Sparked off by: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Irritant effect of tar or dithranol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drug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withdrawal of potent topical or systemic steroids.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skin becomes universally and uniformly red with variable scaling.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Malaise is accompanied by shivering and the skin feels hot and uncomfortable.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A4C24A0-E748-BFBE-4C89-CB2807A6A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343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8931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45F6-BF08-AB04-3FAA-DC88FAD3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6EBEA-2829-92A7-A5F3-02ADA384B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3A6C7-9E0F-C741-5DB4-E347BD2CF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50" y="279400"/>
            <a:ext cx="5499100" cy="62992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ECD65AA-611E-CDC3-4CBE-3EC860E36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400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779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8FF0-9495-F761-8F25-0A53DD82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 psoriasis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6C9BD-FEEE-B83B-2433-6D79E455D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3673376" cy="3810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long-term use  of potent topical steroid</a:t>
            </a:r>
          </a:p>
          <a:p>
            <a:pPr marL="0" indent="0">
              <a:buNone/>
            </a:pPr>
            <a:endParaRPr lang="en-IQ" dirty="0"/>
          </a:p>
        </p:txBody>
      </p:sp>
      <p:pic>
        <p:nvPicPr>
          <p:cNvPr id="5" name="Picture 4" descr="A person with a rash on her back&#10;&#10;Description automatically generated">
            <a:extLst>
              <a:ext uri="{FF2B5EF4-FFF2-40B4-BE49-F238E27FC236}">
                <a16:creationId xmlns:a16="http://schemas.microsoft.com/office/drawing/2014/main" id="{31FA4995-E6A9-D1CB-A41D-C76EB336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031" y="296427"/>
            <a:ext cx="4923703" cy="6265145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F46D534-2128-22E0-AA05-98D9E640D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8838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72CF-E02A-D33B-9BBB-9D898C85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8F77-14EC-FAD2-CBF7-B24FE222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5999"/>
            <a:ext cx="10383892" cy="4380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Psoriatic arthropathy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in about 5–20%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psoriatics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Distal arthritis involves the terminal interphalangeal  joints of the toes and fingers, especially those with  marked nail changes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Involvement of a single large joint; one that mimics rheumatoid arthritis and may become mutilating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for rheumatoid factor are negative and nodules  are absent.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patients with spondylitis and sacroiliitis there is a strong correlation with the presence of HLA-B27.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CCBB77-FC74-1CBF-6165-AB8E683AA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4659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9949-3204-5F19-BF5E-38014FA9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diagnosis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E8843-AB32-2F85-4DF8-EF39B002B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Discoid eczema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Seborrhoeic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eczema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Pityriasis rosea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syphilis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Cutaneous T-cell lymphoma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Tinea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unguium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1B85F45-ED12-7DBB-E163-F7D917E35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343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565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FB3A-ECD1-FA7D-56E0-916B7766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034D3-B1DF-6BA1-2E69-8C40DF826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Biopsy is seldom necessary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Throat swabbing for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haemolytic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streptococci is needed in guttate  psoriasis.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scrapings and nail clippings  may be required to exclude tinea.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Radiology and tests for rheumatoid  factor are helpful in assessing arthritis</a:t>
            </a:r>
            <a:endParaRPr lang="en-IQ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81B86A1-377F-9E8C-01A7-66CFAE388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594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6918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5012-D182-023F-1EC5-73B028B7E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944A6-817F-BA07-81AB-71674229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measures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 and reassurances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must never be allowed to be more  troublesome than the disease itself.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present there is no cure for psoriasis; all  treatments are suppressive and aimed at  either inducing a remission or making the  condition more tolerable.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Spontaneous remissions will occur in 50%of  patients.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Concomitant anxiety and depression should  be treated on their own merits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85747EA-6A94-1932-DEA5-A2158BE37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654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168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1515-2E22-1E97-DEA2-BFD66F24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08A32-FA9F-4FEF-03B0-2468F02A6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95" y="1893580"/>
            <a:ext cx="10338618" cy="4743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treatments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Vitamin D analogues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Calcipotriol (calcipotriene, USA), calcitriol and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tacalcitol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mild to moderate psoriasis affecting less than 40% of the skin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like calcipotriol because it 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odourless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colourless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does not stain.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seldom clears plaques of psoriasis completely, but  does reduce their scaling and thickness.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and usually transient irritation may occur with  the recommended twice-daily application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8746D3A-D108-15B1-7497-1C8150542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233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26205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A3FD-4018-BE12-C556-8878603A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3576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CE18-5B5A-7F65-0E74-59EC2153C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retinoids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Tazarotene is a topically active retinoid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recommended for chronic stable  plaque psoriasis on the trunk and limbs  covering up to 20% of the body.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main side-effect is irritation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drug should not be used in pregnancy  or during lactation or children below 12  year.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 of child-bearing age should use  adequate contraception during therapy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C0DC358-C545-6770-0979-89AC1E815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2" y="156343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3107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D22A-AFF3-B7F2-04F0-E4C6D9A2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843" y="558748"/>
            <a:ext cx="9238434" cy="8575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01F20-8252-99FF-7AD6-8E2958C7D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85" y="1681317"/>
            <a:ext cx="11385754" cy="5058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Topical corticosteroids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Topical corticosteroids are most helpful and use them as  the mainstay of their long-term management of stable  plaque psoriasis.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like them because they are clean and reduce  scaling and redness.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if other treatments are ineffective or contraindicated or for localized psoriasis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Dermal atrophy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Tachyphylaxis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relapses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occasional precipitation of unstable psoriasis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Rarely, in extensive cases, of adrenal suppression caused  by systemic absorption.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A5AADDC-D9ED-1634-EF8A-76642536E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987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57111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1E59-A650-911E-1251-B004408D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8BB5E-E0E3-144F-84A7-441987776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3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Dithranol (anthralin)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inhibits DNA synthesis and form free  radicals of oxygen.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Dithranol is too irritant to apply to the  face, the inner thighs, genital region or  skin folds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stain clothes purple–brown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406DD0F-64F0-7C5B-027D-D5449174D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906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2016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2F2D-3A32-320C-1EC7-D66E4D55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C5D44-4DB2-27F7-9565-03B7E9707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 tar preparations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less refined tars are smelly, messy and  stain clothes, but are more effective than  the cleaner refined preparations.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Calcineurin inhibitors (topical  immunomodulators)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tacrolimus and pimecrolimus have  been used, but they are usually too weak  to do much except for psoriasis on the  face, genitals or intertriginous areas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FA9E13-5119-0AF9-40D4-B8106FB32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594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6430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C0F3-A4FA-AC18-D637-8D0470A05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5" y="706232"/>
            <a:ext cx="9238434" cy="8575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B0A7-6DD6-2339-112A-311EF88C5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5" y="1903005"/>
            <a:ext cx="10575622" cy="463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Ultraviolet radiation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patients improve with natural sunlight and  should be encouraged to sunbathe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broadband and narrowband UVB can be used.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Narrowband UVB at wavelength 311 nm is especially  effective for clearing psoriasis while minimizing  exposure to potentially carcinogenic wavelengths  less than 300 nm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risk of UVB therapies in the short term is  acute phototoxicity (sunburn-like reaction) and, in the  long term, the induction of photodamage and skin  cancer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3D2FCCA-ABFA-B9D8-5563-1248ACBE1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632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70431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7DBF-6533-4AFD-3DE3-C6161BE4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83" y="426012"/>
            <a:ext cx="9238434" cy="8575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situations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190B-1B3E-4D46-B149-E4655002B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155" y="1474839"/>
            <a:ext cx="11164529" cy="53831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Scalp psoriasis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often recalcitrant.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Oily preparations containing 3–6% salicylic acid are useful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should be rubbed into the scalp three times a week  and washed out with a tar shampoo 4–6 h later.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Salicylic acid and tar combinations are also effective.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Guttate psoriasis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course of penicillin V or erythromycin is indicated for  any associated streptococcal throat infection.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Bland local treatment is often enough as the natural trend is towards remission.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preparations include emulsifying ointment and  zinc and ichthammol cream. Tar–steroid preparations are  reasonable alternatives.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38BD52D-9679-29E4-93FB-256100256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578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658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9F2D-A4C8-BFD9-F4AE-F5A0DAFF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Systemic treatment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3BED-F3FD-3DB3-977E-C68B31234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systemic approach should be considered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extensive psoriasis (more than 20%  of the body surface) that fails to improve  with prolonged courses of tar or  dithranol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patients whose quality of life is low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31F97D-F982-EAB2-74C0-20AE47842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37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79652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BB11-861A-EB88-F08E-96BC72990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PUVA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81542-C313-6111-227B-166ACD291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5" y="2286000"/>
            <a:ext cx="9970937" cy="4572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oral dose of 8-methoxypsoralen (8-MOP) or 5-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methoxypsoralen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(5-MOP) is followed by exposure to  long-wave ultraviolet radiation (UVA: 320–400 nm).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Inhibits DNA synthesis and epidermal cell division.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Psoralens may also be administered in bath water for those unable to tolerate the oral regimen.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is given two or three times a week with  increasing doses of UVA, depending on erythema  production and the therapeutic response.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Protective goggles are worn during radiation and  UVA opaque plastic glasses must be used after  taking the tablets and for 24 h after each treatment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817C02A-63C5-0BC4-5E5F-C9BF8723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157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95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D770-CDCA-5F7F-6FD6-6FA01C800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PUVA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08EDA-AFF8-C9C4-79DD-D02AE3B8B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5" y="2285999"/>
            <a:ext cx="9587479" cy="443926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Side-effects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Painful erythema is the most common side-effect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One-quarter of patients itch during and immediately  after radiation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side-effects include premature ageing of  the skin (with mottled pigmentation, scattered  lentigines, wrinkles and atrophy), cutaneous  Malignancies , cataract formation. The use of UVA-  blocking glasses for 24 h after each treatment should  protect against the latter.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long-term side-effects relate to the total amount  of UVA received over the years; this must be  recorded and kept as low as possible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16942E5-76C8-3313-A06E-1E458BD5E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654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8144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DBBD-79B0-DEFB-72F9-317CE8B3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83" y="455509"/>
            <a:ext cx="9238434" cy="8575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Retinoids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E13F5-ECBD-6A35-2CFE-DD91A29C8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65" y="1313069"/>
            <a:ext cx="10751574" cy="554493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Acitretin (10–25 mg/day) is an analogue of vitamin A, and is one of the few drugs helpful in pustular psoriasis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Retinoids and PUVA act synergistically and are often used  together in the so-called Re-PUVA regimen. This clears plaque  psoriasis quicker than PUVA alone, and needs a smaller  cumulative dose of UVA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side effects are frequent and dose related. They include  dry lips, mouth, vagina and eyes, peeling of the skin, pruritus  and unpleasant paronychia.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Hair thinning or loss is common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damage and hyperlipidemia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side-effect is teratogenicity so acitretin should not normally be prescribed to women of child-bearing 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oral contraceptive measures must be taken for 2 years  after treatment has ceased.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donation should be avoided for a similar period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921F148-E4DE-39A0-062E-7983EBCDE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04" y="3225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79648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293D-A031-E753-D230-ECA602D07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83" y="499755"/>
            <a:ext cx="9238434" cy="8575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Methotrexate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6E972-E215-20E5-61F3-C762E0DE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1" y="1504335"/>
            <a:ext cx="11385755" cy="535366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Inhibition of both dihydrofolate reductase, and (AICAR) transferase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Folate supplementation may reduce methotrexate toxicity,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and temporary side effects, such as nausea and malaise,  are common in the 48 h after administration.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serious drawback to this treatment is hepatic fibrosis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by liver biopsy to exclude active liver disease has  been advised for those with risk factors, and repeated after  every cumulative dose of 1.5–2 g or serial assays of serum  procollagen III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aminopeptide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(PIIINP)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checks to exclude marrow suppression, and to monitor renal and liver function, should also be performed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drug is teratogenic and should not be given to females in  their reproductive years. Oligospermia has been noted in men  and fertility may be lowered</a:t>
            </a: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35A711F-60E9-A47C-9A43-546DFC170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34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28023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A0BE-8965-73E7-23B9-25612FBC0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339" y="1681316"/>
            <a:ext cx="10280653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Ciclosporin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Inhibits cell-mediated immune reactions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 severe psoriasis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Side-effects of long-term treatment include  hypertension, kidney damage and persistent  viral warts with a risk of skin cancer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therapy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psoriasis is resistant to one treatment, a  combination of treatments used together may  be the answer. Combination treatments can  even prevent side-effects by allowing less of  each drug to be used.</a:t>
            </a:r>
          </a:p>
          <a:p>
            <a:endParaRPr lang="en-IQ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4CEA6B6-CD44-1D1D-48AA-0A8F3F3E8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9884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90255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1F6F-12A9-034F-CE7D-45E241BA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Q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6034B-A706-3537-9F31-BEE9067E8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5999"/>
            <a:ext cx="9690718" cy="443926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 TNF-a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Etanercept, recommended as the first  line biological agent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Infliximab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Inhibits T-cell activation drugs: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Alefacept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Efalizumab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all are very effective, but also very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3056726-ED45-070A-302C-7C21B6F82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145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3376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4C46-EECE-B9F1-0D7E-20957646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5170714"/>
            <a:ext cx="9238434" cy="1099456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Q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2F6A5-E744-632A-C726-9DFAB4E92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782473"/>
            <a:ext cx="8476434" cy="333460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Q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9421FEB-D09A-F07C-D5CB-B6576AB24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3030"/>
            <a:ext cx="2232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0556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108</TotalTime>
  <Words>2220</Words>
  <Application>Microsoft Macintosh PowerPoint</Application>
  <PresentationFormat>Widescreen</PresentationFormat>
  <Paragraphs>233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Times New Roman</vt:lpstr>
      <vt:lpstr>Office 2013 - 2022 Theme</vt:lpstr>
      <vt:lpstr>Psoriasis </vt:lpstr>
      <vt:lpstr>Outline </vt:lpstr>
      <vt:lpstr>Psoriasis</vt:lpstr>
      <vt:lpstr>Etiology </vt:lpstr>
      <vt:lpstr>Predisposing factors</vt:lpstr>
      <vt:lpstr>PowerPoint Presentation</vt:lpstr>
      <vt:lpstr>Pathogenesis</vt:lpstr>
      <vt:lpstr>Genetics</vt:lpstr>
      <vt:lpstr>Genetics</vt:lpstr>
      <vt:lpstr>Epidermal cell kinetics</vt:lpstr>
      <vt:lpstr>Inflammation</vt:lpstr>
      <vt:lpstr>Histology</vt:lpstr>
      <vt:lpstr>Histology</vt:lpstr>
      <vt:lpstr>Plaque pattern</vt:lpstr>
      <vt:lpstr>PowerPoint Presentation</vt:lpstr>
      <vt:lpstr>PowerPoint Presentation</vt:lpstr>
      <vt:lpstr>Guttate  psoriasis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Erythrodermic  psoriasis</vt:lpstr>
      <vt:lpstr>PowerPoint Presentation</vt:lpstr>
      <vt:lpstr>Unstable  psoriasis</vt:lpstr>
      <vt:lpstr>Complications</vt:lpstr>
      <vt:lpstr>Differential diagnosis</vt:lpstr>
      <vt:lpstr>Investigations</vt:lpstr>
      <vt:lpstr>Treatment</vt:lpstr>
      <vt:lpstr>Treatment</vt:lpstr>
      <vt:lpstr>Treatment</vt:lpstr>
      <vt:lpstr>Treatment</vt:lpstr>
      <vt:lpstr>Treatment</vt:lpstr>
      <vt:lpstr>Treatment</vt:lpstr>
      <vt:lpstr>Treatment</vt:lpstr>
      <vt:lpstr>Special situations</vt:lpstr>
      <vt:lpstr>Systemic treatment</vt:lpstr>
      <vt:lpstr>PUVA</vt:lpstr>
      <vt:lpstr>PUVA</vt:lpstr>
      <vt:lpstr>Retinoids</vt:lpstr>
      <vt:lpstr>Methotrexate</vt:lpstr>
      <vt:lpstr>PowerPoint Presentation</vt:lpstr>
      <vt:lpstr>PowerPoint Presentation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Banaz Jaf</dc:creator>
  <cp:lastModifiedBy>Mohammed Yousif</cp:lastModifiedBy>
  <cp:revision>3</cp:revision>
  <dcterms:created xsi:type="dcterms:W3CDTF">2024-09-22T12:35:32Z</dcterms:created>
  <dcterms:modified xsi:type="dcterms:W3CDTF">2025-12-15T22:54:57Z</dcterms:modified>
</cp:coreProperties>
</file>