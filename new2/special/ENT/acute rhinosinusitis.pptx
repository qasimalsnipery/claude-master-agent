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  <p:sldId id="257" r:id="rId3"/>
    <p:sldId id="260" r:id="rId4"/>
    <p:sldId id="313" r:id="rId5"/>
    <p:sldId id="314" r:id="rId6"/>
    <p:sldId id="316" r:id="rId7"/>
    <p:sldId id="263" r:id="rId8"/>
    <p:sldId id="264" r:id="rId9"/>
    <p:sldId id="265" r:id="rId10"/>
    <p:sldId id="266" r:id="rId11"/>
    <p:sldId id="267" r:id="rId12"/>
    <p:sldId id="268" r:id="rId13"/>
    <p:sldId id="315" r:id="rId14"/>
    <p:sldId id="271" r:id="rId15"/>
    <p:sldId id="325" r:id="rId16"/>
    <p:sldId id="278" r:id="rId17"/>
    <p:sldId id="326" r:id="rId18"/>
    <p:sldId id="327" r:id="rId19"/>
    <p:sldId id="281" r:id="rId20"/>
    <p:sldId id="282" r:id="rId21"/>
    <p:sldId id="328" r:id="rId22"/>
    <p:sldId id="287" r:id="rId23"/>
    <p:sldId id="288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5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4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4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4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7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62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6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0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8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8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6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790" y="2190115"/>
            <a:ext cx="6654165" cy="441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ctr">
              <a:lnSpc>
                <a:spcPct val="100000"/>
              </a:lnSpc>
              <a:spcBef>
                <a:spcPts val="100"/>
              </a:spcBef>
              <a:tabLst>
                <a:tab pos="2583815" algn="l"/>
                <a:tab pos="3326765" algn="l"/>
              </a:tabLst>
            </a:pPr>
            <a:r>
              <a:rPr sz="5400" b="1" spc="-5" dirty="0" smtClean="0">
                <a:solidFill>
                  <a:schemeClr val="tx2"/>
                </a:solidFill>
                <a:latin typeface="Times New Roman"/>
                <a:cs typeface="Times New Roman"/>
              </a:rPr>
              <a:t>ACUT</a:t>
            </a:r>
            <a:r>
              <a:rPr lang="en-US" sz="5400" b="1" spc="-5" dirty="0" smtClean="0">
                <a:solidFill>
                  <a:schemeClr val="tx2"/>
                </a:solidFill>
                <a:latin typeface="Times New Roman"/>
                <a:cs typeface="Times New Roman"/>
              </a:rPr>
              <a:t>E</a:t>
            </a:r>
            <a:r>
              <a:rPr lang="en-US" sz="54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lang="en-US" sz="5400" b="1" spc="-5" dirty="0" smtClean="0">
                <a:solidFill>
                  <a:schemeClr val="tx2"/>
                </a:solidFill>
                <a:latin typeface="Times New Roman"/>
                <a:cs typeface="Times New Roman"/>
              </a:rPr>
              <a:t>RHINOSINUSITIS</a:t>
            </a:r>
            <a:endParaRPr lang="en-US" sz="5400" b="1" spc="-5" dirty="0" smtClean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63500" lvl="0" algn="ctr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Dr.Haval Ahmed Hama</a:t>
            </a:r>
          </a:p>
          <a:p>
            <a:pPr marL="63500" lvl="0" algn="ctr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 err="1">
                <a:solidFill>
                  <a:prstClr val="black"/>
                </a:solidFill>
                <a:ea typeface="ＭＳ Ｐゴシック" panose="020B0600070205080204" pitchFamily="34" charset="-128"/>
              </a:rPr>
              <a:t>MBChB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F.K.B.M.S </a:t>
            </a:r>
          </a:p>
          <a:p>
            <a:pPr marL="63500" lvl="0" algn="ctr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(Otolaryngology, Head and Neck Surgeon)</a:t>
            </a:r>
          </a:p>
          <a:p>
            <a:pPr marL="63500" lvl="0" algn="ctr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University of </a:t>
            </a:r>
            <a:r>
              <a:rPr lang="en-US" altLang="en-US" sz="2000" dirty="0" err="1">
                <a:solidFill>
                  <a:prstClr val="black"/>
                </a:solidFill>
              </a:rPr>
              <a:t>Sulaymaniyah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College of Medicine.</a:t>
            </a:r>
          </a:p>
          <a:p>
            <a:pPr marL="63500" lvl="0" algn="ctr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Branch Of Clinical Science.</a:t>
            </a:r>
            <a:endParaRPr lang="en-US" altLang="en-US" sz="20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  <a:p>
            <a:pPr marL="469265" marR="5080" indent="-457200" algn="ctr">
              <a:lnSpc>
                <a:spcPct val="100000"/>
              </a:lnSpc>
              <a:spcBef>
                <a:spcPts val="100"/>
              </a:spcBef>
              <a:tabLst>
                <a:tab pos="2583815" algn="l"/>
                <a:tab pos="3326765" algn="l"/>
              </a:tabLst>
            </a:pPr>
            <a:endParaRPr sz="5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594" y="461899"/>
            <a:ext cx="268605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5" dirty="0">
                <a:solidFill>
                  <a:schemeClr val="tx1"/>
                </a:solidFill>
                <a:latin typeface="Carlito"/>
                <a:cs typeface="Carlito"/>
              </a:rPr>
              <a:t>DEFINITION</a:t>
            </a:r>
            <a:endParaRPr sz="3600" b="1" dirty="0">
              <a:solidFill>
                <a:schemeClr val="tx1"/>
              </a:solidFill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2138"/>
            <a:ext cx="8303259" cy="21595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355600" algn="l"/>
                <a:tab pos="2411095" algn="l"/>
                <a:tab pos="3096260" algn="l"/>
                <a:tab pos="3446779" algn="l"/>
                <a:tab pos="3929379" algn="l"/>
                <a:tab pos="5937250" algn="l"/>
                <a:tab pos="6360795" algn="l"/>
                <a:tab pos="6964680" algn="l"/>
                <a:tab pos="7766050" algn="l"/>
              </a:tabLst>
            </a:pPr>
            <a:r>
              <a:rPr sz="2800" b="1" u="sng" dirty="0" err="1" smtClean="0">
                <a:solidFill>
                  <a:schemeClr val="tx2"/>
                </a:solidFill>
                <a:latin typeface="Carlito"/>
                <a:cs typeface="Carlito"/>
              </a:rPr>
              <a:t>Rhin</a:t>
            </a:r>
            <a:r>
              <a:rPr sz="2800" b="1" u="sng" spc="10" dirty="0" err="1" smtClean="0">
                <a:solidFill>
                  <a:schemeClr val="tx2"/>
                </a:solidFill>
                <a:latin typeface="Carlito"/>
                <a:cs typeface="Carlito"/>
              </a:rPr>
              <a:t>o</a:t>
            </a:r>
            <a:r>
              <a:rPr sz="2800" b="1" u="sng" spc="-5" dirty="0" err="1" smtClean="0">
                <a:solidFill>
                  <a:schemeClr val="tx2"/>
                </a:solidFill>
                <a:latin typeface="Carlito"/>
                <a:cs typeface="Carlito"/>
              </a:rPr>
              <a:t>sinu</a:t>
            </a:r>
            <a:r>
              <a:rPr sz="2800" b="1" u="sng" spc="-15" dirty="0" err="1" smtClean="0">
                <a:solidFill>
                  <a:schemeClr val="tx2"/>
                </a:solidFill>
                <a:latin typeface="Carlito"/>
                <a:cs typeface="Carlito"/>
              </a:rPr>
              <a:t>s</a:t>
            </a:r>
            <a:r>
              <a:rPr sz="2800" b="1" u="sng" dirty="0" err="1" smtClean="0">
                <a:solidFill>
                  <a:schemeClr val="tx2"/>
                </a:solidFill>
                <a:latin typeface="Carlito"/>
                <a:cs typeface="Carlito"/>
              </a:rPr>
              <a:t>itis</a:t>
            </a:r>
            <a:r>
              <a:rPr lang="en-US" sz="2800" b="1" u="sng" dirty="0" smtClean="0">
                <a:solidFill>
                  <a:schemeClr val="tx2"/>
                </a:solidFill>
                <a:latin typeface="Carlito"/>
                <a:cs typeface="Carlito"/>
              </a:rPr>
              <a:t> </a:t>
            </a:r>
            <a:r>
              <a:rPr sz="2800" b="1" u="sng" spc="-5" dirty="0" smtClean="0">
                <a:solidFill>
                  <a:schemeClr val="tx2"/>
                </a:solidFill>
                <a:latin typeface="Carlito"/>
                <a:cs typeface="Carlito"/>
              </a:rPr>
              <a:t>(</a:t>
            </a:r>
            <a:r>
              <a:rPr sz="2800" b="1" u="sng" spc="-40" dirty="0" smtClean="0">
                <a:solidFill>
                  <a:schemeClr val="tx2"/>
                </a:solidFill>
                <a:latin typeface="Carlito"/>
                <a:cs typeface="Carlito"/>
              </a:rPr>
              <a:t>R</a:t>
            </a:r>
            <a:r>
              <a:rPr sz="2800" b="1" u="sng" spc="-5" dirty="0" smtClean="0">
                <a:solidFill>
                  <a:schemeClr val="tx2"/>
                </a:solidFill>
                <a:latin typeface="Carlito"/>
                <a:cs typeface="Carlito"/>
              </a:rPr>
              <a:t>S</a:t>
            </a:r>
            <a:r>
              <a:rPr sz="2800" b="1" u="sng" dirty="0" smtClean="0">
                <a:solidFill>
                  <a:schemeClr val="tx2"/>
                </a:solidFill>
                <a:latin typeface="Carlito"/>
                <a:cs typeface="Carlito"/>
              </a:rPr>
              <a:t>)</a:t>
            </a:r>
            <a:r>
              <a:rPr lang="en-US" sz="2800" b="1" u="sng" dirty="0" smtClean="0">
                <a:solidFill>
                  <a:schemeClr val="tx2"/>
                </a:solidFill>
                <a:latin typeface="Carlito"/>
                <a:cs typeface="Carlito"/>
              </a:rPr>
              <a:t>:-</a:t>
            </a:r>
            <a:r>
              <a:rPr sz="2700" dirty="0">
                <a:latin typeface="Carlito"/>
                <a:cs typeface="Carlito"/>
              </a:rPr>
              <a:t>	</a:t>
            </a:r>
            <a:endParaRPr lang="en-US" sz="2700" dirty="0" smtClean="0">
              <a:latin typeface="Carlito"/>
              <a:cs typeface="Carlito"/>
            </a:endParaRPr>
          </a:p>
          <a:p>
            <a:pPr marL="354965" marR="5080" indent="-354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411095" algn="l"/>
                <a:tab pos="3096260" algn="l"/>
                <a:tab pos="3446779" algn="l"/>
                <a:tab pos="3929379" algn="l"/>
                <a:tab pos="5937250" algn="l"/>
                <a:tab pos="6360795" algn="l"/>
                <a:tab pos="6964680" algn="l"/>
                <a:tab pos="7766050" algn="l"/>
              </a:tabLst>
            </a:pPr>
            <a:r>
              <a:rPr sz="2400" dirty="0" smtClean="0">
                <a:latin typeface="Carlito"/>
                <a:cs typeface="Carlito"/>
              </a:rPr>
              <a:t>is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dirty="0" smtClean="0">
                <a:latin typeface="Carlito"/>
                <a:cs typeface="Carlito"/>
              </a:rPr>
              <a:t>an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dirty="0" smtClean="0">
                <a:latin typeface="Carlito"/>
                <a:cs typeface="Carlito"/>
              </a:rPr>
              <a:t>i</a:t>
            </a:r>
            <a:r>
              <a:rPr sz="2400" spc="-10" dirty="0" smtClean="0">
                <a:latin typeface="Carlito"/>
                <a:cs typeface="Carlito"/>
              </a:rPr>
              <a:t>n</a:t>
            </a:r>
            <a:r>
              <a:rPr sz="2400" spc="-5" dirty="0" smtClean="0">
                <a:latin typeface="Carlito"/>
                <a:cs typeface="Carlito"/>
              </a:rPr>
              <a:t>fla</a:t>
            </a:r>
            <a:r>
              <a:rPr sz="2400" spc="-15" dirty="0" smtClean="0">
                <a:latin typeface="Carlito"/>
                <a:cs typeface="Carlito"/>
              </a:rPr>
              <a:t>m</a:t>
            </a:r>
            <a:r>
              <a:rPr sz="2400" dirty="0" smtClean="0">
                <a:latin typeface="Carlito"/>
                <a:cs typeface="Carlito"/>
              </a:rPr>
              <a:t>m</a:t>
            </a:r>
            <a:r>
              <a:rPr sz="2400" spc="-20" dirty="0" smtClean="0">
                <a:latin typeface="Carlito"/>
                <a:cs typeface="Carlito"/>
              </a:rPr>
              <a:t>a</a:t>
            </a:r>
            <a:r>
              <a:rPr sz="2400" dirty="0" smtClean="0">
                <a:latin typeface="Carlito"/>
                <a:cs typeface="Carlito"/>
              </a:rPr>
              <a:t>tion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dirty="0" smtClean="0">
                <a:latin typeface="Carlito"/>
                <a:cs typeface="Carlito"/>
              </a:rPr>
              <a:t>of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dirty="0" smtClean="0">
                <a:latin typeface="Carlito"/>
                <a:cs typeface="Carlito"/>
              </a:rPr>
              <a:t>the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5" dirty="0" smtClean="0">
                <a:latin typeface="Carlito"/>
                <a:cs typeface="Carlito"/>
              </a:rPr>
              <a:t>n</a:t>
            </a:r>
            <a:r>
              <a:rPr sz="2400" spc="-10" dirty="0" smtClean="0">
                <a:latin typeface="Carlito"/>
                <a:cs typeface="Carlito"/>
              </a:rPr>
              <a:t>o</a:t>
            </a:r>
            <a:r>
              <a:rPr sz="2400" spc="-5" dirty="0" smtClean="0">
                <a:latin typeface="Carlito"/>
                <a:cs typeface="Carlito"/>
              </a:rPr>
              <a:t>s</a:t>
            </a:r>
            <a:r>
              <a:rPr sz="2400" dirty="0" smtClean="0">
                <a:latin typeface="Carlito"/>
                <a:cs typeface="Carlito"/>
              </a:rPr>
              <a:t>e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dirty="0" smtClean="0">
                <a:latin typeface="Carlito"/>
                <a:cs typeface="Carlito"/>
              </a:rPr>
              <a:t>a</a:t>
            </a:r>
            <a:r>
              <a:rPr sz="2400" spc="-15" dirty="0" smtClean="0">
                <a:latin typeface="Carlito"/>
                <a:cs typeface="Carlito"/>
              </a:rPr>
              <a:t>n</a:t>
            </a:r>
            <a:r>
              <a:rPr sz="2400" dirty="0" smtClean="0">
                <a:latin typeface="Carlito"/>
                <a:cs typeface="Carlito"/>
              </a:rPr>
              <a:t>d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spc="-10" dirty="0" smtClean="0">
                <a:latin typeface="Carlito"/>
                <a:cs typeface="Carlito"/>
              </a:rPr>
              <a:t>paranasal </a:t>
            </a:r>
            <a:r>
              <a:rPr sz="2400" spc="-35" dirty="0" smtClean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sinuses.</a:t>
            </a:r>
            <a:endParaRPr sz="2400" dirty="0">
              <a:latin typeface="Carlito"/>
              <a:cs typeface="Carlito"/>
            </a:endParaRPr>
          </a:p>
          <a:p>
            <a:pPr marL="354965" marR="5715" indent="-354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  <a:tab pos="768350" algn="l"/>
                <a:tab pos="2214880" algn="l"/>
                <a:tab pos="2824480" algn="l"/>
                <a:tab pos="3855085" algn="l"/>
                <a:tab pos="4485640" algn="l"/>
                <a:tab pos="4982845" algn="l"/>
                <a:tab pos="5891530" algn="l"/>
                <a:tab pos="6394450" algn="l"/>
                <a:tab pos="7699375" algn="l"/>
              </a:tabLst>
            </a:pPr>
            <a:r>
              <a:rPr sz="2400" dirty="0">
                <a:latin typeface="Carlito"/>
                <a:cs typeface="Carlito"/>
              </a:rPr>
              <a:t>It	a</a:t>
            </a:r>
            <a:r>
              <a:rPr sz="2400" spc="-15" dirty="0">
                <a:latin typeface="Carlito"/>
                <a:cs typeface="Carlito"/>
              </a:rPr>
              <a:t>c</a:t>
            </a:r>
            <a:r>
              <a:rPr sz="2400" spc="-30" dirty="0">
                <a:latin typeface="Carlito"/>
                <a:cs typeface="Carlito"/>
              </a:rPr>
              <a:t>c</a:t>
            </a:r>
            <a:r>
              <a:rPr sz="2400" spc="-5" dirty="0">
                <a:latin typeface="Carlito"/>
                <a:cs typeface="Carlito"/>
              </a:rPr>
              <a:t>ou</a:t>
            </a:r>
            <a:r>
              <a:rPr sz="2400" spc="-25" dirty="0">
                <a:latin typeface="Carlito"/>
                <a:cs typeface="Carlito"/>
              </a:rPr>
              <a:t>n</a:t>
            </a:r>
            <a:r>
              <a:rPr sz="2400" spc="-20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s	</a:t>
            </a:r>
            <a:r>
              <a:rPr sz="2400" spc="-60" dirty="0">
                <a:latin typeface="Carlito"/>
                <a:cs typeface="Carlito"/>
              </a:rPr>
              <a:t>f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r	about	</a:t>
            </a:r>
            <a:r>
              <a:rPr lang="en-US" sz="2400" spc="-5" dirty="0">
                <a:latin typeface="Carlito"/>
                <a:cs typeface="Carlito"/>
              </a:rPr>
              <a:t>6</a:t>
            </a:r>
            <a:r>
              <a:rPr sz="2400" dirty="0" smtClean="0">
                <a:latin typeface="Carlito"/>
                <a:cs typeface="Carlito"/>
              </a:rPr>
              <a:t>%</a:t>
            </a:r>
            <a:r>
              <a:rPr lang="en-US" sz="2400" dirty="0" smtClean="0">
                <a:latin typeface="Carlito"/>
                <a:cs typeface="Carlito"/>
              </a:rPr>
              <a:t>-15%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5" dirty="0" smtClean="0">
                <a:latin typeface="Carlito"/>
                <a:cs typeface="Carlito"/>
              </a:rPr>
              <a:t>o</a:t>
            </a:r>
            <a:r>
              <a:rPr sz="2400" dirty="0" smtClean="0">
                <a:latin typeface="Carlito"/>
                <a:cs typeface="Carlito"/>
              </a:rPr>
              <a:t>f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dirty="0" smtClean="0">
                <a:latin typeface="Carlito"/>
                <a:cs typeface="Carlito"/>
              </a:rPr>
              <a:t>vis</a:t>
            </a:r>
            <a:r>
              <a:rPr sz="2400" spc="5" dirty="0" smtClean="0">
                <a:latin typeface="Carlito"/>
                <a:cs typeface="Carlito"/>
              </a:rPr>
              <a:t>i</a:t>
            </a:r>
            <a:r>
              <a:rPr sz="2400" dirty="0" smtClean="0">
                <a:latin typeface="Carlito"/>
                <a:cs typeface="Carlito"/>
              </a:rPr>
              <a:t>ts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spc="-30" dirty="0" smtClean="0">
                <a:latin typeface="Carlito"/>
                <a:cs typeface="Carlito"/>
              </a:rPr>
              <a:t>t</a:t>
            </a:r>
            <a:r>
              <a:rPr sz="2400" dirty="0" smtClean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	</a:t>
            </a:r>
            <a:r>
              <a:rPr sz="2400" spc="-5" dirty="0" smtClean="0">
                <a:latin typeface="Carlito"/>
                <a:cs typeface="Carlito"/>
              </a:rPr>
              <a:t>prima</a:t>
            </a:r>
            <a:r>
              <a:rPr sz="2400" dirty="0" smtClean="0">
                <a:latin typeface="Carlito"/>
                <a:cs typeface="Carlito"/>
              </a:rPr>
              <a:t>ry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spc="-30" dirty="0" smtClean="0">
                <a:latin typeface="Carlito"/>
                <a:cs typeface="Carlito"/>
              </a:rPr>
              <a:t>c</a:t>
            </a:r>
            <a:r>
              <a:rPr sz="2400" dirty="0" smtClean="0">
                <a:latin typeface="Carlito"/>
                <a:cs typeface="Carlito"/>
              </a:rPr>
              <a:t>a</a:t>
            </a:r>
            <a:r>
              <a:rPr sz="2400" spc="-55" dirty="0" smtClean="0">
                <a:latin typeface="Carlito"/>
                <a:cs typeface="Carlito"/>
              </a:rPr>
              <a:t>r</a:t>
            </a:r>
            <a:r>
              <a:rPr sz="2400" dirty="0" smtClean="0">
                <a:latin typeface="Carlito"/>
                <a:cs typeface="Carlito"/>
              </a:rPr>
              <a:t>e </a:t>
            </a:r>
            <a:r>
              <a:rPr sz="2400" spc="-15" dirty="0" smtClean="0">
                <a:latin typeface="Carlito"/>
                <a:cs typeface="Carlito"/>
              </a:rPr>
              <a:t>physicians.</a:t>
            </a:r>
            <a:endParaRPr lang="en-US" sz="2400" spc="-15" dirty="0" smtClean="0">
              <a:latin typeface="Carlito"/>
              <a:cs typeface="Carlito"/>
            </a:endParaRPr>
          </a:p>
          <a:p>
            <a:pPr marL="354965" marR="5715" indent="-354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  <a:tab pos="768350" algn="l"/>
                <a:tab pos="2214880" algn="l"/>
                <a:tab pos="2824480" algn="l"/>
                <a:tab pos="3855085" algn="l"/>
                <a:tab pos="4485640" algn="l"/>
                <a:tab pos="4982845" algn="l"/>
                <a:tab pos="5891530" algn="l"/>
                <a:tab pos="6394450" algn="l"/>
                <a:tab pos="7699375" algn="l"/>
              </a:tabLst>
            </a:pPr>
            <a:endParaRPr sz="27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116" y="428371"/>
            <a:ext cx="65087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5" dirty="0">
                <a:latin typeface="Carlito"/>
                <a:cs typeface="Carlito"/>
              </a:rPr>
              <a:t>TYPES </a:t>
            </a:r>
            <a:r>
              <a:rPr sz="3600" b="1" spc="-5" dirty="0">
                <a:latin typeface="Carlito"/>
                <a:cs typeface="Carlito"/>
              </a:rPr>
              <a:t>OF</a:t>
            </a:r>
            <a:r>
              <a:rPr sz="3600" b="1" spc="-15" dirty="0">
                <a:latin typeface="Carlito"/>
                <a:cs typeface="Carlito"/>
              </a:rPr>
              <a:t> </a:t>
            </a:r>
            <a:r>
              <a:rPr sz="3600" b="1" spc="-5" dirty="0">
                <a:latin typeface="Carlito"/>
                <a:cs typeface="Carlito"/>
              </a:rPr>
              <a:t>RHINOSINUSITIS</a:t>
            </a:r>
            <a:endParaRPr sz="3600" b="1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523441"/>
            <a:ext cx="8529320" cy="3746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indent="-300355" algn="just">
              <a:lnSpc>
                <a:spcPct val="100000"/>
              </a:lnSpc>
              <a:spcBef>
                <a:spcPts val="95"/>
              </a:spcBef>
              <a:buSzPct val="96774"/>
              <a:buAutoNum type="arabicPeriod"/>
              <a:tabLst>
                <a:tab pos="313055" algn="l"/>
              </a:tabLst>
            </a:pPr>
            <a:r>
              <a:rPr sz="3200" spc="-15" dirty="0">
                <a:solidFill>
                  <a:srgbClr val="002060"/>
                </a:solidFill>
                <a:latin typeface="Carlito"/>
                <a:cs typeface="Carlito"/>
              </a:rPr>
              <a:t>Acute </a:t>
            </a:r>
            <a:r>
              <a:rPr sz="3200" spc="-5" dirty="0">
                <a:solidFill>
                  <a:srgbClr val="002060"/>
                </a:solidFill>
                <a:latin typeface="Carlito"/>
                <a:cs typeface="Carlito"/>
              </a:rPr>
              <a:t>Rhinosinusitis </a:t>
            </a:r>
            <a:r>
              <a:rPr sz="2400" spc="-5" dirty="0">
                <a:latin typeface="Carlito"/>
                <a:cs typeface="Carlito"/>
              </a:rPr>
              <a:t>(&lt; 4 </a:t>
            </a:r>
            <a:r>
              <a:rPr sz="2400" spc="-20" dirty="0">
                <a:latin typeface="Carlito"/>
                <a:cs typeface="Carlito"/>
              </a:rPr>
              <a:t>weeks</a:t>
            </a:r>
            <a:r>
              <a:rPr sz="2400" spc="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duration)</a:t>
            </a:r>
            <a:endParaRPr sz="2400" dirty="0">
              <a:latin typeface="Carlito"/>
              <a:cs typeface="Carlito"/>
            </a:endParaRPr>
          </a:p>
          <a:p>
            <a:pPr marL="1559560" lvl="1" indent="-742950" algn="just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1560195" algn="l"/>
              </a:tabLst>
            </a:pPr>
            <a:r>
              <a:rPr sz="2400" spc="-20" dirty="0">
                <a:latin typeface="Carlito"/>
                <a:cs typeface="Carlito"/>
              </a:rPr>
              <a:t>Viral </a:t>
            </a:r>
            <a:r>
              <a:rPr sz="2400" spc="-5" dirty="0">
                <a:latin typeface="Carlito"/>
                <a:cs typeface="Carlito"/>
              </a:rPr>
              <a:t>Rhinosinusitis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(VRS)</a:t>
            </a:r>
            <a:endParaRPr sz="2400" dirty="0">
              <a:latin typeface="Carlito"/>
              <a:cs typeface="Carlito"/>
            </a:endParaRPr>
          </a:p>
          <a:p>
            <a:pPr marL="1559560" lvl="1" indent="-742950" algn="just">
              <a:lnSpc>
                <a:spcPct val="100000"/>
              </a:lnSpc>
              <a:buAutoNum type="alphaLcParenR"/>
              <a:tabLst>
                <a:tab pos="1560195" algn="l"/>
              </a:tabLst>
            </a:pPr>
            <a:r>
              <a:rPr sz="2400" spc="-10" dirty="0">
                <a:latin typeface="Carlito"/>
                <a:cs typeface="Carlito"/>
              </a:rPr>
              <a:t>Acute Bacterial </a:t>
            </a:r>
            <a:r>
              <a:rPr sz="2400" spc="-5" dirty="0">
                <a:latin typeface="Carlito"/>
                <a:cs typeface="Carlito"/>
              </a:rPr>
              <a:t>Rhinosinusitis</a:t>
            </a:r>
            <a:r>
              <a:rPr sz="2400" spc="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(ABRS)</a:t>
            </a:r>
            <a:endParaRPr sz="2400" dirty="0">
              <a:latin typeface="Carlito"/>
              <a:cs typeface="Carlito"/>
            </a:endParaRPr>
          </a:p>
          <a:p>
            <a:pPr marL="401320" indent="-388620" algn="just">
              <a:lnSpc>
                <a:spcPct val="100000"/>
              </a:lnSpc>
              <a:buSzPct val="96774"/>
              <a:buAutoNum type="arabicPeriod"/>
              <a:tabLst>
                <a:tab pos="401320" algn="l"/>
              </a:tabLst>
            </a:pPr>
            <a:r>
              <a:rPr sz="3200" spc="-10" dirty="0" smtClean="0">
                <a:solidFill>
                  <a:srgbClr val="002060"/>
                </a:solidFill>
                <a:latin typeface="Carlito"/>
                <a:cs typeface="Carlito"/>
              </a:rPr>
              <a:t>Subacute</a:t>
            </a:r>
            <a:r>
              <a:rPr lang="en-US" sz="3200" spc="-5" dirty="0" smtClean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lang="en-US" sz="3200" spc="-5" dirty="0" err="1" smtClean="0">
                <a:solidFill>
                  <a:srgbClr val="002060"/>
                </a:solidFill>
                <a:latin typeface="Carlito"/>
                <a:cs typeface="Carlito"/>
              </a:rPr>
              <a:t>R</a:t>
            </a:r>
            <a:r>
              <a:rPr sz="3200" spc="-5" dirty="0" err="1" smtClean="0">
                <a:solidFill>
                  <a:srgbClr val="002060"/>
                </a:solidFill>
                <a:latin typeface="Carlito"/>
                <a:cs typeface="Carlito"/>
              </a:rPr>
              <a:t>hinosinusitis</a:t>
            </a:r>
            <a:r>
              <a:rPr lang="en-US" sz="3100" spc="-5" dirty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2400" spc="-5" dirty="0" smtClean="0">
                <a:latin typeface="Carlito"/>
                <a:cs typeface="Carlito"/>
              </a:rPr>
              <a:t>(4–12 </a:t>
            </a:r>
            <a:r>
              <a:rPr sz="2400" spc="-20" dirty="0">
                <a:latin typeface="Carlito"/>
                <a:cs typeface="Carlito"/>
              </a:rPr>
              <a:t>weeks</a:t>
            </a:r>
            <a:r>
              <a:rPr sz="2400" spc="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duration)</a:t>
            </a:r>
            <a:endParaRPr sz="2400" dirty="0">
              <a:latin typeface="Carlito"/>
              <a:cs typeface="Carlito"/>
            </a:endParaRPr>
          </a:p>
          <a:p>
            <a:pPr marL="401320" indent="-388620" algn="just">
              <a:lnSpc>
                <a:spcPct val="100000"/>
              </a:lnSpc>
              <a:buSzPct val="96774"/>
              <a:buAutoNum type="arabicPeriod"/>
              <a:tabLst>
                <a:tab pos="401320" algn="l"/>
              </a:tabLst>
            </a:pPr>
            <a:r>
              <a:rPr sz="3200" spc="-10" dirty="0">
                <a:solidFill>
                  <a:srgbClr val="002060"/>
                </a:solidFill>
                <a:latin typeface="Carlito"/>
                <a:cs typeface="Carlito"/>
              </a:rPr>
              <a:t>Chronic </a:t>
            </a:r>
            <a:r>
              <a:rPr sz="3200" spc="-5" dirty="0">
                <a:solidFill>
                  <a:srgbClr val="002060"/>
                </a:solidFill>
                <a:latin typeface="Carlito"/>
                <a:cs typeface="Carlito"/>
              </a:rPr>
              <a:t>Rhinosinusitis </a:t>
            </a:r>
            <a:r>
              <a:rPr sz="2400" spc="-5" dirty="0">
                <a:latin typeface="Carlito"/>
                <a:cs typeface="Carlito"/>
              </a:rPr>
              <a:t>(&gt; 12 </a:t>
            </a:r>
            <a:r>
              <a:rPr sz="2400" spc="-20" dirty="0">
                <a:latin typeface="Carlito"/>
                <a:cs typeface="Carlito"/>
              </a:rPr>
              <a:t>weeks</a:t>
            </a:r>
            <a:r>
              <a:rPr sz="2400" spc="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duration)</a:t>
            </a:r>
            <a:endParaRPr sz="2400" dirty="0">
              <a:latin typeface="Carlito"/>
              <a:cs typeface="Carlito"/>
            </a:endParaRPr>
          </a:p>
          <a:p>
            <a:pPr marL="1670685" lvl="1" indent="-744220" algn="just">
              <a:lnSpc>
                <a:spcPct val="100000"/>
              </a:lnSpc>
              <a:buAutoNum type="alphaLcParenR"/>
              <a:tabLst>
                <a:tab pos="1671320" algn="l"/>
              </a:tabLst>
            </a:pPr>
            <a:r>
              <a:rPr sz="2400" spc="-5" dirty="0">
                <a:latin typeface="Carlito"/>
                <a:cs typeface="Carlito"/>
              </a:rPr>
              <a:t>With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Polyps</a:t>
            </a:r>
            <a:endParaRPr sz="2400" dirty="0">
              <a:latin typeface="Carlito"/>
              <a:cs typeface="Carlito"/>
            </a:endParaRPr>
          </a:p>
          <a:p>
            <a:pPr marL="1670685" lvl="1" indent="-744220" algn="just">
              <a:lnSpc>
                <a:spcPct val="100000"/>
              </a:lnSpc>
              <a:buAutoNum type="alphaLcParenR"/>
              <a:tabLst>
                <a:tab pos="1671320" algn="l"/>
              </a:tabLst>
            </a:pPr>
            <a:r>
              <a:rPr sz="2400" spc="-5" dirty="0">
                <a:latin typeface="Carlito"/>
                <a:cs typeface="Carlito"/>
              </a:rPr>
              <a:t>Without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Polyps</a:t>
            </a:r>
            <a:endParaRPr sz="2400" dirty="0">
              <a:latin typeface="Carlito"/>
              <a:cs typeface="Carlito"/>
            </a:endParaRPr>
          </a:p>
          <a:p>
            <a:pPr marL="495934" marR="5080" indent="-495934" algn="just">
              <a:lnSpc>
                <a:spcPct val="80000"/>
              </a:lnSpc>
              <a:spcBef>
                <a:spcPts val="745"/>
              </a:spcBef>
              <a:buSzPct val="96774"/>
              <a:buAutoNum type="arabicPeriod"/>
              <a:tabLst>
                <a:tab pos="495934" algn="l"/>
              </a:tabLst>
            </a:pPr>
            <a:r>
              <a:rPr sz="3200" spc="-20" dirty="0">
                <a:solidFill>
                  <a:srgbClr val="002060"/>
                </a:solidFill>
                <a:latin typeface="Carlito"/>
                <a:cs typeface="Carlito"/>
              </a:rPr>
              <a:t>Recurrent </a:t>
            </a:r>
            <a:r>
              <a:rPr sz="3200" spc="-10" dirty="0">
                <a:solidFill>
                  <a:srgbClr val="002060"/>
                </a:solidFill>
                <a:latin typeface="Carlito"/>
                <a:cs typeface="Carlito"/>
              </a:rPr>
              <a:t>Acute </a:t>
            </a:r>
            <a:r>
              <a:rPr sz="3200" spc="-5" dirty="0">
                <a:solidFill>
                  <a:srgbClr val="002060"/>
                </a:solidFill>
                <a:latin typeface="Carlito"/>
                <a:cs typeface="Carlito"/>
              </a:rPr>
              <a:t>Rhinosinusitis </a:t>
            </a:r>
            <a:r>
              <a:rPr sz="2400" spc="-5" dirty="0">
                <a:latin typeface="Carlito"/>
                <a:cs typeface="Carlito"/>
              </a:rPr>
              <a:t>(3 episodes in 6  </a:t>
            </a:r>
            <a:r>
              <a:rPr sz="2400" spc="-10" dirty="0">
                <a:latin typeface="Carlito"/>
                <a:cs typeface="Carlito"/>
              </a:rPr>
              <a:t>months </a:t>
            </a:r>
            <a:r>
              <a:rPr sz="2400" spc="-5" dirty="0">
                <a:latin typeface="Carlito"/>
                <a:cs typeface="Carlito"/>
              </a:rPr>
              <a:t>or 4 or &gt; 4 episodes of </a:t>
            </a:r>
            <a:r>
              <a:rPr sz="2400" spc="-10" dirty="0">
                <a:latin typeface="Carlito"/>
                <a:cs typeface="Carlito"/>
              </a:rPr>
              <a:t>acute </a:t>
            </a:r>
            <a:r>
              <a:rPr sz="2400" spc="-25" dirty="0">
                <a:latin typeface="Carlito"/>
                <a:cs typeface="Carlito"/>
              </a:rPr>
              <a:t>RS </a:t>
            </a:r>
            <a:r>
              <a:rPr sz="2400" spc="-5" dirty="0">
                <a:latin typeface="Carlito"/>
                <a:cs typeface="Carlito"/>
              </a:rPr>
              <a:t>in 1  </a:t>
            </a:r>
            <a:r>
              <a:rPr sz="2400" spc="-10" dirty="0">
                <a:latin typeface="Carlito"/>
                <a:cs typeface="Carlito"/>
              </a:rPr>
              <a:t>year)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082" y="990600"/>
            <a:ext cx="6907834" cy="9143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534669" y="1524001"/>
            <a:ext cx="8074660" cy="3646610"/>
          </a:xfrm>
        </p:spPr>
        <p:txBody>
          <a:bodyPr>
            <a:normAutofit/>
          </a:bodyPr>
          <a:lstStyle/>
          <a:p>
            <a:pPr marR="146685">
              <a:lnSpc>
                <a:spcPct val="80000"/>
              </a:lnSpc>
              <a:spcBef>
                <a:spcPts val="620"/>
              </a:spcBef>
              <a:tabLst>
                <a:tab pos="354965" algn="l"/>
                <a:tab pos="355600" algn="l"/>
              </a:tabLst>
            </a:pPr>
            <a:endParaRPr lang="en-US" spc="-10" dirty="0">
              <a:latin typeface="Carlito"/>
              <a:cs typeface="Carlito"/>
            </a:endParaRPr>
          </a:p>
          <a:p>
            <a:pPr marL="354965" marR="146685" indent="-354965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pc="-10" dirty="0" smtClean="0">
              <a:latin typeface="Carlito"/>
              <a:cs typeface="Carlito"/>
            </a:endParaRPr>
          </a:p>
          <a:p>
            <a:pPr marL="354965" marR="146685" indent="-354965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b="1" spc="-10" dirty="0" err="1" smtClean="0">
                <a:solidFill>
                  <a:srgbClr val="C00000"/>
                </a:solidFill>
                <a:latin typeface="Carlito"/>
                <a:cs typeface="Carlito"/>
              </a:rPr>
              <a:t>Pansinusitis</a:t>
            </a:r>
            <a:r>
              <a:rPr lang="en-US" sz="2400" spc="-10" dirty="0" smtClean="0">
                <a:latin typeface="Carlito"/>
                <a:cs typeface="Carlito"/>
              </a:rPr>
              <a:t> </a:t>
            </a:r>
            <a:r>
              <a:rPr lang="en-US" sz="2400" spc="-5" dirty="0">
                <a:latin typeface="Carlito"/>
                <a:cs typeface="Carlito"/>
              </a:rPr>
              <a:t>is the </a:t>
            </a:r>
            <a:r>
              <a:rPr lang="en-US" sz="2400" spc="-10" dirty="0">
                <a:latin typeface="Carlito"/>
                <a:cs typeface="Carlito"/>
              </a:rPr>
              <a:t>term </a:t>
            </a:r>
            <a:r>
              <a:rPr lang="en-US" sz="2400" spc="-5" dirty="0">
                <a:latin typeface="Carlito"/>
                <a:cs typeface="Carlito"/>
              </a:rPr>
              <a:t>applied </a:t>
            </a:r>
            <a:r>
              <a:rPr lang="en-US" sz="2400" spc="-10" dirty="0">
                <a:latin typeface="Carlito"/>
                <a:cs typeface="Carlito"/>
              </a:rPr>
              <a:t>to inflammation </a:t>
            </a:r>
            <a:r>
              <a:rPr lang="en-US" sz="2400" spc="-5" dirty="0">
                <a:latin typeface="Carlito"/>
                <a:cs typeface="Carlito"/>
              </a:rPr>
              <a:t>of all the </a:t>
            </a:r>
            <a:r>
              <a:rPr lang="en-US" sz="2400" spc="-10" dirty="0">
                <a:latin typeface="Carlito"/>
                <a:cs typeface="Carlito"/>
              </a:rPr>
              <a:t>paranasal sinuses, </a:t>
            </a:r>
            <a:r>
              <a:rPr lang="en-US" sz="2400" spc="-5" dirty="0">
                <a:latin typeface="Carlito"/>
                <a:cs typeface="Carlito"/>
              </a:rPr>
              <a:t>whereas individual </a:t>
            </a:r>
            <a:r>
              <a:rPr lang="en-US" sz="2400" spc="-10" dirty="0">
                <a:latin typeface="Carlito"/>
                <a:cs typeface="Carlito"/>
              </a:rPr>
              <a:t>sinus </a:t>
            </a:r>
            <a:r>
              <a:rPr lang="en-US" sz="2400" spc="-15" dirty="0">
                <a:latin typeface="Carlito"/>
                <a:cs typeface="Carlito"/>
              </a:rPr>
              <a:t>involvement </a:t>
            </a:r>
            <a:r>
              <a:rPr lang="en-US" sz="2400" spc="-5" dirty="0">
                <a:latin typeface="Carlito"/>
                <a:cs typeface="Carlito"/>
              </a:rPr>
              <a:t>is </a:t>
            </a:r>
            <a:r>
              <a:rPr lang="en-US" sz="2400" spc="-10" dirty="0">
                <a:latin typeface="Carlito"/>
                <a:cs typeface="Carlito"/>
              </a:rPr>
              <a:t>named accordingly such </a:t>
            </a:r>
            <a:r>
              <a:rPr lang="en-US" sz="2400" spc="-5" dirty="0">
                <a:latin typeface="Carlito"/>
                <a:cs typeface="Carlito"/>
              </a:rPr>
              <a:t>as </a:t>
            </a:r>
            <a:r>
              <a:rPr lang="en-US" sz="2400" spc="-10" dirty="0">
                <a:latin typeface="Carlito"/>
                <a:cs typeface="Carlito"/>
              </a:rPr>
              <a:t>acute </a:t>
            </a:r>
            <a:r>
              <a:rPr lang="en-US" sz="2400" spc="-5" dirty="0">
                <a:latin typeface="Carlito"/>
                <a:cs typeface="Carlito"/>
              </a:rPr>
              <a:t>maxillary sinusitis, </a:t>
            </a:r>
            <a:r>
              <a:rPr lang="en-US" sz="2400" spc="-10" dirty="0">
                <a:latin typeface="Carlito"/>
                <a:cs typeface="Carlito"/>
              </a:rPr>
              <a:t>acute </a:t>
            </a:r>
            <a:r>
              <a:rPr lang="en-US" sz="2400" spc="-5" dirty="0">
                <a:latin typeface="Carlito"/>
                <a:cs typeface="Carlito"/>
              </a:rPr>
              <a:t>ethmoiditis, </a:t>
            </a:r>
            <a:r>
              <a:rPr lang="en-US" sz="2400" spc="-10" dirty="0">
                <a:latin typeface="Carlito"/>
                <a:cs typeface="Carlito"/>
              </a:rPr>
              <a:t>acute </a:t>
            </a:r>
            <a:r>
              <a:rPr lang="en-US" sz="2400" spc="-20" dirty="0">
                <a:latin typeface="Carlito"/>
                <a:cs typeface="Carlito"/>
              </a:rPr>
              <a:t>frontal </a:t>
            </a:r>
            <a:r>
              <a:rPr lang="en-US" sz="2400" spc="-5" dirty="0">
                <a:latin typeface="Carlito"/>
                <a:cs typeface="Carlito"/>
              </a:rPr>
              <a:t>sinusitis, or </a:t>
            </a:r>
            <a:r>
              <a:rPr lang="en-US" sz="2400" spc="-10" dirty="0">
                <a:latin typeface="Carlito"/>
                <a:cs typeface="Carlito"/>
              </a:rPr>
              <a:t>acute</a:t>
            </a:r>
            <a:r>
              <a:rPr lang="en-US" sz="2400" spc="60" dirty="0">
                <a:latin typeface="Carlito"/>
                <a:cs typeface="Carlito"/>
              </a:rPr>
              <a:t> </a:t>
            </a:r>
            <a:r>
              <a:rPr lang="en-US" sz="2400" spc="-5" dirty="0" err="1">
                <a:latin typeface="Carlito"/>
                <a:cs typeface="Carlito"/>
              </a:rPr>
              <a:t>sphenoiditis</a:t>
            </a:r>
            <a:r>
              <a:rPr lang="en-US" sz="2400" spc="-5" dirty="0">
                <a:latin typeface="Carlito"/>
                <a:cs typeface="Carlito"/>
              </a:rPr>
              <a:t>.</a:t>
            </a:r>
            <a:endParaRPr lang="en-US" sz="24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-10" dirty="0">
                <a:latin typeface="Carlito"/>
                <a:cs typeface="Carlito"/>
              </a:rPr>
              <a:t>The commonly </a:t>
            </a:r>
            <a:r>
              <a:rPr lang="en-US" sz="2400" spc="-15" dirty="0">
                <a:latin typeface="Carlito"/>
                <a:cs typeface="Carlito"/>
              </a:rPr>
              <a:t>involved </a:t>
            </a:r>
            <a:r>
              <a:rPr lang="en-US" sz="2400" spc="-10" dirty="0">
                <a:latin typeface="Carlito"/>
                <a:cs typeface="Carlito"/>
              </a:rPr>
              <a:t>sinuses </a:t>
            </a:r>
            <a:r>
              <a:rPr lang="en-US" sz="2400" spc="-15" dirty="0">
                <a:latin typeface="Carlito"/>
                <a:cs typeface="Carlito"/>
              </a:rPr>
              <a:t>are </a:t>
            </a:r>
            <a:r>
              <a:rPr lang="en-US" sz="2400" u="sng" spc="-5" dirty="0">
                <a:solidFill>
                  <a:srgbClr val="0070C0"/>
                </a:solidFill>
                <a:latin typeface="Carlito"/>
                <a:cs typeface="Carlito"/>
              </a:rPr>
              <a:t>maxillary</a:t>
            </a:r>
            <a:r>
              <a:rPr lang="en-US" sz="2400" spc="-5" dirty="0">
                <a:latin typeface="Carlito"/>
                <a:cs typeface="Carlito"/>
              </a:rPr>
              <a:t> and</a:t>
            </a:r>
            <a:r>
              <a:rPr lang="en-US" sz="2400" spc="130" dirty="0">
                <a:latin typeface="Carlito"/>
                <a:cs typeface="Carlito"/>
              </a:rPr>
              <a:t> </a:t>
            </a:r>
            <a:r>
              <a:rPr lang="en-US" sz="2400" u="sng" spc="-5" dirty="0">
                <a:solidFill>
                  <a:srgbClr val="0070C0"/>
                </a:solidFill>
                <a:latin typeface="Carlito"/>
                <a:cs typeface="Carlito"/>
              </a:rPr>
              <a:t>ethmoid</a:t>
            </a:r>
            <a:r>
              <a:rPr lang="en-US" sz="2400" spc="-5" dirty="0">
                <a:latin typeface="Carlito"/>
                <a:cs typeface="Carlito"/>
              </a:rPr>
              <a:t>.</a:t>
            </a:r>
            <a:endParaRPr lang="en-US"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8043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082" y="304800"/>
            <a:ext cx="6907834" cy="61555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Acute </a:t>
            </a:r>
            <a:r>
              <a:rPr lang="en-US" sz="3600" b="1" dirty="0" err="1" smtClean="0">
                <a:solidFill>
                  <a:srgbClr val="002060"/>
                </a:solidFill>
              </a:rPr>
              <a:t>Rhinosinusitis</a:t>
            </a:r>
            <a:r>
              <a:rPr lang="en-US" sz="3600" b="1" dirty="0" smtClean="0">
                <a:solidFill>
                  <a:srgbClr val="002060"/>
                </a:solidFill>
              </a:rPr>
              <a:t>(ARS)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153400" cy="3429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ARS </a:t>
            </a:r>
            <a:r>
              <a:rPr lang="en-US" sz="2800" dirty="0"/>
              <a:t>is a very common condition that is predominantly managed in primary care and hence rarely seen by </a:t>
            </a:r>
            <a:r>
              <a:rPr lang="en-US" sz="2800" dirty="0" smtClean="0"/>
              <a:t>hospital </a:t>
            </a:r>
            <a:r>
              <a:rPr lang="en-US" sz="2800" dirty="0"/>
              <a:t>specialists unless complications occur.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primary cause of ARS is </a:t>
            </a:r>
            <a:r>
              <a:rPr lang="en-US" sz="2800" dirty="0" smtClean="0"/>
              <a:t>viruses </a:t>
            </a:r>
            <a:r>
              <a:rPr lang="en-US" sz="2800" dirty="0"/>
              <a:t>and only 0.5–2.0% of patients are believed to develop ABRS. </a:t>
            </a:r>
          </a:p>
        </p:txBody>
      </p:sp>
    </p:spTree>
    <p:extLst>
      <p:ext uri="{BB962C8B-B14F-4D97-AF65-F5344CB8AC3E}">
        <p14:creationId xmlns:p14="http://schemas.microsoft.com/office/powerpoint/2010/main" val="333017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Predisposing factors to ARS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sz="2800" dirty="0" smtClean="0"/>
          </a:p>
          <a:p>
            <a:r>
              <a:rPr lang="en-US" sz="2800" dirty="0" smtClean="0"/>
              <a:t>Anatomical </a:t>
            </a:r>
            <a:r>
              <a:rPr lang="en-US" sz="2800" dirty="0"/>
              <a:t>factors (e.g. Haller/infra-orbital ethmoid cells, conchae bullosa), </a:t>
            </a:r>
            <a:r>
              <a:rPr lang="en-US" sz="2800" dirty="0" smtClean="0"/>
              <a:t>DNS</a:t>
            </a:r>
          </a:p>
          <a:p>
            <a:r>
              <a:rPr lang="en-US" sz="2800" dirty="0"/>
              <a:t>A</a:t>
            </a:r>
            <a:r>
              <a:rPr lang="en-US" sz="2800" dirty="0" smtClean="0"/>
              <a:t>llergy </a:t>
            </a:r>
          </a:p>
          <a:p>
            <a:r>
              <a:rPr lang="en-US" sz="2800" dirty="0"/>
              <a:t>S</a:t>
            </a:r>
            <a:r>
              <a:rPr lang="en-US" sz="2800" dirty="0" smtClean="0"/>
              <a:t>moking </a:t>
            </a:r>
          </a:p>
          <a:p>
            <a:r>
              <a:rPr lang="en-US" sz="2800" dirty="0"/>
              <a:t>P</a:t>
            </a:r>
            <a:r>
              <a:rPr lang="en-US" sz="2800" dirty="0" smtClean="0"/>
              <a:t>oor </a:t>
            </a:r>
            <a:r>
              <a:rPr lang="en-US" sz="2800" dirty="0"/>
              <a:t>mental health.</a:t>
            </a:r>
            <a:r>
              <a:rPr lang="en-US" dirty="0"/>
              <a:t>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438400"/>
            <a:ext cx="3095625" cy="2677319"/>
          </a:xfrm>
        </p:spPr>
      </p:pic>
    </p:spTree>
    <p:extLst>
      <p:ext uri="{BB962C8B-B14F-4D97-AF65-F5344CB8AC3E}">
        <p14:creationId xmlns:p14="http://schemas.microsoft.com/office/powerpoint/2010/main" val="377298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8082" y="145836"/>
            <a:ext cx="6907834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8455" marR="5080" indent="-1245235">
              <a:lnSpc>
                <a:spcPct val="100000"/>
              </a:lnSpc>
              <a:spcBef>
                <a:spcPts val="95"/>
              </a:spcBef>
            </a:pPr>
            <a:r>
              <a:rPr sz="3200" b="1" spc="-10" dirty="0" smtClean="0">
                <a:solidFill>
                  <a:srgbClr val="002060"/>
                </a:solidFill>
                <a:latin typeface="Carlito"/>
                <a:cs typeface="Carlito"/>
              </a:rPr>
              <a:t>ACUT VIRAL</a:t>
            </a:r>
            <a:r>
              <a:rPr lang="en-US" sz="3200" b="1" spc="-10" dirty="0" smtClean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3200" b="1" spc="-5" dirty="0" smtClean="0">
                <a:solidFill>
                  <a:srgbClr val="002060"/>
                </a:solidFill>
                <a:latin typeface="Carlito"/>
                <a:cs typeface="Carlito"/>
              </a:rPr>
              <a:t>RHINOSINUSITIS  </a:t>
            </a:r>
            <a:r>
              <a:rPr sz="3200" b="1" spc="-10" dirty="0">
                <a:solidFill>
                  <a:srgbClr val="002060"/>
                </a:solidFill>
                <a:latin typeface="Carlito"/>
                <a:cs typeface="Carlito"/>
              </a:rPr>
              <a:t>(COMMON</a:t>
            </a:r>
            <a:r>
              <a:rPr sz="3200" b="1" spc="10" dirty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3200" b="1" spc="-15" dirty="0">
                <a:solidFill>
                  <a:srgbClr val="002060"/>
                </a:solidFill>
                <a:latin typeface="Carlito"/>
                <a:cs typeface="Carlito"/>
              </a:rPr>
              <a:t>COLD)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33118"/>
            <a:ext cx="8401685" cy="476476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  <a:tabLst>
                <a:tab pos="354965" algn="l"/>
                <a:tab pos="355600" algn="l"/>
              </a:tabLst>
            </a:pPr>
            <a:endParaRPr sz="24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cs typeface="Carlito"/>
              </a:rPr>
              <a:t>The </a:t>
            </a:r>
            <a:r>
              <a:rPr sz="2400" spc="-10" dirty="0">
                <a:cs typeface="Carlito"/>
              </a:rPr>
              <a:t>common </a:t>
            </a:r>
            <a:r>
              <a:rPr sz="2400" dirty="0">
                <a:cs typeface="Carlito"/>
              </a:rPr>
              <a:t>viruses </a:t>
            </a:r>
            <a:r>
              <a:rPr sz="2400" spc="-10" dirty="0" smtClean="0">
                <a:cs typeface="Carlito"/>
              </a:rPr>
              <a:t>are </a:t>
            </a:r>
            <a:r>
              <a:rPr lang="en-US" sz="2400" dirty="0" smtClean="0"/>
              <a:t>include </a:t>
            </a:r>
            <a:r>
              <a:rPr lang="en-US" sz="2400" u="sng" dirty="0" smtClean="0">
                <a:solidFill>
                  <a:srgbClr val="C00000"/>
                </a:solidFill>
              </a:rPr>
              <a:t>rhinoviruses</a:t>
            </a:r>
            <a:r>
              <a:rPr lang="en-US" sz="2400" dirty="0" smtClean="0"/>
              <a:t> (50%), </a:t>
            </a:r>
            <a:r>
              <a:rPr lang="en-US" sz="2400" u="sng" dirty="0" smtClean="0">
                <a:solidFill>
                  <a:srgbClr val="C00000"/>
                </a:solidFill>
              </a:rPr>
              <a:t>influenza</a:t>
            </a:r>
            <a:r>
              <a:rPr lang="en-US" sz="2400" dirty="0" smtClean="0"/>
              <a:t> and </a:t>
            </a:r>
            <a:r>
              <a:rPr lang="en-US" sz="2400" u="sng" dirty="0" smtClean="0">
                <a:solidFill>
                  <a:srgbClr val="C00000"/>
                </a:solidFill>
              </a:rPr>
              <a:t>parainfluenza </a:t>
            </a:r>
            <a:r>
              <a:rPr lang="en-US" sz="2400" dirty="0" smtClean="0"/>
              <a:t>viruses, </a:t>
            </a:r>
            <a:r>
              <a:rPr lang="en-US" sz="2400" u="sng" dirty="0" smtClean="0">
                <a:solidFill>
                  <a:srgbClr val="C00000"/>
                </a:solidFill>
              </a:rPr>
              <a:t>adenovirus</a:t>
            </a:r>
            <a:r>
              <a:rPr lang="en-US" sz="2400" dirty="0" smtClean="0"/>
              <a:t>, </a:t>
            </a:r>
            <a:r>
              <a:rPr lang="en-US" sz="2400" u="sng" dirty="0" smtClean="0">
                <a:solidFill>
                  <a:srgbClr val="C00000"/>
                </a:solidFill>
              </a:rPr>
              <a:t>respiratory syncytial virus</a:t>
            </a:r>
            <a:r>
              <a:rPr lang="en-US" sz="2400" dirty="0" smtClean="0"/>
              <a:t>, and </a:t>
            </a:r>
            <a:r>
              <a:rPr lang="en-US" sz="2400" u="sng" dirty="0" smtClean="0">
                <a:solidFill>
                  <a:srgbClr val="C00000"/>
                </a:solidFill>
              </a:rPr>
              <a:t>enterovirus</a:t>
            </a:r>
            <a:r>
              <a:rPr lang="en-US" sz="2400" dirty="0" smtClean="0"/>
              <a:t>.</a:t>
            </a: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 smtClean="0">
                <a:cs typeface="Carlito"/>
              </a:rPr>
              <a:t>They </a:t>
            </a:r>
            <a:r>
              <a:rPr lang="en-US" sz="2400" spc="-5" dirty="0" smtClean="0">
                <a:cs typeface="Carlito"/>
              </a:rPr>
              <a:t>are </a:t>
            </a:r>
            <a:r>
              <a:rPr sz="2400" spc="-10" dirty="0" smtClean="0">
                <a:cs typeface="Carlito"/>
              </a:rPr>
              <a:t>spread </a:t>
            </a:r>
            <a:r>
              <a:rPr sz="2400" spc="-10" dirty="0">
                <a:cs typeface="Carlito"/>
              </a:rPr>
              <a:t>by </a:t>
            </a:r>
            <a:r>
              <a:rPr lang="en-US" sz="2400" spc="-5" dirty="0" smtClean="0">
                <a:cs typeface="Carlito"/>
              </a:rPr>
              <a:t>aerosolized</a:t>
            </a:r>
            <a:r>
              <a:rPr sz="2400" spc="-5" dirty="0" smtClean="0">
                <a:cs typeface="Carlito"/>
              </a:rPr>
              <a:t> </a:t>
            </a:r>
            <a:r>
              <a:rPr sz="2400" u="sng" spc="-10" dirty="0">
                <a:solidFill>
                  <a:srgbClr val="C00000"/>
                </a:solidFill>
                <a:cs typeface="Carlito"/>
              </a:rPr>
              <a:t>droplets</a:t>
            </a:r>
            <a:r>
              <a:rPr sz="2400" spc="-10" dirty="0">
                <a:cs typeface="Carlito"/>
              </a:rPr>
              <a:t> </a:t>
            </a:r>
            <a:r>
              <a:rPr sz="2400" spc="-5" dirty="0">
                <a:cs typeface="Carlito"/>
              </a:rPr>
              <a:t>through coughing</a:t>
            </a:r>
            <a:r>
              <a:rPr sz="2400" spc="-150" dirty="0">
                <a:cs typeface="Carlito"/>
              </a:rPr>
              <a:t> </a:t>
            </a:r>
            <a:r>
              <a:rPr sz="2400" dirty="0" smtClean="0">
                <a:cs typeface="Carlito"/>
              </a:rPr>
              <a:t>and</a:t>
            </a:r>
            <a:r>
              <a:rPr lang="en-US" sz="2400" dirty="0" smtClean="0">
                <a:cs typeface="Carlito"/>
              </a:rPr>
              <a:t> </a:t>
            </a:r>
            <a:r>
              <a:rPr sz="2400" spc="-10" dirty="0" smtClean="0">
                <a:cs typeface="Carlito"/>
              </a:rPr>
              <a:t>sneezing</a:t>
            </a:r>
            <a:r>
              <a:rPr sz="2400" spc="-10" dirty="0">
                <a:cs typeface="Carlito"/>
              </a:rPr>
              <a:t>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dirty="0" smtClean="0">
                <a:cs typeface="Carlito"/>
              </a:rPr>
              <a:t>The incubation</a:t>
            </a:r>
            <a:r>
              <a:rPr sz="2400" dirty="0" smtClean="0">
                <a:cs typeface="Carlito"/>
              </a:rPr>
              <a:t> </a:t>
            </a:r>
            <a:r>
              <a:rPr sz="2400" spc="-5" dirty="0">
                <a:cs typeface="Carlito"/>
              </a:rPr>
              <a:t>period </a:t>
            </a:r>
            <a:r>
              <a:rPr sz="2400" dirty="0">
                <a:cs typeface="Carlito"/>
              </a:rPr>
              <a:t>is </a:t>
            </a:r>
            <a:r>
              <a:rPr sz="2400" dirty="0">
                <a:solidFill>
                  <a:srgbClr val="C00000"/>
                </a:solidFill>
                <a:cs typeface="Carlito"/>
              </a:rPr>
              <a:t>1-4</a:t>
            </a:r>
            <a:r>
              <a:rPr sz="2400" spc="-75" dirty="0">
                <a:cs typeface="Carlito"/>
              </a:rPr>
              <a:t> </a:t>
            </a:r>
            <a:r>
              <a:rPr sz="2400" spc="-20" dirty="0">
                <a:cs typeface="Carlito"/>
              </a:rPr>
              <a:t>days.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cs typeface="Carlito"/>
              </a:rPr>
              <a:t>Complications </a:t>
            </a:r>
            <a:r>
              <a:rPr sz="2400" spc="-10" dirty="0">
                <a:cs typeface="Carlito"/>
              </a:rPr>
              <a:t>are </a:t>
            </a:r>
            <a:r>
              <a:rPr sz="2400" spc="-5" dirty="0">
                <a:solidFill>
                  <a:srgbClr val="C00000"/>
                </a:solidFill>
                <a:cs typeface="Carlito"/>
              </a:rPr>
              <a:t>uncommon</a:t>
            </a:r>
            <a:r>
              <a:rPr sz="2400" spc="-5" dirty="0">
                <a:cs typeface="Carlito"/>
              </a:rPr>
              <a:t>, </a:t>
            </a:r>
            <a:r>
              <a:rPr sz="2400" dirty="0">
                <a:cs typeface="Carlito"/>
              </a:rPr>
              <a:t>as the </a:t>
            </a:r>
            <a:r>
              <a:rPr sz="2400" spc="-5" dirty="0">
                <a:cs typeface="Carlito"/>
              </a:rPr>
              <a:t>disease </a:t>
            </a:r>
            <a:r>
              <a:rPr sz="2400" dirty="0">
                <a:cs typeface="Carlito"/>
              </a:rPr>
              <a:t>is </a:t>
            </a:r>
            <a:r>
              <a:rPr lang="en-US" sz="2400" spc="-5" dirty="0" smtClean="0">
                <a:cs typeface="Carlito"/>
              </a:rPr>
              <a:t>self-limiting</a:t>
            </a:r>
            <a:r>
              <a:rPr sz="2400" dirty="0" smtClean="0">
                <a:cs typeface="Carlito"/>
              </a:rPr>
              <a:t>.</a:t>
            </a:r>
            <a:endParaRPr sz="2400" dirty="0">
              <a:cs typeface="Carlito"/>
            </a:endParaRPr>
          </a:p>
          <a:p>
            <a:pPr marL="354965" marR="232410" indent="-354965">
              <a:lnSpc>
                <a:spcPts val="2810"/>
              </a:lnSpc>
              <a:spcBef>
                <a:spcPts val="6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cs typeface="Carlito"/>
              </a:rPr>
              <a:t>Less </a:t>
            </a:r>
            <a:r>
              <a:rPr sz="2400" dirty="0">
                <a:cs typeface="Carlito"/>
              </a:rPr>
              <a:t>than </a:t>
            </a:r>
            <a:r>
              <a:rPr sz="2400" dirty="0">
                <a:solidFill>
                  <a:srgbClr val="C00000"/>
                </a:solidFill>
                <a:cs typeface="Carlito"/>
              </a:rPr>
              <a:t>2%</a:t>
            </a:r>
            <a:r>
              <a:rPr sz="2400" dirty="0">
                <a:cs typeface="Carlito"/>
              </a:rPr>
              <a:t> </a:t>
            </a:r>
            <a:r>
              <a:rPr sz="2400" dirty="0" smtClean="0">
                <a:cs typeface="Carlito"/>
              </a:rPr>
              <a:t> </a:t>
            </a:r>
            <a:r>
              <a:rPr sz="2400" spc="-10" dirty="0">
                <a:cs typeface="Carlito"/>
              </a:rPr>
              <a:t>progress </a:t>
            </a:r>
            <a:r>
              <a:rPr sz="2400" spc="-15" dirty="0">
                <a:cs typeface="Carlito"/>
              </a:rPr>
              <a:t>to  </a:t>
            </a:r>
            <a:r>
              <a:rPr sz="2400" spc="-10" dirty="0">
                <a:solidFill>
                  <a:srgbClr val="C00000"/>
                </a:solidFill>
                <a:cs typeface="Carlito"/>
              </a:rPr>
              <a:t>ABRS</a:t>
            </a:r>
            <a:r>
              <a:rPr sz="2400" spc="-10" dirty="0">
                <a:cs typeface="Carlito"/>
              </a:rPr>
              <a:t>, </a:t>
            </a:r>
            <a:r>
              <a:rPr sz="2400" dirty="0">
                <a:cs typeface="Carlito"/>
              </a:rPr>
              <a:t>&amp; </a:t>
            </a:r>
            <a:r>
              <a:rPr sz="2400" spc="-5" dirty="0">
                <a:cs typeface="Carlito"/>
              </a:rPr>
              <a:t>cause</a:t>
            </a:r>
            <a:r>
              <a:rPr sz="2400" spc="-25" dirty="0">
                <a:cs typeface="Carlito"/>
              </a:rPr>
              <a:t> </a:t>
            </a:r>
            <a:r>
              <a:rPr sz="2400" spc="-5" dirty="0">
                <a:cs typeface="Carlito"/>
              </a:rPr>
              <a:t>pharyngitis/bronchitis/pneumonia/OM</a:t>
            </a:r>
            <a:endParaRPr sz="2400" dirty="0">
              <a:cs typeface="Carlito"/>
            </a:endParaRPr>
          </a:p>
          <a:p>
            <a:pPr marL="354965" marR="908050" indent="-354965">
              <a:lnSpc>
                <a:spcPts val="281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cs typeface="Carlito"/>
              </a:rPr>
              <a:t>Unless </a:t>
            </a:r>
            <a:r>
              <a:rPr sz="2400" spc="-10" dirty="0">
                <a:cs typeface="Carlito"/>
              </a:rPr>
              <a:t>complicated </a:t>
            </a:r>
            <a:r>
              <a:rPr sz="2400" spc="-5" dirty="0">
                <a:cs typeface="Carlito"/>
              </a:rPr>
              <a:t>by bacterial </a:t>
            </a:r>
            <a:r>
              <a:rPr sz="2400" spc="-10" dirty="0">
                <a:cs typeface="Carlito"/>
              </a:rPr>
              <a:t>infection, </a:t>
            </a:r>
            <a:r>
              <a:rPr sz="2400" dirty="0">
                <a:cs typeface="Carlito"/>
              </a:rPr>
              <a:t>the </a:t>
            </a:r>
            <a:r>
              <a:rPr sz="2400" spc="-10" dirty="0" smtClean="0">
                <a:cs typeface="Carlito"/>
              </a:rPr>
              <a:t>patient</a:t>
            </a:r>
            <a:r>
              <a:rPr lang="en-US" sz="2400" spc="-10" dirty="0" smtClean="0">
                <a:cs typeface="Carlito"/>
              </a:rPr>
              <a:t> </a:t>
            </a:r>
            <a:r>
              <a:rPr sz="2400" spc="-10" dirty="0" smtClean="0">
                <a:cs typeface="Carlito"/>
              </a:rPr>
              <a:t>improves </a:t>
            </a:r>
            <a:r>
              <a:rPr sz="2400" dirty="0">
                <a:cs typeface="Carlito"/>
              </a:rPr>
              <a:t>within a </a:t>
            </a:r>
            <a:r>
              <a:rPr sz="2400" spc="-10" dirty="0">
                <a:solidFill>
                  <a:srgbClr val="C00000"/>
                </a:solidFill>
                <a:cs typeface="Carlito"/>
              </a:rPr>
              <a:t>week</a:t>
            </a:r>
            <a:r>
              <a:rPr sz="2400" spc="-10" dirty="0">
                <a:cs typeface="Carlito"/>
              </a:rPr>
              <a:t> </a:t>
            </a:r>
            <a:r>
              <a:rPr lang="en-US" sz="2400" spc="-5" dirty="0" smtClean="0">
                <a:cs typeface="Carlito"/>
              </a:rPr>
              <a:t>to</a:t>
            </a:r>
            <a:r>
              <a:rPr sz="2400" spc="-5" dirty="0" smtClean="0">
                <a:cs typeface="Carlito"/>
              </a:rPr>
              <a:t> </a:t>
            </a:r>
            <a:r>
              <a:rPr sz="2400" dirty="0">
                <a:solidFill>
                  <a:srgbClr val="C00000"/>
                </a:solidFill>
                <a:cs typeface="Carlito"/>
              </a:rPr>
              <a:t>10</a:t>
            </a:r>
            <a:r>
              <a:rPr sz="2400" spc="-40" dirty="0">
                <a:cs typeface="Carlito"/>
              </a:rPr>
              <a:t> </a:t>
            </a:r>
            <a:r>
              <a:rPr sz="2400" spc="-20" dirty="0">
                <a:cs typeface="Carlito"/>
              </a:rPr>
              <a:t>days.</a:t>
            </a:r>
            <a:endParaRPr sz="2400" dirty="0"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55166" y="569621"/>
            <a:ext cx="6833666" cy="1259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b="1" spc="-20" dirty="0">
                <a:solidFill>
                  <a:srgbClr val="002060"/>
                </a:solidFill>
              </a:rPr>
              <a:t>Pathophysiology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95372" y="1489567"/>
            <a:ext cx="5799619" cy="5084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5598" y="249466"/>
            <a:ext cx="6833234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002060"/>
                </a:solidFill>
                <a:latin typeface="Carlito"/>
                <a:cs typeface="Carlito"/>
              </a:rPr>
              <a:t>ACUTE VIRAL</a:t>
            </a:r>
            <a:r>
              <a:rPr sz="3600" b="1" spc="10" dirty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002060"/>
                </a:solidFill>
                <a:latin typeface="Carlito"/>
                <a:cs typeface="Carlito"/>
              </a:rPr>
              <a:t>RHINOSINUSITIS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17269"/>
            <a:ext cx="8446770" cy="458484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800" u="sng" spc="-5" dirty="0">
                <a:latin typeface="Carlito"/>
                <a:cs typeface="Carlito"/>
              </a:rPr>
              <a:t>CLINICAL</a:t>
            </a:r>
            <a:r>
              <a:rPr sz="2800" u="sng" dirty="0">
                <a:latin typeface="Carlito"/>
                <a:cs typeface="Carlito"/>
              </a:rPr>
              <a:t> </a:t>
            </a:r>
            <a:r>
              <a:rPr sz="2800" u="sng" spc="-40" dirty="0">
                <a:latin typeface="Carlito"/>
                <a:cs typeface="Carlito"/>
              </a:rPr>
              <a:t>FEATURES</a:t>
            </a:r>
            <a:endParaRPr sz="2800" u="sng" dirty="0">
              <a:latin typeface="Carlito"/>
              <a:cs typeface="Carlito"/>
            </a:endParaRPr>
          </a:p>
          <a:p>
            <a:pPr marL="355600" marR="5080" indent="-342900">
              <a:lnSpc>
                <a:spcPts val="324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cs typeface="Carlito"/>
              </a:rPr>
              <a:t>Usually </a:t>
            </a:r>
            <a:r>
              <a:rPr sz="2800" spc="-45" dirty="0">
                <a:cs typeface="Carlito"/>
              </a:rPr>
              <a:t>AVRS </a:t>
            </a:r>
            <a:r>
              <a:rPr sz="2800" spc="-5" dirty="0">
                <a:cs typeface="Carlito"/>
              </a:rPr>
              <a:t>begins </a:t>
            </a:r>
            <a:r>
              <a:rPr sz="2800" dirty="0">
                <a:cs typeface="Carlito"/>
              </a:rPr>
              <a:t>with </a:t>
            </a:r>
            <a:r>
              <a:rPr sz="2800" spc="-15" dirty="0">
                <a:cs typeface="Carlito"/>
              </a:rPr>
              <a:t>sore throat, </a:t>
            </a:r>
            <a:r>
              <a:rPr sz="2800" dirty="0">
                <a:cs typeface="Carlito"/>
              </a:rPr>
              <a:t>which </a:t>
            </a:r>
            <a:r>
              <a:rPr sz="2800" spc="-10" dirty="0">
                <a:cs typeface="Carlito"/>
              </a:rPr>
              <a:t>lasts </a:t>
            </a:r>
            <a:r>
              <a:rPr sz="2800" spc="-25" dirty="0">
                <a:cs typeface="Carlito"/>
              </a:rPr>
              <a:t>for  </a:t>
            </a:r>
            <a:r>
              <a:rPr sz="2800" dirty="0">
                <a:cs typeface="Carlito"/>
              </a:rPr>
              <a:t>1 </a:t>
            </a:r>
            <a:r>
              <a:rPr sz="2800" spc="-5" dirty="0">
                <a:cs typeface="Carlito"/>
              </a:rPr>
              <a:t>or </a:t>
            </a:r>
            <a:r>
              <a:rPr sz="2800" dirty="0">
                <a:cs typeface="Carlito"/>
              </a:rPr>
              <a:t>2 </a:t>
            </a:r>
            <a:r>
              <a:rPr sz="2800" spc="-25" dirty="0">
                <a:cs typeface="Carlito"/>
              </a:rPr>
              <a:t>days </a:t>
            </a:r>
            <a:endParaRPr lang="en-US" sz="2800" dirty="0">
              <a:cs typeface="Carlito"/>
            </a:endParaRPr>
          </a:p>
          <a:p>
            <a:pPr marL="355600" marR="5080" indent="-342900">
              <a:lnSpc>
                <a:spcPts val="324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0" dirty="0" smtClean="0">
                <a:cs typeface="Carlito"/>
              </a:rPr>
              <a:t>followed </a:t>
            </a:r>
            <a:r>
              <a:rPr sz="2800" spc="-10" dirty="0">
                <a:cs typeface="Carlito"/>
              </a:rPr>
              <a:t>by cough </a:t>
            </a:r>
            <a:r>
              <a:rPr sz="2800" dirty="0">
                <a:cs typeface="Carlito"/>
              </a:rPr>
              <a:t>and </a:t>
            </a:r>
            <a:r>
              <a:rPr sz="2800" spc="-5" dirty="0">
                <a:cs typeface="Carlito"/>
              </a:rPr>
              <a:t>nasal  </a:t>
            </a:r>
            <a:r>
              <a:rPr sz="2800" spc="-10" dirty="0">
                <a:cs typeface="Carlito"/>
              </a:rPr>
              <a:t>discharge.</a:t>
            </a:r>
            <a:endParaRPr sz="2800" dirty="0">
              <a:cs typeface="Carlito"/>
            </a:endParaRPr>
          </a:p>
          <a:p>
            <a:pPr marL="355600" marR="198120" indent="-342900">
              <a:lnSpc>
                <a:spcPct val="9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cs typeface="Carlito"/>
              </a:rPr>
              <a:t>In </a:t>
            </a:r>
            <a:r>
              <a:rPr sz="2800" spc="-5" dirty="0">
                <a:cs typeface="Carlito"/>
              </a:rPr>
              <a:t>beginning </a:t>
            </a:r>
            <a:r>
              <a:rPr sz="2800" spc="-10" dirty="0">
                <a:cs typeface="Carlito"/>
              </a:rPr>
              <a:t>there </a:t>
            </a:r>
            <a:r>
              <a:rPr sz="2800" spc="-20" dirty="0">
                <a:cs typeface="Carlito"/>
              </a:rPr>
              <a:t>may </a:t>
            </a:r>
            <a:r>
              <a:rPr sz="2800" spc="-5" dirty="0">
                <a:cs typeface="Carlito"/>
              </a:rPr>
              <a:t>be </a:t>
            </a:r>
            <a:r>
              <a:rPr sz="2800" spc="-10" dirty="0">
                <a:cs typeface="Carlito"/>
              </a:rPr>
              <a:t>burning </a:t>
            </a:r>
            <a:r>
              <a:rPr sz="2800" spc="-5" dirty="0">
                <a:cs typeface="Carlito"/>
              </a:rPr>
              <a:t>sensation </a:t>
            </a:r>
            <a:r>
              <a:rPr sz="2800" spc="-15" dirty="0">
                <a:cs typeface="Carlito"/>
              </a:rPr>
              <a:t>at </a:t>
            </a:r>
            <a:r>
              <a:rPr sz="2800" dirty="0">
                <a:cs typeface="Carlito"/>
              </a:rPr>
              <a:t>the  </a:t>
            </a:r>
            <a:r>
              <a:rPr sz="2800" spc="-5" dirty="0">
                <a:cs typeface="Carlito"/>
              </a:rPr>
              <a:t>back of nose, nasal </a:t>
            </a:r>
            <a:r>
              <a:rPr sz="2800" spc="-10" dirty="0">
                <a:cs typeface="Carlito"/>
              </a:rPr>
              <a:t>stuffiness, </a:t>
            </a:r>
            <a:r>
              <a:rPr sz="2800" spc="-5" dirty="0">
                <a:cs typeface="Carlito"/>
              </a:rPr>
              <a:t>rhinorrhea </a:t>
            </a:r>
            <a:r>
              <a:rPr sz="2800" dirty="0">
                <a:cs typeface="Carlito"/>
              </a:rPr>
              <a:t>and  </a:t>
            </a:r>
            <a:r>
              <a:rPr sz="2800" spc="-10" dirty="0">
                <a:cs typeface="Carlito"/>
              </a:rPr>
              <a:t>sneezing.</a:t>
            </a:r>
            <a:endParaRPr sz="28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cs typeface="Carlito"/>
              </a:rPr>
              <a:t>Patient </a:t>
            </a:r>
            <a:r>
              <a:rPr sz="2800" spc="-5" dirty="0">
                <a:cs typeface="Carlito"/>
              </a:rPr>
              <a:t>has chill </a:t>
            </a:r>
            <a:r>
              <a:rPr sz="2800" dirty="0">
                <a:cs typeface="Carlito"/>
              </a:rPr>
              <a:t>and </a:t>
            </a:r>
            <a:r>
              <a:rPr sz="2800" spc="-10" dirty="0">
                <a:cs typeface="Carlito"/>
              </a:rPr>
              <a:t>low-grade</a:t>
            </a:r>
            <a:r>
              <a:rPr sz="2800" spc="-30" dirty="0">
                <a:cs typeface="Carlito"/>
              </a:rPr>
              <a:t> </a:t>
            </a:r>
            <a:r>
              <a:rPr sz="2800" spc="-75" dirty="0">
                <a:cs typeface="Carlito"/>
              </a:rPr>
              <a:t>fever.</a:t>
            </a:r>
            <a:endParaRPr sz="2800" dirty="0">
              <a:cs typeface="Carlito"/>
            </a:endParaRPr>
          </a:p>
          <a:p>
            <a:pPr marL="355600" marR="198120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cs typeface="Carlito"/>
              </a:rPr>
              <a:t>Nasal </a:t>
            </a:r>
            <a:r>
              <a:rPr sz="2800" spc="-20" dirty="0">
                <a:cs typeface="Carlito"/>
              </a:rPr>
              <a:t>watery </a:t>
            </a:r>
            <a:r>
              <a:rPr sz="2800" spc="-15" dirty="0">
                <a:cs typeface="Carlito"/>
              </a:rPr>
              <a:t>discharge </a:t>
            </a:r>
            <a:r>
              <a:rPr sz="2800" dirty="0">
                <a:cs typeface="Carlito"/>
              </a:rPr>
              <a:t>is </a:t>
            </a:r>
            <a:r>
              <a:rPr sz="2800" spc="-15" dirty="0">
                <a:cs typeface="Carlito"/>
              </a:rPr>
              <a:t>profuse </a:t>
            </a:r>
            <a:r>
              <a:rPr sz="2800" dirty="0">
                <a:cs typeface="Carlito"/>
              </a:rPr>
              <a:t>and </a:t>
            </a:r>
            <a:r>
              <a:rPr sz="2800" spc="-20" dirty="0">
                <a:cs typeface="Carlito"/>
              </a:rPr>
              <a:t>may </a:t>
            </a:r>
            <a:r>
              <a:rPr sz="2800" spc="-10" dirty="0">
                <a:cs typeface="Carlito"/>
              </a:rPr>
              <a:t>become  mucopurulent </a:t>
            </a:r>
            <a:r>
              <a:rPr sz="2800" spc="-5" dirty="0">
                <a:cs typeface="Carlito"/>
              </a:rPr>
              <a:t>due </a:t>
            </a:r>
            <a:r>
              <a:rPr sz="2800" spc="-15" dirty="0">
                <a:cs typeface="Carlito"/>
              </a:rPr>
              <a:t>to </a:t>
            </a:r>
            <a:r>
              <a:rPr sz="2800" spc="-5" dirty="0">
                <a:cs typeface="Carlito"/>
              </a:rPr>
              <a:t>secondary bacterial</a:t>
            </a:r>
            <a:r>
              <a:rPr sz="2800" spc="-10" dirty="0">
                <a:cs typeface="Carlito"/>
              </a:rPr>
              <a:t> </a:t>
            </a:r>
            <a:r>
              <a:rPr sz="2800" spc="-15" dirty="0">
                <a:cs typeface="Carlito"/>
              </a:rPr>
              <a:t>invasion</a:t>
            </a:r>
            <a:endParaRPr sz="2800" dirty="0"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5598" y="123345"/>
            <a:ext cx="6833234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002060"/>
                </a:solidFill>
                <a:latin typeface="Carlito"/>
                <a:cs typeface="Carlito"/>
              </a:rPr>
              <a:t>ACUTE VIRAL</a:t>
            </a:r>
            <a:r>
              <a:rPr sz="3600" b="1" spc="10" dirty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002060"/>
                </a:solidFill>
                <a:latin typeface="Carlito"/>
                <a:cs typeface="Carlito"/>
              </a:rPr>
              <a:t>RHINOSINUSITIS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506226"/>
            <a:ext cx="8780780" cy="382155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3200" b="1" u="sng" spc="-35" dirty="0" smtClean="0">
                <a:solidFill>
                  <a:srgbClr val="0070C0"/>
                </a:solidFill>
                <a:cs typeface="Carlito"/>
              </a:rPr>
              <a:t>TREATMENT</a:t>
            </a:r>
            <a:r>
              <a:rPr lang="en-US" sz="3200" b="1" u="sng" spc="-35" dirty="0" smtClean="0">
                <a:solidFill>
                  <a:srgbClr val="0070C0"/>
                </a:solidFill>
                <a:cs typeface="Carlito"/>
              </a:rPr>
              <a:t>:</a:t>
            </a:r>
            <a:endParaRPr sz="3200" b="1" u="sng" dirty="0">
              <a:solidFill>
                <a:srgbClr val="0070C0"/>
              </a:solidFill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cs typeface="Carlito"/>
              </a:rPr>
              <a:t>There </a:t>
            </a:r>
            <a:r>
              <a:rPr sz="2400" spc="-5" dirty="0">
                <a:cs typeface="Carlito"/>
              </a:rPr>
              <a:t>is no </a:t>
            </a:r>
            <a:r>
              <a:rPr sz="2400" spc="-15" dirty="0">
                <a:cs typeface="Carlito"/>
              </a:rPr>
              <a:t>approved treatment, </a:t>
            </a:r>
            <a:r>
              <a:rPr sz="2400" u="sng" spc="-5" dirty="0">
                <a:solidFill>
                  <a:srgbClr val="C00000"/>
                </a:solidFill>
                <a:cs typeface="Carlito"/>
              </a:rPr>
              <a:t>mainly</a:t>
            </a:r>
            <a:r>
              <a:rPr sz="2400" u="sng" spc="85" dirty="0">
                <a:solidFill>
                  <a:srgbClr val="C00000"/>
                </a:solidFill>
                <a:cs typeface="Carlito"/>
              </a:rPr>
              <a:t> </a:t>
            </a:r>
            <a:r>
              <a:rPr sz="2400" u="sng" spc="-15" dirty="0">
                <a:solidFill>
                  <a:srgbClr val="C00000"/>
                </a:solidFill>
                <a:cs typeface="Carlito"/>
              </a:rPr>
              <a:t>symptomatic</a:t>
            </a:r>
            <a:r>
              <a:rPr sz="2400" spc="-15" dirty="0">
                <a:cs typeface="Carlito"/>
              </a:rPr>
              <a:t>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cs typeface="Carlito"/>
              </a:rPr>
              <a:t>Symptoms </a:t>
            </a:r>
            <a:r>
              <a:rPr sz="2400" spc="-10" dirty="0">
                <a:cs typeface="Carlito"/>
              </a:rPr>
              <a:t>can </a:t>
            </a:r>
            <a:r>
              <a:rPr sz="2400" spc="-5" dirty="0">
                <a:cs typeface="Carlito"/>
              </a:rPr>
              <a:t>be easily </a:t>
            </a:r>
            <a:r>
              <a:rPr sz="2400" spc="-20" dirty="0">
                <a:cs typeface="Carlito"/>
              </a:rPr>
              <a:t>controlled </a:t>
            </a:r>
            <a:r>
              <a:rPr sz="2400" spc="-5" dirty="0">
                <a:cs typeface="Carlito"/>
              </a:rPr>
              <a:t>with</a:t>
            </a:r>
            <a:r>
              <a:rPr sz="2400" spc="195" dirty="0">
                <a:cs typeface="Carlito"/>
              </a:rPr>
              <a:t> </a:t>
            </a:r>
            <a:r>
              <a:rPr sz="2400" u="sng" spc="-15" dirty="0">
                <a:solidFill>
                  <a:srgbClr val="C00000"/>
                </a:solidFill>
                <a:cs typeface="Carlito"/>
              </a:rPr>
              <a:t>antihistaminics</a:t>
            </a:r>
            <a:r>
              <a:rPr sz="2400" spc="-15" dirty="0">
                <a:cs typeface="Carlito"/>
              </a:rPr>
              <a:t>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sng" spc="-25" dirty="0">
                <a:solidFill>
                  <a:srgbClr val="C00000"/>
                </a:solidFill>
                <a:cs typeface="Carlito"/>
              </a:rPr>
              <a:t>Oral </a:t>
            </a:r>
            <a:r>
              <a:rPr sz="2400" u="sng" spc="-20" dirty="0">
                <a:solidFill>
                  <a:srgbClr val="C00000"/>
                </a:solidFill>
                <a:cs typeface="Carlito"/>
              </a:rPr>
              <a:t>decongestants </a:t>
            </a:r>
            <a:r>
              <a:rPr sz="2400" spc="-20" dirty="0">
                <a:cs typeface="Carlito"/>
              </a:rPr>
              <a:t>may </a:t>
            </a:r>
            <a:r>
              <a:rPr sz="2400" spc="-10" dirty="0">
                <a:cs typeface="Carlito"/>
              </a:rPr>
              <a:t>cause insomnia </a:t>
            </a:r>
            <a:r>
              <a:rPr sz="2400" spc="-5" dirty="0">
                <a:cs typeface="Carlito"/>
              </a:rPr>
              <a:t>and</a:t>
            </a:r>
            <a:r>
              <a:rPr sz="2400" spc="180" dirty="0">
                <a:cs typeface="Carlito"/>
              </a:rPr>
              <a:t> </a:t>
            </a:r>
            <a:r>
              <a:rPr sz="2400" spc="-10" dirty="0">
                <a:cs typeface="Carlito"/>
              </a:rPr>
              <a:t>agitation.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sng" spc="-10" dirty="0">
                <a:solidFill>
                  <a:srgbClr val="C00000"/>
                </a:solidFill>
                <a:cs typeface="Carlito"/>
              </a:rPr>
              <a:t>Analgesics</a:t>
            </a:r>
            <a:r>
              <a:rPr sz="2400" spc="-10" dirty="0">
                <a:cs typeface="Carlito"/>
              </a:rPr>
              <a:t> </a:t>
            </a:r>
            <a:r>
              <a:rPr sz="2400" spc="-20" dirty="0">
                <a:cs typeface="Carlito"/>
              </a:rPr>
              <a:t>are </a:t>
            </a:r>
            <a:r>
              <a:rPr sz="2400" spc="-15" dirty="0">
                <a:cs typeface="Carlito"/>
              </a:rPr>
              <a:t>useful </a:t>
            </a:r>
            <a:r>
              <a:rPr sz="2400" spc="-20" dirty="0">
                <a:cs typeface="Carlito"/>
              </a:rPr>
              <a:t>to </a:t>
            </a:r>
            <a:r>
              <a:rPr sz="2400" spc="-15" dirty="0">
                <a:cs typeface="Carlito"/>
              </a:rPr>
              <a:t>relieve </a:t>
            </a:r>
            <a:r>
              <a:rPr sz="2400" spc="-5" dirty="0">
                <a:cs typeface="Carlito"/>
              </a:rPr>
              <a:t>headache, </a:t>
            </a:r>
            <a:r>
              <a:rPr sz="2400" spc="-25" dirty="0">
                <a:cs typeface="Carlito"/>
              </a:rPr>
              <a:t>fever </a:t>
            </a:r>
            <a:r>
              <a:rPr sz="2400" spc="-5" dirty="0">
                <a:cs typeface="Carlito"/>
              </a:rPr>
              <a:t>&amp;</a:t>
            </a:r>
            <a:r>
              <a:rPr sz="2400" spc="160" dirty="0">
                <a:cs typeface="Carlito"/>
              </a:rPr>
              <a:t> </a:t>
            </a:r>
            <a:r>
              <a:rPr sz="2400" spc="-15" dirty="0">
                <a:cs typeface="Carlito"/>
              </a:rPr>
              <a:t>myalgia.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C00000"/>
                </a:solidFill>
                <a:cs typeface="Carlito"/>
              </a:rPr>
              <a:t>Antibiotics</a:t>
            </a:r>
            <a:r>
              <a:rPr sz="2400" spc="-10" dirty="0">
                <a:cs typeface="Carlito"/>
              </a:rPr>
              <a:t> </a:t>
            </a:r>
            <a:r>
              <a:rPr sz="2400" spc="-25" dirty="0">
                <a:cs typeface="Carlito"/>
              </a:rPr>
              <a:t>have </a:t>
            </a:r>
            <a:r>
              <a:rPr sz="2400" spc="-5" dirty="0">
                <a:cs typeface="Carlito"/>
              </a:rPr>
              <a:t>no </a:t>
            </a:r>
            <a:r>
              <a:rPr sz="2400" spc="-20" dirty="0">
                <a:cs typeface="Carlito"/>
              </a:rPr>
              <a:t>role </a:t>
            </a:r>
            <a:r>
              <a:rPr sz="2400" spc="-5" dirty="0">
                <a:cs typeface="Carlito"/>
              </a:rPr>
              <a:t>in</a:t>
            </a:r>
            <a:r>
              <a:rPr sz="2400" spc="110" dirty="0">
                <a:cs typeface="Carlito"/>
              </a:rPr>
              <a:t> </a:t>
            </a:r>
            <a:r>
              <a:rPr sz="2400" spc="-40" dirty="0">
                <a:cs typeface="Carlito"/>
              </a:rPr>
              <a:t>AVRS.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sng" spc="-5" dirty="0">
                <a:solidFill>
                  <a:srgbClr val="C00000"/>
                </a:solidFill>
                <a:cs typeface="Carlito"/>
              </a:rPr>
              <a:t>Nasal </a:t>
            </a:r>
            <a:r>
              <a:rPr sz="2400" u="sng" spc="-10" dirty="0">
                <a:solidFill>
                  <a:srgbClr val="C00000"/>
                </a:solidFill>
                <a:cs typeface="Carlito"/>
              </a:rPr>
              <a:t>saline </a:t>
            </a:r>
            <a:r>
              <a:rPr sz="2400" u="sng" spc="-25" dirty="0">
                <a:solidFill>
                  <a:srgbClr val="C00000"/>
                </a:solidFill>
                <a:cs typeface="Carlito"/>
              </a:rPr>
              <a:t>sprays</a:t>
            </a:r>
            <a:r>
              <a:rPr sz="2400" spc="-25" dirty="0">
                <a:cs typeface="Carlito"/>
              </a:rPr>
              <a:t>/ </a:t>
            </a:r>
            <a:r>
              <a:rPr sz="2400" u="sng" spc="-5" dirty="0">
                <a:solidFill>
                  <a:srgbClr val="C00000"/>
                </a:solidFill>
                <a:cs typeface="Carlito"/>
              </a:rPr>
              <a:t>nasal </a:t>
            </a:r>
            <a:r>
              <a:rPr sz="2400" u="sng" spc="-15" dirty="0">
                <a:solidFill>
                  <a:srgbClr val="C00000"/>
                </a:solidFill>
                <a:cs typeface="Carlito"/>
              </a:rPr>
              <a:t>decongestants </a:t>
            </a:r>
            <a:r>
              <a:rPr sz="2400" spc="-15" dirty="0">
                <a:cs typeface="Carlito"/>
              </a:rPr>
              <a:t>are</a:t>
            </a:r>
            <a:r>
              <a:rPr sz="2400" spc="105" dirty="0">
                <a:cs typeface="Carlito"/>
              </a:rPr>
              <a:t> </a:t>
            </a:r>
            <a:r>
              <a:rPr sz="2400" spc="-15" dirty="0">
                <a:cs typeface="Carlito"/>
              </a:rPr>
              <a:t>useful.</a:t>
            </a:r>
            <a:endParaRPr sz="2400" dirty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sng" spc="-15" dirty="0">
                <a:solidFill>
                  <a:srgbClr val="C00000"/>
                </a:solidFill>
                <a:cs typeface="Carlito"/>
              </a:rPr>
              <a:t>General</a:t>
            </a:r>
            <a:r>
              <a:rPr sz="2400" spc="-15" dirty="0">
                <a:cs typeface="Carlito"/>
              </a:rPr>
              <a:t>: </a:t>
            </a:r>
            <a:r>
              <a:rPr sz="2400" spc="-5" dirty="0">
                <a:cs typeface="Carlito"/>
              </a:rPr>
              <a:t>Bed </a:t>
            </a:r>
            <a:r>
              <a:rPr sz="2400" spc="-25" dirty="0">
                <a:cs typeface="Carlito"/>
              </a:rPr>
              <a:t>rest </a:t>
            </a:r>
            <a:r>
              <a:rPr sz="2400" spc="-5" dirty="0">
                <a:cs typeface="Carlito"/>
              </a:rPr>
              <a:t>and </a:t>
            </a:r>
            <a:r>
              <a:rPr sz="2400" spc="-10" dirty="0">
                <a:cs typeface="Carlito"/>
              </a:rPr>
              <a:t>plenty </a:t>
            </a:r>
            <a:r>
              <a:rPr sz="2400" spc="-5" dirty="0">
                <a:cs typeface="Carlito"/>
              </a:rPr>
              <a:t>of </a:t>
            </a:r>
            <a:r>
              <a:rPr sz="2400" spc="-10" dirty="0">
                <a:cs typeface="Carlito"/>
              </a:rPr>
              <a:t>fluids </a:t>
            </a:r>
            <a:r>
              <a:rPr sz="2400" spc="-20" dirty="0">
                <a:cs typeface="Carlito"/>
              </a:rPr>
              <a:t>are</a:t>
            </a:r>
            <a:r>
              <a:rPr sz="2400" spc="135" dirty="0">
                <a:cs typeface="Carlito"/>
              </a:rPr>
              <a:t> </a:t>
            </a:r>
            <a:r>
              <a:rPr sz="2400" spc="-15" dirty="0">
                <a:cs typeface="Carlito"/>
              </a:rPr>
              <a:t>encouraged.</a:t>
            </a:r>
            <a:endParaRPr sz="2400" dirty="0"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461899"/>
            <a:ext cx="797750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002060"/>
                </a:solidFill>
                <a:latin typeface="Carlito"/>
                <a:cs typeface="Carlito"/>
              </a:rPr>
              <a:t>ACUTE BACTERIAL</a:t>
            </a:r>
            <a:r>
              <a:rPr sz="3600" b="1" spc="-40" dirty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002060"/>
                </a:solidFill>
                <a:latin typeface="Carlito"/>
                <a:cs typeface="Carlito"/>
              </a:rPr>
              <a:t>RHINOSINUSITIS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607261"/>
            <a:ext cx="8436610" cy="2714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1130935" indent="-354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800" spc="-5" dirty="0" smtClean="0">
              <a:cs typeface="Carlito"/>
            </a:endParaRPr>
          </a:p>
          <a:p>
            <a:pPr marL="354965" marR="1130935" indent="-354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 smtClean="0">
                <a:cs typeface="Carlito"/>
              </a:rPr>
              <a:t>This </a:t>
            </a:r>
            <a:r>
              <a:rPr sz="2800" spc="-5" dirty="0">
                <a:cs typeface="Carlito"/>
              </a:rPr>
              <a:t>usually </a:t>
            </a:r>
            <a:r>
              <a:rPr sz="2800" spc="-20" dirty="0">
                <a:cs typeface="Carlito"/>
              </a:rPr>
              <a:t>follows </a:t>
            </a:r>
            <a:r>
              <a:rPr sz="2800" spc="-15" dirty="0">
                <a:cs typeface="Carlito"/>
              </a:rPr>
              <a:t>viral </a:t>
            </a:r>
            <a:r>
              <a:rPr sz="2800" spc="-5" dirty="0">
                <a:cs typeface="Carlito"/>
              </a:rPr>
              <a:t>upper </a:t>
            </a:r>
            <a:r>
              <a:rPr sz="2800" spc="-15" dirty="0">
                <a:cs typeface="Carlito"/>
              </a:rPr>
              <a:t>respiratory  infection.</a:t>
            </a:r>
            <a:endParaRPr sz="2800" dirty="0">
              <a:cs typeface="Carlito"/>
            </a:endParaRPr>
          </a:p>
          <a:p>
            <a:pPr marL="354965" marR="5080" indent="-354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cs typeface="Carlito"/>
              </a:rPr>
              <a:t>The </a:t>
            </a:r>
            <a:r>
              <a:rPr sz="2800" spc="-10" dirty="0">
                <a:cs typeface="Carlito"/>
              </a:rPr>
              <a:t>most </a:t>
            </a:r>
            <a:r>
              <a:rPr sz="2800" spc="-5" dirty="0">
                <a:cs typeface="Carlito"/>
              </a:rPr>
              <a:t>common </a:t>
            </a:r>
            <a:r>
              <a:rPr sz="2800" spc="-10" dirty="0">
                <a:cs typeface="Carlito"/>
              </a:rPr>
              <a:t>bacteria </a:t>
            </a:r>
            <a:r>
              <a:rPr sz="2800" spc="-5" dirty="0">
                <a:cs typeface="Carlito"/>
              </a:rPr>
              <a:t>responsible </a:t>
            </a:r>
            <a:r>
              <a:rPr sz="2800" spc="-30" dirty="0">
                <a:cs typeface="Carlito"/>
              </a:rPr>
              <a:t>for </a:t>
            </a:r>
            <a:r>
              <a:rPr sz="2800" spc="-15" dirty="0">
                <a:cs typeface="Carlito"/>
              </a:rPr>
              <a:t>ABRS  are </a:t>
            </a:r>
            <a:r>
              <a:rPr sz="2800" spc="-10" dirty="0">
                <a:solidFill>
                  <a:srgbClr val="C00000"/>
                </a:solidFill>
                <a:cs typeface="Carlito"/>
              </a:rPr>
              <a:t>Streptococcus </a:t>
            </a:r>
            <a:r>
              <a:rPr sz="2800" spc="-5" dirty="0">
                <a:solidFill>
                  <a:srgbClr val="C00000"/>
                </a:solidFill>
                <a:cs typeface="Carlito"/>
              </a:rPr>
              <a:t>pneumoniae</a:t>
            </a:r>
            <a:r>
              <a:rPr sz="2800" spc="-5" dirty="0">
                <a:cs typeface="Carlito"/>
              </a:rPr>
              <a:t>, </a:t>
            </a:r>
            <a:r>
              <a:rPr sz="2800" spc="-5" dirty="0">
                <a:solidFill>
                  <a:srgbClr val="C00000"/>
                </a:solidFill>
                <a:cs typeface="Carlito"/>
              </a:rPr>
              <a:t>Haemophilus  </a:t>
            </a:r>
            <a:r>
              <a:rPr sz="2800" spc="-10" dirty="0">
                <a:solidFill>
                  <a:srgbClr val="C00000"/>
                </a:solidFill>
                <a:cs typeface="Carlito"/>
              </a:rPr>
              <a:t>influenzae</a:t>
            </a:r>
            <a:r>
              <a:rPr sz="2800" spc="-10" dirty="0">
                <a:cs typeface="Carlito"/>
              </a:rPr>
              <a:t>, </a:t>
            </a:r>
            <a:r>
              <a:rPr sz="2800" spc="-20" dirty="0">
                <a:solidFill>
                  <a:srgbClr val="C00000"/>
                </a:solidFill>
                <a:cs typeface="Carlito"/>
              </a:rPr>
              <a:t>Moraxella </a:t>
            </a:r>
            <a:r>
              <a:rPr sz="2800" spc="-10" dirty="0">
                <a:solidFill>
                  <a:srgbClr val="C00000"/>
                </a:solidFill>
                <a:cs typeface="Carlito"/>
              </a:rPr>
              <a:t>catarrhalis </a:t>
            </a:r>
            <a:r>
              <a:rPr sz="2800" dirty="0">
                <a:cs typeface="Carlito"/>
              </a:rPr>
              <a:t>and  </a:t>
            </a:r>
            <a:r>
              <a:rPr sz="2800" spc="-10" dirty="0">
                <a:solidFill>
                  <a:srgbClr val="C00000"/>
                </a:solidFill>
                <a:cs typeface="Carlito"/>
              </a:rPr>
              <a:t>Staphylococcus</a:t>
            </a:r>
            <a:r>
              <a:rPr sz="2800" spc="5" dirty="0">
                <a:solidFill>
                  <a:srgbClr val="C00000"/>
                </a:solidFill>
                <a:cs typeface="Carlito"/>
              </a:rPr>
              <a:t> </a:t>
            </a:r>
            <a:r>
              <a:rPr sz="2800" spc="-5" dirty="0">
                <a:solidFill>
                  <a:srgbClr val="C00000"/>
                </a:solidFill>
                <a:cs typeface="Carlito"/>
              </a:rPr>
              <a:t>aureus</a:t>
            </a:r>
            <a:endParaRPr sz="2800" dirty="0">
              <a:solidFill>
                <a:srgbClr val="C00000"/>
              </a:solidFill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-14197"/>
            <a:ext cx="79775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2060"/>
                </a:solidFill>
                <a:latin typeface="Carlito"/>
                <a:cs typeface="Carlito"/>
              </a:rPr>
              <a:t>ACUTE BACTERIAL</a:t>
            </a:r>
            <a:r>
              <a:rPr sz="3600" b="1" spc="-40" dirty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002060"/>
                </a:solidFill>
                <a:latin typeface="Carlito"/>
                <a:cs typeface="Carlito"/>
              </a:rPr>
              <a:t>RHINOSINUSITIS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083310"/>
            <a:ext cx="8583930" cy="394915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 smtClean="0">
                <a:cs typeface="Carlito"/>
              </a:rPr>
              <a:t>Predisposing </a:t>
            </a:r>
            <a:r>
              <a:rPr sz="2400" spc="-20" dirty="0" smtClean="0">
                <a:cs typeface="Carlito"/>
              </a:rPr>
              <a:t>Factors </a:t>
            </a:r>
            <a:r>
              <a:rPr sz="2400" spc="-15" dirty="0" smtClean="0">
                <a:cs typeface="Carlito"/>
              </a:rPr>
              <a:t>are</a:t>
            </a:r>
            <a:r>
              <a:rPr sz="2400" spc="-25" dirty="0" smtClean="0">
                <a:cs typeface="Carlito"/>
              </a:rPr>
              <a:t> </a:t>
            </a:r>
            <a:r>
              <a:rPr sz="2400" spc="-10" dirty="0" smtClean="0">
                <a:cs typeface="Carlito"/>
              </a:rPr>
              <a:t>following:</a:t>
            </a:r>
            <a:endParaRPr sz="2400" dirty="0" smtClean="0">
              <a:cs typeface="Carlito"/>
            </a:endParaRPr>
          </a:p>
          <a:p>
            <a:pPr marL="654685" indent="-299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55320" algn="l"/>
              </a:tabLst>
            </a:pPr>
            <a:r>
              <a:rPr sz="2400" spc="-15" dirty="0" smtClean="0">
                <a:cs typeface="Carlito"/>
              </a:rPr>
              <a:t>Viral </a:t>
            </a:r>
            <a:r>
              <a:rPr sz="2400" dirty="0" err="1" smtClean="0">
                <a:cs typeface="Carlito"/>
              </a:rPr>
              <a:t>rhinosinusitis</a:t>
            </a:r>
            <a:endParaRPr sz="2400" dirty="0" smtClean="0">
              <a:cs typeface="Carlito"/>
            </a:endParaRPr>
          </a:p>
          <a:p>
            <a:pPr marL="654685" indent="-29972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55320" algn="l"/>
              </a:tabLst>
            </a:pPr>
            <a:r>
              <a:rPr sz="2400" spc="-5" dirty="0" smtClean="0">
                <a:cs typeface="Carlito"/>
              </a:rPr>
              <a:t>Allergic</a:t>
            </a:r>
            <a:r>
              <a:rPr sz="2400" spc="-30" dirty="0" smtClean="0">
                <a:cs typeface="Carlito"/>
              </a:rPr>
              <a:t> </a:t>
            </a:r>
            <a:r>
              <a:rPr sz="2400" dirty="0" err="1" smtClean="0">
                <a:cs typeface="Carlito"/>
              </a:rPr>
              <a:t>rhinosinusitis</a:t>
            </a:r>
            <a:endParaRPr sz="2400" dirty="0" smtClean="0">
              <a:cs typeface="Carlito"/>
            </a:endParaRPr>
          </a:p>
          <a:p>
            <a:pPr marL="654685" indent="-299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55320" algn="l"/>
              </a:tabLst>
            </a:pPr>
            <a:r>
              <a:rPr sz="2400" spc="-35" dirty="0" smtClean="0">
                <a:cs typeface="Carlito"/>
              </a:rPr>
              <a:t>Trauma</a:t>
            </a:r>
            <a:endParaRPr sz="2400" dirty="0" smtClean="0">
              <a:cs typeface="Carlito"/>
            </a:endParaRPr>
          </a:p>
          <a:p>
            <a:pPr marL="654685" indent="-299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55320" algn="l"/>
              </a:tabLst>
            </a:pPr>
            <a:r>
              <a:rPr sz="2400" spc="-15" dirty="0" smtClean="0">
                <a:cs typeface="Carlito"/>
              </a:rPr>
              <a:t>Physical </a:t>
            </a:r>
            <a:r>
              <a:rPr sz="2400" spc="-10" dirty="0" smtClean="0">
                <a:cs typeface="Carlito"/>
              </a:rPr>
              <a:t>stigmata </a:t>
            </a:r>
            <a:r>
              <a:rPr sz="2400" spc="-5" dirty="0" smtClean="0">
                <a:cs typeface="Carlito"/>
              </a:rPr>
              <a:t>such </a:t>
            </a:r>
            <a:r>
              <a:rPr sz="2400" dirty="0" smtClean="0">
                <a:cs typeface="Carlito"/>
              </a:rPr>
              <a:t>as</a:t>
            </a:r>
            <a:r>
              <a:rPr sz="2400" spc="-40" dirty="0" smtClean="0">
                <a:cs typeface="Carlito"/>
              </a:rPr>
              <a:t> </a:t>
            </a:r>
            <a:r>
              <a:rPr sz="2400" spc="-5" dirty="0" smtClean="0">
                <a:cs typeface="Carlito"/>
              </a:rPr>
              <a:t>DNS</a:t>
            </a:r>
            <a:endParaRPr sz="2400" dirty="0" smtClean="0">
              <a:cs typeface="Carlito"/>
            </a:endParaRPr>
          </a:p>
          <a:p>
            <a:pPr marL="654685" indent="-299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55320" algn="l"/>
              </a:tabLst>
            </a:pPr>
            <a:r>
              <a:rPr sz="2400" spc="-5" dirty="0" smtClean="0">
                <a:cs typeface="Carlito"/>
              </a:rPr>
              <a:t>Swimming </a:t>
            </a:r>
            <a:r>
              <a:rPr sz="2400" dirty="0" smtClean="0">
                <a:cs typeface="Carlito"/>
              </a:rPr>
              <a:t>and</a:t>
            </a:r>
            <a:r>
              <a:rPr sz="2400" spc="-35" dirty="0" smtClean="0">
                <a:cs typeface="Carlito"/>
              </a:rPr>
              <a:t> </a:t>
            </a:r>
            <a:r>
              <a:rPr sz="2400" spc="-5" dirty="0" smtClean="0">
                <a:cs typeface="Carlito"/>
              </a:rPr>
              <a:t>diving</a:t>
            </a:r>
            <a:endParaRPr sz="2400" dirty="0" smtClean="0">
              <a:cs typeface="Carlito"/>
            </a:endParaRPr>
          </a:p>
          <a:p>
            <a:pPr marL="654685" indent="-29972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55320" algn="l"/>
              </a:tabLst>
            </a:pPr>
            <a:r>
              <a:rPr sz="2400" spc="-10" dirty="0" smtClean="0">
                <a:cs typeface="Carlito"/>
              </a:rPr>
              <a:t>Barotraumas</a:t>
            </a:r>
            <a:r>
              <a:rPr sz="2400" spc="-10" dirty="0">
                <a:cs typeface="Carlito"/>
              </a:rPr>
              <a:t>.</a:t>
            </a:r>
            <a:endParaRPr sz="2400" dirty="0">
              <a:cs typeface="Carlito"/>
            </a:endParaRPr>
          </a:p>
          <a:p>
            <a:pPr marL="927100" marR="5080" indent="-5721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55320" algn="l"/>
              </a:tabLst>
            </a:pPr>
            <a:r>
              <a:rPr sz="2400" spc="-10" dirty="0" smtClean="0">
                <a:cs typeface="Carlito"/>
              </a:rPr>
              <a:t>Dental infections </a:t>
            </a:r>
            <a:r>
              <a:rPr sz="2400" dirty="0" smtClean="0">
                <a:cs typeface="Carlito"/>
              </a:rPr>
              <a:t>and </a:t>
            </a:r>
            <a:r>
              <a:rPr sz="2400" spc="-10" dirty="0" smtClean="0">
                <a:cs typeface="Carlito"/>
              </a:rPr>
              <a:t>extraction </a:t>
            </a:r>
            <a:r>
              <a:rPr sz="2400" spc="-5" dirty="0" smtClean="0">
                <a:cs typeface="Carlito"/>
              </a:rPr>
              <a:t>of upper molars </a:t>
            </a:r>
            <a:r>
              <a:rPr sz="2400" dirty="0" smtClean="0">
                <a:cs typeface="Carlito"/>
              </a:rPr>
              <a:t>and </a:t>
            </a:r>
            <a:r>
              <a:rPr sz="2400" spc="-10" dirty="0" smtClean="0">
                <a:cs typeface="Carlito"/>
              </a:rPr>
              <a:t>premolars</a:t>
            </a:r>
            <a:r>
              <a:rPr lang="en-US" sz="2400" spc="-10" dirty="0" smtClean="0">
                <a:cs typeface="Carlito"/>
              </a:rPr>
              <a:t>.</a:t>
            </a:r>
            <a:endParaRPr sz="2400" dirty="0"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3600" b="1" dirty="0" smtClean="0">
                <a:solidFill>
                  <a:srgbClr val="002060"/>
                </a:solidFill>
              </a:rPr>
              <a:t>Symptoms </a:t>
            </a:r>
            <a:r>
              <a:rPr lang="en-US" sz="3600" b="1" dirty="0">
                <a:solidFill>
                  <a:srgbClr val="002060"/>
                </a:solidFill>
              </a:rPr>
              <a:t>O</a:t>
            </a:r>
            <a:r>
              <a:rPr lang="en-US" sz="3600" b="1" dirty="0" smtClean="0">
                <a:solidFill>
                  <a:srgbClr val="002060"/>
                </a:solidFill>
              </a:rPr>
              <a:t>r Signs </a:t>
            </a:r>
            <a:r>
              <a:rPr lang="en-US" sz="3600" b="1" dirty="0">
                <a:solidFill>
                  <a:srgbClr val="002060"/>
                </a:solidFill>
              </a:rPr>
              <a:t>for </a:t>
            </a:r>
            <a:r>
              <a:rPr lang="en-US" sz="3600" b="1" dirty="0" smtClean="0">
                <a:solidFill>
                  <a:srgbClr val="002060"/>
                </a:solidFill>
              </a:rPr>
              <a:t>Acute Bacterial </a:t>
            </a:r>
            <a:r>
              <a:rPr lang="en-US" sz="3600" b="1" dirty="0" err="1" smtClean="0">
                <a:solidFill>
                  <a:srgbClr val="002060"/>
                </a:solidFill>
              </a:rPr>
              <a:t>Rhinosinusitis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At least three of the following should be present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• </a:t>
            </a:r>
            <a:r>
              <a:rPr lang="en-US" sz="2400" dirty="0" smtClean="0"/>
              <a:t>Discolored </a:t>
            </a:r>
            <a:r>
              <a:rPr lang="en-US" sz="2400" dirty="0"/>
              <a:t>discharge (unilateral predominance)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• </a:t>
            </a:r>
            <a:r>
              <a:rPr lang="en-US" sz="2400" dirty="0"/>
              <a:t>Severe local pain (unilateral predominance)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• </a:t>
            </a:r>
            <a:r>
              <a:rPr lang="en-US" sz="2400" dirty="0"/>
              <a:t>Fever (&gt;38°C)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• </a:t>
            </a:r>
            <a:r>
              <a:rPr lang="en-US" sz="2400" dirty="0"/>
              <a:t>Elevated ESR/CRP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• </a:t>
            </a:r>
            <a:r>
              <a:rPr lang="en-US" sz="2400" dirty="0"/>
              <a:t>‘Double-sickening’ – deterioration after initial milder phase of </a:t>
            </a:r>
            <a:r>
              <a:rPr lang="en-US" sz="2400" dirty="0" smtClean="0"/>
              <a:t>illness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0" y="2133600"/>
            <a:ext cx="3219450" cy="2763044"/>
          </a:xfrm>
        </p:spPr>
      </p:pic>
    </p:spTree>
    <p:extLst>
      <p:ext uri="{BB962C8B-B14F-4D97-AF65-F5344CB8AC3E}">
        <p14:creationId xmlns:p14="http://schemas.microsoft.com/office/powerpoint/2010/main" val="936855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526465"/>
            <a:ext cx="797750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002060"/>
                </a:solidFill>
                <a:latin typeface="+mn-lt"/>
                <a:cs typeface="Carlito"/>
              </a:rPr>
              <a:t>ACUTE BACTERIAL</a:t>
            </a:r>
            <a:r>
              <a:rPr sz="3600" b="1" spc="-40" dirty="0">
                <a:solidFill>
                  <a:srgbClr val="002060"/>
                </a:solidFill>
                <a:latin typeface="+mn-lt"/>
                <a:cs typeface="Carlito"/>
              </a:rPr>
              <a:t> </a:t>
            </a:r>
            <a:r>
              <a:rPr sz="3600" b="1" dirty="0">
                <a:solidFill>
                  <a:srgbClr val="002060"/>
                </a:solidFill>
                <a:latin typeface="+mn-lt"/>
                <a:cs typeface="Carlito"/>
              </a:rPr>
              <a:t>RHINOSINUSITIS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17269"/>
            <a:ext cx="8017509" cy="441402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800" b="1" u="sng" dirty="0">
                <a:solidFill>
                  <a:srgbClr val="6F2F9F"/>
                </a:solidFill>
                <a:latin typeface="Carlito"/>
                <a:cs typeface="Carlito"/>
              </a:rPr>
              <a:t>EXTERNAL</a:t>
            </a:r>
            <a:r>
              <a:rPr sz="2800" b="1" u="sng" spc="-40" dirty="0">
                <a:solidFill>
                  <a:srgbClr val="6F2F9F"/>
                </a:solidFill>
                <a:latin typeface="Carlito"/>
                <a:cs typeface="Carlito"/>
              </a:rPr>
              <a:t> </a:t>
            </a:r>
            <a:r>
              <a:rPr sz="2800" b="1" u="sng" dirty="0">
                <a:solidFill>
                  <a:srgbClr val="6F2F9F"/>
                </a:solidFill>
                <a:latin typeface="Carlito"/>
                <a:cs typeface="Carlito"/>
              </a:rPr>
              <a:t>SIGNS</a:t>
            </a:r>
            <a:endParaRPr sz="2800" u="sng" dirty="0">
              <a:latin typeface="Carlito"/>
              <a:cs typeface="Carlito"/>
            </a:endParaRPr>
          </a:p>
          <a:p>
            <a:pPr marL="527685" marR="177165" indent="-527685">
              <a:lnSpc>
                <a:spcPts val="3240"/>
              </a:lnSpc>
              <a:spcBef>
                <a:spcPts val="7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0" dirty="0">
                <a:cs typeface="Carlito"/>
              </a:rPr>
              <a:t>Flushing </a:t>
            </a:r>
            <a:r>
              <a:rPr sz="2400" dirty="0">
                <a:cs typeface="Carlito"/>
              </a:rPr>
              <a:t>of </a:t>
            </a:r>
            <a:r>
              <a:rPr sz="2400" spc="-5" dirty="0">
                <a:cs typeface="Carlito"/>
              </a:rPr>
              <a:t>cheek </a:t>
            </a:r>
            <a:r>
              <a:rPr sz="2400" dirty="0">
                <a:cs typeface="Carlito"/>
              </a:rPr>
              <a:t>with </a:t>
            </a:r>
            <a:r>
              <a:rPr sz="2400" spc="-10" dirty="0">
                <a:cs typeface="Carlito"/>
              </a:rPr>
              <a:t>swelling </a:t>
            </a:r>
            <a:r>
              <a:rPr sz="2400" dirty="0">
                <a:cs typeface="Carlito"/>
              </a:rPr>
              <a:t>of </a:t>
            </a:r>
            <a:r>
              <a:rPr sz="2400" spc="-5" dirty="0">
                <a:cs typeface="Carlito"/>
              </a:rPr>
              <a:t>cheek, </a:t>
            </a:r>
            <a:r>
              <a:rPr sz="2400" dirty="0">
                <a:cs typeface="Carlito"/>
              </a:rPr>
              <a:t>which  </a:t>
            </a:r>
            <a:r>
              <a:rPr sz="2400" spc="-20" dirty="0">
                <a:cs typeface="Carlito"/>
              </a:rPr>
              <a:t>may </a:t>
            </a:r>
            <a:r>
              <a:rPr sz="2400" spc="-10" dirty="0">
                <a:cs typeface="Carlito"/>
              </a:rPr>
              <a:t>spread </a:t>
            </a:r>
            <a:r>
              <a:rPr sz="2400" spc="-15" dirty="0">
                <a:cs typeface="Carlito"/>
              </a:rPr>
              <a:t>to </a:t>
            </a:r>
            <a:r>
              <a:rPr sz="2400" spc="-10" dirty="0">
                <a:cs typeface="Carlito"/>
              </a:rPr>
              <a:t>lower </a:t>
            </a:r>
            <a:r>
              <a:rPr sz="2400" dirty="0">
                <a:cs typeface="Carlito"/>
              </a:rPr>
              <a:t>lid in </a:t>
            </a:r>
            <a:r>
              <a:rPr sz="2400" spc="-5" dirty="0">
                <a:cs typeface="Carlito"/>
              </a:rPr>
              <a:t>maxillary</a:t>
            </a:r>
            <a:r>
              <a:rPr sz="2400" spc="-25" dirty="0">
                <a:cs typeface="Carlito"/>
              </a:rPr>
              <a:t> </a:t>
            </a:r>
            <a:r>
              <a:rPr sz="2400" spc="-5" dirty="0">
                <a:cs typeface="Carlito"/>
              </a:rPr>
              <a:t>sinusitis.</a:t>
            </a:r>
            <a:endParaRPr sz="2400" dirty="0"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0" dirty="0">
                <a:cs typeface="Carlito"/>
              </a:rPr>
              <a:t>Upper </a:t>
            </a:r>
            <a:r>
              <a:rPr sz="2400" spc="-5" dirty="0">
                <a:cs typeface="Carlito"/>
              </a:rPr>
              <a:t>lid </a:t>
            </a:r>
            <a:r>
              <a:rPr sz="2400" spc="-20" dirty="0">
                <a:cs typeface="Carlito"/>
              </a:rPr>
              <a:t>may </a:t>
            </a:r>
            <a:r>
              <a:rPr sz="2400" spc="-5" dirty="0">
                <a:cs typeface="Carlito"/>
              </a:rPr>
              <a:t>be </a:t>
            </a:r>
            <a:r>
              <a:rPr sz="2400" spc="-10" dirty="0">
                <a:cs typeface="Carlito"/>
              </a:rPr>
              <a:t>swollen </a:t>
            </a:r>
            <a:r>
              <a:rPr sz="2400" dirty="0">
                <a:cs typeface="Carlito"/>
              </a:rPr>
              <a:t>in </a:t>
            </a:r>
            <a:r>
              <a:rPr sz="2400" spc="-20" dirty="0">
                <a:cs typeface="Carlito"/>
              </a:rPr>
              <a:t>frontal</a:t>
            </a:r>
            <a:r>
              <a:rPr sz="2400" spc="10" dirty="0">
                <a:cs typeface="Carlito"/>
              </a:rPr>
              <a:t> </a:t>
            </a:r>
            <a:r>
              <a:rPr sz="2400" spc="-5" dirty="0">
                <a:cs typeface="Carlito"/>
              </a:rPr>
              <a:t>sinusitis.</a:t>
            </a:r>
            <a:endParaRPr sz="2400" dirty="0">
              <a:cs typeface="Carlito"/>
            </a:endParaRPr>
          </a:p>
          <a:p>
            <a:pPr marL="527685" marR="5080" indent="-527685">
              <a:lnSpc>
                <a:spcPts val="3240"/>
              </a:lnSpc>
              <a:spcBef>
                <a:spcPts val="7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5" dirty="0">
                <a:cs typeface="Carlito"/>
              </a:rPr>
              <a:t>Ethmoiditis </a:t>
            </a:r>
            <a:r>
              <a:rPr sz="2400" spc="-20" dirty="0">
                <a:cs typeface="Carlito"/>
              </a:rPr>
              <a:t>may </a:t>
            </a:r>
            <a:r>
              <a:rPr sz="2400" spc="-10" dirty="0">
                <a:cs typeface="Carlito"/>
              </a:rPr>
              <a:t>give </a:t>
            </a:r>
            <a:r>
              <a:rPr sz="2400" spc="-5" dirty="0">
                <a:cs typeface="Carlito"/>
              </a:rPr>
              <a:t>rise </a:t>
            </a:r>
            <a:r>
              <a:rPr sz="2400" spc="-10" dirty="0">
                <a:cs typeface="Carlito"/>
              </a:rPr>
              <a:t>to swelling at </a:t>
            </a:r>
            <a:r>
              <a:rPr sz="2400" dirty="0">
                <a:cs typeface="Carlito"/>
              </a:rPr>
              <a:t>the </a:t>
            </a:r>
            <a:r>
              <a:rPr sz="2400" spc="-10" dirty="0">
                <a:cs typeface="Carlito"/>
              </a:rPr>
              <a:t>inner  canthus </a:t>
            </a:r>
            <a:r>
              <a:rPr sz="2400" spc="-5" dirty="0">
                <a:cs typeface="Carlito"/>
              </a:rPr>
              <a:t>of same</a:t>
            </a:r>
            <a:r>
              <a:rPr sz="2400" spc="-30" dirty="0">
                <a:cs typeface="Carlito"/>
              </a:rPr>
              <a:t> </a:t>
            </a:r>
            <a:r>
              <a:rPr sz="2400" spc="-20" dirty="0">
                <a:cs typeface="Carlito"/>
              </a:rPr>
              <a:t>eye.</a:t>
            </a:r>
            <a:endParaRPr sz="2400" dirty="0"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35" dirty="0">
                <a:cs typeface="Carlito"/>
              </a:rPr>
              <a:t>Tenderness </a:t>
            </a:r>
            <a:r>
              <a:rPr sz="2400" spc="-10" dirty="0">
                <a:cs typeface="Carlito"/>
              </a:rPr>
              <a:t>over </a:t>
            </a:r>
            <a:r>
              <a:rPr sz="2400" dirty="0">
                <a:cs typeface="Carlito"/>
              </a:rPr>
              <a:t>the </a:t>
            </a:r>
            <a:r>
              <a:rPr sz="2400" spc="-20" dirty="0">
                <a:cs typeface="Carlito"/>
              </a:rPr>
              <a:t>affected</a:t>
            </a:r>
            <a:r>
              <a:rPr sz="2400" spc="-25" dirty="0">
                <a:cs typeface="Carlito"/>
              </a:rPr>
              <a:t> </a:t>
            </a:r>
            <a:r>
              <a:rPr sz="2400" spc="-5" dirty="0">
                <a:cs typeface="Carlito"/>
              </a:rPr>
              <a:t>sinus.</a:t>
            </a:r>
            <a:endParaRPr sz="2400" dirty="0">
              <a:cs typeface="Carlito"/>
            </a:endParaRPr>
          </a:p>
          <a:p>
            <a:pPr marL="1292225" lvl="1" indent="-365760">
              <a:lnSpc>
                <a:spcPct val="100000"/>
              </a:lnSpc>
              <a:spcBef>
                <a:spcPts val="360"/>
              </a:spcBef>
              <a:buAutoNum type="alphaLcPeriod"/>
              <a:tabLst>
                <a:tab pos="1292860" algn="l"/>
              </a:tabLst>
            </a:pPr>
            <a:r>
              <a:rPr sz="2400" spc="-5" dirty="0">
                <a:cs typeface="Carlito"/>
              </a:rPr>
              <a:t>Cheek: </a:t>
            </a:r>
            <a:r>
              <a:rPr sz="2400" spc="-10" dirty="0">
                <a:cs typeface="Carlito"/>
              </a:rPr>
              <a:t>Maxillary</a:t>
            </a:r>
            <a:r>
              <a:rPr sz="2400" spc="-5" dirty="0">
                <a:cs typeface="Carlito"/>
              </a:rPr>
              <a:t> </a:t>
            </a:r>
            <a:r>
              <a:rPr sz="2400" spc="-10" dirty="0">
                <a:cs typeface="Carlito"/>
              </a:rPr>
              <a:t>sinusitis.</a:t>
            </a:r>
            <a:endParaRPr sz="2400" dirty="0">
              <a:cs typeface="Carlito"/>
            </a:endParaRPr>
          </a:p>
          <a:p>
            <a:pPr marL="1308735" lvl="1" indent="-382270">
              <a:lnSpc>
                <a:spcPct val="100000"/>
              </a:lnSpc>
              <a:spcBef>
                <a:spcPts val="365"/>
              </a:spcBef>
              <a:buAutoNum type="alphaLcPeriod"/>
              <a:tabLst>
                <a:tab pos="1309370" algn="l"/>
              </a:tabLst>
            </a:pPr>
            <a:r>
              <a:rPr sz="2400" spc="-5" dirty="0">
                <a:cs typeface="Carlito"/>
              </a:rPr>
              <a:t>Floor of sinus: </a:t>
            </a:r>
            <a:r>
              <a:rPr sz="2400" spc="-20" dirty="0">
                <a:cs typeface="Carlito"/>
              </a:rPr>
              <a:t>Frontal</a:t>
            </a:r>
            <a:r>
              <a:rPr sz="2400" spc="-10" dirty="0">
                <a:cs typeface="Carlito"/>
              </a:rPr>
              <a:t> </a:t>
            </a:r>
            <a:r>
              <a:rPr sz="2400" spc="-5" dirty="0">
                <a:cs typeface="Carlito"/>
              </a:rPr>
              <a:t>sinusitis.</a:t>
            </a:r>
            <a:endParaRPr sz="2400" dirty="0">
              <a:cs typeface="Carlito"/>
            </a:endParaRPr>
          </a:p>
          <a:p>
            <a:pPr marL="1270635" lvl="1" indent="-344170">
              <a:lnSpc>
                <a:spcPct val="100000"/>
              </a:lnSpc>
              <a:spcBef>
                <a:spcPts val="360"/>
              </a:spcBef>
              <a:buAutoNum type="alphaLcPeriod"/>
              <a:tabLst>
                <a:tab pos="1271270" algn="l"/>
              </a:tabLst>
            </a:pPr>
            <a:r>
              <a:rPr sz="2400" spc="-5" dirty="0">
                <a:cs typeface="Carlito"/>
              </a:rPr>
              <a:t>Inner </a:t>
            </a:r>
            <a:r>
              <a:rPr sz="2400" spc="-10" dirty="0">
                <a:cs typeface="Carlito"/>
              </a:rPr>
              <a:t>canthus:</a:t>
            </a:r>
            <a:r>
              <a:rPr sz="2400" spc="-40" dirty="0">
                <a:cs typeface="Carlito"/>
              </a:rPr>
              <a:t> </a:t>
            </a:r>
            <a:r>
              <a:rPr sz="2400" spc="-5" dirty="0">
                <a:cs typeface="Carlito"/>
              </a:rPr>
              <a:t>Ethmoids.</a:t>
            </a:r>
            <a:endParaRPr sz="2400" dirty="0"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Complication of sinusitis</a:t>
            </a:r>
            <a:endParaRPr lang="en-US" sz="3600" b="1" dirty="0">
              <a:solidFill>
                <a:srgbClr val="00206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076796"/>
              </p:ext>
            </p:extLst>
          </p:nvPr>
        </p:nvGraphicFramePr>
        <p:xfrm>
          <a:off x="628652" y="1690691"/>
          <a:ext cx="7524748" cy="4938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187">
                  <a:extLst>
                    <a:ext uri="{9D8B030D-6E8A-4147-A177-3AD203B41FA5}">
                      <a16:colId xmlns:a16="http://schemas.microsoft.com/office/drawing/2014/main" val="3686776212"/>
                    </a:ext>
                  </a:extLst>
                </a:gridCol>
                <a:gridCol w="1881187">
                  <a:extLst>
                    <a:ext uri="{9D8B030D-6E8A-4147-A177-3AD203B41FA5}">
                      <a16:colId xmlns:a16="http://schemas.microsoft.com/office/drawing/2014/main" val="3389490942"/>
                    </a:ext>
                  </a:extLst>
                </a:gridCol>
                <a:gridCol w="1881187">
                  <a:extLst>
                    <a:ext uri="{9D8B030D-6E8A-4147-A177-3AD203B41FA5}">
                      <a16:colId xmlns:a16="http://schemas.microsoft.com/office/drawing/2014/main" val="3208334730"/>
                    </a:ext>
                  </a:extLst>
                </a:gridCol>
                <a:gridCol w="1881187">
                  <a:extLst>
                    <a:ext uri="{9D8B030D-6E8A-4147-A177-3AD203B41FA5}">
                      <a16:colId xmlns:a16="http://schemas.microsoft.com/office/drawing/2014/main" val="839691027"/>
                    </a:ext>
                  </a:extLst>
                </a:gridCol>
              </a:tblGrid>
              <a:tr h="579660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Orbital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Intracranial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Chronic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845283"/>
                  </a:ext>
                </a:extLst>
              </a:tr>
              <a:tr h="927457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Preseptal cellulitis (50%)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Sub </a:t>
                      </a: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dural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empyema (38%)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Osteomyelitis &amp; Pott’s puffy </a:t>
                      </a: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tumour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Mucocele &amp; </a:t>
                      </a: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pyocele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317201"/>
                  </a:ext>
                </a:extLst>
              </a:tr>
              <a:tr h="1205695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Postseptal cellulitis or orbital cellulitis without abscess (35%)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Intracranial abscess (30%)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909657"/>
                  </a:ext>
                </a:extLst>
              </a:tr>
              <a:tr h="649220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Subperiosteal abscess (15%)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Extradural abscess (23%)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972814"/>
                  </a:ext>
                </a:extLst>
              </a:tr>
              <a:tr h="649220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Orbital abscess (&lt;1%)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Meningitis (2%)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817639"/>
                  </a:ext>
                </a:extLst>
              </a:tr>
              <a:tr h="92745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Cavernous sinus thrombosis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Cavernous or</a:t>
                      </a:r>
                      <a:r>
                        <a:rPr lang="en-US" sz="1800" baseline="0" dirty="0" smtClean="0"/>
                        <a:t> sagittal sinus thrombosis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216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95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857" y="461899"/>
            <a:ext cx="381317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35" dirty="0">
                <a:solidFill>
                  <a:srgbClr val="002060"/>
                </a:solidFill>
                <a:latin typeface="Carlito"/>
                <a:cs typeface="Carlito"/>
              </a:rPr>
              <a:t>INVESTIGATIONS</a:t>
            </a:r>
            <a:endParaRPr sz="3600" b="1" dirty="0">
              <a:solidFill>
                <a:srgbClr val="002060"/>
              </a:solidFill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529461"/>
            <a:ext cx="8568055" cy="95474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42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cs typeface="Carlito"/>
              </a:rPr>
              <a:t>Hematology: </a:t>
            </a:r>
            <a:r>
              <a:rPr lang="en-US" sz="2800" spc="-10" dirty="0" smtClean="0">
                <a:cs typeface="Carlito"/>
              </a:rPr>
              <a:t>leukocytosis, elevated CRP, elevated ESR</a:t>
            </a:r>
            <a:r>
              <a:rPr sz="2800" spc="-5" dirty="0" smtClean="0">
                <a:cs typeface="Carlito"/>
              </a:rPr>
              <a:t>.</a:t>
            </a:r>
            <a:endParaRPr sz="2800" dirty="0"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5" dirty="0">
                <a:cs typeface="Carlito"/>
              </a:rPr>
              <a:t>Culture </a:t>
            </a:r>
            <a:r>
              <a:rPr sz="2800" spc="-5" dirty="0">
                <a:cs typeface="Carlito"/>
              </a:rPr>
              <a:t>sensitivity </a:t>
            </a:r>
            <a:r>
              <a:rPr sz="2800" spc="-15" dirty="0">
                <a:cs typeface="Carlito"/>
              </a:rPr>
              <a:t>test</a:t>
            </a:r>
            <a:r>
              <a:rPr sz="2800" spc="-15" dirty="0" smtClean="0">
                <a:cs typeface="Carlito"/>
              </a:rPr>
              <a:t>.</a:t>
            </a:r>
            <a:endParaRPr sz="2800" dirty="0"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12065" indent="0">
              <a:lnSpc>
                <a:spcPct val="100000"/>
              </a:lnSpc>
              <a:spcBef>
                <a:spcPts val="325"/>
              </a:spcBef>
              <a:buNone/>
              <a:tabLst>
                <a:tab pos="527685" algn="l"/>
                <a:tab pos="528320" algn="l"/>
              </a:tabLst>
            </a:pPr>
            <a:r>
              <a:rPr lang="en-US" sz="2400" spc="-20" dirty="0" smtClean="0">
                <a:latin typeface="Carlito"/>
                <a:cs typeface="Carlito"/>
              </a:rPr>
              <a:t>3-Transillumination</a:t>
            </a:r>
            <a:r>
              <a:rPr lang="en-US" sz="2400" spc="-25" dirty="0" smtClean="0">
                <a:latin typeface="Carlito"/>
                <a:cs typeface="Carlito"/>
              </a:rPr>
              <a:t> </a:t>
            </a:r>
            <a:r>
              <a:rPr lang="en-US" sz="2400" spc="-15" dirty="0" smtClean="0">
                <a:latin typeface="Carlito"/>
                <a:cs typeface="Carlito"/>
              </a:rPr>
              <a:t>test.</a:t>
            </a:r>
            <a:endParaRPr lang="en-US" sz="2400" dirty="0" smtClean="0">
              <a:latin typeface="Carlito"/>
              <a:cs typeface="Carlito"/>
            </a:endParaRPr>
          </a:p>
          <a:p>
            <a:pPr marL="1256665" marR="97155" lvl="1" indent="-1256665">
              <a:lnSpc>
                <a:spcPts val="2920"/>
              </a:lnSpc>
              <a:spcBef>
                <a:spcPts val="690"/>
              </a:spcBef>
              <a:buAutoNum type="alphaLcPeriod"/>
              <a:tabLst>
                <a:tab pos="1256665" algn="l"/>
              </a:tabLst>
            </a:pPr>
            <a:r>
              <a:rPr lang="en-US" sz="2400" spc="-5" dirty="0" smtClean="0">
                <a:latin typeface="Carlito"/>
                <a:cs typeface="Carlito"/>
              </a:rPr>
              <a:t>Maxillary sinus—absence of </a:t>
            </a:r>
            <a:r>
              <a:rPr lang="en-US" sz="2400" spc="-10" dirty="0" smtClean="0">
                <a:latin typeface="Carlito"/>
                <a:cs typeface="Carlito"/>
              </a:rPr>
              <a:t>infraorbital crescent </a:t>
            </a:r>
            <a:r>
              <a:rPr lang="en-US" sz="2400" spc="-5" dirty="0" smtClean="0">
                <a:latin typeface="Carlito"/>
                <a:cs typeface="Carlito"/>
              </a:rPr>
              <a:t>of light </a:t>
            </a:r>
            <a:r>
              <a:rPr lang="en-US" sz="2400" dirty="0" smtClean="0">
                <a:latin typeface="Carlito"/>
                <a:cs typeface="Carlito"/>
              </a:rPr>
              <a:t>and </a:t>
            </a:r>
            <a:r>
              <a:rPr lang="en-US" sz="2400" spc="-5" dirty="0" smtClean="0">
                <a:latin typeface="Carlito"/>
                <a:cs typeface="Carlito"/>
              </a:rPr>
              <a:t>pupillary </a:t>
            </a:r>
            <a:r>
              <a:rPr lang="en-US" sz="2400" dirty="0" smtClean="0">
                <a:latin typeface="Carlito"/>
                <a:cs typeface="Carlito"/>
              </a:rPr>
              <a:t>glow </a:t>
            </a:r>
            <a:r>
              <a:rPr lang="en-US" sz="2400" spc="-15" dirty="0" smtClean="0">
                <a:latin typeface="Carlito"/>
                <a:cs typeface="Carlito"/>
              </a:rPr>
              <a:t>indicates</a:t>
            </a:r>
            <a:r>
              <a:rPr lang="en-US" sz="2400" spc="-60" dirty="0" smtClean="0">
                <a:latin typeface="Carlito"/>
                <a:cs typeface="Carlito"/>
              </a:rPr>
              <a:t> </a:t>
            </a:r>
            <a:r>
              <a:rPr lang="en-US" sz="2400" spc="-5" dirty="0" smtClean="0">
                <a:latin typeface="Carlito"/>
                <a:cs typeface="Carlito"/>
              </a:rPr>
              <a:t>sinusitis.</a:t>
            </a:r>
            <a:endParaRPr lang="en-US" sz="2400" dirty="0" smtClean="0">
              <a:latin typeface="Carlito"/>
              <a:cs typeface="Carlito"/>
            </a:endParaRPr>
          </a:p>
          <a:p>
            <a:pPr marL="1270635" lvl="1" indent="-344170">
              <a:lnSpc>
                <a:spcPct val="100000"/>
              </a:lnSpc>
              <a:spcBef>
                <a:spcPts val="275"/>
              </a:spcBef>
              <a:buAutoNum type="alphaLcPeriod"/>
              <a:tabLst>
                <a:tab pos="1271270" algn="l"/>
              </a:tabLst>
            </a:pPr>
            <a:r>
              <a:rPr lang="en-US" sz="2400" spc="-20" dirty="0" smtClean="0">
                <a:latin typeface="Carlito"/>
                <a:cs typeface="Carlito"/>
              </a:rPr>
              <a:t>Frontal </a:t>
            </a:r>
            <a:r>
              <a:rPr lang="en-US" sz="2400" spc="-5" dirty="0" smtClean="0">
                <a:latin typeface="Carlito"/>
                <a:cs typeface="Carlito"/>
              </a:rPr>
              <a:t>sinus </a:t>
            </a:r>
            <a:r>
              <a:rPr lang="en-US" sz="2400" spc="-10" dirty="0" err="1" smtClean="0">
                <a:latin typeface="Carlito"/>
                <a:cs typeface="Carlito"/>
              </a:rPr>
              <a:t>transillumination</a:t>
            </a:r>
            <a:r>
              <a:rPr lang="en-US" sz="2400" spc="-10" dirty="0" smtClean="0">
                <a:latin typeface="Carlito"/>
                <a:cs typeface="Carlito"/>
              </a:rPr>
              <a:t>: not very</a:t>
            </a:r>
            <a:r>
              <a:rPr lang="en-US" sz="2400" spc="65" dirty="0" smtClean="0">
                <a:latin typeface="Carlito"/>
                <a:cs typeface="Carlito"/>
              </a:rPr>
              <a:t> </a:t>
            </a:r>
            <a:r>
              <a:rPr lang="en-US" sz="2400" spc="-15" dirty="0" smtClean="0">
                <a:latin typeface="Carlito"/>
                <a:cs typeface="Carlito"/>
              </a:rPr>
              <a:t>informative.</a:t>
            </a:r>
          </a:p>
          <a:p>
            <a:pPr marL="12700" indent="0">
              <a:lnSpc>
                <a:spcPct val="100000"/>
              </a:lnSpc>
              <a:buNone/>
              <a:tabLst>
                <a:tab pos="355600" algn="l"/>
              </a:tabLst>
            </a:pPr>
            <a:r>
              <a:rPr lang="en-US" sz="2700" spc="-15" dirty="0" smtClean="0">
                <a:latin typeface="Carlito"/>
                <a:cs typeface="Carlito"/>
              </a:rPr>
              <a:t>-Interpretations:</a:t>
            </a:r>
            <a:endParaRPr lang="en-US" sz="2700" dirty="0" smtClean="0">
              <a:latin typeface="Carlito"/>
              <a:cs typeface="Carlito"/>
            </a:endParaRPr>
          </a:p>
          <a:p>
            <a:pPr marL="1255395" lvl="1" indent="-328930">
              <a:lnSpc>
                <a:spcPct val="100000"/>
              </a:lnSpc>
              <a:buAutoNum type="alphaLcPeriod"/>
              <a:tabLst>
                <a:tab pos="1256030" algn="l"/>
              </a:tabLst>
            </a:pPr>
            <a:r>
              <a:rPr lang="en-US" sz="2700" dirty="0" smtClean="0">
                <a:latin typeface="Carlito"/>
                <a:cs typeface="Carlito"/>
              </a:rPr>
              <a:t>Normal: </a:t>
            </a:r>
            <a:r>
              <a:rPr lang="en-US" sz="2700" spc="-25" dirty="0" smtClean="0">
                <a:latin typeface="Carlito"/>
                <a:cs typeface="Carlito"/>
              </a:rPr>
              <a:t>Typical </a:t>
            </a:r>
            <a:r>
              <a:rPr lang="en-US" sz="2700" spc="-10" dirty="0" smtClean="0">
                <a:latin typeface="Carlito"/>
                <a:cs typeface="Carlito"/>
              </a:rPr>
              <a:t>light</a:t>
            </a:r>
            <a:r>
              <a:rPr lang="en-US" sz="2700" spc="10" dirty="0" smtClean="0">
                <a:latin typeface="Carlito"/>
                <a:cs typeface="Carlito"/>
              </a:rPr>
              <a:t> </a:t>
            </a:r>
            <a:r>
              <a:rPr lang="en-US" sz="2700" spc="-10" dirty="0" smtClean="0">
                <a:latin typeface="Carlito"/>
                <a:cs typeface="Carlito"/>
              </a:rPr>
              <a:t>transmission</a:t>
            </a:r>
            <a:endParaRPr lang="en-US" sz="2700" dirty="0" smtClean="0">
              <a:latin typeface="Carlito"/>
              <a:cs typeface="Carlito"/>
            </a:endParaRPr>
          </a:p>
          <a:p>
            <a:pPr marL="1270635" lvl="1" indent="-344170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1271270" algn="l"/>
              </a:tabLst>
            </a:pPr>
            <a:r>
              <a:rPr lang="en-US" sz="2700" spc="-5" dirty="0" smtClean="0">
                <a:latin typeface="Carlito"/>
                <a:cs typeface="Carlito"/>
              </a:rPr>
              <a:t>Dull: </a:t>
            </a:r>
            <a:r>
              <a:rPr lang="en-US" sz="2700" spc="-10" dirty="0" smtClean="0">
                <a:latin typeface="Carlito"/>
                <a:cs typeface="Carlito"/>
              </a:rPr>
              <a:t>Reduced </a:t>
            </a:r>
            <a:r>
              <a:rPr lang="en-US" sz="2700" spc="-5" dirty="0" smtClean="0">
                <a:latin typeface="Carlito"/>
                <a:cs typeface="Carlito"/>
              </a:rPr>
              <a:t>light</a:t>
            </a:r>
            <a:r>
              <a:rPr lang="en-US" sz="2700" spc="-15" dirty="0" smtClean="0">
                <a:latin typeface="Carlito"/>
                <a:cs typeface="Carlito"/>
              </a:rPr>
              <a:t> </a:t>
            </a:r>
            <a:r>
              <a:rPr lang="en-US" sz="2700" spc="-10" dirty="0" smtClean="0">
                <a:latin typeface="Carlito"/>
                <a:cs typeface="Carlito"/>
              </a:rPr>
              <a:t>transmission</a:t>
            </a:r>
            <a:endParaRPr lang="en-US" sz="2700" dirty="0" smtClean="0">
              <a:latin typeface="Carlito"/>
              <a:cs typeface="Carlito"/>
            </a:endParaRPr>
          </a:p>
          <a:p>
            <a:pPr marL="1236345" lvl="1" indent="-309880">
              <a:lnSpc>
                <a:spcPct val="100000"/>
              </a:lnSpc>
              <a:buAutoNum type="alphaLcPeriod"/>
              <a:tabLst>
                <a:tab pos="1236980" algn="l"/>
              </a:tabLst>
            </a:pPr>
            <a:r>
              <a:rPr lang="en-US" sz="2700" spc="-5" dirty="0" smtClean="0">
                <a:latin typeface="Carlito"/>
                <a:cs typeface="Carlito"/>
              </a:rPr>
              <a:t>Opaque: </a:t>
            </a:r>
            <a:r>
              <a:rPr lang="en-US" sz="2700" dirty="0" smtClean="0">
                <a:latin typeface="Carlito"/>
                <a:cs typeface="Carlito"/>
              </a:rPr>
              <a:t>No </a:t>
            </a:r>
            <a:r>
              <a:rPr lang="en-US" sz="2700" spc="-5" dirty="0" smtClean="0">
                <a:latin typeface="Carlito"/>
                <a:cs typeface="Carlito"/>
              </a:rPr>
              <a:t>light</a:t>
            </a:r>
            <a:r>
              <a:rPr lang="en-US" sz="2700" spc="-30" dirty="0" smtClean="0">
                <a:latin typeface="Carlito"/>
                <a:cs typeface="Carlito"/>
              </a:rPr>
              <a:t> </a:t>
            </a:r>
            <a:r>
              <a:rPr lang="en-US" sz="2700" spc="-10" dirty="0" smtClean="0">
                <a:latin typeface="Carlito"/>
                <a:cs typeface="Carlito"/>
              </a:rPr>
              <a:t>transmission</a:t>
            </a:r>
            <a:endParaRPr lang="en-US" sz="2700" dirty="0" smtClean="0">
              <a:latin typeface="Carlito"/>
              <a:cs typeface="Carlito"/>
            </a:endParaRPr>
          </a:p>
          <a:p>
            <a:pPr marL="926465" lvl="1" indent="0">
              <a:lnSpc>
                <a:spcPct val="100000"/>
              </a:lnSpc>
              <a:spcBef>
                <a:spcPts val="275"/>
              </a:spcBef>
              <a:buNone/>
              <a:tabLst>
                <a:tab pos="1271270" algn="l"/>
              </a:tabLst>
            </a:pPr>
            <a:endParaRPr lang="en-US" sz="2400" dirty="0" smtClean="0">
              <a:latin typeface="Carlito"/>
              <a:cs typeface="Carlito"/>
            </a:endParaRPr>
          </a:p>
          <a:p>
            <a:endParaRPr lang="en-US" dirty="0"/>
          </a:p>
        </p:txBody>
      </p:sp>
      <p:sp>
        <p:nvSpPr>
          <p:cNvPr id="6" name="object 3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24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sz="2800" spc="-25" dirty="0" smtClean="0">
              <a:latin typeface="Carlito"/>
              <a:cs typeface="Carlito"/>
            </a:endParaRPr>
          </a:p>
          <a:p>
            <a:pPr marL="0" indent="0">
              <a:buNone/>
            </a:pPr>
            <a:r>
              <a:rPr lang="en-US" sz="2800" spc="-25" dirty="0" smtClean="0">
                <a:latin typeface="Carlito"/>
                <a:cs typeface="Carlito"/>
              </a:rPr>
              <a:t>4-X-ray </a:t>
            </a:r>
            <a:r>
              <a:rPr lang="en-US" sz="2800" spc="-10" dirty="0" smtClean="0">
                <a:latin typeface="Carlito"/>
                <a:cs typeface="Carlito"/>
              </a:rPr>
              <a:t>paranasal </a:t>
            </a:r>
            <a:r>
              <a:rPr lang="en-US" sz="2800" spc="-5" dirty="0" smtClean="0">
                <a:latin typeface="Carlito"/>
                <a:cs typeface="Carlito"/>
              </a:rPr>
              <a:t>sinuses (PNS) </a:t>
            </a:r>
            <a:r>
              <a:rPr lang="en-US" sz="2800" spc="-15" dirty="0" smtClean="0">
                <a:latin typeface="Carlito"/>
                <a:cs typeface="Carlito"/>
              </a:rPr>
              <a:t>to </a:t>
            </a:r>
            <a:r>
              <a:rPr lang="en-US" sz="2800" spc="-20" dirty="0" smtClean="0">
                <a:latin typeface="Carlito"/>
                <a:cs typeface="Carlito"/>
              </a:rPr>
              <a:t>demonstrate </a:t>
            </a:r>
            <a:r>
              <a:rPr lang="en-US" sz="2800" spc="-5" dirty="0" smtClean="0">
                <a:latin typeface="Carlito"/>
                <a:cs typeface="Carlito"/>
              </a:rPr>
              <a:t>fluid </a:t>
            </a:r>
            <a:r>
              <a:rPr lang="en-US" sz="2800" spc="-10" dirty="0" smtClean="0">
                <a:latin typeface="Carlito"/>
                <a:cs typeface="Carlito"/>
              </a:rPr>
              <a:t>level</a:t>
            </a:r>
            <a:r>
              <a:rPr lang="en-US" sz="2800" spc="-5" dirty="0" smtClean="0">
                <a:latin typeface="Carlito"/>
                <a:cs typeface="Carlito"/>
              </a:rPr>
              <a:t>, or</a:t>
            </a:r>
            <a:r>
              <a:rPr lang="en-US" sz="2800" spc="-25" dirty="0" smtClean="0">
                <a:latin typeface="Carlito"/>
                <a:cs typeface="Carlito"/>
              </a:rPr>
              <a:t> </a:t>
            </a:r>
            <a:r>
              <a:rPr lang="en-US" sz="2800" spc="-30" dirty="0" smtClean="0">
                <a:latin typeface="Carlito"/>
                <a:cs typeface="Carlito"/>
              </a:rPr>
              <a:t>opacity.</a:t>
            </a:r>
            <a:endParaRPr lang="en-US" sz="2800" dirty="0" smtClean="0">
              <a:latin typeface="Carlito"/>
              <a:cs typeface="Carlito"/>
            </a:endParaRP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6800" y="4001294"/>
            <a:ext cx="2838450" cy="2365117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5042570" y="3048000"/>
            <a:ext cx="343814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2913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0957" y="461899"/>
            <a:ext cx="6021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90" dirty="0">
                <a:latin typeface="Carlito"/>
                <a:cs typeface="Carlito"/>
              </a:rPr>
              <a:t>XRAY </a:t>
            </a:r>
            <a:r>
              <a:rPr sz="4400" spc="-40" dirty="0">
                <a:latin typeface="Carlito"/>
                <a:cs typeface="Carlito"/>
              </a:rPr>
              <a:t>PARANASAL</a:t>
            </a:r>
            <a:r>
              <a:rPr sz="4400" spc="45" dirty="0">
                <a:latin typeface="Carlito"/>
                <a:cs typeface="Carlito"/>
              </a:rPr>
              <a:t> </a:t>
            </a:r>
            <a:r>
              <a:rPr sz="4400" spc="-10" dirty="0">
                <a:latin typeface="Carlito"/>
                <a:cs typeface="Carlito"/>
              </a:rPr>
              <a:t>SINUSES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14983" y="1447800"/>
            <a:ext cx="7062216" cy="4878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0957" y="461899"/>
            <a:ext cx="6021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90" dirty="0">
                <a:latin typeface="Carlito"/>
                <a:cs typeface="Carlito"/>
              </a:rPr>
              <a:t>XRAY </a:t>
            </a:r>
            <a:r>
              <a:rPr sz="4400" spc="-40" dirty="0">
                <a:latin typeface="Carlito"/>
                <a:cs typeface="Carlito"/>
              </a:rPr>
              <a:t>PARANASAL</a:t>
            </a:r>
            <a:r>
              <a:rPr sz="4400" spc="45" dirty="0">
                <a:latin typeface="Carlito"/>
                <a:cs typeface="Carlito"/>
              </a:rPr>
              <a:t> </a:t>
            </a:r>
            <a:r>
              <a:rPr sz="4400" spc="-10" dirty="0">
                <a:latin typeface="Carlito"/>
                <a:cs typeface="Carlito"/>
              </a:rPr>
              <a:t>SINUSES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1600" y="1464564"/>
            <a:ext cx="6816852" cy="4821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5080" lvl="0" indent="0" defTabSz="914400">
              <a:spcBef>
                <a:spcPts val="600"/>
              </a:spcBef>
              <a:buNone/>
              <a:tabLst>
                <a:tab pos="527685" algn="l"/>
                <a:tab pos="528320" algn="l"/>
              </a:tabLst>
            </a:pPr>
            <a:endParaRPr lang="en-US" sz="2400" spc="-10" dirty="0" smtClean="0">
              <a:solidFill>
                <a:prstClr val="black"/>
              </a:solidFill>
              <a:cs typeface="Carlito"/>
            </a:endParaRPr>
          </a:p>
          <a:p>
            <a:pPr marL="0" marR="5080" lvl="0" indent="0" defTabSz="914400">
              <a:spcBef>
                <a:spcPts val="600"/>
              </a:spcBef>
              <a:buNone/>
              <a:tabLst>
                <a:tab pos="527685" algn="l"/>
                <a:tab pos="528320" algn="l"/>
              </a:tabLst>
            </a:pPr>
            <a:r>
              <a:rPr lang="en-US" sz="2400" spc="-10" dirty="0" smtClean="0">
                <a:solidFill>
                  <a:prstClr val="black"/>
                </a:solidFill>
                <a:cs typeface="Carlito"/>
              </a:rPr>
              <a:t>4-Computed </a:t>
            </a:r>
            <a:r>
              <a:rPr lang="en-US" sz="2400" spc="-15" dirty="0">
                <a:solidFill>
                  <a:prstClr val="black"/>
                </a:solidFill>
                <a:cs typeface="Carlito"/>
              </a:rPr>
              <a:t>tomography </a:t>
            </a:r>
            <a:r>
              <a:rPr lang="en-US" sz="2400" spc="-5" dirty="0">
                <a:solidFill>
                  <a:prstClr val="black"/>
                </a:solidFill>
                <a:cs typeface="Carlito"/>
              </a:rPr>
              <a:t>(CT) </a:t>
            </a:r>
            <a:r>
              <a:rPr lang="en-US" sz="2400" spc="-15" dirty="0">
                <a:solidFill>
                  <a:prstClr val="black"/>
                </a:solidFill>
                <a:cs typeface="Carlito"/>
              </a:rPr>
              <a:t>scan—coronal </a:t>
            </a:r>
            <a:r>
              <a:rPr lang="en-US" sz="2400" dirty="0">
                <a:solidFill>
                  <a:prstClr val="black"/>
                </a:solidFill>
                <a:cs typeface="Carlito"/>
              </a:rPr>
              <a:t>CT </a:t>
            </a:r>
            <a:r>
              <a:rPr lang="en-US" sz="2400" spc="-15" dirty="0">
                <a:solidFill>
                  <a:prstClr val="black"/>
                </a:solidFill>
                <a:cs typeface="Carlito"/>
              </a:rPr>
              <a:t>may </a:t>
            </a:r>
            <a:r>
              <a:rPr lang="en-US" sz="2400" spc="-5" dirty="0">
                <a:solidFill>
                  <a:prstClr val="black"/>
                </a:solidFill>
                <a:cs typeface="Carlito"/>
              </a:rPr>
              <a:t>show </a:t>
            </a:r>
            <a:r>
              <a:rPr lang="en-US" sz="2400" spc="-10" dirty="0">
                <a:solidFill>
                  <a:prstClr val="black"/>
                </a:solidFill>
                <a:cs typeface="Carlito"/>
              </a:rPr>
              <a:t>thickening </a:t>
            </a:r>
            <a:r>
              <a:rPr lang="en-US" sz="2400" spc="-5" dirty="0">
                <a:solidFill>
                  <a:prstClr val="black"/>
                </a:solidFill>
                <a:cs typeface="Carlito"/>
              </a:rPr>
              <a:t>of </a:t>
            </a:r>
            <a:r>
              <a:rPr lang="en-US" sz="2400" spc="-10" dirty="0">
                <a:solidFill>
                  <a:prstClr val="black"/>
                </a:solidFill>
                <a:cs typeface="Carlito"/>
              </a:rPr>
              <a:t>mucosa </a:t>
            </a:r>
            <a:r>
              <a:rPr lang="en-US" sz="2400" spc="-5" dirty="0">
                <a:solidFill>
                  <a:prstClr val="black"/>
                </a:solidFill>
                <a:cs typeface="Carlito"/>
              </a:rPr>
              <a:t>or </a:t>
            </a:r>
            <a:r>
              <a:rPr lang="en-US" sz="2400" spc="-10" dirty="0">
                <a:solidFill>
                  <a:prstClr val="black"/>
                </a:solidFill>
                <a:cs typeface="Carlito"/>
              </a:rPr>
              <a:t>opacification </a:t>
            </a:r>
            <a:r>
              <a:rPr lang="en-US" sz="2400" dirty="0">
                <a:solidFill>
                  <a:prstClr val="black"/>
                </a:solidFill>
                <a:cs typeface="Carlito"/>
              </a:rPr>
              <a:t>with </a:t>
            </a:r>
            <a:r>
              <a:rPr lang="en-US" sz="2700" spc="-5" dirty="0">
                <a:solidFill>
                  <a:prstClr val="black"/>
                </a:solidFill>
                <a:cs typeface="Carlito"/>
              </a:rPr>
              <a:t>occlusion of </a:t>
            </a:r>
            <a:r>
              <a:rPr lang="en-US" sz="2400" spc="-5" dirty="0">
                <a:solidFill>
                  <a:prstClr val="black"/>
                </a:solidFill>
                <a:cs typeface="Carlito"/>
              </a:rPr>
              <a:t>the maxillary</a:t>
            </a:r>
            <a:r>
              <a:rPr lang="en-US" sz="2400" spc="5" dirty="0">
                <a:solidFill>
                  <a:prstClr val="black"/>
                </a:solidFill>
                <a:cs typeface="Carlito"/>
              </a:rPr>
              <a:t> </a:t>
            </a:r>
            <a:r>
              <a:rPr lang="en-US" sz="2400" spc="-5" dirty="0">
                <a:solidFill>
                  <a:prstClr val="black"/>
                </a:solidFill>
                <a:cs typeface="Carlito"/>
              </a:rPr>
              <a:t>sinus.</a:t>
            </a:r>
            <a:endParaRPr lang="en-US" sz="2400" dirty="0">
              <a:solidFill>
                <a:prstClr val="black"/>
              </a:solidFill>
              <a:cs typeface="Carlito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981200"/>
            <a:ext cx="3200400" cy="3276599"/>
          </a:xfrm>
        </p:spPr>
      </p:pic>
    </p:spTree>
    <p:extLst>
      <p:ext uri="{BB962C8B-B14F-4D97-AF65-F5344CB8AC3E}">
        <p14:creationId xmlns:p14="http://schemas.microsoft.com/office/powerpoint/2010/main" val="2740616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249466"/>
            <a:ext cx="797750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002060"/>
                </a:solidFill>
                <a:latin typeface="Carlito"/>
                <a:cs typeface="Carlito"/>
              </a:rPr>
              <a:t>ACUTE BACTERIAL</a:t>
            </a:r>
            <a:r>
              <a:rPr sz="3600" b="1" spc="-40" dirty="0">
                <a:solidFill>
                  <a:srgbClr val="00206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002060"/>
                </a:solidFill>
                <a:latin typeface="Carlito"/>
                <a:cs typeface="Carlito"/>
              </a:rPr>
              <a:t>RHINOSINUSITIS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540129"/>
            <a:ext cx="8575040" cy="488787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6F2F9F"/>
                </a:solidFill>
                <a:cs typeface="Carlito"/>
              </a:rPr>
              <a:t>Medical</a:t>
            </a:r>
            <a:r>
              <a:rPr sz="2800" b="1" spc="-20" dirty="0">
                <a:solidFill>
                  <a:srgbClr val="6F2F9F"/>
                </a:solidFill>
                <a:cs typeface="Carlito"/>
              </a:rPr>
              <a:t> </a:t>
            </a:r>
            <a:r>
              <a:rPr sz="2800" b="1" spc="-25" dirty="0" smtClean="0">
                <a:solidFill>
                  <a:srgbClr val="6F2F9F"/>
                </a:solidFill>
                <a:cs typeface="Carlito"/>
              </a:rPr>
              <a:t>Treatment</a:t>
            </a:r>
            <a:r>
              <a:rPr lang="en-US" sz="2800" b="1" spc="-25" dirty="0" smtClean="0">
                <a:solidFill>
                  <a:srgbClr val="6F2F9F"/>
                </a:solidFill>
                <a:cs typeface="Carlito"/>
              </a:rPr>
              <a:t>:</a:t>
            </a:r>
            <a:endParaRPr sz="2800" dirty="0">
              <a:cs typeface="Carlito"/>
            </a:endParaRPr>
          </a:p>
          <a:p>
            <a:pPr marL="355600" marR="13335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cs typeface="Carlito"/>
              </a:rPr>
              <a:t>Antibiotics </a:t>
            </a:r>
            <a:r>
              <a:rPr sz="2400" u="sng" spc="-5" dirty="0" smtClean="0">
                <a:solidFill>
                  <a:srgbClr val="FF0000"/>
                </a:solidFill>
                <a:cs typeface="Carlito"/>
              </a:rPr>
              <a:t>Amoxicillin</a:t>
            </a:r>
            <a:r>
              <a:rPr lang="en-US" sz="2400" u="sng" spc="-5" dirty="0" smtClean="0">
                <a:solidFill>
                  <a:srgbClr val="FF0000"/>
                </a:solidFill>
                <a:cs typeface="Carlito"/>
              </a:rPr>
              <a:t>-Clavulanic acid</a:t>
            </a:r>
            <a:r>
              <a:rPr sz="2400" u="sng" spc="-5" dirty="0" smtClean="0">
                <a:solidFill>
                  <a:srgbClr val="FF0000"/>
                </a:solidFill>
                <a:cs typeface="Carlito"/>
              </a:rPr>
              <a:t> </a:t>
            </a:r>
            <a:r>
              <a:rPr lang="en-US" sz="2400" spc="-5" dirty="0" smtClean="0">
                <a:cs typeface="Carlito"/>
              </a:rPr>
              <a:t>1</a:t>
            </a:r>
            <a:r>
              <a:rPr sz="2400" dirty="0" smtClean="0">
                <a:cs typeface="Carlito"/>
              </a:rPr>
              <a:t>g</a:t>
            </a:r>
            <a:r>
              <a:rPr lang="en-US" sz="2400" dirty="0" smtClean="0">
                <a:cs typeface="Carlito"/>
              </a:rPr>
              <a:t>m</a:t>
            </a:r>
            <a:r>
              <a:rPr sz="2400" dirty="0" smtClean="0">
                <a:cs typeface="Carlito"/>
              </a:rPr>
              <a:t> </a:t>
            </a:r>
            <a:r>
              <a:rPr lang="en-US" sz="2400" spc="-5" dirty="0" smtClean="0">
                <a:cs typeface="Carlito"/>
              </a:rPr>
              <a:t>two times</a:t>
            </a:r>
            <a:r>
              <a:rPr sz="2400" spc="-5" dirty="0" smtClean="0">
                <a:cs typeface="Carlito"/>
              </a:rPr>
              <a:t> daily</a:t>
            </a:r>
            <a:r>
              <a:rPr lang="en-US" sz="2400" spc="-5" dirty="0" smtClean="0">
                <a:cs typeface="Carlito"/>
              </a:rPr>
              <a:t> </a:t>
            </a:r>
            <a:r>
              <a:rPr sz="2400" spc="-5" dirty="0" smtClean="0">
                <a:cs typeface="Carlito"/>
              </a:rPr>
              <a:t>or </a:t>
            </a:r>
            <a:r>
              <a:rPr sz="2400" spc="-20" dirty="0">
                <a:cs typeface="Carlito"/>
              </a:rPr>
              <a:t>any </a:t>
            </a:r>
            <a:r>
              <a:rPr sz="2400" spc="-5" dirty="0" smtClean="0">
                <a:cs typeface="Carlito"/>
              </a:rPr>
              <a:t>other</a:t>
            </a:r>
            <a:r>
              <a:rPr lang="en-US" sz="2400" spc="-5" dirty="0" smtClean="0">
                <a:cs typeface="Carlito"/>
              </a:rPr>
              <a:t> </a:t>
            </a:r>
            <a:r>
              <a:rPr lang="en-US" sz="2400" spc="-10" dirty="0" smtClean="0">
                <a:cs typeface="Carlito"/>
              </a:rPr>
              <a:t>broad-spectrum</a:t>
            </a:r>
            <a:r>
              <a:rPr sz="2400" spc="-5" dirty="0" smtClean="0">
                <a:cs typeface="Carlito"/>
              </a:rPr>
              <a:t> </a:t>
            </a:r>
            <a:r>
              <a:rPr sz="2400" spc="-5" dirty="0">
                <a:cs typeface="Carlito"/>
              </a:rPr>
              <a:t>antibiotic (BSA) </a:t>
            </a:r>
            <a:r>
              <a:rPr sz="2400" spc="-20" dirty="0">
                <a:cs typeface="Carlito"/>
              </a:rPr>
              <a:t>for </a:t>
            </a:r>
            <a:r>
              <a:rPr sz="2400" spc="-5" dirty="0">
                <a:cs typeface="Carlito"/>
              </a:rPr>
              <a:t>10 </a:t>
            </a:r>
            <a:r>
              <a:rPr sz="2400" spc="-15" dirty="0">
                <a:cs typeface="Carlito"/>
              </a:rPr>
              <a:t>to </a:t>
            </a:r>
            <a:r>
              <a:rPr sz="2400" dirty="0">
                <a:cs typeface="Carlito"/>
              </a:rPr>
              <a:t>14 </a:t>
            </a:r>
            <a:r>
              <a:rPr sz="2400" spc="-20" dirty="0">
                <a:cs typeface="Carlito"/>
              </a:rPr>
              <a:t>days </a:t>
            </a:r>
            <a:r>
              <a:rPr sz="2400" dirty="0">
                <a:cs typeface="Carlito"/>
              </a:rPr>
              <a:t>and </a:t>
            </a:r>
            <a:r>
              <a:rPr sz="2400" spc="-10" dirty="0">
                <a:cs typeface="Carlito"/>
              </a:rPr>
              <a:t>not </a:t>
            </a:r>
            <a:r>
              <a:rPr sz="2400" spc="-10" dirty="0" smtClean="0">
                <a:cs typeface="Carlito"/>
              </a:rPr>
              <a:t>one</a:t>
            </a:r>
            <a:r>
              <a:rPr lang="en-US" sz="2400" spc="-10" dirty="0" smtClean="0">
                <a:cs typeface="Carlito"/>
              </a:rPr>
              <a:t> </a:t>
            </a:r>
            <a:r>
              <a:rPr sz="2400" spc="-5" dirty="0" smtClean="0">
                <a:cs typeface="Carlito"/>
              </a:rPr>
              <a:t>week </a:t>
            </a:r>
            <a:r>
              <a:rPr sz="2400" spc="-15" dirty="0">
                <a:cs typeface="Carlito"/>
              </a:rPr>
              <a:t>to avoid </a:t>
            </a:r>
            <a:r>
              <a:rPr sz="2400" spc="-10" dirty="0">
                <a:cs typeface="Carlito"/>
              </a:rPr>
              <a:t>recurrence. </a:t>
            </a:r>
            <a:r>
              <a:rPr sz="2400" dirty="0">
                <a:cs typeface="Carlito"/>
              </a:rPr>
              <a:t>If </a:t>
            </a:r>
            <a:r>
              <a:rPr sz="2400" spc="-10" dirty="0">
                <a:cs typeface="Carlito"/>
              </a:rPr>
              <a:t>there </a:t>
            </a:r>
            <a:r>
              <a:rPr sz="2400" dirty="0">
                <a:cs typeface="Carlito"/>
              </a:rPr>
              <a:t>is </a:t>
            </a:r>
            <a:r>
              <a:rPr sz="2400" spc="-5" dirty="0">
                <a:cs typeface="Carlito"/>
              </a:rPr>
              <a:t>no response </a:t>
            </a:r>
            <a:r>
              <a:rPr sz="2400" dirty="0">
                <a:cs typeface="Carlito"/>
              </a:rPr>
              <a:t>in 3 </a:t>
            </a:r>
            <a:r>
              <a:rPr sz="2400" spc="-15" dirty="0">
                <a:cs typeface="Carlito"/>
              </a:rPr>
              <a:t>to </a:t>
            </a:r>
            <a:r>
              <a:rPr sz="2400" dirty="0">
                <a:cs typeface="Carlito"/>
              </a:rPr>
              <a:t>5 </a:t>
            </a:r>
            <a:r>
              <a:rPr sz="2400" spc="-20" dirty="0">
                <a:cs typeface="Carlito"/>
              </a:rPr>
              <a:t>days,  </a:t>
            </a:r>
            <a:r>
              <a:rPr sz="2400" spc="-5" dirty="0">
                <a:cs typeface="Carlito"/>
              </a:rPr>
              <a:t>change </a:t>
            </a:r>
            <a:r>
              <a:rPr sz="2400" spc="-15" dirty="0">
                <a:cs typeface="Carlito"/>
              </a:rPr>
              <a:t>over to clarithromycin/</a:t>
            </a:r>
            <a:r>
              <a:rPr sz="2400" u="sng" spc="-15" dirty="0">
                <a:solidFill>
                  <a:srgbClr val="FF0000"/>
                </a:solidFill>
                <a:cs typeface="Carlito"/>
              </a:rPr>
              <a:t>azithromycin</a:t>
            </a:r>
            <a:r>
              <a:rPr sz="2400" spc="-15" dirty="0">
                <a:cs typeface="Carlito"/>
              </a:rPr>
              <a:t>/</a:t>
            </a:r>
            <a:r>
              <a:rPr sz="2400" spc="-10" dirty="0">
                <a:cs typeface="Carlito"/>
              </a:rPr>
              <a:t> </a:t>
            </a:r>
            <a:r>
              <a:rPr sz="2400" spc="-5" dirty="0">
                <a:cs typeface="Carlito"/>
              </a:rPr>
              <a:t>cefixime.</a:t>
            </a:r>
            <a:endParaRPr sz="2400" dirty="0">
              <a:cs typeface="Carlito"/>
            </a:endParaRPr>
          </a:p>
          <a:p>
            <a:pPr marL="355600" marR="63119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cs typeface="Carlito"/>
              </a:rPr>
              <a:t>Local </a:t>
            </a:r>
            <a:r>
              <a:rPr sz="2400" spc="-15" dirty="0">
                <a:cs typeface="Carlito"/>
              </a:rPr>
              <a:t>decongestants: </a:t>
            </a:r>
            <a:r>
              <a:rPr sz="2400" u="sng" spc="-10" dirty="0" err="1" smtClean="0">
                <a:solidFill>
                  <a:srgbClr val="FF0000"/>
                </a:solidFill>
                <a:cs typeface="Carlito"/>
              </a:rPr>
              <a:t>oxymetazoline</a:t>
            </a:r>
            <a:r>
              <a:rPr sz="2400" u="sng" spc="-10" dirty="0" smtClean="0">
                <a:solidFill>
                  <a:srgbClr val="FF0000"/>
                </a:solidFill>
                <a:cs typeface="Carlito"/>
              </a:rPr>
              <a:t>/</a:t>
            </a:r>
            <a:r>
              <a:rPr sz="2400" u="sng" spc="-10" dirty="0" err="1" smtClean="0">
                <a:solidFill>
                  <a:srgbClr val="FF0000"/>
                </a:solidFill>
                <a:cs typeface="Carlito"/>
              </a:rPr>
              <a:t>xylometazoline</a:t>
            </a:r>
            <a:r>
              <a:rPr sz="2400" spc="-10" dirty="0" smtClean="0">
                <a:cs typeface="Carlito"/>
              </a:rPr>
              <a:t> </a:t>
            </a:r>
            <a:r>
              <a:rPr sz="2400" spc="-5" dirty="0">
                <a:cs typeface="Carlito"/>
              </a:rPr>
              <a:t>nasal </a:t>
            </a:r>
            <a:r>
              <a:rPr sz="2400" spc="-15" dirty="0">
                <a:cs typeface="Carlito"/>
              </a:rPr>
              <a:t>drops followed </a:t>
            </a:r>
            <a:r>
              <a:rPr sz="2400" spc="-10" dirty="0">
                <a:cs typeface="Carlito"/>
              </a:rPr>
              <a:t>by </a:t>
            </a:r>
            <a:r>
              <a:rPr sz="2400" spc="-10" dirty="0" smtClean="0">
                <a:cs typeface="Carlito"/>
              </a:rPr>
              <a:t>steam</a:t>
            </a:r>
            <a:r>
              <a:rPr lang="en-US" sz="2400" spc="-10" dirty="0" smtClean="0">
                <a:cs typeface="Carlito"/>
              </a:rPr>
              <a:t> </a:t>
            </a:r>
            <a:r>
              <a:rPr sz="2400" spc="-5" dirty="0" smtClean="0">
                <a:cs typeface="Carlito"/>
              </a:rPr>
              <a:t>inhalation </a:t>
            </a:r>
            <a:r>
              <a:rPr sz="2400" spc="-5" dirty="0">
                <a:cs typeface="Carlito"/>
              </a:rPr>
              <a:t>(which liquefies </a:t>
            </a:r>
            <a:r>
              <a:rPr sz="2400" dirty="0">
                <a:cs typeface="Carlito"/>
              </a:rPr>
              <a:t>the thick </a:t>
            </a:r>
            <a:r>
              <a:rPr sz="2400" spc="-5" dirty="0">
                <a:cs typeface="Carlito"/>
              </a:rPr>
              <a:t>viscid</a:t>
            </a:r>
            <a:r>
              <a:rPr sz="2400" spc="-35" dirty="0">
                <a:cs typeface="Carlito"/>
              </a:rPr>
              <a:t> </a:t>
            </a:r>
            <a:r>
              <a:rPr sz="2400" spc="-10" dirty="0">
                <a:cs typeface="Carlito"/>
              </a:rPr>
              <a:t>secretions</a:t>
            </a:r>
            <a:r>
              <a:rPr sz="2400" spc="-10" dirty="0" smtClean="0">
                <a:cs typeface="Carlito"/>
              </a:rPr>
              <a:t>).</a:t>
            </a:r>
            <a:endParaRPr lang="en-US" sz="2400" dirty="0" smtClean="0"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 smtClean="0">
                <a:cs typeface="Carlito"/>
              </a:rPr>
              <a:t>Analgesics</a:t>
            </a:r>
            <a:r>
              <a:rPr sz="2400" spc="-5" dirty="0">
                <a:cs typeface="Carlito"/>
              </a:rPr>
              <a:t>: </a:t>
            </a:r>
            <a:r>
              <a:rPr lang="en-US" sz="2400" u="sng" dirty="0" smtClean="0">
                <a:solidFill>
                  <a:srgbClr val="FF0000"/>
                </a:solidFill>
                <a:cs typeface="Carlito"/>
              </a:rPr>
              <a:t>paracetamol</a:t>
            </a:r>
            <a:r>
              <a:rPr sz="2400" dirty="0" smtClean="0">
                <a:cs typeface="Carlito"/>
              </a:rPr>
              <a:t> </a:t>
            </a:r>
            <a:r>
              <a:rPr sz="2400" dirty="0">
                <a:cs typeface="Carlito"/>
              </a:rPr>
              <a:t>and </a:t>
            </a:r>
            <a:r>
              <a:rPr sz="2400" u="sng" spc="-10" dirty="0">
                <a:solidFill>
                  <a:srgbClr val="FF0000"/>
                </a:solidFill>
                <a:cs typeface="Carlito"/>
              </a:rPr>
              <a:t>codeine</a:t>
            </a:r>
            <a:r>
              <a:rPr sz="2400" spc="-50" dirty="0">
                <a:cs typeface="Carlito"/>
              </a:rPr>
              <a:t> </a:t>
            </a:r>
            <a:r>
              <a:rPr sz="2400" spc="-10" dirty="0">
                <a:cs typeface="Carlito"/>
              </a:rPr>
              <a:t>preparation.</a:t>
            </a:r>
            <a:endParaRPr sz="2400" dirty="0"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cs typeface="Carlito"/>
              </a:rPr>
              <a:t>Local </a:t>
            </a:r>
            <a:r>
              <a:rPr sz="2400" spc="-5" dirty="0">
                <a:cs typeface="Carlito"/>
              </a:rPr>
              <a:t>application of </a:t>
            </a:r>
            <a:r>
              <a:rPr sz="2400" spc="-10" dirty="0">
                <a:cs typeface="Carlito"/>
              </a:rPr>
              <a:t>heat by </a:t>
            </a:r>
            <a:r>
              <a:rPr sz="2400" spc="-5" dirty="0">
                <a:cs typeface="Carlito"/>
              </a:rPr>
              <a:t>hot </a:t>
            </a:r>
            <a:r>
              <a:rPr sz="2400" spc="-20" dirty="0">
                <a:cs typeface="Carlito"/>
              </a:rPr>
              <a:t>water </a:t>
            </a:r>
            <a:r>
              <a:rPr sz="2400" spc="-10" dirty="0">
                <a:cs typeface="Carlito"/>
              </a:rPr>
              <a:t>bottle </a:t>
            </a:r>
            <a:r>
              <a:rPr sz="2400" spc="-20" dirty="0">
                <a:cs typeface="Carlito"/>
              </a:rPr>
              <a:t>for </a:t>
            </a:r>
            <a:r>
              <a:rPr sz="2400" dirty="0">
                <a:cs typeface="Carlito"/>
              </a:rPr>
              <a:t>about 10 </a:t>
            </a:r>
            <a:r>
              <a:rPr sz="2400" spc="-5" dirty="0">
                <a:cs typeface="Carlito"/>
              </a:rPr>
              <a:t>minutes,  </a:t>
            </a:r>
            <a:r>
              <a:rPr sz="2400" spc="-10" dirty="0">
                <a:cs typeface="Carlito"/>
              </a:rPr>
              <a:t>three </a:t>
            </a:r>
            <a:r>
              <a:rPr sz="2400" dirty="0">
                <a:cs typeface="Carlito"/>
              </a:rPr>
              <a:t>times a </a:t>
            </a:r>
            <a:r>
              <a:rPr sz="2400" spc="-20" dirty="0">
                <a:cs typeface="Carlito"/>
              </a:rPr>
              <a:t>day </a:t>
            </a:r>
            <a:r>
              <a:rPr sz="2400" dirty="0">
                <a:cs typeface="Carlito"/>
              </a:rPr>
              <a:t>is </a:t>
            </a:r>
            <a:r>
              <a:rPr sz="2400" spc="-10" dirty="0">
                <a:cs typeface="Carlito"/>
              </a:rPr>
              <a:t>comforting, relieves </a:t>
            </a:r>
            <a:r>
              <a:rPr sz="2400" spc="-5" dirty="0" smtClean="0">
                <a:cs typeface="Carlito"/>
              </a:rPr>
              <a:t>pain</a:t>
            </a:r>
            <a:r>
              <a:rPr lang="en-US" sz="2400" spc="-5" dirty="0" smtClean="0">
                <a:cs typeface="Carlito"/>
              </a:rPr>
              <a:t>,</a:t>
            </a:r>
            <a:r>
              <a:rPr sz="2400" spc="-5" dirty="0" smtClean="0">
                <a:cs typeface="Carlito"/>
              </a:rPr>
              <a:t> </a:t>
            </a:r>
            <a:r>
              <a:rPr sz="2400" dirty="0">
                <a:cs typeface="Carlito"/>
              </a:rPr>
              <a:t>and </a:t>
            </a:r>
            <a:r>
              <a:rPr sz="2400" spc="-15" dirty="0" smtClean="0">
                <a:cs typeface="Carlito"/>
              </a:rPr>
              <a:t>promotes</a:t>
            </a:r>
            <a:r>
              <a:rPr lang="en-US" sz="2400" spc="-15" dirty="0" smtClean="0">
                <a:cs typeface="Carlito"/>
              </a:rPr>
              <a:t> </a:t>
            </a:r>
            <a:r>
              <a:rPr sz="2400" spc="-10" dirty="0" smtClean="0">
                <a:cs typeface="Carlito"/>
              </a:rPr>
              <a:t>drainage</a:t>
            </a:r>
            <a:r>
              <a:rPr sz="2400" spc="-10" dirty="0">
                <a:cs typeface="Carlito"/>
              </a:rPr>
              <a:t>.</a:t>
            </a:r>
            <a:endParaRPr sz="2400" dirty="0"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526465"/>
            <a:ext cx="797750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002060"/>
                </a:solidFill>
                <a:latin typeface="+mn-lt"/>
                <a:cs typeface="Carlito"/>
              </a:rPr>
              <a:t>ACUTE BACTERIAL</a:t>
            </a:r>
            <a:r>
              <a:rPr sz="3600" b="1" spc="-40" dirty="0">
                <a:solidFill>
                  <a:srgbClr val="002060"/>
                </a:solidFill>
                <a:latin typeface="+mn-lt"/>
                <a:cs typeface="Carlito"/>
              </a:rPr>
              <a:t> </a:t>
            </a:r>
            <a:r>
              <a:rPr sz="3600" b="1" dirty="0">
                <a:solidFill>
                  <a:srgbClr val="002060"/>
                </a:solidFill>
                <a:latin typeface="+mn-lt"/>
                <a:cs typeface="Carlito"/>
              </a:rPr>
              <a:t>RHINOSINUSITIS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517269"/>
            <a:ext cx="8453120" cy="41493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3000" b="1" spc="-15" dirty="0" smtClean="0">
                <a:solidFill>
                  <a:srgbClr val="6F2F9F"/>
                </a:solidFill>
                <a:latin typeface="Carlito"/>
                <a:cs typeface="Carlito"/>
              </a:rPr>
              <a:t>S</a:t>
            </a:r>
            <a:r>
              <a:rPr lang="en-US" sz="3000" b="1" spc="-15" dirty="0" smtClean="0">
                <a:solidFill>
                  <a:srgbClr val="6F2F9F"/>
                </a:solidFill>
                <a:latin typeface="Carlito"/>
                <a:cs typeface="Carlito"/>
              </a:rPr>
              <a:t>urgery:</a:t>
            </a: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400" spc="-5" dirty="0" smtClean="0">
                <a:cs typeface="Carlito"/>
              </a:rPr>
              <a:t>The </a:t>
            </a:r>
            <a:r>
              <a:rPr sz="2400" spc="-15" dirty="0">
                <a:cs typeface="Carlito"/>
              </a:rPr>
              <a:t>surgery </a:t>
            </a:r>
            <a:r>
              <a:rPr sz="2400" dirty="0">
                <a:cs typeface="Carlito"/>
              </a:rPr>
              <a:t>is </a:t>
            </a:r>
            <a:r>
              <a:rPr sz="2400" spc="-10" dirty="0">
                <a:cs typeface="Carlito"/>
              </a:rPr>
              <a:t>reserved </a:t>
            </a:r>
            <a:r>
              <a:rPr sz="2400" spc="-25" dirty="0">
                <a:cs typeface="Carlito"/>
              </a:rPr>
              <a:t>for </a:t>
            </a:r>
            <a:r>
              <a:rPr sz="2400" spc="-10" dirty="0">
                <a:cs typeface="Carlito"/>
              </a:rPr>
              <a:t>patients </a:t>
            </a:r>
            <a:r>
              <a:rPr sz="2400" dirty="0">
                <a:cs typeface="Carlito"/>
              </a:rPr>
              <a:t>with </a:t>
            </a:r>
            <a:r>
              <a:rPr sz="2400" spc="-15" dirty="0" smtClean="0">
                <a:cs typeface="Carlito"/>
              </a:rPr>
              <a:t>threatened</a:t>
            </a:r>
            <a:r>
              <a:rPr lang="en-US" sz="2400" spc="-15" dirty="0" smtClean="0">
                <a:cs typeface="Carlito"/>
              </a:rPr>
              <a:t> </a:t>
            </a:r>
            <a:r>
              <a:rPr sz="2400" spc="-15" dirty="0" err="1" smtClean="0">
                <a:cs typeface="Carlito"/>
              </a:rPr>
              <a:t>intraorbital</a:t>
            </a:r>
            <a:r>
              <a:rPr sz="2400" spc="-15" dirty="0" smtClean="0">
                <a:cs typeface="Carlito"/>
              </a:rPr>
              <a:t> </a:t>
            </a:r>
            <a:r>
              <a:rPr sz="2400" spc="-5" dirty="0">
                <a:cs typeface="Carlito"/>
              </a:rPr>
              <a:t>or </a:t>
            </a:r>
            <a:r>
              <a:rPr sz="2400" spc="-15" dirty="0">
                <a:cs typeface="Carlito"/>
              </a:rPr>
              <a:t>intracranial</a:t>
            </a:r>
            <a:r>
              <a:rPr sz="2400" dirty="0">
                <a:cs typeface="Carlito"/>
              </a:rPr>
              <a:t> </a:t>
            </a:r>
            <a:r>
              <a:rPr sz="2400" spc="-10" dirty="0">
                <a:cs typeface="Carlito"/>
              </a:rPr>
              <a:t>complications.</a:t>
            </a:r>
            <a:endParaRPr sz="2400" dirty="0">
              <a:cs typeface="Carlito"/>
            </a:endParaRPr>
          </a:p>
          <a:p>
            <a:pPr marL="355600" marR="157480" indent="-342900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cs typeface="Carlito"/>
              </a:rPr>
              <a:t>The </a:t>
            </a:r>
            <a:r>
              <a:rPr sz="2400" spc="-15" dirty="0">
                <a:cs typeface="Carlito"/>
              </a:rPr>
              <a:t>reported </a:t>
            </a:r>
            <a:r>
              <a:rPr sz="2400" spc="-5" dirty="0">
                <a:cs typeface="Carlito"/>
              </a:rPr>
              <a:t>success of endoscopic sinus </a:t>
            </a:r>
            <a:r>
              <a:rPr sz="2400" spc="-15" dirty="0">
                <a:cs typeface="Carlito"/>
              </a:rPr>
              <a:t>surgery </a:t>
            </a:r>
            <a:r>
              <a:rPr sz="2400" dirty="0" smtClean="0">
                <a:cs typeface="Carlito"/>
              </a:rPr>
              <a:t>is</a:t>
            </a:r>
            <a:r>
              <a:rPr lang="en-US" sz="2400" dirty="0" smtClean="0">
                <a:cs typeface="Carlito"/>
              </a:rPr>
              <a:t> </a:t>
            </a:r>
            <a:r>
              <a:rPr sz="2400" dirty="0" smtClean="0">
                <a:cs typeface="Carlito"/>
              </a:rPr>
              <a:t>about</a:t>
            </a:r>
            <a:r>
              <a:rPr sz="2400" spc="-15" dirty="0" smtClean="0">
                <a:cs typeface="Carlito"/>
              </a:rPr>
              <a:t> </a:t>
            </a:r>
            <a:r>
              <a:rPr sz="2400" dirty="0">
                <a:cs typeface="Carlito"/>
              </a:rPr>
              <a:t>80–90%.</a:t>
            </a:r>
          </a:p>
          <a:p>
            <a:pPr marL="440690" indent="-42862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sz="2400" dirty="0">
                <a:cs typeface="Carlito"/>
              </a:rPr>
              <a:t>It is </a:t>
            </a:r>
            <a:r>
              <a:rPr sz="2400" spc="-15" dirty="0">
                <a:cs typeface="Carlito"/>
              </a:rPr>
              <a:t>indicated </a:t>
            </a:r>
            <a:r>
              <a:rPr sz="2400" spc="-10" dirty="0">
                <a:cs typeface="Carlito"/>
              </a:rPr>
              <a:t>in </a:t>
            </a:r>
            <a:r>
              <a:rPr lang="en-US" sz="2400" spc="-10" dirty="0" smtClean="0">
                <a:cs typeface="Carlito"/>
              </a:rPr>
              <a:t>the </a:t>
            </a:r>
            <a:r>
              <a:rPr sz="2400" spc="-15" dirty="0" smtClean="0">
                <a:cs typeface="Carlito"/>
              </a:rPr>
              <a:t>following</a:t>
            </a:r>
            <a:r>
              <a:rPr sz="2400" dirty="0" smtClean="0">
                <a:cs typeface="Carlito"/>
              </a:rPr>
              <a:t> </a:t>
            </a:r>
            <a:r>
              <a:rPr sz="2400" spc="-5" dirty="0">
                <a:cs typeface="Carlito"/>
              </a:rPr>
              <a:t>conditions:</a:t>
            </a:r>
            <a:endParaRPr sz="2400" dirty="0">
              <a:cs typeface="Carlito"/>
            </a:endParaRPr>
          </a:p>
          <a:p>
            <a:pPr marL="926465" lvl="1">
              <a:lnSpc>
                <a:spcPct val="100000"/>
              </a:lnSpc>
              <a:spcBef>
                <a:spcPts val="360"/>
              </a:spcBef>
              <a:tabLst>
                <a:tab pos="1203325" algn="l"/>
              </a:tabLst>
            </a:pPr>
            <a:r>
              <a:rPr lang="en-US" sz="2400" spc="-25" dirty="0" smtClean="0">
                <a:cs typeface="Carlito"/>
              </a:rPr>
              <a:t>-</a:t>
            </a:r>
            <a:r>
              <a:rPr sz="2400" spc="-25" dirty="0" smtClean="0">
                <a:cs typeface="Carlito"/>
              </a:rPr>
              <a:t>Persistent </a:t>
            </a:r>
            <a:r>
              <a:rPr sz="2400" spc="-10" dirty="0">
                <a:cs typeface="Carlito"/>
              </a:rPr>
              <a:t>disease </a:t>
            </a:r>
            <a:r>
              <a:rPr sz="2400" spc="-15" dirty="0">
                <a:cs typeface="Carlito"/>
              </a:rPr>
              <a:t>despite </a:t>
            </a:r>
            <a:r>
              <a:rPr sz="2400" spc="-10" dirty="0">
                <a:cs typeface="Carlito"/>
              </a:rPr>
              <a:t>medical</a:t>
            </a:r>
            <a:r>
              <a:rPr sz="2400" spc="40" dirty="0">
                <a:cs typeface="Carlito"/>
              </a:rPr>
              <a:t> </a:t>
            </a:r>
            <a:r>
              <a:rPr sz="2400" spc="-40" dirty="0">
                <a:cs typeface="Carlito"/>
              </a:rPr>
              <a:t>therapy.</a:t>
            </a:r>
            <a:endParaRPr sz="2400" dirty="0">
              <a:cs typeface="Carlito"/>
            </a:endParaRPr>
          </a:p>
          <a:p>
            <a:pPr marL="927100" marR="5080" lvl="1">
              <a:lnSpc>
                <a:spcPct val="90000"/>
              </a:lnSpc>
              <a:spcBef>
                <a:spcPts val="720"/>
              </a:spcBef>
              <a:tabLst>
                <a:tab pos="1203325" algn="l"/>
              </a:tabLst>
            </a:pPr>
            <a:r>
              <a:rPr lang="en-US" sz="2400" spc="-15" dirty="0" smtClean="0">
                <a:cs typeface="Carlito"/>
              </a:rPr>
              <a:t>-</a:t>
            </a:r>
            <a:r>
              <a:rPr sz="2400" spc="-15" dirty="0" smtClean="0">
                <a:cs typeface="Carlito"/>
              </a:rPr>
              <a:t>Recurrent </a:t>
            </a:r>
            <a:r>
              <a:rPr sz="2400" spc="-20" dirty="0">
                <a:cs typeface="Carlito"/>
              </a:rPr>
              <a:t>RS </a:t>
            </a:r>
            <a:r>
              <a:rPr sz="2400" dirty="0">
                <a:cs typeface="Carlito"/>
              </a:rPr>
              <a:t>with </a:t>
            </a:r>
            <a:r>
              <a:rPr sz="2400" spc="-5" dirty="0">
                <a:cs typeface="Carlito"/>
              </a:rPr>
              <a:t>identifiable </a:t>
            </a:r>
            <a:r>
              <a:rPr sz="2400" dirty="0">
                <a:cs typeface="Carlito"/>
              </a:rPr>
              <a:t>and </a:t>
            </a:r>
            <a:r>
              <a:rPr sz="2400" spc="-15" dirty="0" smtClean="0">
                <a:cs typeface="Carlito"/>
              </a:rPr>
              <a:t>related</a:t>
            </a:r>
            <a:r>
              <a:rPr lang="en-US" sz="2400" spc="-15" dirty="0" smtClean="0">
                <a:cs typeface="Carlito"/>
              </a:rPr>
              <a:t> </a:t>
            </a:r>
            <a:r>
              <a:rPr sz="2400" spc="-10" dirty="0" smtClean="0">
                <a:cs typeface="Carlito"/>
              </a:rPr>
              <a:t>anatomical </a:t>
            </a:r>
            <a:r>
              <a:rPr sz="2400" spc="-5" dirty="0">
                <a:cs typeface="Carlito"/>
              </a:rPr>
              <a:t>or </a:t>
            </a:r>
            <a:r>
              <a:rPr sz="2400" spc="-10" dirty="0">
                <a:cs typeface="Carlito"/>
              </a:rPr>
              <a:t>acute </a:t>
            </a:r>
            <a:r>
              <a:rPr sz="2400" spc="-5" dirty="0" smtClean="0">
                <a:cs typeface="Carlito"/>
              </a:rPr>
              <a:t>pathological</a:t>
            </a:r>
            <a:r>
              <a:rPr lang="en-US" sz="2400" spc="-5" dirty="0" smtClean="0">
                <a:cs typeface="Carlito"/>
              </a:rPr>
              <a:t> </a:t>
            </a:r>
            <a:r>
              <a:rPr sz="2400" spc="-5" dirty="0" smtClean="0">
                <a:cs typeface="Carlito"/>
              </a:rPr>
              <a:t>abnormalities </a:t>
            </a:r>
            <a:r>
              <a:rPr sz="2400" dirty="0">
                <a:cs typeface="Carlito"/>
              </a:rPr>
              <a:t>in the </a:t>
            </a:r>
            <a:r>
              <a:rPr sz="2400" spc="-15" dirty="0" err="1" smtClean="0">
                <a:cs typeface="Carlito"/>
              </a:rPr>
              <a:t>osteomeatal</a:t>
            </a:r>
            <a:r>
              <a:rPr sz="2400" spc="-55" dirty="0" smtClean="0">
                <a:cs typeface="Carlito"/>
              </a:rPr>
              <a:t> </a:t>
            </a:r>
            <a:r>
              <a:rPr sz="2400" spc="-15" dirty="0">
                <a:cs typeface="Carlito"/>
              </a:rPr>
              <a:t>complex.</a:t>
            </a:r>
            <a:endParaRPr sz="2400" dirty="0"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</TotalTime>
  <Words>955</Words>
  <Application>Microsoft Office PowerPoint</Application>
  <PresentationFormat>On-screen Show (4:3)</PresentationFormat>
  <Paragraphs>133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ＭＳ Ｐゴシック</vt:lpstr>
      <vt:lpstr>Arial</vt:lpstr>
      <vt:lpstr>Calibri</vt:lpstr>
      <vt:lpstr>Calibri Light</vt:lpstr>
      <vt:lpstr>Carlito</vt:lpstr>
      <vt:lpstr>Times New Roman</vt:lpstr>
      <vt:lpstr>Office Theme</vt:lpstr>
      <vt:lpstr>PowerPoint Presentation</vt:lpstr>
      <vt:lpstr>DEFINITION</vt:lpstr>
      <vt:lpstr>TYPES OF RHINOSINUSITIS</vt:lpstr>
      <vt:lpstr>PowerPoint Presentation</vt:lpstr>
      <vt:lpstr>Acute Rhinosinusitis(ARS)</vt:lpstr>
      <vt:lpstr>Predisposing factors to ARS</vt:lpstr>
      <vt:lpstr>ACUT VIRAL RHINOSINUSITIS  (COMMON COLD)</vt:lpstr>
      <vt:lpstr>Pathophysiology </vt:lpstr>
      <vt:lpstr>ACUTE VIRAL RHINOSINUSITIS</vt:lpstr>
      <vt:lpstr>ACUTE VIRAL RHINOSINUSITIS</vt:lpstr>
      <vt:lpstr>ACUTE BACTERIAL RHINOSINUSITIS</vt:lpstr>
      <vt:lpstr>ACUTE BACTERIAL RHINOSINUSITIS</vt:lpstr>
      <vt:lpstr> Symptoms Or Signs for Acute Bacterial Rhinosinusitis</vt:lpstr>
      <vt:lpstr>ACUTE BACTERIAL RHINOSINUSITIS</vt:lpstr>
      <vt:lpstr>Complication of sinusitis</vt:lpstr>
      <vt:lpstr>INVESTIGATIONS</vt:lpstr>
      <vt:lpstr>PowerPoint Presentation</vt:lpstr>
      <vt:lpstr>PowerPoint Presentation</vt:lpstr>
      <vt:lpstr>XRAY PARANASAL SINUSES</vt:lpstr>
      <vt:lpstr>XRAY PARANASAL SINUSES</vt:lpstr>
      <vt:lpstr>PowerPoint Presentation</vt:lpstr>
      <vt:lpstr>ACUTE BACTERIAL RHINOSINUSITIS</vt:lpstr>
      <vt:lpstr>ACUTE BACTERIAL RHINOSINUSITIS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32</cp:revision>
  <dcterms:created xsi:type="dcterms:W3CDTF">2022-09-21T16:31:31Z</dcterms:created>
  <dcterms:modified xsi:type="dcterms:W3CDTF">2025-10-11T15:50:58Z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2022-09-21T00:00:00Z</vt:filetime>
  </property>
</Properties>
</file>