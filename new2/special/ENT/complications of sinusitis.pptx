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302" r:id="rId4"/>
    <p:sldId id="303" r:id="rId5"/>
    <p:sldId id="304" r:id="rId6"/>
    <p:sldId id="305" r:id="rId7"/>
    <p:sldId id="260" r:id="rId8"/>
    <p:sldId id="281" r:id="rId9"/>
    <p:sldId id="306" r:id="rId10"/>
    <p:sldId id="262" r:id="rId11"/>
    <p:sldId id="263" r:id="rId12"/>
    <p:sldId id="266" r:id="rId13"/>
    <p:sldId id="271" r:id="rId14"/>
    <p:sldId id="272" r:id="rId15"/>
    <p:sldId id="264" r:id="rId16"/>
    <p:sldId id="265" r:id="rId17"/>
    <p:sldId id="273" r:id="rId18"/>
    <p:sldId id="267" r:id="rId19"/>
    <p:sldId id="268" r:id="rId20"/>
    <p:sldId id="269" r:id="rId21"/>
    <p:sldId id="283" r:id="rId22"/>
    <p:sldId id="270" r:id="rId23"/>
    <p:sldId id="307" r:id="rId24"/>
    <p:sldId id="275" r:id="rId25"/>
    <p:sldId id="284" r:id="rId26"/>
    <p:sldId id="276" r:id="rId27"/>
    <p:sldId id="285" r:id="rId28"/>
    <p:sldId id="286" r:id="rId29"/>
    <p:sldId id="277" r:id="rId30"/>
    <p:sldId id="287" r:id="rId31"/>
    <p:sldId id="289" r:id="rId32"/>
    <p:sldId id="288" r:id="rId33"/>
    <p:sldId id="290" r:id="rId34"/>
    <p:sldId id="291" r:id="rId35"/>
    <p:sldId id="292" r:id="rId36"/>
    <p:sldId id="293" r:id="rId37"/>
    <p:sldId id="294" r:id="rId38"/>
    <p:sldId id="282" r:id="rId39"/>
    <p:sldId id="296" r:id="rId40"/>
    <p:sldId id="297" r:id="rId41"/>
    <p:sldId id="298" r:id="rId42"/>
    <p:sldId id="299" r:id="rId43"/>
    <p:sldId id="300" r:id="rId44"/>
    <p:sldId id="301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88" autoAdjust="0"/>
  </p:normalViewPr>
  <p:slideViewPr>
    <p:cSldViewPr>
      <p:cViewPr varScale="1">
        <p:scale>
          <a:sx n="71" d="100"/>
          <a:sy n="71" d="100"/>
        </p:scale>
        <p:origin x="171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842B8-316F-43BE-B19F-2D2360DCC415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81C06-4743-4C4B-BA42-3DF765652B7C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diploeic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veins of the frontal and sphenoid bones. Direct extension occurs through congenital bony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dehiscences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open suture lines or</a:t>
            </a:r>
          </a:p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foramina, or by erosion through bony barriers (e.g.,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laminapapyracea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(a)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preseptal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inflammation: (b) orbital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cellulitis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(c) orbital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cellulitis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with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subperiosteal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(extra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periosteal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abscess;(d) orbital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cellulitis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with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intraperiosteal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abscess. (e) cavernous sinus thrombosis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dirty="0" smtClean="0"/>
              <a:t>1.No change in extra-ocular movement or an</a:t>
            </a:r>
            <a:r>
              <a:rPr lang="en-GB" sz="1200" baseline="0" dirty="0" smtClean="0"/>
              <a:t> </a:t>
            </a:r>
            <a:r>
              <a:rPr lang="en-GB" sz="1200" dirty="0" smtClean="0"/>
              <a:t>impairment of vision, 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 problems may be present if the problem is stage three (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subperiosteal</a:t>
            </a:r>
            <a:endParaRPr lang="en-GB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abscess) or beyond, and specific enquiries should be made regarding visual acuity and colour vision, problems which might indicate a compromise of optic nerve function.</a:t>
            </a:r>
            <a:endParaRPr lang="en-GB" sz="1200" dirty="0" smtClean="0"/>
          </a:p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2.IV broad-spectrum antibiotics and hospital observation ,Warm compresses Facilitate sinus drainage, Nasal decongestants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Mucolytics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 Saline irrigations</a:t>
            </a:r>
            <a:endParaRPr lang="en-GB" sz="1200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1.orbital pain</a:t>
            </a:r>
            <a:r>
              <a:rPr lang="en-GB" baseline="0" dirty="0" smtClean="0"/>
              <a:t> -</a:t>
            </a:r>
            <a:r>
              <a:rPr lang="en-GB" dirty="0" smtClean="0"/>
              <a:t>85 to 89%. Formal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assessment colour vision, eye movement, visual acuity should be repeated daily. In cases of increased concern six-hourly monitoring of the full range of eye movements, visual acuity and colour vision should be undertaken in conjunction with regular temp &amp; Pulse. If intracranial complications are found, hourly neurological monitoring is likely to be appropriate.</a:t>
            </a:r>
          </a:p>
          <a:p>
            <a:r>
              <a:rPr lang="en-GB" dirty="0" smtClean="0"/>
              <a:t>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Sepahdari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 al examined the use of diffusion weighted imaging (DWI) MRI in the diagnosis of orbital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cellulitis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abscess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11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1.Diffuse enhancement of the left orbit consistent with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cellulitis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secondary to sinusitis (coronal T1-weighted MRI)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12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dirty="0" smtClean="0"/>
              <a:t>1.until the patient is </a:t>
            </a:r>
            <a:r>
              <a:rPr lang="en-GB" sz="1200" dirty="0" err="1" smtClean="0"/>
              <a:t>afebrile</a:t>
            </a:r>
            <a:r>
              <a:rPr lang="en-GB" sz="1200" dirty="0" smtClean="0"/>
              <a:t> and skin changes such as lid </a:t>
            </a:r>
            <a:r>
              <a:rPr lang="en-GB" sz="1200" dirty="0" err="1" smtClean="0"/>
              <a:t>edema</a:t>
            </a:r>
            <a:r>
              <a:rPr lang="en-GB" sz="1200" dirty="0" smtClean="0"/>
              <a:t> and </a:t>
            </a:r>
            <a:r>
              <a:rPr lang="en-GB" sz="1200" dirty="0" err="1" smtClean="0"/>
              <a:t>erythema</a:t>
            </a:r>
            <a:r>
              <a:rPr lang="en-GB" sz="1200" dirty="0" smtClean="0"/>
              <a:t> have resolved, typically 3 to 5 days. 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Facilitate sinus drainage</a:t>
            </a:r>
          </a:p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 Nasal decongestants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Mucolytics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 Saline irrigations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13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1.pushing the</a:t>
            </a:r>
            <a:r>
              <a:rPr lang="en-GB" baseline="0" dirty="0" smtClean="0"/>
              <a:t> </a:t>
            </a:r>
            <a:r>
              <a:rPr lang="en-GB" dirty="0" smtClean="0"/>
              <a:t>orbital contents inferiorly and laterally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15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>
              <a:buNone/>
            </a:pP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Axial CT- associated left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proptosis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enlargement of the left medial rectus muscle, and left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ethmoid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opacification</a:t>
            </a:r>
            <a:endParaRPr lang="en-GB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With advancing infection, ocular mobility and visual acuity are affected, and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chemosis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develops. The abscess may penetrate through the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periosteum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into the orbit or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anteriorly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into the eyelid.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16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 be treated medically in 50-67%, Combined treatment 95-100% Meta-analysis cure rate 26-93% (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Coenraad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2009). Approaches External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ethmoidectomy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(Lynch incision) is most preferred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Transcaruncular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approach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17</a:t>
            </a:fld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proptosis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 limitation of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extraocular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movement,and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visual loss.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18</a:t>
            </a:fld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(coronal T1-weighted MRI post- gadolinium) diffuse enhancement of the left orbit (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cellulitis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with a low density area (fluid) within the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inferolateral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orbit consistent with an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intraorbital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abscess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19</a:t>
            </a:fld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Animal experiments have demonstrated that visual loss may be irreversible if retinal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ischaemic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time exceeds 100 minutes. Progress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ophalmo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-lateral gaze affected first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20</a:t>
            </a:fld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MRI findings of heterogeneity and increased size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21</a:t>
            </a:fld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Following surgery, a prolonged course (6 weeks) of culture-directed antibiotic therapy.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22</a:t>
            </a:fld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1.osteomyelitis and subsequent erosion, If infection reaches the subdural space- spreads convexities of the brain because of the lack of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septations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The implantation of the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arachnoid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granules-barrier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24</a:t>
            </a:fld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25</a:t>
            </a:fld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Common signs and symptoms Fever (92%) Headache (85%) Nausea, vomiting (62%) Altered consciousness (31%), seizure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26</a:t>
            </a:fld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Usually amenable with medical treatment Drain sinuses if no improvement after 48 hours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27</a:t>
            </a:fld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Symptoms, Crescent-shaped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hypodensity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CT. It typically occurs just posterior to the frontal sinus, where free venous communication and loose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dura</a:t>
            </a:r>
            <a:endParaRPr lang="en-GB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predispose it to abscess formation between the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dura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the cranial vault.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28</a:t>
            </a:fld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Subdural </a:t>
            </a:r>
            <a:r>
              <a:rPr lang="en-GB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empyemas</a:t>
            </a:r>
            <a:r>
              <a:rPr lang="en-GB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(41 to 67%) result from sinusitis. </a:t>
            </a:r>
            <a:r>
              <a:rPr lang="pt-B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Extradural empyema of (L) planum sphenoidale.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29</a:t>
            </a:fld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0" dirty="0" smtClean="0"/>
              <a:t>antibiotics for 4-8</a:t>
            </a:r>
            <a:r>
              <a:rPr lang="en-GB" b="0" baseline="0" dirty="0" smtClean="0"/>
              <a:t> </a:t>
            </a:r>
            <a:r>
              <a:rPr lang="en-GB" b="0" dirty="0" smtClean="0"/>
              <a:t>weeks; usually </a:t>
            </a:r>
            <a:r>
              <a:rPr lang="en-GB" b="0" dirty="0" err="1" smtClean="0"/>
              <a:t>vancomycin</a:t>
            </a:r>
            <a:r>
              <a:rPr lang="en-GB" b="0" dirty="0" smtClean="0"/>
              <a:t> and 3rd or 4</a:t>
            </a:r>
            <a:r>
              <a:rPr lang="en-GB" b="0" baseline="30000" dirty="0" smtClean="0"/>
              <a:t>th</a:t>
            </a:r>
            <a:r>
              <a:rPr lang="en-GB" b="0" baseline="0" dirty="0" smtClean="0"/>
              <a:t> </a:t>
            </a:r>
            <a:r>
              <a:rPr lang="en-GB" b="0" dirty="0" smtClean="0"/>
              <a:t>generation cephalosporin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30</a:t>
            </a:fld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err="1" smtClean="0"/>
              <a:t>Hemiparesis</a:t>
            </a:r>
            <a:r>
              <a:rPr lang="en-GB" dirty="0" smtClean="0"/>
              <a:t> Lethargy, coma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31</a:t>
            </a:fld>
            <a:endParaRPr 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Antibiotic 6-8 weeks; typically </a:t>
            </a:r>
            <a:r>
              <a:rPr lang="en-GB" sz="1200" b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ceftriaxone</a:t>
            </a:r>
            <a:r>
              <a:rPr lang="en-GB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GB" sz="1200" b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vancomycin</a:t>
            </a:r>
            <a:r>
              <a:rPr lang="en-GB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or </a:t>
            </a:r>
            <a:r>
              <a:rPr lang="en-GB" sz="1200" b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nafcillin</a:t>
            </a:r>
            <a:r>
              <a:rPr lang="en-GB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</a:t>
            </a:r>
            <a:r>
              <a:rPr lang="en-GB" sz="1200" b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metronidazole</a:t>
            </a:r>
            <a:r>
              <a:rPr lang="en-GB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Corticosteroid use is controversial. Steroids can retard the encapsulation process, increase necrosis, reduce antibiotic penetration</a:t>
            </a:r>
            <a:endParaRPr lang="en-GB" b="0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37</a:t>
            </a:fld>
            <a:endParaRPr lang="en-GB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Heparin inpatient, </a:t>
            </a:r>
            <a:r>
              <a:rPr lang="en-GB" dirty="0" err="1" smtClean="0"/>
              <a:t>warfarin</a:t>
            </a:r>
            <a:r>
              <a:rPr lang="en-GB" dirty="0" smtClean="0"/>
              <a:t> outpatient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39</a:t>
            </a:fld>
            <a:endParaRPr lang="en-GB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Sir </a:t>
            </a:r>
            <a:r>
              <a:rPr lang="en-GB" sz="1200" b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Percivall</a:t>
            </a:r>
            <a:r>
              <a:rPr lang="en-GB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b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Pott</a:t>
            </a:r>
            <a:r>
              <a:rPr lang="en-GB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described </a:t>
            </a:r>
            <a:r>
              <a:rPr lang="en-GB" sz="1200" b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Pott's</a:t>
            </a:r>
            <a:r>
              <a:rPr lang="en-GB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Puffy </a:t>
            </a:r>
            <a:r>
              <a:rPr lang="en-GB" sz="1200" b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tumor</a:t>
            </a:r>
            <a:r>
              <a:rPr lang="en-GB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1768 as a local </a:t>
            </a:r>
            <a:r>
              <a:rPr lang="en-GB" sz="1200" b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subperiosteal</a:t>
            </a:r>
            <a:r>
              <a:rPr lang="en-GB" sz="12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abscess due to frontal bone suppuration resulting from trauma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40</a:t>
            </a:fld>
            <a:endParaRPr lang="en-GB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Headache Fever Neurologic findings </a:t>
            </a:r>
            <a:r>
              <a:rPr lang="en-GB" dirty="0" err="1" smtClean="0"/>
              <a:t>Periorbital</a:t>
            </a:r>
            <a:r>
              <a:rPr lang="en-GB" dirty="0" smtClean="0"/>
              <a:t> or frontal swelling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81C06-4743-4C4B-BA42-3DF765652B7C}" type="slidenum">
              <a:rPr lang="en-GB" smtClean="0"/>
              <a:pPr/>
              <a:t>41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3075-D964-4AC9-9870-9A0B14B92BCD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64DA-2F65-483D-ABD3-9C83EBCD5B1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3075-D964-4AC9-9870-9A0B14B92BCD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64DA-2F65-483D-ABD3-9C83EBCD5B1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3075-D964-4AC9-9870-9A0B14B92BCD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64DA-2F65-483D-ABD3-9C83EBCD5B1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3075-D964-4AC9-9870-9A0B14B92BCD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64DA-2F65-483D-ABD3-9C83EBCD5B1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3075-D964-4AC9-9870-9A0B14B92BCD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64DA-2F65-483D-ABD3-9C83EBCD5B1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3075-D964-4AC9-9870-9A0B14B92BCD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64DA-2F65-483D-ABD3-9C83EBCD5B1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3075-D964-4AC9-9870-9A0B14B92BCD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64DA-2F65-483D-ABD3-9C83EBCD5B1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3075-D964-4AC9-9870-9A0B14B92BCD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64DA-2F65-483D-ABD3-9C83EBCD5B1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3075-D964-4AC9-9870-9A0B14B92BCD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64DA-2F65-483D-ABD3-9C83EBCD5B1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3075-D964-4AC9-9870-9A0B14B92BCD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64DA-2F65-483D-ABD3-9C83EBCD5B1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73075-D964-4AC9-9870-9A0B14B92BCD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64DA-2F65-483D-ABD3-9C83EBCD5B1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73075-D964-4AC9-9870-9A0B14B92BCD}" type="datetimeFigureOut">
              <a:rPr lang="en-US" smtClean="0"/>
              <a:pPr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64DA-2F65-483D-ABD3-9C83EBCD5B1A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 smtClean="0"/>
              <a:t>COMPLICATIONS OF SINUSITIS</a:t>
            </a:r>
            <a:endParaRPr lang="en-GB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63500" lvl="0" defTabSz="68580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</a:pPr>
            <a:r>
              <a:rPr lang="en-US" altLang="en-US" sz="2000" b="1" dirty="0" err="1">
                <a:solidFill>
                  <a:prstClr val="black"/>
                </a:solidFill>
                <a:ea typeface="ＭＳ Ｐゴシック" panose="020B0600070205080204" pitchFamily="34" charset="-128"/>
              </a:rPr>
              <a:t>Dr.Haval</a:t>
            </a:r>
            <a:r>
              <a:rPr lang="en-US" altLang="en-US" sz="2000" b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 Ahmed Hama</a:t>
            </a:r>
          </a:p>
          <a:p>
            <a:pPr marL="63500" lvl="0" defTabSz="68580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</a:pPr>
            <a:r>
              <a:rPr lang="en-US" altLang="en-US" sz="2000" dirty="0" err="1">
                <a:solidFill>
                  <a:prstClr val="black"/>
                </a:solidFill>
                <a:ea typeface="ＭＳ Ｐゴシック" panose="020B0600070205080204" pitchFamily="34" charset="-128"/>
              </a:rPr>
              <a:t>MBChB</a:t>
            </a: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, F.K.B.M.S </a:t>
            </a:r>
          </a:p>
          <a:p>
            <a:pPr marL="63500" lvl="0" defTabSz="68580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</a:pP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(Otolaryngology, Head and Neck Surgeon)</a:t>
            </a:r>
          </a:p>
          <a:p>
            <a:pPr marL="63500" lvl="0" defTabSz="68580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</a:pP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University of </a:t>
            </a:r>
            <a:r>
              <a:rPr lang="en-US" altLang="en-US" sz="2000" dirty="0" err="1">
                <a:solidFill>
                  <a:prstClr val="black"/>
                </a:solidFill>
              </a:rPr>
              <a:t>Sulaymaniyah</a:t>
            </a: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, College of Medicine.</a:t>
            </a:r>
          </a:p>
          <a:p>
            <a:pPr marL="63500" lvl="0" defTabSz="68580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</a:pPr>
            <a:r>
              <a:rPr lang="en-US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Branch Of Clinical Science.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/>
              <a:t>Sinusitis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Definition of Complications of sinusitis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Classification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Clinical features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Diagnosis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Investigations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Treatment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Definition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dirty="0" smtClean="0"/>
              <a:t>    </a:t>
            </a:r>
            <a:endParaRPr lang="en-GB" dirty="0" smtClean="0"/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A </a:t>
            </a:r>
            <a:r>
              <a:rPr lang="en-GB" sz="2800" dirty="0" smtClean="0"/>
              <a:t>complication of rhino-sinusitis may be defined as any adverse progression of chronic or acute bacterial infection beyond the paranasal </a:t>
            </a:r>
            <a:r>
              <a:rPr lang="en-GB" sz="2800" dirty="0" smtClean="0"/>
              <a:t>sinuses</a:t>
            </a:r>
            <a:endParaRPr lang="en-GB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CLASSIFICATION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GB" sz="2800" b="1" u="sng" dirty="0" smtClean="0"/>
              <a:t>Acute:-</a:t>
            </a:r>
            <a:endParaRPr lang="en-GB" sz="2800" b="1" u="sng" dirty="0" smtClean="0"/>
          </a:p>
          <a:p>
            <a:pPr marL="514350" indent="-514350">
              <a:lnSpc>
                <a:spcPct val="150000"/>
              </a:lnSpc>
              <a:buAutoNum type="alphaLcParenBoth"/>
            </a:pPr>
            <a:r>
              <a:rPr lang="en-GB" sz="2800" dirty="0" smtClean="0"/>
              <a:t> Local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GB" sz="2800" dirty="0" smtClean="0"/>
              <a:t>       </a:t>
            </a:r>
            <a:r>
              <a:rPr lang="en-GB" sz="2800" dirty="0" smtClean="0"/>
              <a:t>Frontal sinus----Pott’s </a:t>
            </a:r>
            <a:r>
              <a:rPr lang="en-GB" sz="2800" dirty="0" smtClean="0"/>
              <a:t>puffy </a:t>
            </a:r>
            <a:r>
              <a:rPr lang="en-GB" sz="2800" dirty="0" err="1" smtClean="0"/>
              <a:t>tumor</a:t>
            </a:r>
            <a:endParaRPr lang="en-GB" sz="2800" dirty="0" smtClean="0"/>
          </a:p>
          <a:p>
            <a:pPr marL="514350" indent="-514350">
              <a:lnSpc>
                <a:spcPct val="150000"/>
              </a:lnSpc>
              <a:buNone/>
            </a:pPr>
            <a:r>
              <a:rPr lang="en-GB" sz="2800" dirty="0" smtClean="0"/>
              <a:t>       </a:t>
            </a:r>
            <a:r>
              <a:rPr lang="en-GB" sz="2800" dirty="0" smtClean="0"/>
              <a:t>Ethmoid sinus---- </a:t>
            </a:r>
            <a:r>
              <a:rPr lang="en-GB" sz="2800" dirty="0" smtClean="0"/>
              <a:t>Orbital cellulitis</a:t>
            </a:r>
          </a:p>
          <a:p>
            <a:pPr marL="514350" indent="-514350">
              <a:lnSpc>
                <a:spcPct val="150000"/>
              </a:lnSpc>
              <a:buNone/>
            </a:pPr>
            <a:r>
              <a:rPr lang="en-GB" sz="2800" dirty="0" smtClean="0"/>
              <a:t>       </a:t>
            </a:r>
            <a:r>
              <a:rPr lang="en-GB" sz="2800" dirty="0" smtClean="0"/>
              <a:t>Maxillary– less common</a:t>
            </a:r>
            <a:endParaRPr lang="en-GB" sz="2800" dirty="0" smtClean="0"/>
          </a:p>
          <a:p>
            <a:pPr marL="514350" indent="-514350">
              <a:lnSpc>
                <a:spcPct val="150000"/>
              </a:lnSpc>
              <a:buNone/>
            </a:pPr>
            <a:r>
              <a:rPr lang="en-GB" sz="2800" dirty="0" smtClean="0"/>
              <a:t>       </a:t>
            </a:r>
            <a:r>
              <a:rPr lang="en-GB" sz="2800" dirty="0" smtClean="0"/>
              <a:t>Sphenoid sinus---Cavernous </a:t>
            </a:r>
            <a:r>
              <a:rPr lang="en-GB" sz="2800" dirty="0" smtClean="0"/>
              <a:t>sinus thrombosis 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(b) Distant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     Brain abscess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     Septicaemia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     Toxic shock syndrome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800" u="sng" dirty="0"/>
              <a:t> </a:t>
            </a:r>
            <a:r>
              <a:rPr lang="en-GB" sz="2800" b="1" u="sng" dirty="0" smtClean="0"/>
              <a:t>Chronic:-</a:t>
            </a:r>
            <a:endParaRPr lang="en-GB" sz="2800" b="1" u="sng" dirty="0" smtClean="0"/>
          </a:p>
          <a:p>
            <a:pPr>
              <a:buNone/>
            </a:pPr>
            <a:r>
              <a:rPr lang="en-GB" sz="2800" dirty="0" smtClean="0"/>
              <a:t>      </a:t>
            </a:r>
            <a:r>
              <a:rPr lang="en-GB" sz="2800" dirty="0" err="1" smtClean="0"/>
              <a:t>Mucocoeles</a:t>
            </a:r>
            <a:r>
              <a:rPr lang="en-GB" sz="2800" dirty="0" smtClean="0"/>
              <a:t> </a:t>
            </a:r>
            <a:r>
              <a:rPr lang="en-GB" sz="2800" dirty="0" smtClean="0"/>
              <a:t>&gt; </a:t>
            </a:r>
            <a:r>
              <a:rPr lang="en-GB" sz="2800" dirty="0" smtClean="0"/>
              <a:t>pyocoeles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Clinical classification</a:t>
            </a:r>
            <a:endParaRPr lang="en-GB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285720" y="1071546"/>
          <a:ext cx="8644000" cy="50720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6132">
                <a:tc>
                  <a:txBody>
                    <a:bodyPr/>
                    <a:lstStyle/>
                    <a:p>
                      <a:r>
                        <a:rPr lang="en-GB" dirty="0" smtClean="0"/>
                        <a:t>Orbital </a:t>
                      </a:r>
                      <a:r>
                        <a:rPr lang="en-GB" sz="1800" dirty="0" smtClean="0"/>
                        <a:t>(60-75%)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Intracranial </a:t>
                      </a:r>
                      <a:r>
                        <a:rPr lang="en-GB" sz="1800" dirty="0" smtClean="0"/>
                        <a:t>(15-20%)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Bony </a:t>
                      </a:r>
                      <a:r>
                        <a:rPr lang="en-GB" sz="1800" dirty="0" smtClean="0"/>
                        <a:t>(5-10%)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Chronic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5966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None/>
                      </a:pP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en-GB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Preseptal</a:t>
                      </a: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cellulitis</a:t>
                      </a:r>
                      <a:endParaRPr lang="en-GB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None/>
                      </a:pP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Orbital </a:t>
                      </a:r>
                      <a:r>
                        <a:rPr lang="en-GB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cellulitis</a:t>
                      </a:r>
                      <a:endParaRPr lang="en-GB" sz="18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None/>
                      </a:pP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en-GB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Subperiosteal</a:t>
                      </a: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abscess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None/>
                      </a:pP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 Orbital abscess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None/>
                      </a:pP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 Cavernous sinus thrombosis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Meningitis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GB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EpiduraI</a:t>
                      </a: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abscess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Subdural abscess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AutoNum type="arabicPeriod"/>
                      </a:pPr>
                      <a:r>
                        <a:rPr lang="en-GB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Intracerebral</a:t>
                      </a: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abscess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 Cavernous or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GB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sagittal</a:t>
                      </a: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sinus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thrombosis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Osteomyelitis</a:t>
                      </a: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Pott's</a:t>
                      </a: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puffy tumour)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Mucocoele</a:t>
                      </a:r>
                      <a:r>
                        <a:rPr lang="en-GB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GB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pyocoele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en-GB" b="1" dirty="0" smtClean="0"/>
              <a:t>Orbital Complications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/>
              <a:t>Most commonly involved complication site: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Proximity to </a:t>
            </a:r>
            <a:r>
              <a:rPr lang="en-GB" sz="2800" dirty="0" err="1" smtClean="0"/>
              <a:t>ethmoid</a:t>
            </a:r>
            <a:r>
              <a:rPr lang="en-GB" sz="2800" dirty="0" smtClean="0"/>
              <a:t> sinuses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Orbital septum is the only soft-tissue barrier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err="1" smtClean="0"/>
              <a:t>Valveless</a:t>
            </a:r>
            <a:r>
              <a:rPr lang="en-GB" sz="2800" dirty="0" smtClean="0"/>
              <a:t> superior and inferior ophthalmic veins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Continuum of inflammatory/infectious changes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Direct extension through lamina </a:t>
            </a:r>
            <a:r>
              <a:rPr lang="en-GB" sz="2800" dirty="0" err="1" smtClean="0"/>
              <a:t>papyracea</a:t>
            </a:r>
            <a:endParaRPr lang="en-GB" sz="2800" dirty="0" smtClean="0"/>
          </a:p>
          <a:p>
            <a:pPr>
              <a:buNone/>
            </a:pP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GB" sz="3000" dirty="0" smtClean="0"/>
              <a:t>Impaired venous drainage from </a:t>
            </a:r>
            <a:r>
              <a:rPr lang="en-GB" sz="3000" dirty="0" err="1" smtClean="0"/>
              <a:t>thrombophlebitis</a:t>
            </a:r>
            <a:endParaRPr lang="en-GB" sz="3000" dirty="0" smtClean="0"/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GB" sz="3000" dirty="0" smtClean="0"/>
              <a:t>Progression within 2 days</a:t>
            </a:r>
          </a:p>
          <a:p>
            <a:pPr>
              <a:lnSpc>
                <a:spcPct val="160000"/>
              </a:lnSpc>
            </a:pPr>
            <a:r>
              <a:rPr lang="en-GB" sz="3000" dirty="0" smtClean="0"/>
              <a:t>Children more </a:t>
            </a:r>
            <a:r>
              <a:rPr lang="en-GB" sz="3000" dirty="0" smtClean="0"/>
              <a:t>susceptible?</a:t>
            </a:r>
            <a:endParaRPr lang="en-GB" sz="3000" dirty="0" smtClean="0"/>
          </a:p>
          <a:p>
            <a:pPr marL="0" indent="0">
              <a:lnSpc>
                <a:spcPct val="160000"/>
              </a:lnSpc>
              <a:buNone/>
            </a:pPr>
            <a:endParaRPr lang="en-GB" sz="3000" dirty="0" smtClean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Chandler Classification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642918"/>
            <a:ext cx="4357718" cy="608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7829" y="1214422"/>
            <a:ext cx="3900451" cy="549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100" b="1" dirty="0" err="1">
                <a:latin typeface="+mn-lt"/>
              </a:rPr>
              <a:t>Periorbital</a:t>
            </a:r>
            <a:r>
              <a:rPr lang="en-GB" sz="3100" b="1" dirty="0">
                <a:latin typeface="+mn-lt"/>
              </a:rPr>
              <a:t> </a:t>
            </a:r>
            <a:r>
              <a:rPr lang="en-GB" sz="3100" b="1" dirty="0" err="1">
                <a:latin typeface="+mn-lt"/>
              </a:rPr>
              <a:t>cellulitis</a:t>
            </a:r>
            <a:r>
              <a:rPr lang="en-GB" sz="3100" b="1" dirty="0">
                <a:latin typeface="+mn-lt"/>
              </a:rPr>
              <a:t> </a:t>
            </a:r>
            <a:r>
              <a:rPr lang="en-GB" sz="3100" dirty="0">
                <a:latin typeface="+mn-lt"/>
              </a:rPr>
              <a:t>(Chandler class I</a:t>
            </a:r>
            <a:r>
              <a:rPr lang="en-GB" sz="3100" dirty="0" smtClean="0">
                <a:latin typeface="+mn-lt"/>
              </a:rPr>
              <a:t>)</a:t>
            </a:r>
            <a:endParaRPr lang="en-GB" sz="31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latin typeface="+mn-lt"/>
              </a:rPr>
              <a:t>Most common and least severe 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+mn-lt"/>
              </a:rPr>
              <a:t>70 to 80% of cases 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The </a:t>
            </a:r>
            <a:r>
              <a:rPr lang="en-GB" sz="2800" dirty="0" err="1"/>
              <a:t>edema</a:t>
            </a:r>
            <a:r>
              <a:rPr lang="en-GB" sz="2800" dirty="0"/>
              <a:t> </a:t>
            </a:r>
            <a:r>
              <a:rPr lang="en-GB" sz="2800" dirty="0" smtClean="0"/>
              <a:t>confined to </a:t>
            </a:r>
            <a:r>
              <a:rPr lang="en-GB" sz="2800" dirty="0" err="1" smtClean="0"/>
              <a:t>periorbital</a:t>
            </a:r>
            <a:r>
              <a:rPr lang="en-GB" sz="2800" dirty="0" smtClean="0"/>
              <a:t> </a:t>
            </a:r>
            <a:r>
              <a:rPr lang="en-GB" sz="2800" dirty="0"/>
              <a:t>eyelid by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    the </a:t>
            </a:r>
            <a:r>
              <a:rPr lang="en-GB" sz="2800" dirty="0"/>
              <a:t>orbital </a:t>
            </a:r>
            <a:r>
              <a:rPr lang="en-GB" sz="2800" dirty="0" smtClean="0"/>
              <a:t>septum 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Mild </a:t>
            </a:r>
            <a:r>
              <a:rPr lang="en-GB" sz="2800" dirty="0" err="1" smtClean="0"/>
              <a:t>proptosis</a:t>
            </a:r>
            <a:endParaRPr lang="en-GB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86578" y="3678468"/>
            <a:ext cx="2281237" cy="3250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3108" y="5143512"/>
            <a:ext cx="456247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smtClean="0">
                <a:latin typeface="+mn-lt"/>
              </a:rPr>
              <a:t>Orbital </a:t>
            </a:r>
            <a:r>
              <a:rPr lang="en-GB" sz="2800" b="1" dirty="0" err="1" smtClean="0">
                <a:latin typeface="+mn-lt"/>
              </a:rPr>
              <a:t>cellulitis</a:t>
            </a:r>
            <a:r>
              <a:rPr lang="en-GB" sz="2800" b="1" dirty="0" smtClean="0">
                <a:latin typeface="+mn-lt"/>
              </a:rPr>
              <a:t>  </a:t>
            </a:r>
            <a:r>
              <a:rPr lang="en-GB" sz="2800" dirty="0" smtClean="0">
                <a:latin typeface="+mn-lt"/>
              </a:rPr>
              <a:t>(Chandler class II)</a:t>
            </a:r>
            <a:endParaRPr lang="en-GB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b="1" i="1" dirty="0"/>
          </a:p>
          <a:p>
            <a:pPr>
              <a:lnSpc>
                <a:spcPct val="150000"/>
              </a:lnSpc>
            </a:pPr>
            <a:r>
              <a:rPr lang="en-GB" sz="2800" dirty="0" err="1" smtClean="0"/>
              <a:t>Periorbital</a:t>
            </a:r>
            <a:r>
              <a:rPr lang="en-GB" sz="2800" dirty="0"/>
              <a:t> </a:t>
            </a:r>
            <a:r>
              <a:rPr lang="en-GB" sz="2800" dirty="0" smtClean="0"/>
              <a:t>swelling</a:t>
            </a:r>
          </a:p>
          <a:p>
            <a:pPr>
              <a:lnSpc>
                <a:spcPct val="150000"/>
              </a:lnSpc>
            </a:pPr>
            <a:r>
              <a:rPr lang="en-GB" sz="2800" dirty="0" err="1"/>
              <a:t>E</a:t>
            </a:r>
            <a:r>
              <a:rPr lang="en-GB" sz="2800" dirty="0" err="1" smtClean="0"/>
              <a:t>dema</a:t>
            </a:r>
            <a:r>
              <a:rPr lang="en-GB" sz="2800" dirty="0" smtClean="0"/>
              <a:t> (95%)</a:t>
            </a:r>
          </a:p>
          <a:p>
            <a:pPr>
              <a:lnSpc>
                <a:spcPct val="150000"/>
              </a:lnSpc>
            </a:pPr>
            <a:r>
              <a:rPr lang="en-GB" sz="2800" dirty="0" err="1"/>
              <a:t>P</a:t>
            </a:r>
            <a:r>
              <a:rPr lang="en-GB" sz="2800" dirty="0" err="1" smtClean="0"/>
              <a:t>roptosis</a:t>
            </a:r>
            <a:endParaRPr lang="en-GB" sz="2800" dirty="0"/>
          </a:p>
          <a:p>
            <a:pPr>
              <a:lnSpc>
                <a:spcPct val="150000"/>
              </a:lnSpc>
            </a:pPr>
            <a:r>
              <a:rPr lang="en-GB" sz="2800" dirty="0" smtClean="0"/>
              <a:t>No abscess formation</a:t>
            </a:r>
            <a:endParaRPr lang="en-GB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8" y="1071546"/>
            <a:ext cx="2071702" cy="3027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72180" y="4714884"/>
            <a:ext cx="30861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00363" y="5000636"/>
            <a:ext cx="2381267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357422" y="305436"/>
            <a:ext cx="4429155" cy="6338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8280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2800" u="sng" dirty="0" smtClean="0"/>
              <a:t>Medical treatment</a:t>
            </a:r>
          </a:p>
          <a:p>
            <a:r>
              <a:rPr lang="en-GB" sz="2800" dirty="0" err="1" smtClean="0"/>
              <a:t>Parenteral</a:t>
            </a:r>
            <a:r>
              <a:rPr lang="en-GB" sz="2800" dirty="0" smtClean="0"/>
              <a:t> therapy</a:t>
            </a:r>
          </a:p>
          <a:p>
            <a:pPr>
              <a:lnSpc>
                <a:spcPct val="150000"/>
              </a:lnSpc>
              <a:buNone/>
            </a:pPr>
            <a:r>
              <a:rPr lang="en-GB" sz="2800" u="sng" dirty="0" smtClean="0"/>
              <a:t>Surgical management is indicated if</a:t>
            </a:r>
            <a:r>
              <a:rPr lang="en-GB" sz="2800" dirty="0" smtClean="0"/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1. The patient fails to respond to IV therapy and/or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     deteriorates clinically despite appropriate antibiotic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     therapy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GB" dirty="0" smtClean="0"/>
              <a:t> 2. Ocular motility/visual acuity deteriorates</a:t>
            </a:r>
          </a:p>
          <a:p>
            <a:pPr>
              <a:lnSpc>
                <a:spcPct val="150000"/>
              </a:lnSpc>
              <a:buNone/>
            </a:pPr>
            <a:r>
              <a:rPr lang="en-GB" dirty="0" smtClean="0"/>
              <a:t> 3. Cranial neuropathies develop</a:t>
            </a:r>
          </a:p>
          <a:p>
            <a:pPr>
              <a:lnSpc>
                <a:spcPct val="150000"/>
              </a:lnSpc>
              <a:buNone/>
            </a:pPr>
            <a:r>
              <a:rPr lang="en-GB" dirty="0" smtClean="0"/>
              <a:t> 4. The patient develops an abscess other than a</a:t>
            </a:r>
          </a:p>
          <a:p>
            <a:pPr>
              <a:lnSpc>
                <a:spcPct val="150000"/>
              </a:lnSpc>
              <a:buNone/>
            </a:pPr>
            <a:r>
              <a:rPr lang="en-GB" dirty="0" smtClean="0"/>
              <a:t>      small, medially located </a:t>
            </a:r>
            <a:r>
              <a:rPr lang="en-GB" dirty="0" err="1" smtClean="0"/>
              <a:t>subperiosteal</a:t>
            </a:r>
            <a:r>
              <a:rPr lang="en-GB" dirty="0" smtClean="0"/>
              <a:t> abscess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err="1" smtClean="0">
                <a:latin typeface="+mn-lt"/>
              </a:rPr>
              <a:t>Subperiosteal</a:t>
            </a:r>
            <a:r>
              <a:rPr lang="en-GB" sz="2800" b="1" dirty="0" smtClean="0">
                <a:latin typeface="+mn-lt"/>
              </a:rPr>
              <a:t> abscess </a:t>
            </a:r>
            <a:r>
              <a:rPr lang="en-GB" sz="2800" dirty="0" smtClean="0">
                <a:latin typeface="+mn-lt"/>
              </a:rPr>
              <a:t>(Chandler class III)</a:t>
            </a:r>
            <a:endParaRPr lang="en-GB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1"/>
            <a:ext cx="8229600" cy="4357718"/>
          </a:xfrm>
        </p:spPr>
        <p:txBody>
          <a:bodyPr>
            <a:normAutofit/>
          </a:bodyPr>
          <a:lstStyle/>
          <a:p>
            <a:endParaRPr lang="en-GB" b="1" i="1" dirty="0"/>
          </a:p>
          <a:p>
            <a:pPr>
              <a:lnSpc>
                <a:spcPct val="150000"/>
              </a:lnSpc>
            </a:pPr>
            <a:r>
              <a:rPr lang="en-GB" sz="2800" dirty="0"/>
              <a:t>P</a:t>
            </a:r>
            <a:r>
              <a:rPr lang="en-GB" sz="2800" dirty="0" smtClean="0"/>
              <a:t>us </a:t>
            </a:r>
            <a:r>
              <a:rPr lang="en-GB" sz="2800" dirty="0"/>
              <a:t>between the orbital </a:t>
            </a:r>
            <a:r>
              <a:rPr lang="en-GB" sz="2800" dirty="0" err="1" smtClean="0"/>
              <a:t>periosteum</a:t>
            </a:r>
            <a:r>
              <a:rPr lang="en-GB" sz="2800" dirty="0" smtClean="0"/>
              <a:t> and </a:t>
            </a:r>
            <a:r>
              <a:rPr lang="en-GB" sz="2800" dirty="0"/>
              <a:t>the bony orbital </a:t>
            </a:r>
            <a:r>
              <a:rPr lang="en-GB" sz="2800" dirty="0" smtClean="0"/>
              <a:t>wall 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T</a:t>
            </a:r>
            <a:r>
              <a:rPr lang="en-GB" sz="2800" dirty="0" smtClean="0"/>
              <a:t>ypically </a:t>
            </a:r>
            <a:r>
              <a:rPr lang="en-GB" sz="2800" dirty="0"/>
              <a:t>between the </a:t>
            </a:r>
            <a:r>
              <a:rPr lang="en-GB" sz="2800" dirty="0" smtClean="0"/>
              <a:t>lamina </a:t>
            </a:r>
            <a:r>
              <a:rPr lang="en-GB" sz="2800" dirty="0" err="1" smtClean="0"/>
              <a:t>papyracea</a:t>
            </a:r>
            <a:r>
              <a:rPr lang="en-GB" sz="2800" dirty="0" smtClean="0"/>
              <a:t> </a:t>
            </a:r>
            <a:r>
              <a:rPr lang="en-GB" sz="2800" dirty="0"/>
              <a:t>and the medial </a:t>
            </a:r>
            <a:r>
              <a:rPr lang="en-GB" sz="2800" dirty="0" err="1" smtClean="0"/>
              <a:t>periorbita</a:t>
            </a:r>
            <a:endParaRPr lang="en-GB" sz="28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49672" y="3786190"/>
            <a:ext cx="2222922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43240" y="4714884"/>
            <a:ext cx="3474818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5720" y="4972073"/>
            <a:ext cx="282892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000232" y="374671"/>
            <a:ext cx="5256248" cy="612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/>
              <a:t>Medial </a:t>
            </a:r>
            <a:r>
              <a:rPr lang="en-GB" sz="2800" dirty="0" err="1" smtClean="0"/>
              <a:t>subperiosteal</a:t>
            </a:r>
            <a:r>
              <a:rPr lang="en-GB" sz="2800" dirty="0" smtClean="0"/>
              <a:t> abscess: Endoscopic drainage combined with an external approach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Laterally seated </a:t>
            </a:r>
            <a:r>
              <a:rPr lang="en-GB" sz="2800" dirty="0" err="1" smtClean="0"/>
              <a:t>subperiosteal</a:t>
            </a:r>
            <a:r>
              <a:rPr lang="en-GB" sz="2800" dirty="0" smtClean="0"/>
              <a:t> abscess: Decompression and drainage of the orbit through an external approach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smtClean="0">
                <a:latin typeface="+mn-lt"/>
              </a:rPr>
              <a:t>Orbital abscess </a:t>
            </a:r>
            <a:r>
              <a:rPr lang="en-GB" sz="2800" dirty="0" smtClean="0">
                <a:latin typeface="+mn-lt"/>
              </a:rPr>
              <a:t>(Chandler class IV)</a:t>
            </a:r>
            <a:endParaRPr lang="en-GB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err="1" smtClean="0"/>
              <a:t>Extraconal</a:t>
            </a:r>
            <a:r>
              <a:rPr lang="en-GB" sz="2800" dirty="0" smtClean="0"/>
              <a:t> </a:t>
            </a:r>
            <a:r>
              <a:rPr lang="en-GB" sz="2800" dirty="0"/>
              <a:t>(between the </a:t>
            </a:r>
            <a:r>
              <a:rPr lang="en-GB" sz="2800" dirty="0" err="1"/>
              <a:t>periosteum</a:t>
            </a:r>
            <a:r>
              <a:rPr lang="en-GB" sz="2800" dirty="0"/>
              <a:t> and the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    </a:t>
            </a:r>
            <a:r>
              <a:rPr lang="en-GB" sz="2800" dirty="0" err="1" smtClean="0"/>
              <a:t>extraocular</a:t>
            </a:r>
            <a:r>
              <a:rPr lang="en-GB" sz="2800" dirty="0" smtClean="0"/>
              <a:t> </a:t>
            </a:r>
            <a:r>
              <a:rPr lang="en-GB" sz="2800" dirty="0"/>
              <a:t>muscles) </a:t>
            </a:r>
          </a:p>
          <a:p>
            <a:pPr>
              <a:lnSpc>
                <a:spcPct val="150000"/>
              </a:lnSpc>
            </a:pPr>
            <a:r>
              <a:rPr lang="en-GB" sz="2800" dirty="0" err="1"/>
              <a:t>I</a:t>
            </a:r>
            <a:r>
              <a:rPr lang="en-GB" sz="2800" dirty="0" err="1" smtClean="0"/>
              <a:t>ntraconal</a:t>
            </a:r>
            <a:r>
              <a:rPr lang="en-GB" sz="2800" dirty="0" smtClean="0"/>
              <a:t> </a:t>
            </a:r>
            <a:r>
              <a:rPr lang="en-GB" sz="2800" dirty="0"/>
              <a:t>(located </a:t>
            </a:r>
            <a:r>
              <a:rPr lang="en-GB" sz="2800" dirty="0" smtClean="0"/>
              <a:t>centrally within </a:t>
            </a:r>
            <a:r>
              <a:rPr lang="en-GB" sz="2800" dirty="0"/>
              <a:t>the muscle cone)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86182" y="3714752"/>
            <a:ext cx="2071686" cy="307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4171972"/>
            <a:ext cx="32194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91255" y="4714895"/>
            <a:ext cx="286702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071670" y="162142"/>
            <a:ext cx="5000660" cy="664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100" b="1" dirty="0" smtClean="0">
                <a:latin typeface="+mn-lt"/>
              </a:rPr>
              <a:t>Cavernous sinus thrombosis</a:t>
            </a:r>
            <a:r>
              <a:rPr lang="en-GB" sz="3100" dirty="0" smtClean="0">
                <a:latin typeface="+mn-lt"/>
              </a:rPr>
              <a:t>, or CST (Chandler class V)</a:t>
            </a:r>
            <a:r>
              <a:rPr lang="en-GB" b="1" i="1" dirty="0" smtClean="0"/>
              <a:t/>
            </a:r>
            <a:br>
              <a:rPr lang="en-GB" b="1" i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err="1" smtClean="0"/>
              <a:t>Proptosis</a:t>
            </a:r>
            <a:r>
              <a:rPr lang="en-GB" sz="2800" dirty="0" smtClean="0"/>
              <a:t> (often Bilateral)</a:t>
            </a:r>
          </a:p>
          <a:p>
            <a:pPr>
              <a:lnSpc>
                <a:spcPct val="150000"/>
              </a:lnSpc>
            </a:pPr>
            <a:r>
              <a:rPr lang="en-GB" sz="2800" dirty="0" err="1" smtClean="0"/>
              <a:t>Chemosis</a:t>
            </a:r>
            <a:endParaRPr lang="en-GB" sz="2800" dirty="0" smtClean="0"/>
          </a:p>
          <a:p>
            <a:pPr>
              <a:lnSpc>
                <a:spcPct val="150000"/>
              </a:lnSpc>
            </a:pPr>
            <a:r>
              <a:rPr lang="en-GB" sz="2800" dirty="0" smtClean="0"/>
              <a:t>Progressive </a:t>
            </a:r>
            <a:r>
              <a:rPr lang="en-GB" sz="2800" dirty="0" err="1" smtClean="0"/>
              <a:t>opthalmoplegia</a:t>
            </a:r>
            <a:r>
              <a:rPr lang="en-GB" sz="28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C</a:t>
            </a:r>
            <a:r>
              <a:rPr lang="en-GB" sz="2800" dirty="0" smtClean="0"/>
              <a:t>omplete </a:t>
            </a:r>
            <a:r>
              <a:rPr lang="en-GB" sz="2800" dirty="0"/>
              <a:t>loss of </a:t>
            </a:r>
            <a:r>
              <a:rPr lang="en-GB" sz="2800" dirty="0" smtClean="0"/>
              <a:t>vision</a:t>
            </a:r>
            <a:endParaRPr lang="en-GB" sz="2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3702" y="828681"/>
            <a:ext cx="2295525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10261" y="4429132"/>
            <a:ext cx="3176581" cy="2402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42844" y="2000240"/>
            <a:ext cx="4835589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28" y="2001270"/>
            <a:ext cx="4058027" cy="3999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>
            <a:off x="1500166" y="3714752"/>
            <a:ext cx="357190" cy="7143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Arrow 6"/>
          <p:cNvSpPr/>
          <p:nvPr/>
        </p:nvSpPr>
        <p:spPr>
          <a:xfrm>
            <a:off x="5857884" y="4714884"/>
            <a:ext cx="642942" cy="45719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282" y="607220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(A)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5072066" y="6072206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(B)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Treatment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50072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/>
              <a:t>Mortality rate up to 30%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Surgical drainage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Intravenous antibiotics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 High-dose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 Cross blood-brain barrier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Anticoagulant use is controversial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Prevent thrombus propagation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Risk intracranial or intra-orbital  bleeding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846158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PROGNOSIS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/>
              <a:t>If prompt treatment is carried out with adequate monitoring of patients during treatment, the prognosis for the return of normal vision is excellent. 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However, there is a small, but significant risk of </a:t>
            </a:r>
            <a:r>
              <a:rPr lang="en-GB" sz="2800" dirty="0" err="1" smtClean="0"/>
              <a:t>diplopia</a:t>
            </a:r>
            <a:r>
              <a:rPr lang="en-GB" sz="2800" dirty="0" smtClean="0"/>
              <a:t> following surgery</a:t>
            </a:r>
            <a:endParaRPr lang="en-GB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Intracranial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/>
          <a:p>
            <a:pPr>
              <a:buNone/>
            </a:pPr>
            <a:endParaRPr lang="en-GB" dirty="0" smtClean="0"/>
          </a:p>
          <a:p>
            <a:pPr>
              <a:lnSpc>
                <a:spcPct val="150000"/>
              </a:lnSpc>
            </a:pPr>
            <a:r>
              <a:rPr lang="en-GB" sz="2800" dirty="0" smtClean="0"/>
              <a:t>Pathogenesis: two major mechanisms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Direct extension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Retrograde </a:t>
            </a:r>
            <a:r>
              <a:rPr lang="en-GB" sz="2800" dirty="0" err="1" smtClean="0"/>
              <a:t>thrombophlebitis</a:t>
            </a:r>
            <a:r>
              <a:rPr lang="en-GB" sz="2800" dirty="0" smtClean="0"/>
              <a:t> via the </a:t>
            </a:r>
            <a:r>
              <a:rPr lang="en-GB" sz="2800" dirty="0" err="1" smtClean="0"/>
              <a:t>valveless</a:t>
            </a:r>
            <a:r>
              <a:rPr lang="en-GB" sz="2800" dirty="0" smtClean="0"/>
              <a:t> </a:t>
            </a:r>
            <a:r>
              <a:rPr lang="en-GB" sz="2800" dirty="0" err="1" smtClean="0"/>
              <a:t>diploic</a:t>
            </a:r>
            <a:r>
              <a:rPr lang="en-GB" sz="2800" dirty="0" smtClean="0"/>
              <a:t> veins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   </a:t>
            </a:r>
            <a:r>
              <a:rPr lang="en-GB" sz="2800" u="sng" dirty="0" smtClean="0"/>
              <a:t>Five types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Meningitis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Epidural abscess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Subdural abscess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Intra-cerebral abscess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Cavernous sinus, venous sinus thrombosis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Clinical features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/>
              <a:t>Nausea and vomiting, neck stiffness, and altered mental state. 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Increased </a:t>
            </a:r>
            <a:r>
              <a:rPr lang="en-GB" sz="2800" dirty="0" smtClean="0"/>
              <a:t>ICP, </a:t>
            </a:r>
            <a:r>
              <a:rPr lang="en-GB" sz="2800" dirty="0" smtClean="0"/>
              <a:t>meningeal irritation, and focal neurologic deficits, including CN III, VI, and VII palsies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Meningitis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3" y="2714621"/>
            <a:ext cx="3607457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95848" y="2714621"/>
            <a:ext cx="3599964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Epidural Abscess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Frontal sinusitis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2876569"/>
            <a:ext cx="2628900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00166" y="2739780"/>
            <a:ext cx="2786082" cy="3451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>
            <a:off x="2786050" y="3357562"/>
            <a:ext cx="214314" cy="7143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500166" y="638323"/>
            <a:ext cx="6072215" cy="571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Left Arrow 3"/>
          <p:cNvSpPr/>
          <p:nvPr/>
        </p:nvSpPr>
        <p:spPr>
          <a:xfrm>
            <a:off x="4357686" y="3071810"/>
            <a:ext cx="214314" cy="45719"/>
          </a:xfrm>
          <a:prstGeom prst="lef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Treatment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Antibiotics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Drain sinuses and abscess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Frontal sinus trephination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Frontal sinus </a:t>
            </a:r>
            <a:r>
              <a:rPr lang="en-GB" sz="2800" dirty="0" err="1" smtClean="0"/>
              <a:t>cranialization</a:t>
            </a:r>
            <a:endParaRPr lang="en-GB" sz="2800" dirty="0" smtClean="0"/>
          </a:p>
          <a:p>
            <a:pPr>
              <a:lnSpc>
                <a:spcPct val="150000"/>
              </a:lnSpc>
            </a:pPr>
            <a:r>
              <a:rPr lang="en-GB" sz="2800" dirty="0" smtClean="0"/>
              <a:t>Stereotactic-guided drainage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Subdural Abscess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/>
              <a:t>Third-most common intracranial complication, rapid deterioration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Mortality in 25-35%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Residual neurologic </a:t>
            </a:r>
            <a:r>
              <a:rPr lang="en-GB" sz="2800" dirty="0" err="1" smtClean="0"/>
              <a:t>sequelae</a:t>
            </a:r>
            <a:r>
              <a:rPr lang="en-GB" sz="2800" dirty="0" smtClean="0"/>
              <a:t> in 35-55%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48443" y="1824038"/>
            <a:ext cx="258127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8992" y="1977610"/>
            <a:ext cx="2714644" cy="3237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2143116"/>
            <a:ext cx="2610958" cy="303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Down Arrow 6"/>
          <p:cNvSpPr/>
          <p:nvPr/>
        </p:nvSpPr>
        <p:spPr>
          <a:xfrm>
            <a:off x="5072066" y="4214818"/>
            <a:ext cx="357190" cy="500066"/>
          </a:xfrm>
          <a:prstGeom prst="down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Treatment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u="sng" dirty="0" smtClean="0"/>
              <a:t>Medical therapy (</a:t>
            </a:r>
            <a:r>
              <a:rPr lang="en-GB" sz="2800" dirty="0" smtClean="0"/>
              <a:t>&lt; 1.5cm)</a:t>
            </a:r>
            <a:endParaRPr lang="en-GB" sz="2800" u="sng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Antibiotics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Anticonvulsants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err="1" smtClean="0"/>
              <a:t>Mannitol</a:t>
            </a:r>
            <a:endParaRPr lang="en-GB" sz="28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Steroids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2800" u="sng" dirty="0" smtClean="0"/>
              <a:t>Surgical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Drain sinuses and abscess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Craniotomy or stereotactic burr hole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Intra-cerebral Abscess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00066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2800" u="sng" dirty="0" smtClean="0"/>
              <a:t>Clinical features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Headache (70%)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Mental status change (65%)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Focal neurological deficit (65%)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Fever (50%)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Mortality 20-30%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Neurologic </a:t>
            </a:r>
            <a:r>
              <a:rPr lang="en-GB" sz="2800" dirty="0" err="1" smtClean="0"/>
              <a:t>sequelae</a:t>
            </a:r>
            <a:r>
              <a:rPr lang="en-GB" sz="2800" dirty="0" smtClean="0"/>
              <a:t> 60%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15074" y="2767030"/>
            <a:ext cx="255270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802" y="2383148"/>
            <a:ext cx="2714644" cy="347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2571744"/>
            <a:ext cx="2638507" cy="3186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Left Arrow 6"/>
          <p:cNvSpPr/>
          <p:nvPr/>
        </p:nvSpPr>
        <p:spPr>
          <a:xfrm>
            <a:off x="1571604" y="3429000"/>
            <a:ext cx="214314" cy="71438"/>
          </a:xfrm>
          <a:prstGeom prst="lef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 Arrow 7"/>
          <p:cNvSpPr/>
          <p:nvPr/>
        </p:nvSpPr>
        <p:spPr>
          <a:xfrm>
            <a:off x="4429124" y="3071810"/>
            <a:ext cx="214314" cy="45719"/>
          </a:xfrm>
          <a:prstGeom prst="lef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Treatment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34036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u="sng" dirty="0" smtClean="0"/>
              <a:t>Medical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Antibiotics, Anticonvulsants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err="1" smtClean="0"/>
              <a:t>Mannitol</a:t>
            </a:r>
            <a:endParaRPr lang="en-GB" sz="28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800" dirty="0" smtClean="0"/>
              <a:t>Steroids</a:t>
            </a:r>
          </a:p>
          <a:p>
            <a:pPr>
              <a:lnSpc>
                <a:spcPct val="150000"/>
              </a:lnSpc>
            </a:pPr>
            <a:r>
              <a:rPr lang="en-GB" sz="2800" u="sng" dirty="0" smtClean="0"/>
              <a:t>Surgical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Bur hole drainage, craniotomy, or image-guided aspiration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Venous Sinus Thrombosis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err="1" smtClean="0"/>
              <a:t>Sagittal</a:t>
            </a:r>
            <a:r>
              <a:rPr lang="en-GB" sz="2800" dirty="0" smtClean="0"/>
              <a:t> sinus most common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Retrograde </a:t>
            </a:r>
            <a:r>
              <a:rPr lang="en-GB" sz="2800" dirty="0" err="1" smtClean="0"/>
              <a:t>thrombophlebitis</a:t>
            </a:r>
            <a:r>
              <a:rPr lang="en-GB" sz="2800" dirty="0" smtClean="0"/>
              <a:t> from frontal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   sinusitis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Extremely ill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Increased mortality</a:t>
            </a:r>
            <a:endParaRPr lang="en-GB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2445" y="4143380"/>
            <a:ext cx="2291587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4286256"/>
            <a:ext cx="3071834" cy="2443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>
            <a:off x="5786446" y="4857760"/>
            <a:ext cx="285752" cy="45719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Arrow 6"/>
          <p:cNvSpPr/>
          <p:nvPr/>
        </p:nvSpPr>
        <p:spPr>
          <a:xfrm>
            <a:off x="6215074" y="5643578"/>
            <a:ext cx="357190" cy="45719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007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/>
              <a:t>Aggressive medical therapy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Anticoagulation controversial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Thrombus resolution by 6 </a:t>
            </a:r>
            <a:r>
              <a:rPr lang="en-GB" sz="2800" dirty="0" smtClean="0"/>
              <a:t>weeks</a:t>
            </a:r>
            <a:endParaRPr lang="en-GB" sz="2800" dirty="0" smtClean="0"/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   </a:t>
            </a:r>
            <a:r>
              <a:rPr lang="en-GB" sz="2800" u="sng" dirty="0" smtClean="0"/>
              <a:t>Drain sinuses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External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Endoscopic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Bony Complications 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u="sng" dirty="0" err="1" smtClean="0"/>
              <a:t>Pott’s</a:t>
            </a:r>
            <a:r>
              <a:rPr lang="en-GB" sz="2800" u="sng" dirty="0" smtClean="0"/>
              <a:t> puffy </a:t>
            </a:r>
            <a:r>
              <a:rPr lang="en-GB" sz="2800" u="sng" dirty="0" err="1" smtClean="0"/>
              <a:t>tumor</a:t>
            </a:r>
            <a:endParaRPr lang="en-GB" sz="2800" u="sng" dirty="0" smtClean="0"/>
          </a:p>
          <a:p>
            <a:pPr>
              <a:lnSpc>
                <a:spcPct val="150000"/>
              </a:lnSpc>
            </a:pPr>
            <a:r>
              <a:rPr lang="en-GB" sz="2800" dirty="0" smtClean="0"/>
              <a:t>Frontal sinusitis with acute </a:t>
            </a:r>
            <a:r>
              <a:rPr lang="en-GB" sz="2800" dirty="0" err="1" smtClean="0"/>
              <a:t>osteomyelitis</a:t>
            </a:r>
            <a:endParaRPr lang="en-GB" sz="2800" dirty="0" smtClean="0"/>
          </a:p>
          <a:p>
            <a:pPr>
              <a:lnSpc>
                <a:spcPct val="150000"/>
              </a:lnSpc>
            </a:pPr>
            <a:r>
              <a:rPr lang="en-GB" sz="2800" dirty="0" err="1" smtClean="0"/>
              <a:t>Subperiosteal</a:t>
            </a:r>
            <a:r>
              <a:rPr lang="en-GB" sz="2800" dirty="0" smtClean="0"/>
              <a:t> pus collection leads to “puffy” </a:t>
            </a:r>
            <a:r>
              <a:rPr lang="en-GB" sz="2800" dirty="0" err="1" smtClean="0"/>
              <a:t>fluctuance</a:t>
            </a:r>
            <a:endParaRPr lang="en-GB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dirty="0" smtClean="0"/>
              <a:t>Clinical features</a:t>
            </a:r>
          </a:p>
          <a:p>
            <a:r>
              <a:rPr lang="en-GB" dirty="0" err="1" smtClean="0"/>
              <a:t>Periorbital</a:t>
            </a:r>
            <a:r>
              <a:rPr lang="en-GB" dirty="0" smtClean="0"/>
              <a:t> or frontal swelling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2719581"/>
            <a:ext cx="2714644" cy="3638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90" y="2928935"/>
            <a:ext cx="2719571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   </a:t>
            </a:r>
            <a:r>
              <a:rPr lang="en-GB" sz="2800" u="sng" dirty="0" smtClean="0"/>
              <a:t>Surgical and medical therapy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Drain abscess and remove infected bone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Intravenous antibiotics for six weeks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May obliterate frontal sinus to prevent</a:t>
            </a:r>
          </a:p>
          <a:p>
            <a:pPr>
              <a:lnSpc>
                <a:spcPct val="150000"/>
              </a:lnSpc>
              <a:buNone/>
            </a:pPr>
            <a:r>
              <a:rPr lang="en-GB" sz="2800" dirty="0" smtClean="0"/>
              <a:t>    recurrence</a:t>
            </a:r>
            <a:endParaRPr lang="en-GB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endParaRPr lang="en-GB" dirty="0"/>
          </a:p>
          <a:p>
            <a:r>
              <a:rPr lang="en-GB" dirty="0" smtClean="0"/>
              <a:t>Scott </a:t>
            </a:r>
            <a:r>
              <a:rPr lang="en-GB" dirty="0" smtClean="0"/>
              <a:t>brown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6058"/>
            <a:ext cx="8229600" cy="334010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4400" dirty="0" smtClean="0"/>
              <a:t>THANK YOU</a:t>
            </a:r>
            <a:endParaRPr lang="en-GB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1482</Words>
  <Application>Microsoft Office PowerPoint</Application>
  <PresentationFormat>On-screen Show (4:3)</PresentationFormat>
  <Paragraphs>249</Paragraphs>
  <Slides>44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ＭＳ Ｐゴシック</vt:lpstr>
      <vt:lpstr>Arial</vt:lpstr>
      <vt:lpstr>Calibri</vt:lpstr>
      <vt:lpstr>Wingdings</vt:lpstr>
      <vt:lpstr>Office Theme</vt:lpstr>
      <vt:lpstr>COMPLICATIONS OF SINUSITIS</vt:lpstr>
      <vt:lpstr>PowerPoint Presentation</vt:lpstr>
      <vt:lpstr>Definition</vt:lpstr>
      <vt:lpstr>CLASSIFICATION</vt:lpstr>
      <vt:lpstr>PowerPoint Presentation</vt:lpstr>
      <vt:lpstr>Clinical classification</vt:lpstr>
      <vt:lpstr>Orbital Complications</vt:lpstr>
      <vt:lpstr>PowerPoint Presentation</vt:lpstr>
      <vt:lpstr>Chandler Classification</vt:lpstr>
      <vt:lpstr>Periorbital cellulitis (Chandler class I)</vt:lpstr>
      <vt:lpstr>Orbital cellulitis  (Chandler class II)</vt:lpstr>
      <vt:lpstr>PowerPoint Presentation</vt:lpstr>
      <vt:lpstr>PowerPoint Presentation</vt:lpstr>
      <vt:lpstr>PowerPoint Presentation</vt:lpstr>
      <vt:lpstr>Subperiosteal abscess (Chandler class III)</vt:lpstr>
      <vt:lpstr>PowerPoint Presentation</vt:lpstr>
      <vt:lpstr>PowerPoint Presentation</vt:lpstr>
      <vt:lpstr>Orbital abscess (Chandler class IV)</vt:lpstr>
      <vt:lpstr>PowerPoint Presentation</vt:lpstr>
      <vt:lpstr>Cavernous sinus thrombosis, or CST (Chandler class V) </vt:lpstr>
      <vt:lpstr>PowerPoint Presentation</vt:lpstr>
      <vt:lpstr>Treatment</vt:lpstr>
      <vt:lpstr>PROGNOSIS </vt:lpstr>
      <vt:lpstr>Intracranial</vt:lpstr>
      <vt:lpstr>PowerPoint Presentation</vt:lpstr>
      <vt:lpstr>Clinical features</vt:lpstr>
      <vt:lpstr>Meningitis</vt:lpstr>
      <vt:lpstr>Epidural Abscess</vt:lpstr>
      <vt:lpstr>PowerPoint Presentation</vt:lpstr>
      <vt:lpstr>Treatment</vt:lpstr>
      <vt:lpstr>Subdural Abscess</vt:lpstr>
      <vt:lpstr>PowerPoint Presentation</vt:lpstr>
      <vt:lpstr>Treatment</vt:lpstr>
      <vt:lpstr>PowerPoint Presentation</vt:lpstr>
      <vt:lpstr>Intra-cerebral Abscess</vt:lpstr>
      <vt:lpstr>PowerPoint Presentation</vt:lpstr>
      <vt:lpstr>Treatment</vt:lpstr>
      <vt:lpstr>Venous Sinus Thrombosis</vt:lpstr>
      <vt:lpstr>PowerPoint Presentation</vt:lpstr>
      <vt:lpstr>Bony Complications  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COMPLICATIONS OF SINUSITIS</dc:title>
  <dc:creator>manohar pc</dc:creator>
  <cp:lastModifiedBy>hp</cp:lastModifiedBy>
  <cp:revision>113</cp:revision>
  <dcterms:created xsi:type="dcterms:W3CDTF">2016-04-19T16:40:14Z</dcterms:created>
  <dcterms:modified xsi:type="dcterms:W3CDTF">2025-10-11T17:01:20Z</dcterms:modified>
</cp:coreProperties>
</file>