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74" r:id="rId3"/>
    <p:sldId id="275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6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0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3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471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1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38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8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46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7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9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1CCE-2700-450C-9BE0-D5AE5908E102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32401-911A-436D-8863-F5FBDDB0B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8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services.aamc.org/30/mededportal/servlet/linkableblob/submissions/4758/thumbnail.jp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228600"/>
            <a:ext cx="8686800" cy="6324600"/>
          </a:xfrm>
        </p:spPr>
        <p:txBody>
          <a:bodyPr/>
          <a:lstStyle/>
          <a:p>
            <a:endParaRPr lang="en-US" b="1" dirty="0" smtClean="0">
              <a:solidFill>
                <a:srgbClr val="7030A0"/>
              </a:solidFill>
            </a:endParaRPr>
          </a:p>
          <a:p>
            <a:endParaRPr lang="en-US" b="1" dirty="0" smtClean="0">
              <a:solidFill>
                <a:srgbClr val="C00000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r>
              <a:rPr lang="en-US" b="1" dirty="0" smtClean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Tumors </a:t>
            </a:r>
            <a:r>
              <a:rPr lang="en-US" b="1" dirty="0">
                <a:solidFill>
                  <a:srgbClr val="C00000"/>
                </a:solidFill>
                <a:latin typeface="Times New Roman" charset="0"/>
                <a:ea typeface="Times New Roman" charset="0"/>
                <a:cs typeface="Times New Roman" charset="0"/>
              </a:rPr>
              <a:t>of pharynx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4000" b="1" dirty="0" smtClean="0">
                <a:solidFill>
                  <a:srgbClr val="C00000"/>
                </a:solidFill>
              </a:rPr>
              <a:t>By </a:t>
            </a:r>
          </a:p>
          <a:p>
            <a:r>
              <a:rPr lang="en-US" sz="4000" b="1" dirty="0" smtClean="0">
                <a:solidFill>
                  <a:srgbClr val="C00000"/>
                </a:solidFill>
              </a:rPr>
              <a:t>Dr. </a:t>
            </a:r>
            <a:r>
              <a:rPr lang="en-US" sz="4000" b="1" dirty="0" err="1" smtClean="0">
                <a:solidFill>
                  <a:srgbClr val="C00000"/>
                </a:solidFill>
              </a:rPr>
              <a:t>Mariwan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r>
              <a:rPr lang="en-US" sz="4000" b="1" dirty="0" err="1" smtClean="0">
                <a:solidFill>
                  <a:srgbClr val="C00000"/>
                </a:solidFill>
              </a:rPr>
              <a:t>latif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  <a:r>
              <a:rPr lang="en-US" sz="4000" b="1" dirty="0" err="1" smtClean="0">
                <a:solidFill>
                  <a:srgbClr val="C00000"/>
                </a:solidFill>
              </a:rPr>
              <a:t>fatah</a:t>
            </a:r>
            <a:r>
              <a:rPr lang="en-US" sz="4000" b="1" dirty="0" smtClean="0">
                <a:solidFill>
                  <a:srgbClr val="C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77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C000"/>
                </a:solidFill>
              </a:rPr>
              <a:t>          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 </a:t>
            </a:r>
            <a:r>
              <a:rPr lang="en-US" dirty="0" smtClean="0">
                <a:solidFill>
                  <a:srgbClr val="FFC000"/>
                </a:solidFill>
              </a:rPr>
              <a:t>       </a:t>
            </a:r>
            <a:r>
              <a:rPr lang="en-US" b="1" dirty="0" smtClean="0">
                <a:solidFill>
                  <a:srgbClr val="7030A0"/>
                </a:solidFill>
              </a:rPr>
              <a:t>Nasopharyngeal tumors</a:t>
            </a:r>
          </a:p>
          <a:p>
            <a:r>
              <a:rPr lang="en-US" altLang="en-US" sz="2400" dirty="0" smtClean="0"/>
              <a:t> </a:t>
            </a:r>
            <a:r>
              <a:rPr lang="en-US" altLang="en-US" sz="2400" dirty="0"/>
              <a:t>more common in </a:t>
            </a:r>
            <a:r>
              <a:rPr lang="en-US" altLang="en-US" sz="2400" dirty="0" smtClean="0"/>
              <a:t>Asia,  Rare </a:t>
            </a:r>
            <a:r>
              <a:rPr lang="en-US" altLang="en-US" sz="2400" dirty="0"/>
              <a:t>in the US</a:t>
            </a:r>
          </a:p>
          <a:p>
            <a:r>
              <a:rPr lang="en-US" sz="2400" dirty="0"/>
              <a:t>Chinese native &gt; Chinese immigrant &gt; North American native</a:t>
            </a:r>
            <a:endParaRPr lang="en-US" altLang="en-US" sz="2400" dirty="0"/>
          </a:p>
          <a:p>
            <a:r>
              <a:rPr lang="en-US" altLang="en-US" sz="2400" dirty="0"/>
              <a:t>High index of suspicion required for early diagnosis</a:t>
            </a:r>
          </a:p>
          <a:p>
            <a:r>
              <a:rPr lang="en-US" altLang="en-US" sz="2400" dirty="0"/>
              <a:t>Nasopharyngeal malignancies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SCC (nasopharyngeal carcinoma) 85%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Lymphoma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Salivary gland tumors</a:t>
            </a:r>
          </a:p>
          <a:p>
            <a:pPr lvl="1"/>
            <a:r>
              <a:rPr lang="en-US" altLang="en-US" sz="2400" b="1" dirty="0">
                <a:solidFill>
                  <a:srgbClr val="FF0000"/>
                </a:solidFill>
              </a:rPr>
              <a:t>Sarcomas</a:t>
            </a:r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34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3246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b="1" dirty="0" smtClean="0">
                <a:solidFill>
                  <a:srgbClr val="7030A0"/>
                </a:solidFill>
              </a:rPr>
              <a:t>EPIDEMIOLOGY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Environmental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sz="2400" dirty="0"/>
              <a:t>Viruses</a:t>
            </a:r>
          </a:p>
          <a:p>
            <a:pPr lvl="2"/>
            <a:r>
              <a:rPr lang="en-US" b="1" dirty="0"/>
              <a:t>EBV</a:t>
            </a:r>
            <a:r>
              <a:rPr lang="en-US" dirty="0"/>
              <a:t>- </a:t>
            </a:r>
            <a:r>
              <a:rPr lang="en-US" b="1" dirty="0"/>
              <a:t>HPV</a:t>
            </a:r>
            <a:r>
              <a:rPr lang="en-US" dirty="0"/>
              <a:t> </a:t>
            </a:r>
          </a:p>
          <a:p>
            <a:pPr>
              <a:buFont typeface="Wingdings" charset="2"/>
              <a:buChar char="Ø"/>
            </a:pPr>
            <a:r>
              <a:rPr lang="en-US" sz="2400" dirty="0"/>
              <a:t>Nitrosamines - salted </a:t>
            </a:r>
            <a:r>
              <a:rPr lang="en-US" sz="2400" dirty="0" smtClean="0"/>
              <a:t>fish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Other </a:t>
            </a:r>
            <a:r>
              <a:rPr lang="en-US" sz="2400" dirty="0"/>
              <a:t>recognized risk factors for NPC are cigarette smoking, and occupational exposure to formaldehyde and wood dust.</a:t>
            </a:r>
            <a:endParaRPr lang="ar-IQ" sz="2400" dirty="0"/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15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57200"/>
            <a:ext cx="8610600" cy="6019800"/>
          </a:xfrm>
        </p:spPr>
        <p:txBody>
          <a:bodyPr/>
          <a:lstStyle/>
          <a:p>
            <a:pPr marL="0" indent="0">
              <a:buNone/>
            </a:pPr>
            <a:r>
              <a:rPr lang="en-US" smtClean="0"/>
              <a:t> </a:t>
            </a:r>
            <a:endParaRPr lang="en-US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 History</a:t>
            </a:r>
            <a:r>
              <a:rPr lang="en-US" b="1" dirty="0">
                <a:solidFill>
                  <a:srgbClr val="0070C0"/>
                </a:solidFill>
              </a:rPr>
              <a:t>:</a:t>
            </a:r>
          </a:p>
          <a:p>
            <a:pPr>
              <a:buNone/>
            </a:pPr>
            <a:r>
              <a:rPr lang="en-US" b="1" dirty="0">
                <a:solidFill>
                  <a:srgbClr val="FFC000"/>
                </a:solidFill>
              </a:rPr>
              <a:t>   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Cervical LAP 60 %</a:t>
            </a:r>
          </a:p>
          <a:p>
            <a:pPr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Nasal obstruction 20%</a:t>
            </a:r>
          </a:p>
          <a:p>
            <a:pPr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CHD 20%</a:t>
            </a:r>
          </a:p>
          <a:p>
            <a:pPr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Cranial nerve palsies 10%</a:t>
            </a:r>
          </a:p>
          <a:p>
            <a:pPr marL="0" indent="0"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06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63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C00000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 </a:t>
            </a:r>
            <a:r>
              <a:rPr lang="en-US" sz="4000" b="1" dirty="0" smtClean="0">
                <a:solidFill>
                  <a:srgbClr val="C00000"/>
                </a:solidFill>
              </a:rPr>
              <a:t> Clinical Presentation</a:t>
            </a:r>
          </a:p>
          <a:p>
            <a:r>
              <a:rPr lang="en-US" sz="2400" dirty="0"/>
              <a:t>Facial pain - Trigeminal n.</a:t>
            </a:r>
          </a:p>
          <a:p>
            <a:r>
              <a:rPr lang="en-US" sz="2400" dirty="0"/>
              <a:t>Diplopia - CN VI</a:t>
            </a:r>
          </a:p>
          <a:p>
            <a:r>
              <a:rPr lang="en-US" sz="2400" dirty="0" err="1"/>
              <a:t>Ophthalmoplegia</a:t>
            </a:r>
            <a:r>
              <a:rPr lang="en-US" sz="2400" dirty="0"/>
              <a:t> - CN III, IV, and VI</a:t>
            </a:r>
          </a:p>
          <a:p>
            <a:r>
              <a:rPr lang="en-US" sz="2400" dirty="0"/>
              <a:t>Horner’s syndrome - cervical sympathetic</a:t>
            </a:r>
          </a:p>
          <a:p>
            <a:r>
              <a:rPr lang="en-US" sz="2400" dirty="0"/>
              <a:t>CN’s IX, X, XI, XII - extensive skull base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2031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7030A0"/>
                </a:solidFill>
              </a:rPr>
              <a:t> 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7030A0"/>
                </a:solidFill>
              </a:rPr>
              <a:t> </a:t>
            </a:r>
            <a:r>
              <a:rPr lang="en-US" sz="4000" b="1" dirty="0" smtClean="0">
                <a:solidFill>
                  <a:srgbClr val="7030A0"/>
                </a:solidFill>
              </a:rPr>
              <a:t> Examination</a:t>
            </a:r>
          </a:p>
          <a:p>
            <a:r>
              <a:rPr lang="en-US" sz="2400" dirty="0"/>
              <a:t>Postnasal mirror</a:t>
            </a:r>
          </a:p>
          <a:p>
            <a:r>
              <a:rPr lang="en-US" sz="2400" dirty="0"/>
              <a:t>Endoscopy</a:t>
            </a:r>
          </a:p>
          <a:p>
            <a:pPr>
              <a:buNone/>
            </a:pPr>
            <a:endParaRPr lang="ar-IQ" sz="2400" dirty="0"/>
          </a:p>
          <a:p>
            <a:pPr marL="0" indent="0">
              <a:buNone/>
            </a:pP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286000"/>
            <a:ext cx="381000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94864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019800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Nasopharyngeal examination</a:t>
            </a:r>
          </a:p>
          <a:p>
            <a:pPr lvl="1"/>
            <a:r>
              <a:rPr lang="en-US" dirty="0"/>
              <a:t>Fossa of </a:t>
            </a:r>
            <a:r>
              <a:rPr lang="en-US" dirty="0" err="1"/>
              <a:t>Rosenmuller</a:t>
            </a:r>
            <a:r>
              <a:rPr lang="en-US" dirty="0"/>
              <a:t> most common location</a:t>
            </a:r>
          </a:p>
          <a:p>
            <a:pPr lvl="1"/>
            <a:r>
              <a:rPr lang="en-US" dirty="0"/>
              <a:t>Variable appearance – </a:t>
            </a:r>
            <a:r>
              <a:rPr lang="en-US" dirty="0" err="1"/>
              <a:t>exophytic</a:t>
            </a:r>
            <a:r>
              <a:rPr lang="en-US" dirty="0"/>
              <a:t> , </a:t>
            </a:r>
            <a:r>
              <a:rPr lang="en-US" dirty="0" err="1"/>
              <a:t>submucosal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NP may appear normal</a:t>
            </a:r>
          </a:p>
          <a:p>
            <a:r>
              <a:rPr lang="en-US" dirty="0">
                <a:solidFill>
                  <a:srgbClr val="7030A0"/>
                </a:solidFill>
              </a:rPr>
              <a:t>Regional spread</a:t>
            </a:r>
          </a:p>
          <a:p>
            <a:pPr lvl="1"/>
            <a:r>
              <a:rPr lang="en-US" dirty="0"/>
              <a:t>Usually </a:t>
            </a:r>
            <a:r>
              <a:rPr lang="en-US" dirty="0" err="1"/>
              <a:t>ipsilateral</a:t>
            </a:r>
            <a:r>
              <a:rPr lang="en-US" dirty="0"/>
              <a:t> first but bilateral not uncommon</a:t>
            </a:r>
          </a:p>
          <a:p>
            <a:r>
              <a:rPr lang="en-US" dirty="0">
                <a:solidFill>
                  <a:srgbClr val="7030A0"/>
                </a:solidFill>
              </a:rPr>
              <a:t>Distant spread </a:t>
            </a:r>
            <a:r>
              <a:rPr lang="en-US" dirty="0"/>
              <a:t>- rare (&lt;3%), lungs, liver, bones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3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10600" cy="6400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7030A0"/>
                </a:solidFill>
              </a:rPr>
              <a:t>     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</a:rPr>
              <a:t>           Tests </a:t>
            </a:r>
            <a:r>
              <a:rPr lang="en-US" b="1" dirty="0">
                <a:solidFill>
                  <a:srgbClr val="7030A0"/>
                </a:solidFill>
              </a:rPr>
              <a:t>for Nasopharyngeal </a:t>
            </a:r>
            <a:r>
              <a:rPr lang="en-US" b="1" dirty="0" smtClean="0">
                <a:solidFill>
                  <a:srgbClr val="7030A0"/>
                </a:solidFill>
              </a:rPr>
              <a:t>Cancer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Biopsy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Endoscopic </a:t>
            </a:r>
            <a:r>
              <a:rPr lang="en-US" sz="2400" dirty="0" smtClean="0"/>
              <a:t>biopsy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Fine needle aspiration (FNA) </a:t>
            </a:r>
            <a:r>
              <a:rPr lang="en-US" sz="2400" dirty="0" smtClean="0"/>
              <a:t>biopsy</a:t>
            </a:r>
          </a:p>
          <a:p>
            <a:pPr marL="0" indent="0">
              <a:buNone/>
            </a:pPr>
            <a:r>
              <a:rPr lang="en-US" b="1" dirty="0" smtClean="0"/>
              <a:t>             </a:t>
            </a:r>
            <a:r>
              <a:rPr lang="en-US" b="1" dirty="0" smtClean="0">
                <a:solidFill>
                  <a:srgbClr val="7030A0"/>
                </a:solidFill>
              </a:rPr>
              <a:t>Imaging tests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/>
              <a:t>Chest </a:t>
            </a:r>
            <a:r>
              <a:rPr lang="en-US" sz="2400" dirty="0" smtClean="0"/>
              <a:t>x-ray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/>
              <a:t>Computed tomography (CT) </a:t>
            </a:r>
            <a:r>
              <a:rPr lang="en-US" sz="2400" dirty="0" smtClean="0"/>
              <a:t>scan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/>
              <a:t>Magnetic resonance imaging (MRI) </a:t>
            </a:r>
            <a:r>
              <a:rPr lang="en-US" sz="2400" dirty="0" smtClean="0"/>
              <a:t>scan</a:t>
            </a:r>
          </a:p>
          <a:p>
            <a:pPr>
              <a:buFont typeface="Wingdings" pitchFamily="2" charset="2"/>
              <a:buChar char="v"/>
            </a:pPr>
            <a:r>
              <a:rPr lang="en-US" sz="2400" dirty="0"/>
              <a:t>Positron emission tomography (PET) scan</a:t>
            </a:r>
            <a:endParaRPr lang="en-US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763000" cy="6324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4000" b="1" dirty="0" smtClean="0">
                <a:solidFill>
                  <a:srgbClr val="00B0F0"/>
                </a:solidFill>
              </a:rPr>
              <a:t>        Blood tests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/>
              <a:t>Routine blood counts and blood chemistry </a:t>
            </a:r>
            <a:r>
              <a:rPr lang="en-US" sz="2400" dirty="0" smtClean="0"/>
              <a:t>tests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/>
              <a:t>Epstein-Barr virus (EBV) DNA levels</a:t>
            </a:r>
          </a:p>
        </p:txBody>
      </p:sp>
    </p:spTree>
    <p:extLst>
      <p:ext uri="{BB962C8B-B14F-4D97-AF65-F5344CB8AC3E}">
        <p14:creationId xmlns:p14="http://schemas.microsoft.com/office/powerpoint/2010/main" val="398019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457200"/>
            <a:ext cx="8769927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 smtClean="0"/>
              <a:t>  </a:t>
            </a:r>
          </a:p>
          <a:p>
            <a:pPr marL="0" indent="0">
              <a:buNone/>
            </a:pPr>
            <a:r>
              <a:rPr lang="en-US" sz="4000" dirty="0"/>
              <a:t> </a:t>
            </a:r>
            <a:r>
              <a:rPr lang="en-US" sz="4000" dirty="0" smtClean="0"/>
              <a:t>  </a:t>
            </a:r>
            <a:r>
              <a:rPr lang="en-US" sz="4000" b="1" dirty="0" smtClean="0">
                <a:solidFill>
                  <a:srgbClr val="00B0F0"/>
                </a:solidFill>
              </a:rPr>
              <a:t>Treatment</a:t>
            </a:r>
            <a:r>
              <a:rPr lang="en-US" sz="4000" dirty="0" smtClean="0">
                <a:solidFill>
                  <a:srgbClr val="00B0F0"/>
                </a:solidFill>
              </a:rPr>
              <a:t> </a:t>
            </a:r>
          </a:p>
          <a:p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Radiochemotherapy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Neck dissection</a:t>
            </a:r>
            <a:endParaRPr lang="ar-IQ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82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smtClean="0"/>
              <a:t>     </a:t>
            </a:r>
            <a:r>
              <a:rPr lang="en-US" sz="4400" b="1" dirty="0" smtClean="0">
                <a:solidFill>
                  <a:srgbClr val="7030A0"/>
                </a:solidFill>
              </a:rPr>
              <a:t>Tumors </a:t>
            </a:r>
            <a:r>
              <a:rPr lang="en-US" sz="4400" b="1" dirty="0">
                <a:solidFill>
                  <a:srgbClr val="7030A0"/>
                </a:solidFill>
              </a:rPr>
              <a:t>of </a:t>
            </a:r>
            <a:r>
              <a:rPr lang="en-US" sz="4400" b="1" dirty="0" smtClean="0">
                <a:solidFill>
                  <a:srgbClr val="7030A0"/>
                </a:solidFill>
              </a:rPr>
              <a:t>Oropharynx</a:t>
            </a:r>
          </a:p>
          <a:p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MS PGothic" pitchFamily="34" charset="-128"/>
              </a:rPr>
              <a:t>The oropharynx is lined by squamous epithelium hence squamous cell carcinoma represents the most common </a:t>
            </a:r>
            <a:r>
              <a:rPr lang="en-US" altLang="ja-JP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MS PGothic" pitchFamily="34" charset="-128"/>
              </a:rPr>
              <a:t>tumour</a:t>
            </a:r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MS PGothic" pitchFamily="34" charset="-128"/>
              </a:rPr>
              <a:t>. </a:t>
            </a:r>
          </a:p>
          <a:p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MS PGothic" pitchFamily="34" charset="-128"/>
              </a:rPr>
              <a:t>However there is abundant lymphoid tissue in the palatine tonsil as well as lingual tonsils, which gets involved with head and neck lymphomas. </a:t>
            </a:r>
          </a:p>
          <a:p>
            <a:r>
              <a:rPr lang="en-US" altLang="ja-JP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MS PGothic" pitchFamily="34" charset="-128"/>
              </a:rPr>
              <a:t>Soft palate is especially rich in minor salivary glands.</a:t>
            </a:r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637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1722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Squamous </a:t>
            </a:r>
            <a:r>
              <a:rPr lang="en-US" sz="2400" b="1" dirty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cell carcinoma</a:t>
            </a:r>
            <a:r>
              <a:rPr lang="en-US" sz="2400" dirty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endParaRPr lang="en-US" sz="2400" dirty="0" smtClean="0">
              <a:solidFill>
                <a:srgbClr val="7030A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is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most common malignancy and forms 90% of tumors of this region. </a:t>
            </a: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The most common sites involved are: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sz="24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Lateral wall (60%)</a:t>
            </a:r>
            <a:endParaRPr lang="en-IN" sz="2400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sz="24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Tongue base (25%)</a:t>
            </a:r>
            <a:endParaRPr lang="en-IN" sz="2400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sz="24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Soft palate (10%)</a:t>
            </a:r>
            <a:endParaRPr lang="en-IN" sz="2400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sz="2400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Posterior wall (5%)</a:t>
            </a:r>
            <a:endParaRPr lang="en-IN" sz="2400" dirty="0">
              <a:solidFill>
                <a:srgbClr val="C0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IN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http://www.aboutcancer.com/tonsil_pic_lymphom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3429000"/>
            <a:ext cx="3697288" cy="267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14506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172200"/>
          </a:xfrm>
        </p:spPr>
        <p:txBody>
          <a:bodyPr/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The minor salivary gland tumors have a predilection for soft palate.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In case of soft palate most minor salivary gland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tumours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are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pleomorphic adenomas.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Elsewhere malignant tumors are the rule and include 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adenoid-cystic and </a:t>
            </a:r>
            <a:r>
              <a:rPr lang="en-US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muco-epidermoid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</a:rPr>
              <a:t> types.</a:t>
            </a:r>
            <a:endParaRPr lang="en-IN" sz="2400" i="1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endParaRPr lang="en-IN" sz="2400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</a:endParaRPr>
          </a:p>
          <a:p>
            <a:endParaRPr lang="en-US" dirty="0"/>
          </a:p>
        </p:txBody>
      </p:sp>
      <p:pic>
        <p:nvPicPr>
          <p:cNvPr id="4" name="Picture 3" descr="http://moon.ouhsc.edu/kfung/jty1/Com07/Com07Image/Com701-1-07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6201" y="2743200"/>
            <a:ext cx="2718928" cy="3371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6890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  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  Lymphomas</a:t>
            </a:r>
          </a:p>
          <a:p>
            <a:pPr lvl="1"/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Lateral wall (tonsils) (90%)</a:t>
            </a:r>
            <a:endParaRPr lang="en-IN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Tongue base (10%)</a:t>
            </a:r>
            <a:endParaRPr lang="en-IN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IN" dirty="0"/>
          </a:p>
          <a:p>
            <a:endParaRPr lang="en-US" dirty="0"/>
          </a:p>
        </p:txBody>
      </p:sp>
      <p:pic>
        <p:nvPicPr>
          <p:cNvPr id="4" name="Picture 3" descr="See full size image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6400" y="2660073"/>
            <a:ext cx="284059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4471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en-US" b="1" dirty="0" smtClean="0">
                <a:solidFill>
                  <a:srgbClr val="0070C0"/>
                </a:solidFill>
              </a:rPr>
              <a:t>Lateral </a:t>
            </a:r>
            <a:r>
              <a:rPr lang="en-US" b="1" dirty="0">
                <a:solidFill>
                  <a:srgbClr val="0070C0"/>
                </a:solidFill>
              </a:rPr>
              <a:t>wall </a:t>
            </a:r>
            <a:r>
              <a:rPr lang="en-US" b="1" dirty="0" smtClean="0">
                <a:solidFill>
                  <a:srgbClr val="0070C0"/>
                </a:solidFill>
              </a:rPr>
              <a:t>tumors</a:t>
            </a: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Most common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tumour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(60%) and often involves tonsil.        </a:t>
            </a: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  <a:r>
              <a:rPr lang="en-US" sz="2800" b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Anteriorly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spreads to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retromolar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trigone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buccal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mucosa as well as muscles of tongue base. If the invasion gets deeper the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pterygoid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muscles are involved resulting in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trismus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800" b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Lateral spread 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involves angle of mandible.</a:t>
            </a: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600" b="1" dirty="0">
                <a:solidFill>
                  <a:srgbClr val="0070C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Inferiorly</a:t>
            </a:r>
            <a:r>
              <a:rPr 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growth spreads to involve lateral pharyngeal wall and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pyriform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sinus. The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aryepiglotic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folds and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para-glottic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space are involved subsequently. </a:t>
            </a:r>
            <a:endParaRPr lang="en-IN" sz="2600" dirty="0">
              <a:solidFill>
                <a:schemeClr val="tx1">
                  <a:lumMod val="95000"/>
                  <a:lumOff val="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The lesions of the lower pole are often difficult to see and some times primary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tumours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can  lurk with in </a:t>
            </a:r>
            <a:r>
              <a:rPr lang="en-US" sz="26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tonsillar</a:t>
            </a:r>
            <a:r>
              <a:rPr 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crypts as ‘occult primaries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’</a:t>
            </a:r>
          </a:p>
          <a:p>
            <a:pPr marL="274320" indent="-274320">
              <a:spcBef>
                <a:spcPts val="580"/>
              </a:spcBef>
              <a:buNone/>
              <a:defRPr/>
            </a:pPr>
            <a:endParaRPr lang="en-IN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28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 Clinical presentation</a:t>
            </a:r>
          </a:p>
          <a:p>
            <a:r>
              <a:rPr lang="en-US" sz="2400" dirty="0">
                <a:latin typeface="Verdana" pitchFamily="34" charset="0"/>
              </a:rPr>
              <a:t>Symptoms frequently do not appear unless lesions are at an advanced stage. </a:t>
            </a:r>
            <a:endParaRPr lang="en-IN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49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915400" cy="63246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smtClean="0">
                <a:solidFill>
                  <a:srgbClr val="0070C0"/>
                </a:solidFill>
              </a:rPr>
              <a:t>  Base </a:t>
            </a:r>
            <a:r>
              <a:rPr lang="en-US" b="1" dirty="0">
                <a:solidFill>
                  <a:srgbClr val="0070C0"/>
                </a:solidFill>
              </a:rPr>
              <a:t>of tongue </a:t>
            </a:r>
            <a:r>
              <a:rPr lang="en-US" b="1" dirty="0" smtClean="0">
                <a:solidFill>
                  <a:srgbClr val="0070C0"/>
                </a:solidFill>
              </a:rPr>
              <a:t>tumors</a:t>
            </a:r>
          </a:p>
          <a:p>
            <a:pPr lvl="1"/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60% to 70% of patients have positive palpable lymph nodes on presentation.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20% to 30% have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bilateral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 lymph nodes..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1"/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20% of patients will present with neck nodes and no apparent primary.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738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248400"/>
          </a:xfrm>
        </p:spPr>
        <p:txBody>
          <a:bodyPr/>
          <a:lstStyle/>
          <a:p>
            <a:r>
              <a:rPr lang="en-US" sz="2800" b="1" dirty="0">
                <a:solidFill>
                  <a:srgbClr val="00B0F0"/>
                </a:solidFill>
              </a:rPr>
              <a:t>The presenting features of </a:t>
            </a:r>
            <a:r>
              <a:rPr lang="en-US" sz="2800" b="1" dirty="0" err="1">
                <a:solidFill>
                  <a:srgbClr val="00B0F0"/>
                </a:solidFill>
              </a:rPr>
              <a:t>oropharyngeal</a:t>
            </a:r>
            <a:r>
              <a:rPr lang="en-US" sz="2800" b="1" dirty="0">
                <a:solidFill>
                  <a:srgbClr val="00B0F0"/>
                </a:solidFill>
              </a:rPr>
              <a:t> </a:t>
            </a:r>
            <a:r>
              <a:rPr lang="en-US" sz="2800" b="1" dirty="0" err="1" smtClean="0">
                <a:solidFill>
                  <a:srgbClr val="00B0F0"/>
                </a:solidFill>
              </a:rPr>
              <a:t>tumours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r>
              <a:rPr lang="en-US" sz="2400" dirty="0">
                <a:latin typeface="Verdana" pitchFamily="34" charset="0"/>
              </a:rPr>
              <a:t>Sore throat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 err="1">
                <a:latin typeface="Verdana" pitchFamily="34" charset="0"/>
              </a:rPr>
              <a:t>Otalgia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Dysphagia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Ulcers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Pain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 err="1">
                <a:latin typeface="Verdana" pitchFamily="34" charset="0"/>
              </a:rPr>
              <a:t>Trismus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Neck masses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Majority of patients present late</a:t>
            </a:r>
            <a:endParaRPr lang="en-IN" sz="2400" dirty="0">
              <a:latin typeface="Verdana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52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83920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 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 Investigations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US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of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neck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CXR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spcBef>
                <a:spcPts val="580"/>
              </a:spcBef>
              <a:defRPr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CT/MRI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is done to evaluate tongue base. To see the laterality of the lesion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It is important to assess any mandibular invasion </a:t>
            </a:r>
            <a:r>
              <a:rPr lang="en-IN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en-US" sz="24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Orthopantogram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CT </a:t>
            </a: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scan of chest/abdomen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873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172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en-US" sz="4000" b="1" dirty="0" smtClean="0">
                <a:solidFill>
                  <a:srgbClr val="00B0F0"/>
                </a:solidFill>
              </a:rPr>
              <a:t>Biopsy</a:t>
            </a:r>
          </a:p>
          <a:p>
            <a:pPr algn="just"/>
            <a:r>
              <a:rPr lang="en-US" sz="2400" dirty="0" err="1">
                <a:latin typeface="Verdana" pitchFamily="34" charset="0"/>
              </a:rPr>
              <a:t>Panendoscopy</a:t>
            </a:r>
            <a:r>
              <a:rPr lang="en-US" sz="2400" dirty="0">
                <a:latin typeface="Verdana" pitchFamily="34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Verdana" pitchFamily="34" charset="0"/>
              </a:rPr>
              <a:t>???</a:t>
            </a:r>
            <a:r>
              <a:rPr lang="en-US" sz="2400" dirty="0">
                <a:latin typeface="Verdana" pitchFamily="34" charset="0"/>
              </a:rPr>
              <a:t> under GA is done to assess size, site</a:t>
            </a:r>
            <a:r>
              <a:rPr lang="en-US" sz="2400" b="1" dirty="0">
                <a:latin typeface="Verdana" pitchFamily="34" charset="0"/>
              </a:rPr>
              <a:t> </a:t>
            </a:r>
            <a:r>
              <a:rPr lang="en-US" sz="2400" dirty="0">
                <a:latin typeface="Verdana" pitchFamily="34" charset="0"/>
              </a:rPr>
              <a:t>and extent of primary tumor, to take a biopsy, to look for metastatic disease and synchronous lesions and to assess neck.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Incisional biopsy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If there is smooth regular involvement of tonsil then tonsillectomy</a:t>
            </a:r>
            <a:endParaRPr lang="en-IN" sz="2400" dirty="0">
              <a:latin typeface="Verdana" pitchFamily="34" charset="0"/>
            </a:endParaRPr>
          </a:p>
          <a:p>
            <a:r>
              <a:rPr lang="en-US" sz="2400" dirty="0">
                <a:latin typeface="Verdana" pitchFamily="34" charset="0"/>
              </a:rPr>
              <a:t>Deep biopsy for base of tongue</a:t>
            </a:r>
            <a:endParaRPr lang="en-IN" sz="2400" dirty="0">
              <a:latin typeface="Verdana" pitchFamily="34" charset="0"/>
            </a:endParaRP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242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86800" cy="6248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B0F0"/>
                </a:solidFill>
              </a:rPr>
              <a:t>     Treatment policy</a:t>
            </a: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800" b="1" dirty="0">
                <a:solidFill>
                  <a:srgbClr val="00B0F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Curative: </a:t>
            </a:r>
            <a:endParaRPr lang="en-IN" sz="2800" dirty="0">
              <a:solidFill>
                <a:srgbClr val="00B0F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Radiotherapy 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Surgery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Surgery plus post-operative radiotherapy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Font typeface="Wingdings 2"/>
              <a:buChar char=""/>
              <a:defRPr/>
            </a:pPr>
            <a:r>
              <a:rPr lang="en-US" sz="2800" b="1" dirty="0">
                <a:solidFill>
                  <a:srgbClr val="00B0F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Palliative:</a:t>
            </a:r>
            <a:endParaRPr lang="en-IN" sz="2800" dirty="0">
              <a:solidFill>
                <a:srgbClr val="00B0F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Radiotherapy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Radiotherapy and chemotherapy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Tracheostomy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48640" lvl="1">
              <a:spcBef>
                <a:spcPts val="370"/>
              </a:spcBef>
              <a:buFont typeface="Wingdings 2"/>
              <a:buChar char=""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Pain relief</a:t>
            </a:r>
            <a:endParaRPr lang="en-IN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indent="-274320">
              <a:spcBef>
                <a:spcPts val="580"/>
              </a:spcBef>
              <a:buNone/>
              <a:defRPr/>
            </a:pPr>
            <a:r>
              <a:rPr lang="en-US" sz="2400" b="1" dirty="0"/>
              <a:t> </a:t>
            </a:r>
            <a:endParaRPr lang="en-IN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358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172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      </a:t>
            </a:r>
            <a:r>
              <a:rPr lang="en-US" b="1" dirty="0" err="1" smtClean="0">
                <a:solidFill>
                  <a:srgbClr val="FF0000"/>
                </a:solidFill>
              </a:rPr>
              <a:t>Hypopharynx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     </a:t>
            </a:r>
            <a:r>
              <a:rPr lang="en-US" b="1" dirty="0" smtClean="0">
                <a:solidFill>
                  <a:srgbClr val="00B0F0"/>
                </a:solidFill>
              </a:rPr>
              <a:t>Anatomical considerations</a:t>
            </a:r>
          </a:p>
          <a:p>
            <a:r>
              <a:rPr lang="en-US" sz="2400" dirty="0"/>
              <a:t>It is the lower most part of pharynx.</a:t>
            </a:r>
          </a:p>
          <a:p>
            <a:r>
              <a:rPr lang="en-US" sz="2400" dirty="0"/>
              <a:t>It begins at the level of tip of epiglottis and ends at lower border of cricoid cartilage</a:t>
            </a:r>
          </a:p>
          <a:p>
            <a:endParaRPr lang="en-US" sz="2400" dirty="0"/>
          </a:p>
        </p:txBody>
      </p:sp>
      <p:pic>
        <p:nvPicPr>
          <p:cNvPr id="8194" name="Picture 2" descr="Image result for pharynx anatom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50" y="2438400"/>
            <a:ext cx="5086350" cy="406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87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324600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Tumours</a:t>
            </a:r>
            <a:r>
              <a:rPr lang="en-US" sz="2400" dirty="0" smtClean="0"/>
              <a:t> </a:t>
            </a:r>
            <a:r>
              <a:rPr lang="en-US" sz="2400" dirty="0"/>
              <a:t>arising in this region often present in an advanced state </a:t>
            </a:r>
          </a:p>
          <a:p>
            <a:r>
              <a:rPr lang="en-US" sz="2400" dirty="0"/>
              <a:t>Key to cure lies in an early and accurate diagnosis, subsequent staging and in majority cases treatment by curative intent using surgery and post-operative radiotherapy.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42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81000"/>
            <a:ext cx="8763000" cy="6096000"/>
          </a:xfrm>
        </p:spPr>
        <p:txBody>
          <a:bodyPr/>
          <a:lstStyle/>
          <a:p>
            <a:r>
              <a:rPr lang="en-US" sz="2800" dirty="0"/>
              <a:t>It consists of </a:t>
            </a:r>
          </a:p>
          <a:p>
            <a:pPr lvl="1"/>
            <a:r>
              <a:rPr lang="en-US" sz="2400" dirty="0"/>
              <a:t>Two </a:t>
            </a:r>
            <a:r>
              <a:rPr lang="en-US" sz="2400" dirty="0" err="1"/>
              <a:t>piriform</a:t>
            </a:r>
            <a:r>
              <a:rPr lang="en-US" sz="2400" dirty="0"/>
              <a:t> sinuses-one on each side</a:t>
            </a:r>
          </a:p>
          <a:p>
            <a:pPr lvl="1"/>
            <a:r>
              <a:rPr lang="en-US" sz="2400" dirty="0"/>
              <a:t>Posterior pharyngeal wall</a:t>
            </a:r>
          </a:p>
          <a:p>
            <a:pPr lvl="1"/>
            <a:r>
              <a:rPr lang="en-US" sz="2400" dirty="0"/>
              <a:t>Post-cricoid region where </a:t>
            </a:r>
            <a:r>
              <a:rPr lang="en-US" sz="2400" dirty="0" err="1"/>
              <a:t>aerodigestive</a:t>
            </a:r>
            <a:r>
              <a:rPr lang="en-US" sz="2400" dirty="0"/>
              <a:t> tract continues with cervical </a:t>
            </a:r>
            <a:r>
              <a:rPr lang="en-US" sz="2400" dirty="0" err="1"/>
              <a:t>oesophagus</a:t>
            </a:r>
            <a:endParaRPr lang="en-US" sz="2400" dirty="0"/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9218" name="Picture 2" descr="C:\Users\Rozh\Desktop\6645d46c_151a22e0018__8000_000008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915" y="2667000"/>
            <a:ext cx="5277686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542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00B0F0"/>
                </a:solidFill>
              </a:rPr>
              <a:t>    </a:t>
            </a:r>
            <a:r>
              <a:rPr lang="en-US" sz="4000" b="1" dirty="0" err="1" smtClean="0">
                <a:solidFill>
                  <a:srgbClr val="00B0F0"/>
                </a:solidFill>
              </a:rPr>
              <a:t>Lymphatics</a:t>
            </a:r>
            <a:endParaRPr lang="en-US" sz="4000" b="1" dirty="0" smtClean="0">
              <a:solidFill>
                <a:srgbClr val="00B0F0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sz="2800" dirty="0" err="1"/>
              <a:t>Piriform</a:t>
            </a:r>
            <a:r>
              <a:rPr lang="en-US" sz="2800" dirty="0"/>
              <a:t> sinus has a rich underlying network of </a:t>
            </a:r>
            <a:r>
              <a:rPr lang="en-US" sz="2800" dirty="0" err="1"/>
              <a:t>lymphatics</a:t>
            </a:r>
            <a:r>
              <a:rPr lang="en-US" sz="2800" dirty="0"/>
              <a:t> but this is less extensive in other </a:t>
            </a:r>
            <a:r>
              <a:rPr lang="en-US" sz="2800" dirty="0" err="1"/>
              <a:t>subsites</a:t>
            </a:r>
            <a:r>
              <a:rPr lang="en-US" sz="2800" dirty="0"/>
              <a:t>. 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In general, the </a:t>
            </a:r>
            <a:r>
              <a:rPr lang="en-US" sz="2800" dirty="0" err="1"/>
              <a:t>lymphatics</a:t>
            </a:r>
            <a:r>
              <a:rPr lang="en-US" sz="2800" dirty="0"/>
              <a:t> in this area drain to deep cervical chain in level IV, but the inferior part of </a:t>
            </a:r>
            <a:r>
              <a:rPr lang="en-US" sz="2800" dirty="0" err="1"/>
              <a:t>piriform</a:t>
            </a:r>
            <a:r>
              <a:rPr lang="en-US" sz="2800" dirty="0"/>
              <a:t> sinus and post-cricoid area also drain to the </a:t>
            </a:r>
            <a:r>
              <a:rPr lang="en-US" sz="2800" dirty="0" err="1"/>
              <a:t>paratracheal</a:t>
            </a:r>
            <a:r>
              <a:rPr lang="en-US" sz="2800" dirty="0"/>
              <a:t> nodes in level VI, and the posterior pharyngeal wall also drains to the retropharyngeal lymph nodes </a:t>
            </a:r>
          </a:p>
          <a:p>
            <a:pPr>
              <a:buFont typeface="Wingdings" pitchFamily="2" charset="2"/>
              <a:buChar char="Ø"/>
            </a:pPr>
            <a:endParaRPr lang="en-US" sz="2800" dirty="0"/>
          </a:p>
        </p:txBody>
      </p:sp>
      <p:pic>
        <p:nvPicPr>
          <p:cNvPr id="10242" name="Picture 2" descr="C:\Users\Rozh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687" y="4032647"/>
            <a:ext cx="3427840" cy="263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4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 noChangeArrowheads="1"/>
          </p:cNvSpPr>
          <p:nvPr>
            <p:ph idx="1"/>
          </p:nvPr>
        </p:nvSpPr>
        <p:spPr>
          <a:xfrm>
            <a:off x="228600" y="381000"/>
            <a:ext cx="8610600" cy="6096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indent="0"/>
            <a:r>
              <a:rPr lang="en-US" b="1" dirty="0" smtClean="0"/>
              <a:t>  Surgical Pathology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Almost all carcinomas of the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hypopharynx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are squamous cell in type.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Tumours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the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piriform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sinus constitute the largest group of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hypopharyngeal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tumours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Tumours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the post-cricoid space are the next most common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hypopharyngeal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Tumours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on the posterior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hypopharyngeal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wall are the least common and constitute approx. 10% of these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tumours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Alcohol and tobacco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remain the two principal carcinogens implicated in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tumours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the upper </a:t>
            </a:r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aerodigestive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tract.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45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      Post </a:t>
            </a:r>
            <a:r>
              <a:rPr lang="en-US" dirty="0">
                <a:solidFill>
                  <a:srgbClr val="7030A0"/>
                </a:solidFill>
              </a:rPr>
              <a:t>cricoid carcinoma </a:t>
            </a:r>
            <a:endParaRPr lang="en-US" dirty="0" smtClean="0">
              <a:solidFill>
                <a:srgbClr val="7030A0"/>
              </a:solidFill>
            </a:endParaRP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remains the only squamous cell carcinoma more common in women than men.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relation to post cricoid carcinoma a major dietary (iron deficiency) has particularly been described particularly with </a:t>
            </a:r>
            <a:r>
              <a:rPr lang="en-US" b="1" u="sng" dirty="0">
                <a:solidFill>
                  <a:srgbClr val="7030A0"/>
                </a:solidFill>
              </a:rPr>
              <a:t>Plummer Vinson Syndrome</a:t>
            </a:r>
            <a:r>
              <a:rPr lang="en-US" b="1" dirty="0">
                <a:solidFill>
                  <a:srgbClr val="7030A0"/>
                </a:solidFill>
              </a:rPr>
              <a:t>. 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syndrome is also called </a:t>
            </a:r>
            <a:r>
              <a:rPr lang="en-US" b="1" dirty="0">
                <a:solidFill>
                  <a:srgbClr val="7030A0"/>
                </a:solidFill>
              </a:rPr>
              <a:t>Paterson Brown Kelly Syndrome </a:t>
            </a:r>
          </a:p>
          <a:p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88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400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 </a:t>
            </a:r>
            <a:r>
              <a:rPr lang="en-US" b="1" dirty="0" smtClean="0">
                <a:solidFill>
                  <a:srgbClr val="FF0000"/>
                </a:solidFill>
              </a:rPr>
              <a:t>Paterson </a:t>
            </a:r>
            <a:r>
              <a:rPr lang="en-US" b="1" dirty="0">
                <a:solidFill>
                  <a:srgbClr val="FF0000"/>
                </a:solidFill>
              </a:rPr>
              <a:t>Brown Kelly Syndrome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609600" indent="-609600"/>
            <a:r>
              <a:rPr lang="en-US" sz="2400" dirty="0" err="1"/>
              <a:t>Anaemia</a:t>
            </a:r>
            <a:r>
              <a:rPr lang="en-US" sz="2400" dirty="0"/>
              <a:t> (both microcytic or macrocytic); </a:t>
            </a:r>
          </a:p>
          <a:p>
            <a:pPr marL="609600" indent="-609600"/>
            <a:r>
              <a:rPr lang="en-US" sz="2400" dirty="0" err="1"/>
              <a:t>Glossitis</a:t>
            </a:r>
            <a:endParaRPr lang="en-US" sz="2400" dirty="0"/>
          </a:p>
          <a:p>
            <a:pPr marL="609600" indent="-609600"/>
            <a:r>
              <a:rPr lang="en-US" sz="2400" dirty="0" err="1"/>
              <a:t>Oesophageal</a:t>
            </a:r>
            <a:r>
              <a:rPr lang="en-US" sz="2400" dirty="0"/>
              <a:t> web</a:t>
            </a:r>
          </a:p>
          <a:p>
            <a:pPr marL="609600" indent="-609600"/>
            <a:r>
              <a:rPr lang="en-US" sz="2400" dirty="0" err="1"/>
              <a:t>Spleenomegly</a:t>
            </a:r>
            <a:endParaRPr lang="en-US" sz="2400" dirty="0"/>
          </a:p>
          <a:p>
            <a:pPr marL="609600" indent="-609600"/>
            <a:r>
              <a:rPr lang="en-US" sz="2400" dirty="0" err="1"/>
              <a:t>Koilonychia</a:t>
            </a:r>
            <a:r>
              <a:rPr lang="en-US" sz="2400" dirty="0"/>
              <a:t> </a:t>
            </a:r>
          </a:p>
          <a:p>
            <a:pPr marL="609600" indent="-609600"/>
            <a:r>
              <a:rPr lang="en-US" sz="2400" dirty="0"/>
              <a:t>Some patients also have history of irradiation of neck either external or internal as radio iodine for thyrotoxicosis.</a:t>
            </a:r>
          </a:p>
          <a:p>
            <a:endParaRPr lang="en-US" sz="2400" dirty="0"/>
          </a:p>
        </p:txBody>
      </p:sp>
      <p:pic>
        <p:nvPicPr>
          <p:cNvPr id="4" name="Picture 3" descr="img007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4191000"/>
            <a:ext cx="3124200" cy="2124075"/>
          </a:xfrm>
          <a:prstGeom prst="rect">
            <a:avLst/>
          </a:prstGeom>
          <a:noFill/>
        </p:spPr>
      </p:pic>
      <p:pic>
        <p:nvPicPr>
          <p:cNvPr id="11266" name="Picture 2" descr="C:\Users\Rozh\Desktop\35836t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1" y="3857752"/>
            <a:ext cx="2743200" cy="280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C:\Users\Rozh\Desktop\untitl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57200"/>
            <a:ext cx="19335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11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324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Symptoms </a:t>
            </a:r>
            <a:r>
              <a:rPr lang="en-US" sz="2800" b="1" dirty="0" smtClean="0">
                <a:solidFill>
                  <a:schemeClr val="accent6"/>
                </a:solidFill>
              </a:rPr>
              <a:t>suggesting </a:t>
            </a:r>
            <a:r>
              <a:rPr lang="en-US" sz="2800" b="1" dirty="0">
                <a:solidFill>
                  <a:schemeClr val="accent6"/>
                </a:solidFill>
              </a:rPr>
              <a:t>a possible pharyngeal </a:t>
            </a:r>
            <a:r>
              <a:rPr lang="en-US" sz="2800" b="1" dirty="0" err="1" smtClean="0">
                <a:solidFill>
                  <a:schemeClr val="accent6"/>
                </a:solidFill>
              </a:rPr>
              <a:t>tumours</a:t>
            </a:r>
            <a:r>
              <a:rPr lang="en-US" sz="2800" dirty="0" smtClean="0">
                <a:solidFill>
                  <a:schemeClr val="accent6"/>
                </a:solidFill>
              </a:rPr>
              <a:t> </a:t>
            </a:r>
          </a:p>
          <a:p>
            <a:pPr marL="609600" indent="-609600"/>
            <a:r>
              <a:rPr lang="en-US" sz="2800" b="1" dirty="0">
                <a:solidFill>
                  <a:srgbClr val="FFC000"/>
                </a:solidFill>
              </a:rPr>
              <a:t>Dysphagia</a:t>
            </a:r>
            <a:r>
              <a:rPr lang="en-US" sz="2800" dirty="0">
                <a:solidFill>
                  <a:srgbClr val="FFC000"/>
                </a:solidFill>
              </a:rPr>
              <a:t>:</a:t>
            </a:r>
            <a:r>
              <a:rPr lang="en-US" sz="2800" dirty="0"/>
              <a:t> Often persistent and progressive. Patients who complain of food sticking in throat need to be investigated.</a:t>
            </a:r>
            <a:endParaRPr lang="en-US" sz="2800" b="1" dirty="0"/>
          </a:p>
          <a:p>
            <a:pPr marL="609600" indent="-609600"/>
            <a:r>
              <a:rPr lang="en-US" sz="2800" b="1" dirty="0">
                <a:solidFill>
                  <a:srgbClr val="FFC000"/>
                </a:solidFill>
              </a:rPr>
              <a:t>Pain</a:t>
            </a:r>
            <a:r>
              <a:rPr lang="en-US" sz="2800" dirty="0">
                <a:solidFill>
                  <a:srgbClr val="FFC000"/>
                </a:solidFill>
              </a:rPr>
              <a:t>:</a:t>
            </a:r>
            <a:r>
              <a:rPr lang="en-US" sz="2800" dirty="0"/>
              <a:t> Usually lateralized and prominent on swallowing , may radiate to </a:t>
            </a:r>
            <a:r>
              <a:rPr lang="en-US" sz="2800" dirty="0" err="1"/>
              <a:t>ipsilateral</a:t>
            </a:r>
            <a:r>
              <a:rPr lang="en-US" sz="2800" dirty="0"/>
              <a:t> ear</a:t>
            </a:r>
            <a:endParaRPr lang="en-US" sz="2800" b="1" dirty="0"/>
          </a:p>
          <a:p>
            <a:pPr marL="609600" indent="-609600"/>
            <a:r>
              <a:rPr lang="en-US" sz="2800" b="1" dirty="0">
                <a:solidFill>
                  <a:srgbClr val="FFC000"/>
                </a:solidFill>
              </a:rPr>
              <a:t>Hoarseness</a:t>
            </a:r>
            <a:r>
              <a:rPr lang="en-US" sz="2800" dirty="0">
                <a:solidFill>
                  <a:srgbClr val="FFC000"/>
                </a:solidFill>
              </a:rPr>
              <a:t>:</a:t>
            </a:r>
            <a:r>
              <a:rPr lang="en-US" sz="2800" dirty="0"/>
              <a:t> When it occurs in association with dysphagia or referred </a:t>
            </a:r>
            <a:r>
              <a:rPr lang="en-US" sz="2800" dirty="0" err="1"/>
              <a:t>otalgia</a:t>
            </a:r>
            <a:r>
              <a:rPr lang="en-US" sz="2800" dirty="0"/>
              <a:t> usually means extension of tumor into larynx</a:t>
            </a:r>
          </a:p>
          <a:p>
            <a:endParaRPr lang="en-US" sz="2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32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7630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2060"/>
                </a:solidFill>
              </a:rPr>
              <a:t>    Symptoms </a:t>
            </a:r>
            <a:r>
              <a:rPr lang="en-US" sz="2800" b="1" dirty="0">
                <a:solidFill>
                  <a:srgbClr val="002060"/>
                </a:solidFill>
              </a:rPr>
              <a:t>suggesting a possible pharyngeal </a:t>
            </a:r>
            <a:r>
              <a:rPr lang="en-US" sz="2800" b="1" dirty="0" err="1" smtClean="0">
                <a:solidFill>
                  <a:srgbClr val="002060"/>
                </a:solidFill>
              </a:rPr>
              <a:t>tumour</a:t>
            </a:r>
            <a:endParaRPr lang="en-US" sz="2800" b="1" dirty="0" smtClean="0">
              <a:solidFill>
                <a:srgbClr val="002060"/>
              </a:solidFill>
            </a:endParaRPr>
          </a:p>
          <a:p>
            <a:pPr marL="609600" indent="-609600">
              <a:lnSpc>
                <a:spcPct val="20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Neck Mass</a:t>
            </a:r>
            <a:r>
              <a:rPr lang="en-US" sz="2400" dirty="0"/>
              <a:t>: Likely to be due to nodal metastasis, but may be due to direct extension through </a:t>
            </a:r>
            <a:r>
              <a:rPr lang="en-US" sz="2400" dirty="0" err="1"/>
              <a:t>thyrohyoid</a:t>
            </a:r>
            <a:r>
              <a:rPr lang="en-US" sz="2400" dirty="0"/>
              <a:t> membrane.</a:t>
            </a:r>
            <a:endParaRPr lang="en-US" sz="2400" b="1" dirty="0"/>
          </a:p>
          <a:p>
            <a:pPr marL="609600" indent="-609600">
              <a:lnSpc>
                <a:spcPct val="20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Hemoptysis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sz="2400" dirty="0"/>
              <a:t>An unusual symptom, but can occur with tumors of </a:t>
            </a:r>
            <a:r>
              <a:rPr lang="en-US" sz="2400" dirty="0" err="1"/>
              <a:t>Piriform</a:t>
            </a:r>
            <a:r>
              <a:rPr lang="en-US" sz="2400" dirty="0"/>
              <a:t> Sinus or Post Pharyngeal wall.</a:t>
            </a:r>
            <a:endParaRPr lang="en-US" sz="2400" b="1" dirty="0"/>
          </a:p>
          <a:p>
            <a:pPr marL="609600" indent="-609600">
              <a:lnSpc>
                <a:spcPct val="2000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Weight loss</a:t>
            </a:r>
            <a:r>
              <a:rPr lang="en-US" sz="2400" dirty="0">
                <a:solidFill>
                  <a:srgbClr val="FFC000"/>
                </a:solidFill>
              </a:rPr>
              <a:t>: </a:t>
            </a:r>
            <a:r>
              <a:rPr lang="en-US" sz="2400" dirty="0"/>
              <a:t>Often occurs in presence of significant disease.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8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763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700" b="1" dirty="0" smtClean="0"/>
              <a:t>  </a:t>
            </a:r>
            <a:r>
              <a:rPr lang="en-US" sz="4000" b="1" dirty="0" smtClean="0">
                <a:solidFill>
                  <a:srgbClr val="0070C0"/>
                </a:solidFill>
              </a:rPr>
              <a:t>Examination</a:t>
            </a:r>
            <a:r>
              <a:rPr lang="en-US" sz="4000" dirty="0" smtClean="0">
                <a:solidFill>
                  <a:srgbClr val="0070C0"/>
                </a:solidFill>
              </a:rPr>
              <a:t> </a:t>
            </a:r>
          </a:p>
          <a:p>
            <a:pPr algn="just">
              <a:lnSpc>
                <a:spcPct val="200000"/>
              </a:lnSpc>
            </a:pPr>
            <a:r>
              <a:rPr lang="en-US" sz="3800" dirty="0"/>
              <a:t>Indirect Laryngoscopy (IDL)</a:t>
            </a:r>
          </a:p>
          <a:p>
            <a:pPr algn="just">
              <a:lnSpc>
                <a:spcPct val="200000"/>
              </a:lnSpc>
            </a:pPr>
            <a:r>
              <a:rPr lang="en-US" sz="3800" dirty="0"/>
              <a:t>Direct Laryngoscopy (DL</a:t>
            </a:r>
            <a:r>
              <a:rPr lang="en-US" sz="3800" dirty="0" smtClean="0"/>
              <a:t>)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91554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8686800" cy="61722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Radiological Assessment</a:t>
            </a:r>
            <a:r>
              <a:rPr lang="en-US" sz="5400" dirty="0">
                <a:solidFill>
                  <a:srgbClr val="FFC000"/>
                </a:solidFill>
              </a:rPr>
              <a:t> </a:t>
            </a:r>
            <a:endParaRPr lang="en-US" sz="5400" dirty="0" smtClean="0">
              <a:solidFill>
                <a:srgbClr val="FFC000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Barium Swallow</a:t>
            </a:r>
            <a:r>
              <a:rPr lang="en-US" dirty="0"/>
              <a:t>: </a:t>
            </a:r>
            <a:r>
              <a:rPr lang="en-US" sz="2400" dirty="0"/>
              <a:t>Extremely useful investigation in these tumors. Objectives include:</a:t>
            </a:r>
          </a:p>
          <a:p>
            <a:pPr>
              <a:buFont typeface="Wingdings" charset="2"/>
              <a:buChar char="v"/>
            </a:pPr>
            <a:r>
              <a:rPr lang="en-US" sz="2400" dirty="0"/>
              <a:t>To assess tumor length</a:t>
            </a:r>
          </a:p>
          <a:p>
            <a:pPr>
              <a:buFont typeface="Wingdings" charset="2"/>
              <a:buChar char="v"/>
            </a:pPr>
            <a:r>
              <a:rPr lang="en-US" sz="2400" dirty="0"/>
              <a:t>To rule out synchronous primary tumor of esophagus</a:t>
            </a:r>
          </a:p>
          <a:p>
            <a:pPr>
              <a:buFont typeface="Wingdings" charset="2"/>
              <a:buChar char="v"/>
            </a:pPr>
            <a:r>
              <a:rPr lang="en-US" sz="2400" dirty="0"/>
              <a:t>To ascertain presence or absence of aspiration</a:t>
            </a:r>
          </a:p>
          <a:p>
            <a:pPr>
              <a:buFont typeface="Wingdings" charset="2"/>
              <a:buChar char="v"/>
            </a:pPr>
            <a:r>
              <a:rPr lang="en-US" sz="2400" dirty="0"/>
              <a:t>To assess tumor mobility on vertebral column</a:t>
            </a:r>
          </a:p>
          <a:p>
            <a:endParaRPr lang="en-US" dirty="0"/>
          </a:p>
        </p:txBody>
      </p:sp>
      <p:pic>
        <p:nvPicPr>
          <p:cNvPr id="12290" name="Picture 2" descr="C:\Users\Rozh\Desktop\untitl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940629"/>
            <a:ext cx="2152650" cy="246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5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686800" cy="63246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00B0F0"/>
                </a:solidFill>
              </a:rPr>
              <a:t>    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</a:rPr>
              <a:t> </a:t>
            </a:r>
            <a:r>
              <a:rPr lang="en-US" sz="3600" b="1" dirty="0" smtClean="0">
                <a:solidFill>
                  <a:srgbClr val="00B0F0"/>
                </a:solidFill>
              </a:rPr>
              <a:t>    CT </a:t>
            </a:r>
            <a:r>
              <a:rPr lang="en-US" sz="3600" b="1" dirty="0">
                <a:solidFill>
                  <a:srgbClr val="00B0F0"/>
                </a:solidFill>
              </a:rPr>
              <a:t>and MRI</a:t>
            </a:r>
            <a:r>
              <a:rPr lang="en-US" sz="3600" dirty="0">
                <a:solidFill>
                  <a:srgbClr val="00B0F0"/>
                </a:solidFill>
              </a:rPr>
              <a:t> </a:t>
            </a:r>
          </a:p>
          <a:p>
            <a:pPr marL="914400" lvl="1" indent="-457200" algn="just"/>
            <a:r>
              <a:rPr lang="en-US" sz="2400" dirty="0"/>
              <a:t>To assess the extent of the primary tumor and extensions.</a:t>
            </a:r>
          </a:p>
          <a:p>
            <a:pPr marL="914400" lvl="1" indent="-457200" algn="just"/>
            <a:r>
              <a:rPr lang="en-US" sz="2400" dirty="0"/>
              <a:t>To rule out second primary and distant metastasis</a:t>
            </a:r>
          </a:p>
          <a:p>
            <a:pPr marL="914400" lvl="1" indent="-457200" algn="just"/>
            <a:r>
              <a:rPr lang="en-US" sz="2400" dirty="0"/>
              <a:t>To assess neck</a:t>
            </a:r>
          </a:p>
          <a:p>
            <a:pPr marL="914400" lvl="1" indent="-457200" algn="just"/>
            <a:r>
              <a:rPr lang="en-US" sz="2400" dirty="0"/>
              <a:t>To look for cartilage invasion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615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8686800" cy="60198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    </a:t>
            </a:r>
            <a:r>
              <a:rPr lang="en-US" sz="4000" b="1" dirty="0" smtClean="0">
                <a:solidFill>
                  <a:srgbClr val="00B0F0"/>
                </a:solidFill>
              </a:rPr>
              <a:t>Endoscopy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Examination </a:t>
            </a:r>
            <a:r>
              <a:rPr lang="en-US" dirty="0"/>
              <a:t>of oral cavity</a:t>
            </a:r>
          </a:p>
          <a:p>
            <a:r>
              <a:rPr lang="en-US" dirty="0" smtClean="0"/>
              <a:t>Examination </a:t>
            </a:r>
            <a:r>
              <a:rPr lang="en-US" dirty="0"/>
              <a:t>of larynx, pharynx, trachea and esophagus</a:t>
            </a:r>
          </a:p>
          <a:p>
            <a:pPr marL="533400" indent="-533400"/>
            <a:r>
              <a:rPr lang="en-US" dirty="0" smtClean="0"/>
              <a:t>Biopsy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19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324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</a:t>
            </a:r>
            <a:r>
              <a:rPr lang="en-US" b="1" dirty="0" smtClean="0">
                <a:solidFill>
                  <a:srgbClr val="C00000"/>
                </a:solidFill>
              </a:rPr>
              <a:t>Treatment </a:t>
            </a:r>
            <a:r>
              <a:rPr lang="en-US" b="1" dirty="0">
                <a:solidFill>
                  <a:srgbClr val="C00000"/>
                </a:solidFill>
              </a:rPr>
              <a:t>policy</a:t>
            </a:r>
            <a:r>
              <a:rPr lang="en-US" dirty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Approximately 25% of patients with </a:t>
            </a:r>
            <a:r>
              <a:rPr lang="en-US" sz="2400" dirty="0" err="1">
                <a:latin typeface="Times New Roman" charset="0"/>
                <a:ea typeface="Times New Roman" charset="0"/>
                <a:cs typeface="Times New Roman" charset="0"/>
              </a:rPr>
              <a:t>hypopharyngeal</a:t>
            </a: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carcinoma are not treatable at presentation due to advanced age, poor general health, inoperability of the tumor and extensive neck disease. Such patients may be considered for radiotherapy with a palliative intent. Chemotherapy has no established role.</a:t>
            </a:r>
          </a:p>
          <a:p>
            <a:pPr lvl="1">
              <a:lnSpc>
                <a:spcPct val="200000"/>
              </a:lnSpc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Long term results may be obtained with surgery or radiotherapy but are not encouraging.</a:t>
            </a:r>
          </a:p>
          <a:p>
            <a:pPr lvl="1">
              <a:lnSpc>
                <a:spcPct val="200000"/>
              </a:lnSpc>
            </a:pPr>
            <a:r>
              <a:rPr lang="en-US" sz="2400" dirty="0">
                <a:latin typeface="Times New Roman" charset="0"/>
                <a:ea typeface="Times New Roman" charset="0"/>
                <a:cs typeface="Times New Roman" charset="0"/>
              </a:rPr>
              <a:t> 5 year survival rate with surgery and with or w/o post operative radiotherapy are 35%.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67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Rozh\Desktop\thank-you-185078737-58adfa013df78c345b0837e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96049"/>
            <a:ext cx="8686800" cy="578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27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1220</Words>
  <Application>Microsoft Office PowerPoint</Application>
  <PresentationFormat>On-screen Show (4:3)</PresentationFormat>
  <Paragraphs>193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Rozh</dc:creator>
  <cp:lastModifiedBy>Rozh</cp:lastModifiedBy>
  <cp:revision>91</cp:revision>
  <dcterms:created xsi:type="dcterms:W3CDTF">2019-10-12T18:22:17Z</dcterms:created>
  <dcterms:modified xsi:type="dcterms:W3CDTF">2025-11-01T19:29:20Z</dcterms:modified>
</cp:coreProperties>
</file>