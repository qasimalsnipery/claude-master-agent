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96" r:id="rId27"/>
    <p:sldId id="284" r:id="rId28"/>
    <p:sldId id="285" r:id="rId29"/>
    <p:sldId id="297" r:id="rId30"/>
    <p:sldId id="286" r:id="rId31"/>
    <p:sldId id="287" r:id="rId32"/>
    <p:sldId id="288" r:id="rId33"/>
    <p:sldId id="289" r:id="rId34"/>
    <p:sldId id="292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78AC1-DB05-4465-953A-86B82B38BD95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CCBFB-CEBF-4630-8FB7-AD170556B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2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CCBFB-CEBF-4630-8FB7-AD170556BA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6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7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8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4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1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2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2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4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4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D3061-51E1-4D04-A1DF-D35FA381B8B8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2B7BE-9937-44BC-B097-A1E6BEB99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2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radiopaedia.org/articles/delphian_nod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://radiopaedia.org/images/26383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</a:t>
            </a:r>
            <a:r>
              <a:rPr lang="en-US" b="1" dirty="0" smtClean="0">
                <a:solidFill>
                  <a:srgbClr val="0070C0"/>
                </a:solidFill>
              </a:rPr>
              <a:t>Cervical lymphadenopathy and neck mass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                  </a:t>
            </a:r>
            <a:r>
              <a:rPr lang="en-US" sz="3600" b="1" dirty="0" err="1" smtClean="0">
                <a:solidFill>
                  <a:srgbClr val="0070C0"/>
                </a:solidFill>
              </a:rPr>
              <a:t>DR:Mariwan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latif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 smtClean="0">
                <a:solidFill>
                  <a:srgbClr val="0070C0"/>
                </a:solidFill>
              </a:rPr>
              <a:t>fatah</a:t>
            </a:r>
            <a:r>
              <a:rPr lang="en-US" sz="3600" b="1" dirty="0" smtClean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</a:rPr>
              <a:t>                    </a:t>
            </a:r>
            <a:r>
              <a:rPr lang="en-US" sz="3600" b="1" dirty="0" err="1" smtClean="0">
                <a:solidFill>
                  <a:srgbClr val="0070C0"/>
                </a:solidFill>
              </a:rPr>
              <a:t>M.B.ch.B</a:t>
            </a:r>
            <a:r>
              <a:rPr lang="en-US" sz="3600" b="1" dirty="0" smtClean="0">
                <a:solidFill>
                  <a:srgbClr val="0070C0"/>
                </a:solidFill>
              </a:rPr>
              <a:t>  F.I.C.M.S </a:t>
            </a:r>
            <a:endParaRPr lang="en-US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85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915400" cy="6324600"/>
          </a:xfrm>
        </p:spPr>
        <p:txBody>
          <a:bodyPr/>
          <a:lstStyle/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      levels </a:t>
            </a:r>
            <a:r>
              <a:rPr lang="en-GB" b="1" dirty="0">
                <a:solidFill>
                  <a:srgbClr val="FF0000"/>
                </a:solidFill>
              </a:rPr>
              <a:t>of the neck  (6 levels)</a:t>
            </a:r>
          </a:p>
          <a:p>
            <a:pPr>
              <a:buNone/>
            </a:pPr>
            <a:r>
              <a:rPr lang="en-GB" sz="2800" b="1" dirty="0" smtClean="0"/>
              <a:t>  Level   I  </a:t>
            </a:r>
            <a:endParaRPr lang="en-GB" sz="3600" dirty="0" smtClean="0"/>
          </a:p>
          <a:p>
            <a:pPr lvl="0"/>
            <a:r>
              <a:rPr lang="en-GB" sz="2400" dirty="0" smtClean="0"/>
              <a:t>below </a:t>
            </a:r>
            <a:r>
              <a:rPr lang="en-GB" sz="2400" dirty="0" err="1" smtClean="0"/>
              <a:t>myohyoid</a:t>
            </a:r>
            <a:r>
              <a:rPr lang="en-GB" sz="2400" dirty="0" smtClean="0"/>
              <a:t> muscle and above the lower margin of the hyoid bone </a:t>
            </a:r>
          </a:p>
          <a:p>
            <a:pPr lvl="0"/>
            <a:r>
              <a:rPr lang="en-GB" sz="2400" dirty="0" smtClean="0"/>
              <a:t>anterior to the posterior border of the submandibular glands</a:t>
            </a:r>
          </a:p>
          <a:p>
            <a:pPr lvl="1"/>
            <a:r>
              <a:rPr lang="en-GB" sz="2400" b="1" dirty="0" smtClean="0"/>
              <a:t>level </a:t>
            </a:r>
            <a:r>
              <a:rPr lang="en-GB" sz="2400" b="1" dirty="0" err="1" smtClean="0"/>
              <a:t>Ia</a:t>
            </a:r>
            <a:r>
              <a:rPr lang="en-GB" sz="2400" b="1" dirty="0" smtClean="0"/>
              <a:t> </a:t>
            </a:r>
            <a:r>
              <a:rPr lang="en-GB" sz="2400" dirty="0" smtClean="0"/>
              <a:t>: sub mental - between the anterior bellies of the digastric muscle</a:t>
            </a:r>
          </a:p>
          <a:p>
            <a:pPr lvl="1"/>
            <a:r>
              <a:rPr lang="en-GB" sz="2400" b="1" dirty="0" smtClean="0"/>
              <a:t>level </a:t>
            </a:r>
            <a:r>
              <a:rPr lang="en-GB" sz="2400" b="1" dirty="0" err="1" smtClean="0"/>
              <a:t>Ib</a:t>
            </a:r>
            <a:r>
              <a:rPr lang="en-GB" sz="2400" b="1" dirty="0" smtClean="0"/>
              <a:t> </a:t>
            </a:r>
            <a:r>
              <a:rPr lang="en-GB" sz="2400" dirty="0" smtClean="0"/>
              <a:t>: sub mandibular - </a:t>
            </a:r>
            <a:r>
              <a:rPr lang="en-GB" sz="2400" dirty="0" err="1" smtClean="0"/>
              <a:t>posterolateral</a:t>
            </a:r>
            <a:r>
              <a:rPr lang="en-GB" sz="2400" dirty="0" smtClean="0"/>
              <a:t> to the anterior belly of digastric</a:t>
            </a:r>
          </a:p>
          <a:p>
            <a:r>
              <a:rPr lang="en-GB" sz="2400" b="1" u="sng" dirty="0" smtClean="0"/>
              <a:t>drains the lip, oral cavity and tongue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2" name="Picture 4" descr="File:Musculi colli mylohyoideu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038600"/>
            <a:ext cx="3152775" cy="2671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53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rozh\Pictures\Neck_Node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304800"/>
            <a:ext cx="7561888" cy="5894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83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sz="36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Level II</a:t>
            </a:r>
            <a:endParaRPr lang="en-GB" sz="4400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GB" dirty="0" err="1" smtClean="0"/>
              <a:t>jugulodigastric</a:t>
            </a:r>
            <a:r>
              <a:rPr lang="en-GB" dirty="0" smtClean="0"/>
              <a:t> .</a:t>
            </a:r>
          </a:p>
          <a:p>
            <a:pPr lvl="0"/>
            <a:r>
              <a:rPr lang="en-GB" dirty="0" smtClean="0"/>
              <a:t>base of skull to lower margin of hyoid bone.</a:t>
            </a:r>
          </a:p>
          <a:p>
            <a:pPr lvl="0"/>
            <a:r>
              <a:rPr lang="en-GB" dirty="0" smtClean="0"/>
              <a:t>anterior to the posterior border of sternocleidomastoid (SCM).</a:t>
            </a:r>
          </a:p>
          <a:p>
            <a:pPr lvl="0"/>
            <a:r>
              <a:rPr lang="en-GB" dirty="0" smtClean="0"/>
              <a:t>posterior to the posterior border of the submandibular glands .</a:t>
            </a:r>
          </a:p>
          <a:p>
            <a:r>
              <a:rPr lang="en-GB" b="1" u="sng" dirty="0" smtClean="0"/>
              <a:t>Drains the oropharynx, larynx, </a:t>
            </a:r>
            <a:r>
              <a:rPr lang="en-GB" b="1" u="sng" dirty="0" err="1" smtClean="0"/>
              <a:t>hypopharynx</a:t>
            </a:r>
            <a:r>
              <a:rPr lang="en-GB" b="1" u="sng" dirty="0" smtClean="0"/>
              <a:t> and parotid gland.</a:t>
            </a:r>
          </a:p>
          <a:p>
            <a:r>
              <a:rPr lang="en-GB" dirty="0" smtClean="0"/>
              <a:t>The course of the spinal accessory nerve divides this level into two subzones.</a:t>
            </a:r>
          </a:p>
          <a:p>
            <a:r>
              <a:rPr lang="en-GB" sz="4400" dirty="0" smtClean="0">
                <a:solidFill>
                  <a:srgbClr val="FF0000"/>
                </a:solidFill>
              </a:rPr>
              <a:t>Level </a:t>
            </a:r>
            <a:r>
              <a:rPr lang="en-GB" sz="4400" dirty="0" err="1" smtClean="0">
                <a:solidFill>
                  <a:srgbClr val="FF0000"/>
                </a:solidFill>
              </a:rPr>
              <a:t>IIa</a:t>
            </a:r>
            <a:r>
              <a:rPr lang="en-GB" sz="4400" dirty="0" smtClean="0">
                <a:solidFill>
                  <a:srgbClr val="FF0000"/>
                </a:solidFill>
              </a:rPr>
              <a:t> </a:t>
            </a:r>
            <a:r>
              <a:rPr lang="en-GB" dirty="0" smtClean="0"/>
              <a:t>lies </a:t>
            </a:r>
            <a:r>
              <a:rPr lang="en-GB" dirty="0" err="1" smtClean="0"/>
              <a:t>anteroinferior</a:t>
            </a:r>
            <a:r>
              <a:rPr lang="en-GB" dirty="0" smtClean="0"/>
              <a:t> to the spinal accessory nerve </a:t>
            </a:r>
          </a:p>
          <a:p>
            <a:r>
              <a:rPr lang="en-GB" sz="4400" dirty="0" smtClean="0">
                <a:solidFill>
                  <a:srgbClr val="0070C0"/>
                </a:solidFill>
              </a:rPr>
              <a:t>Level  </a:t>
            </a:r>
            <a:r>
              <a:rPr lang="en-GB" sz="4400" dirty="0" err="1" smtClean="0">
                <a:solidFill>
                  <a:srgbClr val="0070C0"/>
                </a:solidFill>
              </a:rPr>
              <a:t>lIb</a:t>
            </a:r>
            <a:r>
              <a:rPr lang="en-GB" sz="4400" dirty="0" smtClean="0">
                <a:solidFill>
                  <a:srgbClr val="0070C0"/>
                </a:solidFill>
              </a:rPr>
              <a:t> </a:t>
            </a:r>
            <a:r>
              <a:rPr lang="en-GB" dirty="0" err="1" smtClean="0"/>
              <a:t>posterosuperior</a:t>
            </a:r>
            <a:r>
              <a:rPr lang="en-GB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0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248400"/>
          </a:xfrm>
        </p:spPr>
        <p:txBody>
          <a:bodyPr/>
          <a:lstStyle/>
          <a:p>
            <a:pPr>
              <a:buNone/>
            </a:pPr>
            <a:r>
              <a:rPr lang="en-GB" sz="3600" b="1" dirty="0" smtClean="0">
                <a:solidFill>
                  <a:srgbClr val="0070C0"/>
                </a:solidFill>
              </a:rPr>
              <a:t>Level III</a:t>
            </a:r>
            <a:endParaRPr lang="en-GB" sz="3600" dirty="0" smtClean="0">
              <a:solidFill>
                <a:srgbClr val="0070C0"/>
              </a:solidFill>
            </a:endParaRPr>
          </a:p>
          <a:p>
            <a:pPr lvl="0"/>
            <a:r>
              <a:rPr lang="en-GB" sz="2400" dirty="0" smtClean="0"/>
              <a:t>middle jugular nodes.</a:t>
            </a:r>
          </a:p>
          <a:p>
            <a:pPr lvl="0"/>
            <a:r>
              <a:rPr lang="en-GB" sz="2400" dirty="0" smtClean="0"/>
              <a:t>lower margin of hyoid to lower margin of cricoid cartilage.</a:t>
            </a:r>
          </a:p>
          <a:p>
            <a:pPr lvl="0"/>
            <a:r>
              <a:rPr lang="en-GB" sz="2400" dirty="0" smtClean="0"/>
              <a:t>anterior to the posterior border of SCM.</a:t>
            </a:r>
          </a:p>
          <a:p>
            <a:pPr>
              <a:buFont typeface="Wingdings" pitchFamily="2" charset="2"/>
              <a:buChar char="ü"/>
            </a:pPr>
            <a:r>
              <a:rPr lang="en-GB" sz="2400" dirty="0"/>
              <a:t> </a:t>
            </a:r>
            <a:r>
              <a:rPr lang="en-GB" sz="2400" dirty="0" smtClean="0"/>
              <a:t>     </a:t>
            </a:r>
            <a:r>
              <a:rPr lang="en-GB" sz="2400" b="1" u="sng" dirty="0" smtClean="0"/>
              <a:t>Drains larynx and pharynx.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C:\Users\rozh\Pictures\hgytuiu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971800"/>
            <a:ext cx="5717665" cy="3604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7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/>
          <a:lstStyle/>
          <a:p>
            <a:pPr>
              <a:buNone/>
            </a:pPr>
            <a:r>
              <a:rPr lang="en-GB" sz="4000" b="1" dirty="0" smtClean="0">
                <a:solidFill>
                  <a:schemeClr val="accent3">
                    <a:lumMod val="75000"/>
                  </a:schemeClr>
                </a:solidFill>
              </a:rPr>
              <a:t>  </a:t>
            </a:r>
          </a:p>
          <a:p>
            <a:pPr>
              <a:buNone/>
            </a:pPr>
            <a:r>
              <a:rPr lang="en-GB" sz="40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sz="4000" b="1" dirty="0" smtClean="0">
                <a:solidFill>
                  <a:schemeClr val="accent3">
                    <a:lumMod val="75000"/>
                  </a:schemeClr>
                </a:solidFill>
              </a:rPr>
              <a:t>  Level IV</a:t>
            </a:r>
            <a:endParaRPr lang="en-GB" sz="4000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0"/>
            <a:r>
              <a:rPr lang="en-GB" sz="2400" dirty="0" smtClean="0"/>
              <a:t>low jugular nodes .</a:t>
            </a:r>
          </a:p>
          <a:p>
            <a:pPr lvl="0"/>
            <a:r>
              <a:rPr lang="en-GB" sz="2400" dirty="0" smtClean="0"/>
              <a:t>lower margin of cricoid cartilage to level of the clavicle.</a:t>
            </a:r>
          </a:p>
          <a:p>
            <a:pPr lvl="0"/>
            <a:r>
              <a:rPr lang="en-GB" sz="2400" b="1" u="sng" dirty="0" smtClean="0"/>
              <a:t>Drains larynx and </a:t>
            </a:r>
            <a:r>
              <a:rPr lang="en-GB" sz="2400" b="1" u="sng" dirty="0" err="1" smtClean="0"/>
              <a:t>hypopharynx</a:t>
            </a:r>
            <a:r>
              <a:rPr lang="en-GB" sz="2400" b="1" u="sng" dirty="0" smtClean="0"/>
              <a:t>.</a:t>
            </a:r>
          </a:p>
        </p:txBody>
      </p:sp>
      <p:pic>
        <p:nvPicPr>
          <p:cNvPr id="1026" name="Picture 2" descr="C:\Users\Rozh\Desktop\Cervical_lymph_nodes_and_level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55" y="3505200"/>
            <a:ext cx="5203825" cy="280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00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7630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800" b="1" dirty="0" smtClean="0">
                <a:solidFill>
                  <a:srgbClr val="00B050"/>
                </a:solidFill>
              </a:rPr>
              <a:t> Level V</a:t>
            </a:r>
            <a:endParaRPr lang="en-GB" sz="2800" dirty="0" smtClean="0">
              <a:solidFill>
                <a:srgbClr val="00B050"/>
              </a:solidFill>
            </a:endParaRPr>
          </a:p>
          <a:p>
            <a:pPr lvl="0"/>
            <a:r>
              <a:rPr lang="en-GB" sz="2400" dirty="0" smtClean="0"/>
              <a:t>posterior triangle nodes .</a:t>
            </a:r>
          </a:p>
          <a:p>
            <a:r>
              <a:rPr lang="en-GB" sz="2400" dirty="0" smtClean="0"/>
              <a:t>It has been divided into sub zones. </a:t>
            </a:r>
          </a:p>
          <a:p>
            <a:r>
              <a:rPr lang="en-GB" sz="2400" dirty="0" smtClean="0"/>
              <a:t> </a:t>
            </a:r>
            <a:r>
              <a:rPr lang="en-GB" sz="2400" dirty="0" smtClean="0">
                <a:solidFill>
                  <a:srgbClr val="0070C0"/>
                </a:solidFill>
              </a:rPr>
              <a:t>level </a:t>
            </a:r>
            <a:r>
              <a:rPr lang="en-GB" sz="2400" dirty="0" err="1" smtClean="0">
                <a:solidFill>
                  <a:srgbClr val="0070C0"/>
                </a:solidFill>
              </a:rPr>
              <a:t>Va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en-GB" sz="2400" dirty="0" smtClean="0"/>
              <a:t>lies superior to the inferior belly of the </a:t>
            </a:r>
            <a:r>
              <a:rPr lang="en-GB" sz="2400" dirty="0" err="1" smtClean="0"/>
              <a:t>omohyoid</a:t>
            </a:r>
            <a:r>
              <a:rPr lang="en-GB" sz="2400" dirty="0" smtClean="0"/>
              <a:t> muscle . </a:t>
            </a:r>
          </a:p>
          <a:p>
            <a:r>
              <a:rPr lang="en-GB" sz="2400" dirty="0" smtClean="0">
                <a:solidFill>
                  <a:srgbClr val="0070C0"/>
                </a:solidFill>
              </a:rPr>
              <a:t>level </a:t>
            </a:r>
            <a:r>
              <a:rPr lang="en-GB" sz="2400" dirty="0" err="1" smtClean="0">
                <a:solidFill>
                  <a:srgbClr val="0070C0"/>
                </a:solidFill>
              </a:rPr>
              <a:t>Vb</a:t>
            </a:r>
            <a:r>
              <a:rPr lang="en-GB" sz="2400" dirty="0" smtClean="0">
                <a:solidFill>
                  <a:srgbClr val="0070C0"/>
                </a:solidFill>
              </a:rPr>
              <a:t> </a:t>
            </a:r>
            <a:r>
              <a:rPr lang="en-GB" sz="2400" dirty="0" smtClean="0"/>
              <a:t>level is inferior to the </a:t>
            </a:r>
            <a:r>
              <a:rPr lang="en-GB" sz="2400" dirty="0" err="1" smtClean="0"/>
              <a:t>omohyoid</a:t>
            </a:r>
            <a:r>
              <a:rPr lang="en-GB" sz="2400" dirty="0" smtClean="0"/>
              <a:t> muscle. </a:t>
            </a:r>
          </a:p>
          <a:p>
            <a:r>
              <a:rPr lang="en-GB" sz="2400" dirty="0" smtClean="0"/>
              <a:t>The </a:t>
            </a:r>
            <a:r>
              <a:rPr lang="en-GB" sz="2400" dirty="0" err="1" smtClean="0"/>
              <a:t>Va</a:t>
            </a:r>
            <a:r>
              <a:rPr lang="en-GB" sz="2400" dirty="0" smtClean="0"/>
              <a:t> area contains the chain of nodes along the accessory nerve, </a:t>
            </a:r>
            <a:r>
              <a:rPr lang="en-GB" sz="2400" b="1" u="sng" dirty="0" smtClean="0"/>
              <a:t>which drain the </a:t>
            </a:r>
            <a:r>
              <a:rPr lang="en-GB" sz="2400" b="1" u="sng" dirty="0" err="1" smtClean="0"/>
              <a:t>nasopharynx</a:t>
            </a:r>
            <a:r>
              <a:rPr lang="en-GB" sz="2400" b="1" u="sng" dirty="0" smtClean="0"/>
              <a:t>. </a:t>
            </a:r>
          </a:p>
          <a:p>
            <a:r>
              <a:rPr lang="en-GB" sz="2400" dirty="0" smtClean="0"/>
              <a:t>The </a:t>
            </a:r>
            <a:r>
              <a:rPr lang="en-GB" sz="2400" dirty="0" err="1" smtClean="0"/>
              <a:t>Vb</a:t>
            </a:r>
            <a:r>
              <a:rPr lang="en-GB" sz="2400" dirty="0" smtClean="0"/>
              <a:t> level contains nodes related to the </a:t>
            </a:r>
            <a:r>
              <a:rPr lang="en-GB" sz="2400" dirty="0" err="1" smtClean="0"/>
              <a:t>thyrocervical</a:t>
            </a:r>
            <a:r>
              <a:rPr lang="en-GB" sz="2400" dirty="0" smtClean="0"/>
              <a:t> trunk which </a:t>
            </a:r>
            <a:r>
              <a:rPr lang="en-GB" sz="2400" b="1" u="sng" dirty="0" smtClean="0"/>
              <a:t>drains the thyroid gland</a:t>
            </a:r>
            <a:r>
              <a:rPr lang="en-GB" sz="2400" dirty="0" smtClean="0"/>
              <a:t>.</a:t>
            </a:r>
            <a:endParaRPr lang="en-US" sz="2400" dirty="0"/>
          </a:p>
        </p:txBody>
      </p:sp>
      <p:pic>
        <p:nvPicPr>
          <p:cNvPr id="3074" name="Picture 2" descr="Omohyoid muscle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827" y="4191000"/>
            <a:ext cx="2971800" cy="251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39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324600"/>
          </a:xfrm>
        </p:spPr>
        <p:txBody>
          <a:bodyPr/>
          <a:lstStyle/>
          <a:p>
            <a:pPr>
              <a:buNone/>
            </a:pPr>
            <a:r>
              <a:rPr lang="en-GB" sz="4400" b="1" dirty="0" smtClean="0">
                <a:solidFill>
                  <a:srgbClr val="7030A0"/>
                </a:solidFill>
              </a:rPr>
              <a:t>  </a:t>
            </a:r>
          </a:p>
          <a:p>
            <a:pPr>
              <a:buNone/>
            </a:pPr>
            <a:r>
              <a:rPr lang="en-GB" sz="2400" b="1" dirty="0">
                <a:solidFill>
                  <a:srgbClr val="7030A0"/>
                </a:solidFill>
              </a:rPr>
              <a:t> </a:t>
            </a:r>
            <a:r>
              <a:rPr lang="en-GB" sz="2400" b="1" dirty="0" smtClean="0">
                <a:solidFill>
                  <a:srgbClr val="7030A0"/>
                </a:solidFill>
              </a:rPr>
              <a:t>  </a:t>
            </a:r>
            <a:r>
              <a:rPr lang="en-GB" b="1" dirty="0" smtClean="0">
                <a:solidFill>
                  <a:srgbClr val="7030A0"/>
                </a:solidFill>
              </a:rPr>
              <a:t>Level VI </a:t>
            </a:r>
            <a:r>
              <a:rPr lang="en-GB" sz="2400" b="1" dirty="0" smtClean="0">
                <a:solidFill>
                  <a:srgbClr val="7030A0"/>
                </a:solidFill>
              </a:rPr>
              <a:t>(anterior or central group)</a:t>
            </a:r>
            <a:endParaRPr lang="en-GB" sz="2400" dirty="0" smtClean="0">
              <a:solidFill>
                <a:srgbClr val="7030A0"/>
              </a:solidFill>
            </a:endParaRPr>
          </a:p>
          <a:p>
            <a:pPr lvl="0"/>
            <a:r>
              <a:rPr lang="en-GB" sz="2400" dirty="0" err="1" smtClean="0"/>
              <a:t>prelaryngeal</a:t>
            </a:r>
            <a:r>
              <a:rPr lang="en-GB" sz="2400" dirty="0" smtClean="0"/>
              <a:t> / </a:t>
            </a:r>
            <a:r>
              <a:rPr lang="en-GB" sz="2400" dirty="0" err="1" smtClean="0"/>
              <a:t>pretracheal</a:t>
            </a:r>
            <a:r>
              <a:rPr lang="en-GB" sz="2400" dirty="0" smtClean="0"/>
              <a:t> / </a:t>
            </a:r>
            <a:r>
              <a:rPr lang="en-GB" sz="2400" dirty="0" err="1" smtClean="0">
                <a:hlinkClick r:id="rId2" tooltip="Delphian node"/>
              </a:rPr>
              <a:t>Delphian</a:t>
            </a:r>
            <a:r>
              <a:rPr lang="en-GB" sz="2400" dirty="0" smtClean="0">
                <a:hlinkClick r:id="rId2" tooltip="Delphian node"/>
              </a:rPr>
              <a:t> node</a:t>
            </a:r>
            <a:r>
              <a:rPr lang="en-GB" sz="2400" dirty="0" smtClean="0"/>
              <a:t> .</a:t>
            </a:r>
          </a:p>
          <a:p>
            <a:pPr lvl="0"/>
            <a:r>
              <a:rPr lang="en-GB" sz="2400" dirty="0" smtClean="0"/>
              <a:t>from inferior margin of hyoid to manubrium</a:t>
            </a:r>
            <a:r>
              <a:rPr lang="en-GB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63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152400" y="381000"/>
            <a:ext cx="8763000" cy="6248400"/>
          </a:xfrm>
        </p:spPr>
        <p:txBody>
          <a:bodyPr/>
          <a:lstStyle/>
          <a:p>
            <a:pPr>
              <a:buNone/>
            </a:pPr>
            <a:endParaRPr lang="en-GB" sz="40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GB" sz="4000" b="1" dirty="0">
                <a:solidFill>
                  <a:srgbClr val="FF0000"/>
                </a:solidFill>
              </a:rPr>
              <a:t> </a:t>
            </a:r>
            <a:r>
              <a:rPr lang="en-GB" sz="4000" b="1" dirty="0" smtClean="0">
                <a:solidFill>
                  <a:srgbClr val="FF0000"/>
                </a:solidFill>
              </a:rPr>
              <a:t> Level VII </a:t>
            </a:r>
            <a:endParaRPr lang="en-GB" sz="4000" dirty="0" smtClean="0">
              <a:solidFill>
                <a:srgbClr val="FF0000"/>
              </a:solidFill>
            </a:endParaRPr>
          </a:p>
          <a:p>
            <a:pPr lvl="0"/>
            <a:r>
              <a:rPr lang="en-GB" sz="2400" dirty="0" smtClean="0"/>
              <a:t>superior mediastinum. </a:t>
            </a:r>
          </a:p>
          <a:p>
            <a:r>
              <a:rPr lang="en-GB" sz="2400" dirty="0" smtClean="0"/>
              <a:t>between CCAs, below top of manubrium</a:t>
            </a:r>
            <a:r>
              <a:rPr lang="en-GB" dirty="0" smtClean="0"/>
              <a:t>.</a:t>
            </a:r>
          </a:p>
          <a:p>
            <a:endParaRPr lang="en-US" dirty="0"/>
          </a:p>
        </p:txBody>
      </p:sp>
      <p:pic>
        <p:nvPicPr>
          <p:cNvPr id="5" name="Picture 4" descr="&lt;p&gt;Lymph Node Levels&lt;/p&gt;&#10;&#10;&lt;p&gt;Diagram of the &lt;a href=&quot;/articles/lymph-node-levels-of-the-neck&quot;&gt;lymph node levels of the neck&lt;/a&gt;.&lt;/p&gt;">
            <a:hlinkClick r:id="rId2" tgtFrame="_blank"/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35896" y="3212976"/>
            <a:ext cx="407196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441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2484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/>
              <a:t>Evaluation </a:t>
            </a:r>
            <a:r>
              <a:rPr lang="en-US" sz="2400" dirty="0"/>
              <a:t>of a patient with a neck swelling </a:t>
            </a:r>
            <a:r>
              <a:rPr lang="en-US" sz="2400" dirty="0" smtClean="0"/>
              <a:t>requires a </a:t>
            </a:r>
            <a:r>
              <a:rPr lang="en-US" sz="2400" dirty="0"/>
              <a:t>careful and systematic clinical approach </a:t>
            </a:r>
            <a:r>
              <a:rPr lang="en-US" sz="2400" dirty="0" smtClean="0"/>
              <a:t>with understanding </a:t>
            </a:r>
            <a:r>
              <a:rPr lang="en-US" sz="2400" dirty="0"/>
              <a:t>of the anatomical </a:t>
            </a:r>
            <a:r>
              <a:rPr lang="en-US" sz="2400" dirty="0" smtClean="0"/>
              <a:t>structures of </a:t>
            </a:r>
            <a:r>
              <a:rPr lang="en-US" sz="2400" dirty="0"/>
              <a:t>the neck and appreciation of the </a:t>
            </a:r>
            <a:r>
              <a:rPr lang="en-US" sz="2400" dirty="0" smtClean="0"/>
              <a:t>pathology.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3246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b="1" dirty="0" smtClean="0">
                <a:solidFill>
                  <a:srgbClr val="0070C0"/>
                </a:solidFill>
              </a:rPr>
              <a:t>HISTORY</a:t>
            </a:r>
          </a:p>
          <a:p>
            <a:r>
              <a:rPr lang="en-US" sz="2400" dirty="0"/>
              <a:t>The key points in the history that will help reach </a:t>
            </a:r>
            <a:r>
              <a:rPr lang="en-US" sz="2400" dirty="0" smtClean="0"/>
              <a:t>a diagnosis </a:t>
            </a:r>
            <a:r>
              <a:rPr lang="en-US" sz="2400" dirty="0"/>
              <a:t>are the </a:t>
            </a:r>
            <a:r>
              <a:rPr lang="en-US" sz="2400" b="1" dirty="0">
                <a:solidFill>
                  <a:srgbClr val="0070C0"/>
                </a:solidFill>
              </a:rPr>
              <a:t>age of the patient, </a:t>
            </a:r>
            <a:r>
              <a:rPr lang="en-US" sz="2400" b="1" dirty="0" smtClean="0">
                <a:solidFill>
                  <a:srgbClr val="0070C0"/>
                </a:solidFill>
              </a:rPr>
              <a:t>duration and location </a:t>
            </a:r>
            <a:r>
              <a:rPr lang="en-US" sz="2400" b="1" dirty="0">
                <a:solidFill>
                  <a:srgbClr val="0070C0"/>
                </a:solidFill>
              </a:rPr>
              <a:t>of the neck mass</a:t>
            </a:r>
            <a:r>
              <a:rPr lang="en-US" sz="2400" b="1" dirty="0" smtClean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/>
              <a:t>Dysphonia, sore throat, dysphagia, </a:t>
            </a:r>
            <a:r>
              <a:rPr lang="en-US" sz="2400" dirty="0" err="1" smtClean="0"/>
              <a:t>odynophagia,referred</a:t>
            </a:r>
            <a:r>
              <a:rPr lang="en-US" sz="2400" dirty="0" smtClean="0"/>
              <a:t> </a:t>
            </a:r>
            <a:r>
              <a:rPr lang="en-US" sz="2400" dirty="0" err="1"/>
              <a:t>otalgia</a:t>
            </a:r>
            <a:r>
              <a:rPr lang="en-US" sz="2400" dirty="0"/>
              <a:t> and nasal </a:t>
            </a:r>
            <a:r>
              <a:rPr lang="en-US" sz="2400" dirty="0" smtClean="0"/>
              <a:t>obstruction may </a:t>
            </a:r>
            <a:r>
              <a:rPr lang="en-US" sz="2400" dirty="0"/>
              <a:t>suggest a neoplasm of the upper </a:t>
            </a:r>
            <a:r>
              <a:rPr lang="en-US" sz="2400" dirty="0" err="1" smtClean="0"/>
              <a:t>aerodigestive</a:t>
            </a:r>
            <a:r>
              <a:rPr lang="en-US" sz="2400" dirty="0" smtClean="0"/>
              <a:t> tract.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/>
              <a:t>Weight loss, anorexia, malaise and </a:t>
            </a:r>
            <a:r>
              <a:rPr lang="en-US" sz="2400" dirty="0" smtClean="0"/>
              <a:t>night sweats </a:t>
            </a:r>
            <a:r>
              <a:rPr lang="en-US" sz="2400" dirty="0"/>
              <a:t>(‘B’ symptoms) may suggest lymphoma </a:t>
            </a:r>
            <a:r>
              <a:rPr lang="en-US" sz="2400" dirty="0" smtClean="0"/>
              <a:t>or tuberculosis.</a:t>
            </a:r>
          </a:p>
        </p:txBody>
      </p:sp>
    </p:spTree>
    <p:extLst>
      <p:ext uri="{BB962C8B-B14F-4D97-AF65-F5344CB8AC3E}">
        <p14:creationId xmlns:p14="http://schemas.microsoft.com/office/powerpoint/2010/main" val="97891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04800"/>
            <a:ext cx="8839200" cy="61722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/>
              <a:t>Past medical history of exposure to tuberculosis,  irradiation (risk factor for malignancy), </a:t>
            </a:r>
          </a:p>
          <a:p>
            <a:r>
              <a:rPr lang="en-US" sz="2400" dirty="0" smtClean="0"/>
              <a:t>occupational/sexual history (e.g. risk factors for human immunodeficiency virus</a:t>
            </a:r>
          </a:p>
          <a:p>
            <a:pPr marL="0" indent="0">
              <a:buNone/>
            </a:pPr>
            <a:endParaRPr lang="en-US" sz="2400" b="1" dirty="0" smtClean="0">
              <a:solidFill>
                <a:srgbClr val="0070C0"/>
              </a:solidFill>
            </a:endParaRPr>
          </a:p>
          <a:p>
            <a:r>
              <a:rPr lang="en-US" sz="2400" dirty="0"/>
              <a:t>foreign travel and contact with pets (</a:t>
            </a:r>
            <a:r>
              <a:rPr lang="en-US" sz="2400" dirty="0" smtClean="0"/>
              <a:t>e.g.cat </a:t>
            </a:r>
            <a:r>
              <a:rPr lang="en-US" sz="2400" dirty="0"/>
              <a:t>scratch disease) are also relevant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002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77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EXAMINATION</a:t>
            </a:r>
          </a:p>
          <a:p>
            <a:r>
              <a:rPr lang="en-US" sz="2400" dirty="0"/>
              <a:t>The neck masses should be assessed and </a:t>
            </a:r>
            <a:r>
              <a:rPr lang="en-US" sz="2400" dirty="0" smtClean="0"/>
              <a:t>recorded in </a:t>
            </a:r>
            <a:r>
              <a:rPr lang="en-US" sz="2400" dirty="0"/>
              <a:t>a systematic fashion with emphasis on the </a:t>
            </a:r>
            <a:r>
              <a:rPr lang="en-US" sz="2400" dirty="0" smtClean="0"/>
              <a:t>number, size</a:t>
            </a:r>
            <a:r>
              <a:rPr lang="en-US" sz="2400" dirty="0"/>
              <a:t>, site, shape and consistency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sz="2400" dirty="0"/>
              <a:t>It is convenient to </a:t>
            </a:r>
            <a:r>
              <a:rPr lang="en-US" sz="2400" dirty="0" smtClean="0"/>
              <a:t>use the </a:t>
            </a:r>
            <a:r>
              <a:rPr lang="en-US" sz="2400" dirty="0"/>
              <a:t>neck nodal level system to describe the </a:t>
            </a:r>
            <a:r>
              <a:rPr lang="en-US" sz="2400" dirty="0" smtClean="0"/>
              <a:t>location of </a:t>
            </a:r>
            <a:r>
              <a:rPr lang="en-US" sz="2400" dirty="0"/>
              <a:t>lymph node disease in the neck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20365"/>
            <a:ext cx="3733800" cy="3437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333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763000" cy="617220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Inspection </a:t>
            </a:r>
            <a:r>
              <a:rPr lang="en-US" sz="2400" dirty="0"/>
              <a:t>of the scalp, skin over the face </a:t>
            </a:r>
            <a:r>
              <a:rPr lang="en-US" sz="2400" dirty="0" smtClean="0"/>
              <a:t>and neck </a:t>
            </a:r>
            <a:r>
              <a:rPr lang="en-US" sz="2400" dirty="0"/>
              <a:t>is necessary to look for potential sources </a:t>
            </a:r>
            <a:r>
              <a:rPr lang="en-US" sz="2400" dirty="0" smtClean="0"/>
              <a:t>of pathology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b="1" dirty="0" smtClean="0">
                <a:solidFill>
                  <a:srgbClr val="0070C0"/>
                </a:solidFill>
              </a:rPr>
              <a:t>Otolaryngologists</a:t>
            </a:r>
            <a:r>
              <a:rPr lang="en-US" sz="2400" dirty="0" smtClean="0"/>
              <a:t> </a:t>
            </a:r>
            <a:r>
              <a:rPr lang="en-US" sz="2400" dirty="0"/>
              <a:t>are best placed </a:t>
            </a:r>
            <a:r>
              <a:rPr lang="en-US" sz="2400" dirty="0" smtClean="0"/>
              <a:t>to evaluate </a:t>
            </a:r>
            <a:r>
              <a:rPr lang="en-US" sz="2400" dirty="0"/>
              <a:t>neck masses as clinical examination </a:t>
            </a:r>
            <a:r>
              <a:rPr lang="en-US" sz="2400" dirty="0" smtClean="0"/>
              <a:t>is incomplete </a:t>
            </a:r>
            <a:r>
              <a:rPr lang="en-US" sz="2400" dirty="0"/>
              <a:t>unless the entire mucosa of the </a:t>
            </a:r>
            <a:r>
              <a:rPr lang="en-US" sz="2400" dirty="0" smtClean="0"/>
              <a:t>upper </a:t>
            </a:r>
            <a:r>
              <a:rPr lang="en-US" sz="2400" dirty="0" err="1" smtClean="0"/>
              <a:t>aerodigestive</a:t>
            </a:r>
            <a:r>
              <a:rPr lang="en-US" sz="2400" dirty="0" smtClean="0"/>
              <a:t> </a:t>
            </a:r>
            <a:r>
              <a:rPr lang="en-US" sz="2400" dirty="0"/>
              <a:t>tract is examined</a:t>
            </a:r>
          </a:p>
        </p:txBody>
      </p:sp>
    </p:spTree>
    <p:extLst>
      <p:ext uri="{BB962C8B-B14F-4D97-AF65-F5344CB8AC3E}">
        <p14:creationId xmlns:p14="http://schemas.microsoft.com/office/powerpoint/2010/main" val="221176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248400"/>
          </a:xfrm>
        </p:spPr>
        <p:txBody>
          <a:bodyPr/>
          <a:lstStyle/>
          <a:p>
            <a:r>
              <a:rPr lang="en-US" sz="2400" dirty="0"/>
              <a:t>This includes endoscopic assessment </a:t>
            </a:r>
            <a:r>
              <a:rPr lang="en-US" sz="2400" dirty="0" smtClean="0"/>
              <a:t>of the </a:t>
            </a:r>
            <a:r>
              <a:rPr lang="en-US" sz="2400" dirty="0"/>
              <a:t>nasal cavity, </a:t>
            </a:r>
            <a:r>
              <a:rPr lang="en-US" sz="2400" dirty="0" err="1"/>
              <a:t>nasopharynx</a:t>
            </a:r>
            <a:r>
              <a:rPr lang="en-US" sz="2400" dirty="0"/>
              <a:t>, oropharynx, </a:t>
            </a:r>
            <a:r>
              <a:rPr lang="en-US" sz="2400" dirty="0" smtClean="0"/>
              <a:t>larynx and </a:t>
            </a:r>
            <a:r>
              <a:rPr lang="en-US" sz="2400" dirty="0" err="1"/>
              <a:t>hypopharynx</a:t>
            </a:r>
            <a:r>
              <a:rPr lang="en-US" sz="2400" dirty="0"/>
              <a:t>. 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Where </a:t>
            </a:r>
            <a:r>
              <a:rPr lang="en-US" sz="2400" dirty="0"/>
              <a:t>facilities exist, a </a:t>
            </a:r>
            <a:r>
              <a:rPr lang="en-US" sz="2400" dirty="0" err="1" smtClean="0"/>
              <a:t>transnasal</a:t>
            </a:r>
            <a:r>
              <a:rPr lang="en-US" sz="2400" dirty="0" smtClean="0"/>
              <a:t> </a:t>
            </a:r>
            <a:r>
              <a:rPr lang="en-US" sz="2400" dirty="0" err="1" smtClean="0"/>
              <a:t>oesophagoscopy</a:t>
            </a:r>
            <a:r>
              <a:rPr lang="en-US" sz="2400" dirty="0" smtClean="0"/>
              <a:t> </a:t>
            </a:r>
            <a:r>
              <a:rPr lang="en-US" sz="2400" dirty="0"/>
              <a:t>will allow examination </a:t>
            </a:r>
            <a:r>
              <a:rPr lang="en-US" sz="2400" dirty="0" smtClean="0"/>
              <a:t>of the </a:t>
            </a:r>
            <a:r>
              <a:rPr lang="en-US" sz="2400" dirty="0" err="1"/>
              <a:t>oesophagus</a:t>
            </a:r>
            <a:r>
              <a:rPr lang="en-US" sz="2400" dirty="0"/>
              <a:t> down to the </a:t>
            </a:r>
            <a:r>
              <a:rPr lang="en-US" sz="2400" dirty="0" err="1"/>
              <a:t>cardia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The examination should </a:t>
            </a:r>
            <a:r>
              <a:rPr lang="en-US" sz="2400" dirty="0"/>
              <a:t>conclude with a general physical </a:t>
            </a:r>
            <a:r>
              <a:rPr lang="en-US" sz="2400" dirty="0" smtClean="0"/>
              <a:t>examination to </a:t>
            </a:r>
            <a:r>
              <a:rPr lang="en-US" sz="2400" dirty="0"/>
              <a:t>include the chest, axillae and breasts </a:t>
            </a:r>
            <a:r>
              <a:rPr lang="en-US" sz="2400" dirty="0" smtClean="0"/>
              <a:t>in women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068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24840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Important </a:t>
            </a:r>
            <a:r>
              <a:rPr lang="en-US" sz="2400" dirty="0"/>
              <a:t>signs that should raise </a:t>
            </a:r>
            <a:r>
              <a:rPr lang="en-US" sz="2400" dirty="0" smtClean="0"/>
              <a:t>concern matted </a:t>
            </a:r>
            <a:r>
              <a:rPr lang="en-US" sz="2400" dirty="0"/>
              <a:t>nodes (often felt in lymphoma</a:t>
            </a:r>
            <a:r>
              <a:rPr lang="en-US" sz="2400" dirty="0" smtClean="0"/>
              <a:t>), nodes </a:t>
            </a:r>
            <a:r>
              <a:rPr lang="en-US" sz="2400" dirty="0"/>
              <a:t>that feel hard or rounded (usually </a:t>
            </a:r>
            <a:r>
              <a:rPr lang="en-US" sz="2400" dirty="0" smtClean="0"/>
              <a:t>indicating malignancy</a:t>
            </a:r>
            <a:r>
              <a:rPr lang="en-US" sz="2400" dirty="0"/>
              <a:t>) and ulceration or masses in the </a:t>
            </a:r>
            <a:r>
              <a:rPr lang="en-US" sz="2400" dirty="0" smtClean="0"/>
              <a:t>upper </a:t>
            </a:r>
            <a:r>
              <a:rPr lang="en-US" sz="2400" dirty="0" err="1" smtClean="0"/>
              <a:t>aerodigestive</a:t>
            </a:r>
            <a:r>
              <a:rPr lang="en-US" sz="2400" dirty="0" smtClean="0"/>
              <a:t> </a:t>
            </a:r>
            <a:r>
              <a:rPr lang="en-US" sz="2400" dirty="0"/>
              <a:t>tract (which can indicate a </a:t>
            </a:r>
            <a:r>
              <a:rPr lang="en-US" sz="2400" dirty="0" smtClean="0"/>
              <a:t>primary cancer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3434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INVESTIGATIONS</a:t>
            </a:r>
          </a:p>
          <a:p>
            <a:r>
              <a:rPr lang="en-US" sz="2400" dirty="0"/>
              <a:t>In the majority of patients with neck lumps, </a:t>
            </a:r>
            <a:r>
              <a:rPr lang="en-US" sz="2400" dirty="0" smtClean="0"/>
              <a:t>an ultrasound </a:t>
            </a:r>
            <a:r>
              <a:rPr lang="en-US" sz="2400" dirty="0"/>
              <a:t>and a needle </a:t>
            </a:r>
            <a:r>
              <a:rPr lang="en-US" sz="2400" dirty="0" smtClean="0"/>
              <a:t>biopsy </a:t>
            </a:r>
            <a:r>
              <a:rPr lang="en-US" sz="2400" dirty="0"/>
              <a:t>are the </a:t>
            </a:r>
            <a:r>
              <a:rPr lang="en-US" sz="2400" dirty="0" smtClean="0"/>
              <a:t>first-line </a:t>
            </a:r>
            <a:r>
              <a:rPr lang="en-US" sz="2400" dirty="0"/>
              <a:t>investigations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an inflammatory mass is </a:t>
            </a:r>
            <a:r>
              <a:rPr lang="en-US" sz="2400" dirty="0" smtClean="0"/>
              <a:t>suspected, especially </a:t>
            </a:r>
            <a:r>
              <a:rPr lang="en-US" sz="2400" dirty="0"/>
              <a:t>in a young patient, </a:t>
            </a:r>
            <a:r>
              <a:rPr lang="en-US" sz="2400" dirty="0" smtClean="0"/>
              <a:t>hematological </a:t>
            </a:r>
            <a:r>
              <a:rPr lang="en-US" sz="2400" dirty="0" smtClean="0"/>
              <a:t>investigations </a:t>
            </a:r>
            <a:r>
              <a:rPr lang="en-US" sz="2400" dirty="0"/>
              <a:t>including blood counts, </a:t>
            </a:r>
            <a:r>
              <a:rPr lang="en-US" sz="2400" dirty="0" smtClean="0"/>
              <a:t>inflammatory markers</a:t>
            </a:r>
            <a:r>
              <a:rPr lang="en-US" sz="2400" dirty="0"/>
              <a:t>, viral </a:t>
            </a:r>
            <a:r>
              <a:rPr lang="en-US" sz="2400" dirty="0" smtClean="0"/>
              <a:t>titers, </a:t>
            </a:r>
            <a:r>
              <a:rPr lang="en-US" sz="2400" dirty="0"/>
              <a:t>serology for </a:t>
            </a:r>
            <a:r>
              <a:rPr lang="en-US" sz="2400" i="1" dirty="0" err="1"/>
              <a:t>Brucella</a:t>
            </a:r>
            <a:r>
              <a:rPr lang="en-US" sz="2400" i="1" dirty="0"/>
              <a:t> </a:t>
            </a:r>
            <a:r>
              <a:rPr lang="en-US" sz="2400" i="1" dirty="0" smtClean="0"/>
              <a:t>spp. </a:t>
            </a:r>
            <a:r>
              <a:rPr lang="en-US" sz="2400" dirty="0" smtClean="0"/>
              <a:t>and </a:t>
            </a:r>
            <a:r>
              <a:rPr lang="en-US" sz="2400" i="1" dirty="0"/>
              <a:t>Toxoplasma spp. 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81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276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en-US" b="1" dirty="0" smtClean="0">
                <a:solidFill>
                  <a:srgbClr val="0070C0"/>
                </a:solidFill>
              </a:rPr>
              <a:t>ULTRASOUND </a:t>
            </a:r>
            <a:r>
              <a:rPr lang="en-US" b="1" dirty="0">
                <a:solidFill>
                  <a:srgbClr val="0070C0"/>
                </a:solidFill>
              </a:rPr>
              <a:t>IMAGING</a:t>
            </a:r>
          </a:p>
          <a:p>
            <a:r>
              <a:rPr lang="en-US" sz="2400" dirty="0"/>
              <a:t>Ultrasound (US) is a useful modality in the </a:t>
            </a:r>
            <a:r>
              <a:rPr lang="en-US" sz="2400" dirty="0" smtClean="0"/>
              <a:t>evaluation of </a:t>
            </a:r>
            <a:r>
              <a:rPr lang="en-US" sz="2400" dirty="0"/>
              <a:t>all lumps, especially of thyroid and </a:t>
            </a:r>
            <a:r>
              <a:rPr lang="en-US" sz="2400" dirty="0" smtClean="0"/>
              <a:t>salivary Origin.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with the added ability to precisely </a:t>
            </a:r>
            <a:r>
              <a:rPr lang="en-US" sz="2400" dirty="0" smtClean="0"/>
              <a:t>target tissue </a:t>
            </a:r>
            <a:r>
              <a:rPr lang="en-US" sz="2400" dirty="0"/>
              <a:t>for fine-needle cytology. </a:t>
            </a:r>
            <a:endParaRPr lang="en-US" sz="2400" dirty="0" smtClean="0"/>
          </a:p>
          <a:p>
            <a:r>
              <a:rPr lang="en-US" sz="2400" dirty="0" smtClean="0"/>
              <a:t>Currently available higher </a:t>
            </a:r>
            <a:r>
              <a:rPr lang="en-US" sz="2400" dirty="0"/>
              <a:t>resolution probes can study the </a:t>
            </a:r>
            <a:r>
              <a:rPr lang="en-US" sz="2400" dirty="0" smtClean="0"/>
              <a:t>architecture of </a:t>
            </a:r>
            <a:r>
              <a:rPr lang="en-US" sz="2400" dirty="0"/>
              <a:t>the lump and identify features that have </a:t>
            </a:r>
            <a:r>
              <a:rPr lang="en-US" sz="2400" dirty="0" smtClean="0"/>
              <a:t>high predictive </a:t>
            </a:r>
            <a:r>
              <a:rPr lang="en-US" sz="2400" dirty="0"/>
              <a:t>values for benign or malignant diagnoses.</a:t>
            </a:r>
          </a:p>
          <a:p>
            <a:r>
              <a:rPr lang="en-US" sz="2400" dirty="0"/>
              <a:t>It is relatively inexpensive, quick, </a:t>
            </a:r>
            <a:r>
              <a:rPr lang="en-US" sz="2400" dirty="0" smtClean="0"/>
              <a:t>non-invasive, and </a:t>
            </a:r>
            <a:r>
              <a:rPr lang="en-US" sz="2400" dirty="0"/>
              <a:t>does not use ionizing radiation, </a:t>
            </a:r>
            <a:r>
              <a:rPr lang="en-US" sz="2400" b="1" u="sng" dirty="0"/>
              <a:t>but is </a:t>
            </a:r>
            <a:r>
              <a:rPr lang="en-US" sz="2400" b="1" u="sng" dirty="0" smtClean="0"/>
              <a:t>operator dependent</a:t>
            </a:r>
            <a:r>
              <a:rPr lang="en-US" dirty="0"/>
              <a:t>.</a:t>
            </a:r>
          </a:p>
        </p:txBody>
      </p:sp>
      <p:pic>
        <p:nvPicPr>
          <p:cNvPr id="4098" name="Picture 2" descr="https://3.imimg.com/data3/PQ/MH/MY-6936437/ge-vivid-7-1000x10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862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b="1" dirty="0" smtClean="0">
                <a:solidFill>
                  <a:srgbClr val="0070C0"/>
                </a:solidFill>
              </a:rPr>
              <a:t>COMPUTERIZED </a:t>
            </a:r>
            <a:r>
              <a:rPr lang="en-US" b="1" dirty="0">
                <a:solidFill>
                  <a:srgbClr val="0070C0"/>
                </a:solidFill>
              </a:rPr>
              <a:t>TOMOGRAPHY</a:t>
            </a:r>
          </a:p>
          <a:p>
            <a:r>
              <a:rPr lang="en-US" sz="2600" dirty="0"/>
              <a:t>Computerized tomography (CT) is useful in </a:t>
            </a:r>
            <a:r>
              <a:rPr lang="en-US" sz="2600" dirty="0" smtClean="0"/>
              <a:t>identifying the </a:t>
            </a:r>
            <a:r>
              <a:rPr lang="en-US" sz="2600" dirty="0"/>
              <a:t>presence of clinically </a:t>
            </a:r>
            <a:r>
              <a:rPr lang="en-US" sz="2600" dirty="0" smtClean="0"/>
              <a:t>undetectable lesions </a:t>
            </a:r>
            <a:r>
              <a:rPr lang="en-US" sz="2600" dirty="0"/>
              <a:t>(e.g. deep-seated masses in </a:t>
            </a:r>
            <a:r>
              <a:rPr lang="en-US" sz="2600" dirty="0" smtClean="0"/>
              <a:t>Para pharyngeal and </a:t>
            </a:r>
            <a:r>
              <a:rPr lang="en-US" sz="2600" dirty="0"/>
              <a:t>retropharyngeal spaces) and in </a:t>
            </a:r>
            <a:r>
              <a:rPr lang="en-US" sz="2600" dirty="0" smtClean="0"/>
              <a:t>delineating the </a:t>
            </a:r>
            <a:r>
              <a:rPr lang="en-US" sz="2600" dirty="0"/>
              <a:t>extent, vascularity and relationship </a:t>
            </a:r>
            <a:r>
              <a:rPr lang="en-US" sz="2600" dirty="0" smtClean="0"/>
              <a:t>of neck </a:t>
            </a:r>
            <a:r>
              <a:rPr lang="en-US" sz="2600" dirty="0"/>
              <a:t>lumps to adjacent structures. </a:t>
            </a: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r>
              <a:rPr lang="en-US" sz="2600" dirty="0" smtClean="0"/>
              <a:t>It </a:t>
            </a:r>
            <a:r>
              <a:rPr lang="en-US" sz="2600" dirty="0"/>
              <a:t>is used </a:t>
            </a:r>
            <a:r>
              <a:rPr lang="en-US" sz="2600" dirty="0" smtClean="0"/>
              <a:t>routinely for </a:t>
            </a:r>
            <a:r>
              <a:rPr lang="en-US" sz="2600" dirty="0"/>
              <a:t>the staging of head and neck </a:t>
            </a:r>
            <a:r>
              <a:rPr lang="en-US" sz="2600" dirty="0" err="1" smtClean="0"/>
              <a:t>tumours</a:t>
            </a:r>
            <a:r>
              <a:rPr lang="en-US" sz="2600" dirty="0" smtClean="0"/>
              <a:t> and </a:t>
            </a:r>
            <a:r>
              <a:rPr lang="en-US" sz="2600" dirty="0"/>
              <a:t>also in the investigation of a patient with </a:t>
            </a:r>
            <a:r>
              <a:rPr lang="en-US" sz="2600" dirty="0" smtClean="0"/>
              <a:t>an unknown primary </a:t>
            </a:r>
            <a:r>
              <a:rPr lang="en-US" sz="2600" dirty="0"/>
              <a:t>presenting with </a:t>
            </a:r>
            <a:r>
              <a:rPr lang="en-US" sz="2600" dirty="0" smtClean="0"/>
              <a:t>metastatic neck </a:t>
            </a:r>
            <a:r>
              <a:rPr lang="en-US" sz="2600" dirty="0"/>
              <a:t>disease.</a:t>
            </a:r>
          </a:p>
        </p:txBody>
      </p:sp>
    </p:spTree>
    <p:extLst>
      <p:ext uri="{BB962C8B-B14F-4D97-AF65-F5344CB8AC3E}">
        <p14:creationId xmlns:p14="http://schemas.microsoft.com/office/powerpoint/2010/main" val="12771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400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MAGNETIC </a:t>
            </a:r>
            <a:r>
              <a:rPr lang="en-US" b="1" dirty="0">
                <a:solidFill>
                  <a:srgbClr val="0070C0"/>
                </a:solidFill>
              </a:rPr>
              <a:t>RESONANCE </a:t>
            </a:r>
            <a:r>
              <a:rPr lang="en-US" b="1" dirty="0" smtClean="0">
                <a:solidFill>
                  <a:srgbClr val="0070C0"/>
                </a:solidFill>
              </a:rPr>
              <a:t>IMAGING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r>
              <a:rPr lang="en-US" sz="2400" dirty="0"/>
              <a:t>Magnetic resonance imaging (MRI) has uses </a:t>
            </a:r>
            <a:r>
              <a:rPr lang="en-US" sz="2400" dirty="0" smtClean="0"/>
              <a:t>that are </a:t>
            </a:r>
            <a:r>
              <a:rPr lang="en-US" sz="2400" dirty="0"/>
              <a:t>similar to CT, but it also provides very good </a:t>
            </a:r>
            <a:r>
              <a:rPr lang="en-US" sz="2400" dirty="0" smtClean="0"/>
              <a:t>soft tissue </a:t>
            </a:r>
            <a:r>
              <a:rPr lang="en-US" sz="2400" dirty="0"/>
              <a:t>contrast and is the preferred modality </a:t>
            </a:r>
            <a:r>
              <a:rPr lang="en-US" sz="2400" dirty="0" smtClean="0"/>
              <a:t>where soft </a:t>
            </a:r>
            <a:r>
              <a:rPr lang="en-US" sz="2400" dirty="0"/>
              <a:t>tissue detail is important, for instance the </a:t>
            </a:r>
            <a:r>
              <a:rPr lang="en-US" sz="2400" b="1" dirty="0" smtClean="0"/>
              <a:t>oropharynx and </a:t>
            </a:r>
            <a:r>
              <a:rPr lang="en-US" sz="2400" b="1" dirty="0"/>
              <a:t>parotid gland. </a:t>
            </a:r>
            <a:endParaRPr lang="en-US" sz="2400" b="1" dirty="0" smtClean="0"/>
          </a:p>
          <a:p>
            <a:r>
              <a:rPr lang="en-US" sz="2400" dirty="0" smtClean="0"/>
              <a:t>MR </a:t>
            </a:r>
            <a:r>
              <a:rPr lang="en-US" sz="2400" dirty="0"/>
              <a:t>angiograms </a:t>
            </a:r>
            <a:r>
              <a:rPr lang="en-US" sz="2400" dirty="0" smtClean="0"/>
              <a:t>are an </a:t>
            </a:r>
            <a:r>
              <a:rPr lang="en-US" sz="2400" dirty="0"/>
              <a:t>excellent modality for vascular delineation</a:t>
            </a:r>
          </a:p>
        </p:txBody>
      </p:sp>
      <p:pic>
        <p:nvPicPr>
          <p:cNvPr id="3074" name="Picture 2" descr="Photograph of an MRI scann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73379"/>
            <a:ext cx="3048000" cy="275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rgbClr val="0070C0"/>
                </a:solidFill>
              </a:rPr>
              <a:t>POSITRON EMISSION TOMOGRAPHY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sz="2600" dirty="0" smtClean="0"/>
              <a:t> Positron </a:t>
            </a:r>
            <a:r>
              <a:rPr lang="en-US" sz="2600" dirty="0"/>
              <a:t>emission tomography (PET) is a </a:t>
            </a:r>
            <a:r>
              <a:rPr lang="en-US" sz="2600" dirty="0" smtClean="0"/>
              <a:t>functional imaging </a:t>
            </a:r>
            <a:r>
              <a:rPr lang="en-US" sz="2600" dirty="0"/>
              <a:t>technique that depicts tissue </a:t>
            </a:r>
            <a:r>
              <a:rPr lang="en-US" sz="2600" dirty="0" smtClean="0"/>
              <a:t>metabolic activity </a:t>
            </a:r>
            <a:r>
              <a:rPr lang="en-US" sz="2600" dirty="0"/>
              <a:t>and uses short-lived </a:t>
            </a:r>
            <a:r>
              <a:rPr lang="en-US" sz="2600" dirty="0" smtClean="0"/>
              <a:t>radioisotopes  that </a:t>
            </a:r>
            <a:r>
              <a:rPr lang="en-US" sz="2600" dirty="0"/>
              <a:t>contain protons that decay emitting positrons.</a:t>
            </a:r>
          </a:p>
          <a:p>
            <a:r>
              <a:rPr lang="en-US" sz="2600" dirty="0"/>
              <a:t>PET is rarely used as a sole imaging modality, </a:t>
            </a:r>
            <a:r>
              <a:rPr lang="en-US" sz="2600" dirty="0" smtClean="0"/>
              <a:t>but PET-CT </a:t>
            </a:r>
            <a:r>
              <a:rPr lang="en-US" sz="2600" dirty="0"/>
              <a:t>or PET-MRI is especially useful </a:t>
            </a:r>
            <a:r>
              <a:rPr lang="en-US" sz="2600" dirty="0" smtClean="0"/>
              <a:t>in assessing </a:t>
            </a:r>
            <a:r>
              <a:rPr lang="en-US" sz="2600" dirty="0">
                <a:solidFill>
                  <a:srgbClr val="0070C0"/>
                </a:solidFill>
              </a:rPr>
              <a:t>patients presenting with metastatic </a:t>
            </a:r>
            <a:r>
              <a:rPr lang="en-US" sz="2600" dirty="0" smtClean="0">
                <a:solidFill>
                  <a:srgbClr val="0070C0"/>
                </a:solidFill>
              </a:rPr>
              <a:t>neck disease </a:t>
            </a:r>
            <a:r>
              <a:rPr lang="en-US" sz="2600" dirty="0">
                <a:solidFill>
                  <a:srgbClr val="0070C0"/>
                </a:solidFill>
              </a:rPr>
              <a:t>with an unknown primary </a:t>
            </a:r>
            <a:r>
              <a:rPr lang="en-US" sz="2600" dirty="0" smtClean="0">
                <a:solidFill>
                  <a:srgbClr val="0070C0"/>
                </a:solidFill>
              </a:rPr>
              <a:t> and </a:t>
            </a:r>
            <a:r>
              <a:rPr lang="en-US" sz="2600" dirty="0">
                <a:solidFill>
                  <a:srgbClr val="0070C0"/>
                </a:solidFill>
              </a:rPr>
              <a:t>following treatment for head and neck </a:t>
            </a:r>
            <a:r>
              <a:rPr lang="en-US" sz="2600" dirty="0" smtClean="0">
                <a:solidFill>
                  <a:srgbClr val="0070C0"/>
                </a:solidFill>
              </a:rPr>
              <a:t>cancer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4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FINE-NEEDLE ASPIRATION CYTOLOGY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sz="2400" dirty="0"/>
              <a:t>Fine-needle aspiration cytology (FNAC) is </a:t>
            </a:r>
            <a:r>
              <a:rPr lang="en-US" sz="2400" dirty="0" smtClean="0"/>
              <a:t>currently regarded </a:t>
            </a:r>
            <a:r>
              <a:rPr lang="en-US" sz="2400" dirty="0"/>
              <a:t>as the key diagnostic modality </a:t>
            </a:r>
            <a:r>
              <a:rPr lang="en-US" sz="2400" dirty="0" smtClean="0"/>
              <a:t>for neck </a:t>
            </a:r>
            <a:r>
              <a:rPr lang="en-US" sz="2400" dirty="0"/>
              <a:t>lumps and can be done with or without </a:t>
            </a:r>
            <a:r>
              <a:rPr lang="en-US" sz="2400" dirty="0" smtClean="0"/>
              <a:t>US guidance</a:t>
            </a:r>
            <a:endParaRPr lang="en-US" sz="2400" dirty="0"/>
          </a:p>
        </p:txBody>
      </p:sp>
      <p:sp>
        <p:nvSpPr>
          <p:cNvPr id="4" name="AutoShape 4" descr="C:\Users\Rozh\Desktop\fine-needle-aspiration-biopsy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C:\Users\Rozh\Desktop\fine-needle-aspiration-biopsy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9" descr="C:\Users\Rozh\Desktop\fine-needle-aspiration-biopsy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5" name="Picture 11" descr="Doctors use fine-needle aspiration biopsy of the thyroid to treat thyroid cysts or detect cancer in a thyroid nodu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71800"/>
            <a:ext cx="4572000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74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CORE </a:t>
            </a:r>
            <a:r>
              <a:rPr lang="en-US" b="1" dirty="0">
                <a:solidFill>
                  <a:srgbClr val="0070C0"/>
                </a:solidFill>
              </a:rPr>
              <a:t>BIOPSY</a:t>
            </a:r>
          </a:p>
          <a:p>
            <a:r>
              <a:rPr lang="en-US" sz="2400" dirty="0"/>
              <a:t>Core biopsy (CB) is a valuable adjunct to </a:t>
            </a:r>
            <a:r>
              <a:rPr lang="en-US" sz="2400" dirty="0" smtClean="0"/>
              <a:t>the diagnostic </a:t>
            </a:r>
            <a:r>
              <a:rPr lang="en-US" sz="2400" dirty="0"/>
              <a:t>process when FNAC is unsuccessful.</a:t>
            </a:r>
          </a:p>
          <a:p>
            <a:r>
              <a:rPr lang="en-US" sz="2400" dirty="0"/>
              <a:t>Although there had been earlier fears of </a:t>
            </a:r>
            <a:r>
              <a:rPr lang="en-US" sz="2400" dirty="0" smtClean="0"/>
              <a:t>seeding the </a:t>
            </a:r>
            <a:r>
              <a:rPr lang="en-US" sz="2400" dirty="0"/>
              <a:t>CB needle tract, these are largely unfounded.</a:t>
            </a:r>
          </a:p>
          <a:p>
            <a:r>
              <a:rPr lang="en-US" sz="2400" dirty="0"/>
              <a:t>CBs are especially valuable to characterize </a:t>
            </a:r>
            <a:r>
              <a:rPr lang="en-US" sz="2400" dirty="0" smtClean="0"/>
              <a:t>salivary gland </a:t>
            </a:r>
            <a:r>
              <a:rPr lang="en-US" sz="2400" dirty="0"/>
              <a:t>malignancies </a:t>
            </a:r>
            <a:r>
              <a:rPr lang="en-US" sz="2400" dirty="0" smtClean="0"/>
              <a:t> and lymphomas</a:t>
            </a:r>
            <a:r>
              <a:rPr lang="en-US" sz="2400" dirty="0"/>
              <a:t>.</a:t>
            </a:r>
          </a:p>
        </p:txBody>
      </p:sp>
      <p:pic>
        <p:nvPicPr>
          <p:cNvPr id="2050" name="Picture 2" descr="https://inradinc.com/wp-content/uploads/2020/02/PreciseCore-Transparent-Square-300x3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2949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59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 OPEN </a:t>
            </a:r>
            <a:r>
              <a:rPr lang="en-US" b="1" dirty="0">
                <a:solidFill>
                  <a:srgbClr val="0070C0"/>
                </a:solidFill>
              </a:rPr>
              <a:t>BIOPSY</a:t>
            </a:r>
          </a:p>
          <a:p>
            <a:r>
              <a:rPr lang="en-US" sz="2400" dirty="0"/>
              <a:t>Open biopsy (OB) may be necessary if both </a:t>
            </a:r>
            <a:r>
              <a:rPr lang="en-US" sz="2400" dirty="0" smtClean="0"/>
              <a:t>FNAC and </a:t>
            </a:r>
            <a:r>
              <a:rPr lang="en-US" sz="2400" dirty="0"/>
              <a:t>CB are unhelpful, imaging modalities </a:t>
            </a:r>
            <a:r>
              <a:rPr lang="en-US" sz="2400" dirty="0" smtClean="0"/>
              <a:t>suggest a </a:t>
            </a:r>
            <a:r>
              <a:rPr lang="en-US" sz="2400" dirty="0"/>
              <a:t>malignant process but the primary is </a:t>
            </a:r>
            <a:r>
              <a:rPr lang="en-US" sz="2400" dirty="0" smtClean="0"/>
              <a:t>unknown or </a:t>
            </a:r>
            <a:r>
              <a:rPr lang="en-US" sz="2400" dirty="0"/>
              <a:t>when the </a:t>
            </a:r>
            <a:r>
              <a:rPr lang="en-US" sz="2400" dirty="0" smtClean="0"/>
              <a:t> </a:t>
            </a:r>
            <a:r>
              <a:rPr lang="en-US" sz="2400" dirty="0"/>
              <a:t>diagnosis is a lymphoma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036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            Neck Masses in </a:t>
            </a:r>
            <a:r>
              <a:rPr lang="en-US" b="1" dirty="0">
                <a:solidFill>
                  <a:srgbClr val="0070C0"/>
                </a:solidFill>
              </a:rPr>
              <a:t>an </a:t>
            </a:r>
            <a:r>
              <a:rPr lang="en-US" b="1" dirty="0" smtClean="0">
                <a:solidFill>
                  <a:srgbClr val="0070C0"/>
                </a:solidFill>
              </a:rPr>
              <a:t>Adult</a:t>
            </a:r>
          </a:p>
          <a:p>
            <a:pPr marL="0" indent="0">
              <a:buNone/>
            </a:pPr>
            <a:r>
              <a:rPr lang="en-US" b="1" dirty="0" smtClean="0"/>
              <a:t>                             (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Midline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sz="2400" b="1" dirty="0" smtClean="0"/>
              <a:t>1-Inflammatory thyroiditis.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2-Non-inflammatory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       </a:t>
            </a:r>
            <a:r>
              <a:rPr lang="en-US" sz="2400" b="1" dirty="0" smtClean="0"/>
              <a:t>A.</a:t>
            </a:r>
            <a:r>
              <a:rPr lang="en-US" sz="2400" dirty="0"/>
              <a:t> </a:t>
            </a:r>
            <a:r>
              <a:rPr lang="en-US" sz="2400" dirty="0" err="1"/>
              <a:t>Dermoid</a:t>
            </a:r>
            <a:r>
              <a:rPr lang="en-US" sz="2400" dirty="0"/>
              <a:t> </a:t>
            </a:r>
            <a:r>
              <a:rPr lang="en-US" sz="2400" dirty="0" smtClean="0"/>
              <a:t>cyst.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   B. </a:t>
            </a:r>
            <a:r>
              <a:rPr lang="en-US" sz="2400" dirty="0" err="1" smtClean="0"/>
              <a:t>Thyroglossal</a:t>
            </a:r>
            <a:r>
              <a:rPr lang="en-US" sz="2400" dirty="0" smtClean="0"/>
              <a:t> duct cyst.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   C. Thyroid nodules.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   D. </a:t>
            </a:r>
            <a:r>
              <a:rPr lang="en-US" sz="2400" dirty="0" err="1" smtClean="0"/>
              <a:t>Thymic</a:t>
            </a:r>
            <a:r>
              <a:rPr lang="en-US" sz="2400" dirty="0" smtClean="0"/>
              <a:t> cyst.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       </a:t>
            </a:r>
            <a:r>
              <a:rPr lang="en-US" sz="2400" dirty="0" err="1" smtClean="0"/>
              <a:t>E.Lymphoedema</a:t>
            </a:r>
            <a:r>
              <a:rPr lang="en-US" sz="2400" dirty="0" smtClean="0"/>
              <a:t>.</a:t>
            </a:r>
            <a:endParaRPr lang="en-US" sz="24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                                                               </a:t>
            </a:r>
            <a:r>
              <a:rPr lang="en-US" sz="2400" b="1" dirty="0" err="1" smtClean="0">
                <a:solidFill>
                  <a:schemeClr val="accent6">
                    <a:lumMod val="75000"/>
                  </a:schemeClr>
                </a:solidFill>
              </a:rPr>
              <a:t>thyroglossal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 duct cyst 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494" y="2043978"/>
            <a:ext cx="1956179" cy="245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062162"/>
            <a:ext cx="213360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859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6868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Thyroid enlargement                           post radiation lymphedema                       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27470"/>
            <a:ext cx="3048000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99" y="1153823"/>
            <a:ext cx="2486025" cy="354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774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00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   </a:t>
            </a:r>
            <a:r>
              <a:rPr lang="en-US" b="1" dirty="0" smtClean="0">
                <a:solidFill>
                  <a:srgbClr val="0070C0"/>
                </a:solidFill>
              </a:rPr>
              <a:t>Lateral </a:t>
            </a:r>
            <a:r>
              <a:rPr lang="en-US" b="1" dirty="0" smtClean="0">
                <a:solidFill>
                  <a:srgbClr val="0070C0"/>
                </a:solidFill>
              </a:rPr>
              <a:t>neck mass </a:t>
            </a:r>
          </a:p>
          <a:p>
            <a:pPr marL="0" indent="0">
              <a:buNone/>
            </a:pPr>
            <a:r>
              <a:rPr lang="en-US" b="1" dirty="0" smtClean="0"/>
              <a:t>   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A.Inflammatory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/>
              <a:t>Reactive lymphadenopathy</a:t>
            </a:r>
          </a:p>
          <a:p>
            <a:r>
              <a:rPr lang="en-US" sz="2400" dirty="0"/>
              <a:t>Infective lymphadenopathy</a:t>
            </a:r>
          </a:p>
          <a:p>
            <a:r>
              <a:rPr lang="en-US" sz="2400" dirty="0"/>
              <a:t>(HIV, TB)</a:t>
            </a:r>
          </a:p>
          <a:p>
            <a:r>
              <a:rPr lang="en-US" sz="2400" dirty="0"/>
              <a:t>Submandibular </a:t>
            </a:r>
            <a:r>
              <a:rPr lang="en-US" sz="2400" dirty="0" err="1"/>
              <a:t>sialadenitis</a:t>
            </a:r>
            <a:endParaRPr lang="en-US" sz="2400" dirty="0"/>
          </a:p>
          <a:p>
            <a:r>
              <a:rPr lang="en-US" sz="2400" dirty="0" err="1"/>
              <a:t>Parotitis</a:t>
            </a:r>
            <a:endParaRPr lang="en-US" sz="2400" dirty="0"/>
          </a:p>
          <a:p>
            <a:r>
              <a:rPr lang="en-US" sz="2400" dirty="0"/>
              <a:t>Kikuchi’s disease</a:t>
            </a:r>
          </a:p>
          <a:p>
            <a:r>
              <a:rPr lang="en-US" sz="2400" dirty="0"/>
              <a:t>Kawasaki </a:t>
            </a:r>
            <a:r>
              <a:rPr lang="en-US" sz="2400" dirty="0" smtClean="0"/>
              <a:t>syndrome</a:t>
            </a:r>
          </a:p>
          <a:p>
            <a:pPr marL="0" indent="0">
              <a:buNone/>
            </a:pPr>
            <a:r>
              <a:rPr lang="en-US" sz="2400" dirty="0" smtClean="0"/>
              <a:t>                                                                                      </a:t>
            </a:r>
            <a:r>
              <a:rPr lang="en-US" sz="2400" dirty="0" smtClean="0"/>
              <a:t>  cervical </a:t>
            </a:r>
            <a:r>
              <a:rPr lang="en-US" sz="2400" dirty="0" smtClean="0"/>
              <a:t>LA</a:t>
            </a:r>
            <a:endParaRPr lang="en-US" sz="2400" dirty="0"/>
          </a:p>
        </p:txBody>
      </p:sp>
      <p:pic>
        <p:nvPicPr>
          <p:cNvPr id="5122" name="Picture 2" descr="https://upload.wikimedia.org/wikipedia/commons/thumb/c/c2/Ixodholfem8.jpg/220px-Ixodholfem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609600"/>
            <a:ext cx="2095500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97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   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B. Non-inflammatory</a:t>
            </a:r>
          </a:p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en-US" b="1" dirty="0" smtClean="0">
                <a:solidFill>
                  <a:srgbClr val="92D050"/>
                </a:solidFill>
              </a:rPr>
              <a:t>Benign</a:t>
            </a:r>
          </a:p>
          <a:p>
            <a:r>
              <a:rPr lang="en-US" dirty="0" err="1"/>
              <a:t>Branchial</a:t>
            </a:r>
            <a:r>
              <a:rPr lang="en-US" dirty="0"/>
              <a:t> </a:t>
            </a:r>
            <a:r>
              <a:rPr lang="en-US" dirty="0" smtClean="0"/>
              <a:t>cyst.</a:t>
            </a:r>
            <a:endParaRPr lang="en-US" dirty="0"/>
          </a:p>
          <a:p>
            <a:r>
              <a:rPr lang="en-US" dirty="0" err="1" smtClean="0"/>
              <a:t>Laryngocoele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Parotid </a:t>
            </a:r>
            <a:r>
              <a:rPr lang="en-US" dirty="0" err="1" smtClean="0"/>
              <a:t>tumours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Schwannoma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Paraganglioma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Fibroblastic/</a:t>
            </a:r>
            <a:r>
              <a:rPr lang="en-US" dirty="0" err="1" smtClean="0"/>
              <a:t>myofibroblastic</a:t>
            </a:r>
            <a:r>
              <a:rPr lang="en-US" dirty="0"/>
              <a:t> </a:t>
            </a:r>
            <a:r>
              <a:rPr lang="en-US" dirty="0" smtClean="0"/>
              <a:t>lesions</a:t>
            </a:r>
            <a:endParaRPr lang="en-US" dirty="0"/>
          </a:p>
          <a:p>
            <a:r>
              <a:rPr lang="en-US" dirty="0" err="1" smtClean="0"/>
              <a:t>Lipoma</a:t>
            </a:r>
            <a:endParaRPr lang="en-US" dirty="0"/>
          </a:p>
          <a:p>
            <a:r>
              <a:rPr lang="en-US" dirty="0" err="1"/>
              <a:t>Parapharyngeal</a:t>
            </a:r>
            <a:r>
              <a:rPr lang="en-US" dirty="0"/>
              <a:t> </a:t>
            </a:r>
            <a:r>
              <a:rPr lang="en-US" dirty="0" smtClean="0"/>
              <a:t>space </a:t>
            </a:r>
            <a:r>
              <a:rPr lang="en-US" dirty="0" err="1" smtClean="0"/>
              <a:t>tumours</a:t>
            </a: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5745163"/>
          </a:xfrm>
        </p:spPr>
        <p:txBody>
          <a:bodyPr/>
          <a:lstStyle/>
          <a:p>
            <a:r>
              <a:rPr lang="en-US" dirty="0" smtClean="0"/>
              <a:t>Parotid mass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 smtClean="0"/>
              <a:t>laryngocele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524000"/>
            <a:ext cx="2590800" cy="2397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4" descr="Branchial Cyst - Standard Treatment Guidelin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Branchial Cyst - Standard Treatment Guidelin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00" name="Picture 8" descr="Branchial Cyst - Standard Treatment Guidelin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255" y="1489364"/>
            <a:ext cx="28575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ttps://www.nejm.org/na101/home/literatum/publisher/mms/journals/content/nejm/2018/nejm_2018.379.issue-23/nejmicm1807310/20181130/images/img_large/nejmicm1807310_f1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267200"/>
            <a:ext cx="5715000" cy="242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41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    Malignant</a:t>
            </a:r>
          </a:p>
          <a:p>
            <a:r>
              <a:rPr lang="en-US" sz="2400" dirty="0"/>
              <a:t>Metastatic </a:t>
            </a:r>
            <a:r>
              <a:rPr lang="en-US" sz="2400" dirty="0" smtClean="0"/>
              <a:t>squamous cell </a:t>
            </a:r>
            <a:r>
              <a:rPr lang="en-US" sz="2400" dirty="0"/>
              <a:t>cancer</a:t>
            </a:r>
          </a:p>
          <a:p>
            <a:r>
              <a:rPr lang="en-US" sz="2400" dirty="0"/>
              <a:t>Primary parotid cancers </a:t>
            </a:r>
            <a:r>
              <a:rPr lang="en-US" sz="2400" dirty="0" smtClean="0"/>
              <a:t>or metastases </a:t>
            </a:r>
            <a:r>
              <a:rPr lang="en-US" sz="2400" dirty="0"/>
              <a:t>to lymph nodes</a:t>
            </a:r>
          </a:p>
          <a:p>
            <a:r>
              <a:rPr lang="en-US" sz="2400" dirty="0"/>
              <a:t>Metastatic thyroid cancer</a:t>
            </a:r>
          </a:p>
          <a:p>
            <a:r>
              <a:rPr lang="en-US" sz="2400" dirty="0"/>
              <a:t>Lymphomas</a:t>
            </a:r>
          </a:p>
          <a:p>
            <a:r>
              <a:rPr lang="en-US" sz="2400" dirty="0"/>
              <a:t>Adenocarcinoma </a:t>
            </a:r>
            <a:r>
              <a:rPr lang="en-US" sz="2400" dirty="0" smtClean="0"/>
              <a:t>from distant </a:t>
            </a:r>
            <a:r>
              <a:rPr lang="en-US" sz="2400" dirty="0"/>
              <a:t>sites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49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248400"/>
          </a:xfrm>
        </p:spPr>
        <p:txBody>
          <a:bodyPr/>
          <a:lstStyle/>
          <a:p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     APPROACH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TO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TREATMENT PLANNING</a:t>
            </a:r>
          </a:p>
          <a:p>
            <a:pPr marL="0" indent="0">
              <a:buNone/>
            </a:pP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/>
              <a:t>In the presence of benign pathology, the </a:t>
            </a:r>
            <a:r>
              <a:rPr lang="en-US" sz="2400" dirty="0" smtClean="0"/>
              <a:t>only treatment </a:t>
            </a:r>
            <a:r>
              <a:rPr lang="en-US" sz="2400" dirty="0"/>
              <a:t>available is surgical excision, but </a:t>
            </a:r>
            <a:r>
              <a:rPr lang="en-US" sz="2400" dirty="0" smtClean="0"/>
              <a:t>patient wishes </a:t>
            </a:r>
            <a:r>
              <a:rPr lang="en-US" sz="2400" dirty="0"/>
              <a:t>and expectations are </a:t>
            </a:r>
            <a:r>
              <a:rPr lang="en-US" sz="2400" dirty="0" smtClean="0"/>
              <a:t>paramount</a:t>
            </a:r>
            <a:r>
              <a:rPr lang="en-US" dirty="0" smtClean="0"/>
              <a:t>.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62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686800" cy="60960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Treatment </a:t>
            </a:r>
            <a:r>
              <a:rPr lang="en-US" sz="2400" dirty="0"/>
              <a:t>for head and neck cancer is a </a:t>
            </a:r>
            <a:r>
              <a:rPr lang="en-US" sz="2400" dirty="0" smtClean="0"/>
              <a:t>rapidly evolving </a:t>
            </a:r>
            <a:r>
              <a:rPr lang="en-US" sz="2400" dirty="0"/>
              <a:t>field, and </a:t>
            </a:r>
            <a:r>
              <a:rPr lang="en-US" sz="2400" dirty="0" smtClean="0"/>
              <a:t> treatment </a:t>
            </a:r>
            <a:r>
              <a:rPr lang="en-US" sz="2400" dirty="0"/>
              <a:t>planning </a:t>
            </a:r>
            <a:r>
              <a:rPr lang="en-US" sz="2400" dirty="0" smtClean="0"/>
              <a:t>is best </a:t>
            </a:r>
            <a:r>
              <a:rPr lang="en-US" sz="2400" dirty="0"/>
              <a:t>undertaken in a multidisciplinary </a:t>
            </a:r>
            <a:r>
              <a:rPr lang="en-US" sz="2400" dirty="0" smtClean="0"/>
              <a:t>setting where </a:t>
            </a:r>
            <a:r>
              <a:rPr lang="en-US" sz="2400" dirty="0"/>
              <a:t>appropriate expertise is available. </a:t>
            </a:r>
            <a:endParaRPr lang="en-US" sz="2400" dirty="0" smtClean="0"/>
          </a:p>
          <a:p>
            <a:r>
              <a:rPr lang="en-US" sz="2400" dirty="0" smtClean="0"/>
              <a:t>national </a:t>
            </a:r>
            <a:r>
              <a:rPr lang="en-US" sz="2400" dirty="0"/>
              <a:t>guidelines </a:t>
            </a:r>
            <a:r>
              <a:rPr lang="en-US" sz="2400" dirty="0" smtClean="0"/>
              <a:t>or local </a:t>
            </a:r>
            <a:r>
              <a:rPr lang="en-US" sz="2400" dirty="0"/>
              <a:t>protocols are often used to guide </a:t>
            </a:r>
            <a:r>
              <a:rPr lang="en-US" sz="2400" dirty="0" smtClean="0"/>
              <a:t>treatment. </a:t>
            </a:r>
          </a:p>
          <a:p>
            <a:r>
              <a:rPr lang="en-US" sz="2400" dirty="0" smtClean="0"/>
              <a:t>Relying </a:t>
            </a:r>
            <a:r>
              <a:rPr lang="en-US" sz="2400" dirty="0"/>
              <a:t>on a positive FNAC alone to plan </a:t>
            </a:r>
            <a:r>
              <a:rPr lang="en-US" sz="2400" dirty="0" smtClean="0"/>
              <a:t>treatment in </a:t>
            </a:r>
            <a:r>
              <a:rPr lang="en-US" sz="2400" dirty="0"/>
              <a:t>patients with head and neck cancer is </a:t>
            </a:r>
            <a:r>
              <a:rPr lang="en-US" sz="2400" dirty="0" smtClean="0"/>
              <a:t>a strategy </a:t>
            </a:r>
            <a:r>
              <a:rPr lang="en-US" sz="2400" dirty="0"/>
              <a:t>beset with hazard, given the reported </a:t>
            </a:r>
            <a:r>
              <a:rPr lang="en-US" sz="2400" dirty="0" smtClean="0"/>
              <a:t>3–10 per </a:t>
            </a:r>
            <a:r>
              <a:rPr lang="en-US" sz="2400" dirty="0"/>
              <a:t>cent false positive rates. </a:t>
            </a:r>
            <a:endParaRPr lang="en-US" sz="2400" dirty="0" smtClean="0"/>
          </a:p>
          <a:p>
            <a:r>
              <a:rPr lang="en-US" sz="2400" b="1" u="sng" dirty="0" smtClean="0"/>
              <a:t>One </a:t>
            </a:r>
            <a:r>
              <a:rPr lang="en-US" sz="2400" b="1" u="sng" dirty="0"/>
              <a:t>should always </a:t>
            </a:r>
            <a:r>
              <a:rPr lang="en-US" sz="2400" b="1" u="sng" dirty="0" smtClean="0"/>
              <a:t>try to </a:t>
            </a:r>
            <a:r>
              <a:rPr lang="en-US" sz="2400" b="1" u="sng" dirty="0"/>
              <a:t>ensure that a definitive biopsy is </a:t>
            </a:r>
            <a:r>
              <a:rPr lang="en-US" sz="2400" b="1" u="sng" dirty="0" smtClean="0"/>
              <a:t>available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255146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   </a:t>
            </a:r>
            <a:r>
              <a:rPr lang="en-US" sz="2400" b="1" dirty="0" smtClean="0"/>
              <a:t>  </a:t>
            </a:r>
            <a:r>
              <a:rPr lang="en-US" sz="2400" b="1" dirty="0" smtClean="0">
                <a:solidFill>
                  <a:srgbClr val="0070C0"/>
                </a:solidFill>
              </a:rPr>
              <a:t>Rule </a:t>
            </a:r>
            <a:r>
              <a:rPr lang="en-US" sz="2400" b="1" dirty="0">
                <a:solidFill>
                  <a:srgbClr val="0070C0"/>
                </a:solidFill>
              </a:rPr>
              <a:t>of 7 in the </a:t>
            </a:r>
            <a:r>
              <a:rPr lang="en-US" sz="2400" b="1" dirty="0" smtClean="0">
                <a:solidFill>
                  <a:srgbClr val="0070C0"/>
                </a:solidFill>
              </a:rPr>
              <a:t>neck</a:t>
            </a:r>
          </a:p>
          <a:p>
            <a:r>
              <a:rPr lang="en-US" sz="2400" dirty="0" smtClean="0"/>
              <a:t>  7 </a:t>
            </a:r>
            <a:r>
              <a:rPr lang="en-US" sz="2400" b="1" dirty="0" smtClean="0"/>
              <a:t>days—inflammation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</a:t>
            </a:r>
            <a:r>
              <a:rPr lang="en-US" sz="2400" dirty="0" smtClean="0"/>
              <a:t>7 </a:t>
            </a:r>
            <a:r>
              <a:rPr lang="en-US" sz="2400" b="1" dirty="0" smtClean="0"/>
              <a:t>months—neoplasm</a:t>
            </a:r>
          </a:p>
          <a:p>
            <a:r>
              <a:rPr lang="en-US" sz="2400" b="1"/>
              <a:t> </a:t>
            </a:r>
            <a:r>
              <a:rPr lang="en-US" sz="2400" b="1" smtClean="0"/>
              <a:t> </a:t>
            </a:r>
            <a:r>
              <a:rPr lang="en-US" sz="2400" smtClean="0"/>
              <a:t>7 </a:t>
            </a:r>
            <a:r>
              <a:rPr lang="en-US" sz="2400" b="1" dirty="0"/>
              <a:t>years—congenital</a:t>
            </a:r>
            <a:r>
              <a:rPr lang="en-US" sz="2400" dirty="0"/>
              <a:t> </a:t>
            </a:r>
            <a:r>
              <a:rPr lang="en-US" sz="2400" b="1" dirty="0"/>
              <a:t>defect</a:t>
            </a:r>
          </a:p>
          <a:p>
            <a:pPr marL="0" indent="0">
              <a:buNone/>
            </a:pPr>
            <a:r>
              <a:rPr lang="en-US" sz="2400" dirty="0"/>
              <a:t>Note: The Rule of 7 provides a </a:t>
            </a:r>
            <a:r>
              <a:rPr lang="en-US" sz="2400" b="1" dirty="0"/>
              <a:t>probable diagnosis </a:t>
            </a:r>
            <a:r>
              <a:rPr lang="en-US" sz="2400" dirty="0"/>
              <a:t>of the neck mass based on the average duration of the patient’s symptoms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48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963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1252</Words>
  <Application>Microsoft Office PowerPoint</Application>
  <PresentationFormat>On-screen Show (4:3)</PresentationFormat>
  <Paragraphs>175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Rozh</dc:creator>
  <cp:lastModifiedBy>Rozh</cp:lastModifiedBy>
  <cp:revision>100</cp:revision>
  <dcterms:created xsi:type="dcterms:W3CDTF">2022-09-30T13:08:50Z</dcterms:created>
  <dcterms:modified xsi:type="dcterms:W3CDTF">2025-10-11T07:40:40Z</dcterms:modified>
</cp:coreProperties>
</file>