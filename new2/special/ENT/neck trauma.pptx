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9"/>
  </p:notesMasterIdLst>
  <p:sldIdLst>
    <p:sldId id="257" r:id="rId2"/>
    <p:sldId id="258" r:id="rId3"/>
    <p:sldId id="259" r:id="rId4"/>
    <p:sldId id="262" r:id="rId5"/>
    <p:sldId id="263" r:id="rId6"/>
    <p:sldId id="264" r:id="rId7"/>
    <p:sldId id="364" r:id="rId8"/>
    <p:sldId id="265" r:id="rId9"/>
    <p:sldId id="266" r:id="rId10"/>
    <p:sldId id="366" r:id="rId11"/>
    <p:sldId id="267" r:id="rId12"/>
    <p:sldId id="268" r:id="rId13"/>
    <p:sldId id="369" r:id="rId14"/>
    <p:sldId id="269" r:id="rId15"/>
    <p:sldId id="365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7" r:id="rId33"/>
    <p:sldId id="288" r:id="rId34"/>
    <p:sldId id="304" r:id="rId35"/>
    <p:sldId id="336" r:id="rId36"/>
    <p:sldId id="370" r:id="rId37"/>
    <p:sldId id="36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CC9900"/>
    <a:srgbClr val="006600"/>
    <a:srgbClr val="FFFF00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84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9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06DB6-971F-457B-B1B9-964D7ECB67CD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DFA66-24C4-44DC-B96C-0015AEE62BF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7663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DFA66-24C4-44DC-B96C-0015AEE62BF6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DFA66-24C4-44DC-B96C-0015AEE62BF6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99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50B3B5F-7E91-4A26-9912-36DAEBF5CC4F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13EA2D-5C56-46E0-9D4E-7542629A3A2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0B3B5F-7E91-4A26-9912-36DAEBF5CC4F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13EA2D-5C56-46E0-9D4E-7542629A3A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0B3B5F-7E91-4A26-9912-36DAEBF5CC4F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13EA2D-5C56-46E0-9D4E-7542629A3A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0B3B5F-7E91-4A26-9912-36DAEBF5CC4F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13EA2D-5C56-46E0-9D4E-7542629A3A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0B3B5F-7E91-4A26-9912-36DAEBF5CC4F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13EA2D-5C56-46E0-9D4E-7542629A3A2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0B3B5F-7E91-4A26-9912-36DAEBF5CC4F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13EA2D-5C56-46E0-9D4E-7542629A3A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0B3B5F-7E91-4A26-9912-36DAEBF5CC4F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13EA2D-5C56-46E0-9D4E-7542629A3A2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450B3B5F-7E91-4A26-9912-36DAEBF5CC4F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13EA2D-5C56-46E0-9D4E-7542629A3A2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50B3B5F-7E91-4A26-9912-36DAEBF5CC4F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613EA2D-5C56-46E0-9D4E-7542629A3A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0B3B5F-7E91-4A26-9912-36DAEBF5CC4F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13EA2D-5C56-46E0-9D4E-7542629A3A2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0B3B5F-7E91-4A26-9912-36DAEBF5CC4F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613EA2D-5C56-46E0-9D4E-7542629A3A2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50B3B5F-7E91-4A26-9912-36DAEBF5CC4F}" type="datetimeFigureOut">
              <a:rPr lang="en-US" smtClean="0"/>
              <a:pPr/>
              <a:t>10/20/2025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613EA2D-5C56-46E0-9D4E-7542629A3A29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571480"/>
            <a:ext cx="8643998" cy="5929354"/>
          </a:xfrm>
        </p:spPr>
        <p:txBody>
          <a:bodyPr/>
          <a:lstStyle/>
          <a:p>
            <a:endParaRPr lang="en-GB" dirty="0" smtClean="0">
              <a:latin typeface="Aharoni" pitchFamily="2" charset="-79"/>
              <a:cs typeface="Aharoni" pitchFamily="2" charset="-79"/>
            </a:endParaRPr>
          </a:p>
          <a:p>
            <a:endParaRPr lang="en-GB" dirty="0">
              <a:latin typeface="Aharoni" pitchFamily="2" charset="-79"/>
              <a:cs typeface="Aharoni" pitchFamily="2" charset="-79"/>
            </a:endParaRPr>
          </a:p>
          <a:p>
            <a:pPr>
              <a:buNone/>
            </a:pPr>
            <a:r>
              <a:rPr lang="en-GB" sz="48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GB" sz="4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         Neck trauma </a:t>
            </a:r>
          </a:p>
          <a:p>
            <a:pPr marL="0" indent="0">
              <a:buNone/>
            </a:pPr>
            <a:r>
              <a:rPr lang="en-GB" sz="40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           </a:t>
            </a:r>
            <a:r>
              <a:rPr lang="en-US" sz="32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DR:Mariwan</a:t>
            </a: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latif</a:t>
            </a: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fatah</a:t>
            </a: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</a:t>
            </a:r>
            <a:r>
              <a:rPr lang="en-US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</a:t>
            </a:r>
            <a:r>
              <a:rPr lang="en-US" sz="3200" b="1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M.B.ch.B</a:t>
            </a:r>
            <a:r>
              <a:rPr lang="en-US" sz="32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  </a:t>
            </a: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F.I.C.M.S </a:t>
            </a:r>
          </a:p>
          <a:p>
            <a:pPr>
              <a:buNone/>
            </a:pPr>
            <a:r>
              <a:rPr lang="en-GB" sz="4000" b="1" dirty="0" smtClean="0">
                <a:solidFill>
                  <a:schemeClr val="bg2">
                    <a:lumMod val="50000"/>
                  </a:schemeClr>
                </a:solidFill>
                <a:latin typeface="Aharoni" pitchFamily="2" charset="-79"/>
                <a:cs typeface="Aharoni" pitchFamily="2" charset="-79"/>
              </a:rPr>
              <a:t>                                                </a:t>
            </a:r>
            <a:r>
              <a:rPr lang="en-GB" sz="4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                      </a:t>
            </a:r>
            <a:r>
              <a:rPr lang="en-GB" sz="4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                                       </a:t>
            </a:r>
            <a:r>
              <a:rPr lang="en-GB" sz="40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 </a:t>
            </a:r>
            <a:endParaRPr lang="en-GB" sz="4000" b="1" dirty="0">
              <a:solidFill>
                <a:schemeClr val="tx2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50724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 smtClean="0"/>
              <a:t>   </a:t>
            </a:r>
            <a:endParaRPr lang="en-GB" sz="2600" dirty="0" smtClean="0"/>
          </a:p>
          <a:p>
            <a:pPr>
              <a:buNone/>
            </a:pPr>
            <a:r>
              <a:rPr lang="en-GB" sz="26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 </a:t>
            </a:r>
            <a:r>
              <a:rPr lang="en-GB" sz="26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INTRODUCTION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 smtClean="0"/>
              <a:t> </a:t>
            </a:r>
            <a:r>
              <a:rPr lang="en-US" sz="2000" dirty="0"/>
              <a:t>Neck injuries are a relatively uncommon </a:t>
            </a:r>
            <a:r>
              <a:rPr lang="en-US" sz="2000" dirty="0" smtClean="0"/>
              <a:t>presentation </a:t>
            </a:r>
            <a:r>
              <a:rPr lang="en-US" sz="2000" dirty="0"/>
              <a:t>in the emergency departments, with </a:t>
            </a:r>
            <a:r>
              <a:rPr lang="en-US" sz="2000" dirty="0" smtClean="0"/>
              <a:t>variation </a:t>
            </a:r>
            <a:r>
              <a:rPr lang="en-US" sz="2000" dirty="0"/>
              <a:t>across different geographical areas owing to differences in patient demographics. 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They </a:t>
            </a:r>
            <a:r>
              <a:rPr lang="en-US" sz="2000" dirty="0"/>
              <a:t>account for 5–10% of all trauma. Their evaluation and management can be challenging, especially for the inexperienced doctor, because of the complexity of the neck anatomy, which includes vital structures in a confined space</a:t>
            </a:r>
            <a:endParaRPr lang="en-GB" sz="2000" dirty="0" smtClean="0">
              <a:solidFill>
                <a:schemeClr val="accent4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 Introduction of diagnostic tools such as </a:t>
            </a:r>
            <a:r>
              <a:rPr lang="en-GB" dirty="0" smtClean="0">
                <a:solidFill>
                  <a:srgbClr val="0070C0"/>
                </a:solidFill>
                <a:latin typeface="Andalus" pitchFamily="18" charset="-78"/>
                <a:cs typeface="Andalus" pitchFamily="18" charset="-78"/>
              </a:rPr>
              <a:t>flexible endoscopy, high quality oesophagography, angiography and duplex Doppler </a:t>
            </a:r>
            <a:r>
              <a:rPr lang="en-GB" dirty="0" smtClean="0"/>
              <a:t>have improved nonoperative evaluation of aerodigestive and vascular injuries.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GB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TRAUMA PATIENT: GENERAL PRINCIPLES</a:t>
            </a:r>
          </a:p>
          <a:p>
            <a:pPr>
              <a:buNone/>
            </a:pPr>
            <a:r>
              <a:rPr lang="en-GB" b="1" dirty="0" smtClean="0"/>
              <a:t>   </a:t>
            </a:r>
            <a:r>
              <a:rPr lang="en-GB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Primary survey (survival assessment)</a:t>
            </a:r>
          </a:p>
          <a:p>
            <a:r>
              <a:rPr lang="en-GB" dirty="0" smtClean="0"/>
              <a:t>The primary survey is an initial assessment of factors that cause early deaths in trauma patients. </a:t>
            </a:r>
          </a:p>
          <a:p>
            <a:r>
              <a:rPr lang="en-GB" dirty="0" smtClean="0"/>
              <a:t>It focuses on factors such as </a:t>
            </a:r>
            <a:r>
              <a:rPr lang="en-GB" dirty="0" smtClean="0">
                <a:solidFill>
                  <a:schemeClr val="accent2"/>
                </a:solidFill>
                <a:latin typeface="Aharoni" pitchFamily="2" charset="-79"/>
                <a:cs typeface="Aharoni" pitchFamily="2" charset="-79"/>
              </a:rPr>
              <a:t>hypoxia, hypovolaemia, tension pneumothorax and head injury.</a:t>
            </a:r>
            <a:endParaRPr lang="en-GB" dirty="0">
              <a:solidFill>
                <a:schemeClr val="accent2"/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4358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 smtClean="0"/>
              <a:t> </a:t>
            </a:r>
          </a:p>
          <a:p>
            <a:pPr>
              <a:buNone/>
            </a:pPr>
            <a:r>
              <a:rPr lang="en-GB" dirty="0" smtClean="0"/>
              <a:t>  </a:t>
            </a:r>
            <a:r>
              <a:rPr lang="en-GB" dirty="0" smtClean="0">
                <a:solidFill>
                  <a:schemeClr val="accent3"/>
                </a:solidFill>
                <a:latin typeface="Aharoni" pitchFamily="2" charset="-79"/>
                <a:cs typeface="Aharoni" pitchFamily="2" charset="-79"/>
              </a:rPr>
              <a:t>AIRWAY AND CERVICAL SPINE PROTECTION</a:t>
            </a:r>
          </a:p>
          <a:p>
            <a:r>
              <a:rPr lang="en-GB" dirty="0" smtClean="0"/>
              <a:t>The patient is examined for evidence of airway obstruction, which may present as stridor and use of accessory muscles.</a:t>
            </a:r>
          </a:p>
          <a:p>
            <a:r>
              <a:rPr lang="en-GB" dirty="0" smtClean="0"/>
              <a:t>A chin lift and jaw thrust procedure should be performed.</a:t>
            </a:r>
          </a:p>
        </p:txBody>
      </p:sp>
      <p:pic>
        <p:nvPicPr>
          <p:cNvPr id="1026" name="Picture 2" descr="C:\Users\rozh\Pictures\CHIN LIF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884" y="3429000"/>
            <a:ext cx="2571768" cy="33780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721563"/>
          </a:xfrm>
        </p:spPr>
        <p:txBody>
          <a:bodyPr/>
          <a:lstStyle/>
          <a:p>
            <a:endParaRPr lang="en-GB" dirty="0" smtClean="0"/>
          </a:p>
          <a:p>
            <a:r>
              <a:rPr lang="en-GB" dirty="0" smtClean="0"/>
              <a:t>A cervical collar or sandbags should be used to stabilize the neck until cervical spine injury is excluded.</a:t>
            </a:r>
          </a:p>
          <a:p>
            <a:r>
              <a:rPr lang="en-GB" dirty="0" smtClean="0"/>
              <a:t> Patients with Glasgow coma scores (GCS) of &lt; 8 usually require intubation to protect the airway. </a:t>
            </a:r>
          </a:p>
        </p:txBody>
      </p:sp>
      <p:pic>
        <p:nvPicPr>
          <p:cNvPr id="5" name="Picture 3" descr="C:\Users\rozh\Pictures\Cervical_Colla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3429000"/>
            <a:ext cx="2461781" cy="2499243"/>
          </a:xfrm>
          <a:prstGeom prst="rect">
            <a:avLst/>
          </a:prstGeom>
          <a:noFill/>
        </p:spPr>
      </p:pic>
      <p:pic>
        <p:nvPicPr>
          <p:cNvPr id="2052" name="Picture 4" descr="C:\Users\rozh\Pictures\Glasgow-Coma-Scale-image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0" y="2857496"/>
            <a:ext cx="5000660" cy="385886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650125"/>
          </a:xfrm>
        </p:spPr>
        <p:txBody>
          <a:bodyPr/>
          <a:lstStyle/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Major facial fractures in particular mandibular fractures and large cervical haematomas may compromise the airway.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4098" name="Picture 2" descr="C:\Users\rozh\Pictures\H52CA60ST6PCAJ0PVK9CARP4DMZCARVUM7TCAKWTE9VCAP0PRI1CABNJT5LCAHFULPOCAEJUWLACA4LPVM1CAF9NBT3CAJLXKFBCACLMQ4PCA1VW16ECAKTM944CAZ0M200CAS4CQW7CAP1Y9PHCA1YSH5C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2786058"/>
            <a:ext cx="3484968" cy="3216894"/>
          </a:xfrm>
          <a:prstGeom prst="rect">
            <a:avLst/>
          </a:prstGeom>
          <a:noFill/>
        </p:spPr>
      </p:pic>
      <p:pic>
        <p:nvPicPr>
          <p:cNvPr id="1026" name="Picture 2" descr="C:\Users\rozh\Pictures\contoured_mandible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2857496"/>
            <a:ext cx="3656707" cy="287713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>
            <a:normAutofit/>
          </a:bodyPr>
          <a:lstStyle/>
          <a:p>
            <a:endParaRPr lang="en-GB" dirty="0" smtClean="0"/>
          </a:p>
          <a:p>
            <a:r>
              <a:rPr lang="en-GB" dirty="0" smtClean="0"/>
              <a:t>Patients with transcervical gunshot wounds may not have airway problems initially, but must be closely observed as airway obstruction can rapidly develop. </a:t>
            </a:r>
          </a:p>
          <a:p>
            <a:r>
              <a:rPr lang="en-GB" dirty="0" smtClean="0"/>
              <a:t> An endotracheal tube may sometimes be inserted directly into the trachea through the site of a penetrating cervical injury.</a:t>
            </a:r>
          </a:p>
        </p:txBody>
      </p:sp>
      <p:pic>
        <p:nvPicPr>
          <p:cNvPr id="5122" name="Picture 2" descr="C:\Users\rozh\Pictures\ET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57752" y="3857628"/>
            <a:ext cx="3786214" cy="283600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435811"/>
          </a:xfrm>
        </p:spPr>
        <p:txBody>
          <a:bodyPr/>
          <a:lstStyle/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Cricothyroidotomy must be considered if intubation fails.</a:t>
            </a:r>
          </a:p>
          <a:p>
            <a:pPr>
              <a:buNone/>
            </a:pPr>
            <a:endParaRPr lang="en-GB" dirty="0"/>
          </a:p>
        </p:txBody>
      </p:sp>
      <p:pic>
        <p:nvPicPr>
          <p:cNvPr id="6147" name="Picture 3" descr="C:\Users\rozh\Pictures\c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24128" y="2348880"/>
            <a:ext cx="3286148" cy="3117424"/>
          </a:xfrm>
          <a:prstGeom prst="rect">
            <a:avLst/>
          </a:prstGeom>
          <a:noFill/>
        </p:spPr>
      </p:pic>
      <p:pic>
        <p:nvPicPr>
          <p:cNvPr id="1026" name="Picture 2" descr="a) anterior and lateral view of the larynx that shows th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537769"/>
            <a:ext cx="4240535" cy="2993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/>
          <a:lstStyle/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It should be converted to a formal tracheostomy subsequently as the small tube is difficult to keep clean and in order to prevent subglottic stenosis</a:t>
            </a:r>
            <a:endParaRPr lang="en-GB" dirty="0"/>
          </a:p>
        </p:txBody>
      </p:sp>
      <p:pic>
        <p:nvPicPr>
          <p:cNvPr id="7170" name="Picture 2" descr="D:\shta konakan\rozhi dl\gem_05_img06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68403" y="3068960"/>
            <a:ext cx="3194845" cy="2569766"/>
          </a:xfrm>
          <a:prstGeom prst="rect">
            <a:avLst/>
          </a:prstGeom>
          <a:noFill/>
        </p:spPr>
      </p:pic>
      <p:pic>
        <p:nvPicPr>
          <p:cNvPr id="7171" name="Picture 3" descr="D:\shta konakan\rozhi dl\5851067190231051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7584" y="3304892"/>
            <a:ext cx="2811896" cy="20979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 smtClean="0"/>
              <a:t>  </a:t>
            </a:r>
          </a:p>
          <a:p>
            <a:pPr>
              <a:buNone/>
            </a:pPr>
            <a:r>
              <a:rPr lang="en-GB" dirty="0" smtClean="0"/>
              <a:t>  </a:t>
            </a:r>
            <a:r>
              <a:rPr lang="en-GB" sz="4100" dirty="0" smtClean="0">
                <a:solidFill>
                  <a:schemeClr val="accent3"/>
                </a:solidFill>
              </a:rPr>
              <a:t>BREATHING</a:t>
            </a:r>
          </a:p>
          <a:p>
            <a:r>
              <a:rPr lang="en-GB" sz="2400" dirty="0" smtClean="0"/>
              <a:t>The chest should be examined with respect to movement and air entry. </a:t>
            </a:r>
          </a:p>
          <a:p>
            <a:r>
              <a:rPr lang="en-GB" sz="2400" dirty="0" smtClean="0">
                <a:solidFill>
                  <a:srgbClr val="FF00FF"/>
                </a:solidFill>
                <a:latin typeface="Aharoni" pitchFamily="2" charset="-79"/>
                <a:cs typeface="Aharoni" pitchFamily="2" charset="-79"/>
              </a:rPr>
              <a:t>Tension pneumothorax presents with hypoxia, restlessness, hyper-resonance to percussion, decreased air entry, contralateral tracheal shift and elevated jugular venous pressure.</a:t>
            </a:r>
          </a:p>
        </p:txBody>
      </p:sp>
      <p:pic>
        <p:nvPicPr>
          <p:cNvPr id="4" name="Picture 2" descr="C:\Users\rozh\Pictures\5a58e88c0ef87c90016cdc68cd26a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6446" y="3717032"/>
            <a:ext cx="2668598" cy="26685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/>
          <a:lstStyle/>
          <a:p>
            <a:endParaRPr lang="en-GB" sz="2400" dirty="0" smtClean="0"/>
          </a:p>
          <a:p>
            <a:r>
              <a:rPr lang="en-GB" sz="2400" dirty="0" smtClean="0"/>
              <a:t> It is decompressed by needle thoracocentesis with a large bore needle placed through the second intercostal space in the midclavicular line, followed by insertion of a chest drain. </a:t>
            </a:r>
          </a:p>
          <a:p>
            <a:endParaRPr lang="en-GB" dirty="0"/>
          </a:p>
        </p:txBody>
      </p:sp>
      <p:pic>
        <p:nvPicPr>
          <p:cNvPr id="12290" name="Picture 2" descr="C:\Users\rozh\Pictures\Thoracentesi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86182" y="2428868"/>
            <a:ext cx="5143536" cy="4168407"/>
          </a:xfrm>
          <a:prstGeom prst="rect">
            <a:avLst/>
          </a:prstGeom>
          <a:noFill/>
        </p:spPr>
      </p:pic>
      <p:pic>
        <p:nvPicPr>
          <p:cNvPr id="1026" name="Picture 2" descr="C:\Users\rozh\Pictures\2361-0550x047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11990" y="2571745"/>
            <a:ext cx="2899733" cy="335758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650125"/>
          </a:xfrm>
        </p:spPr>
        <p:txBody>
          <a:bodyPr/>
          <a:lstStyle/>
          <a:p>
            <a:endParaRPr lang="en-GB" sz="2800" dirty="0" smtClean="0"/>
          </a:p>
          <a:p>
            <a:r>
              <a:rPr lang="en-GB" sz="2400" dirty="0" smtClean="0"/>
              <a:t>A large haemothorax is identified by dullness to percussion and decreased air entry, and is also managed with an intercostal drain. </a:t>
            </a:r>
          </a:p>
          <a:p>
            <a:r>
              <a:rPr lang="en-GB" sz="2400" dirty="0" smtClean="0"/>
              <a:t>These are clinical diagnoses of life threatening conditions and immediate intervention is mandated before x-rays are obtained.</a:t>
            </a:r>
          </a:p>
          <a:p>
            <a:endParaRPr lang="en-GB" dirty="0"/>
          </a:p>
        </p:txBody>
      </p:sp>
      <p:pic>
        <p:nvPicPr>
          <p:cNvPr id="11267" name="Picture 3" descr="C:\Users\rozh\Pictures\spontaneous-haemothorax-report-of-two-unique-cases-admitted-to-the-surgical-critical-care-unit_article-g01_f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4942" y="3071810"/>
            <a:ext cx="3384211" cy="3406772"/>
          </a:xfrm>
          <a:prstGeom prst="rect">
            <a:avLst/>
          </a:prstGeom>
          <a:noFill/>
        </p:spPr>
      </p:pic>
      <p:pic>
        <p:nvPicPr>
          <p:cNvPr id="11268" name="Picture 4" descr="C:\Users\rozh\Pictures\L1YCAG7PZ7TCATNLJFGCAFAVNDYCA3PJEUICAEV2NWFCAZB7IQOCA82G2BPCA7WTW47CADB4NGACA8J9O51CATFPK7ECAN5G0Y6CA5SK3BUCA0QAQCXCAOFLJBZCADFGA4SCALAUAP9CA3ZPWVVCA5XYJCZ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3429000"/>
            <a:ext cx="2786082" cy="251455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 smtClean="0"/>
              <a:t>   </a:t>
            </a:r>
          </a:p>
          <a:p>
            <a:pPr>
              <a:buNone/>
            </a:pPr>
            <a:r>
              <a:rPr lang="en-GB" dirty="0" smtClean="0">
                <a:solidFill>
                  <a:schemeClr val="accent3"/>
                </a:solidFill>
              </a:rPr>
              <a:t>  CIRCULATION AND PERFUSION</a:t>
            </a:r>
          </a:p>
          <a:p>
            <a:r>
              <a:rPr lang="en-GB" sz="2400" dirty="0" smtClean="0"/>
              <a:t>Two high-flow lines with 14-gauge cannulae are inserted in the antecubital fossae. </a:t>
            </a:r>
          </a:p>
          <a:p>
            <a:r>
              <a:rPr lang="en-GB" sz="2400" dirty="0" smtClean="0"/>
              <a:t>The line should not be inserted on the side of massive bleeding from a vascular injury for if there is a venous injury  the fluids delivered will be bled out.</a:t>
            </a:r>
          </a:p>
          <a:p>
            <a:pPr>
              <a:buNone/>
            </a:pPr>
            <a:r>
              <a:rPr lang="en-GB" sz="2400" dirty="0" smtClean="0"/>
              <a:t> </a:t>
            </a:r>
            <a:endParaRPr lang="en-GB" sz="2400" dirty="0"/>
          </a:p>
        </p:txBody>
      </p:sp>
      <p:pic>
        <p:nvPicPr>
          <p:cNvPr id="13314" name="Picture 2" descr="C:\Users\rozh\Pictures\1277354735838_hz-myalibaba-web5_157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92324" y="3500438"/>
            <a:ext cx="5204024" cy="2857520"/>
          </a:xfrm>
          <a:prstGeom prst="rect">
            <a:avLst/>
          </a:prstGeom>
          <a:noFill/>
        </p:spPr>
      </p:pic>
      <p:pic>
        <p:nvPicPr>
          <p:cNvPr id="13315" name="Picture 3" descr="C:\Users\rozh\Pictures\CANNULA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835110"/>
            <a:ext cx="2986090" cy="19799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/>
          <a:lstStyle/>
          <a:p>
            <a:endParaRPr lang="en-GB" sz="2800" dirty="0" smtClean="0"/>
          </a:p>
          <a:p>
            <a:r>
              <a:rPr lang="en-GB" sz="2800" dirty="0" smtClean="0"/>
              <a:t>In the shocked patient start with 2 L of crystalloid and proceed to emergency blood (O negative) if the blood pressure does not improve and cross match blood.</a:t>
            </a:r>
          </a:p>
          <a:p>
            <a:endParaRPr lang="en-GB" dirty="0"/>
          </a:p>
        </p:txBody>
      </p:sp>
      <p:pic>
        <p:nvPicPr>
          <p:cNvPr id="14339" name="Picture 3" descr="C:\Users\rozh\Pictures\3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5" y="3000372"/>
            <a:ext cx="4029838" cy="361617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650125"/>
          </a:xfrm>
        </p:spPr>
        <p:txBody>
          <a:bodyPr/>
          <a:lstStyle/>
          <a:p>
            <a:endParaRPr lang="en-GB" sz="2800" dirty="0" smtClean="0"/>
          </a:p>
          <a:p>
            <a:endParaRPr lang="en-GB" sz="2400" dirty="0" smtClean="0"/>
          </a:p>
          <a:p>
            <a:r>
              <a:rPr lang="en-GB" sz="2400" dirty="0" smtClean="0"/>
              <a:t>A shocked patient with warm peripheries may have neurogenic shock secondary to spinal cord injury. </a:t>
            </a:r>
          </a:p>
          <a:p>
            <a:r>
              <a:rPr lang="en-GB" sz="2400" dirty="0" smtClean="0"/>
              <a:t>Active bleeding from a cervical wound may be controlled with a compressive dressing or digital pressure.</a:t>
            </a:r>
          </a:p>
          <a:p>
            <a:r>
              <a:rPr lang="en-GB" sz="2400" dirty="0" smtClean="0"/>
              <a:t> Failing this a large Foley catheter may be inserted into the wound  the bulb inflated and the catheter cross clamped to stop blood pouring through the catheter.</a:t>
            </a:r>
          </a:p>
          <a:p>
            <a:endParaRPr lang="en-GB" dirty="0"/>
          </a:p>
        </p:txBody>
      </p:sp>
      <p:pic>
        <p:nvPicPr>
          <p:cNvPr id="15363" name="Picture 3" descr="C:\Users\rozh\Pictures\Foley%20Catheter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4405993"/>
            <a:ext cx="3786214" cy="245200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>
            <a:normAutofit/>
          </a:bodyPr>
          <a:lstStyle/>
          <a:p>
            <a:endParaRPr lang="en-GB" sz="2400" dirty="0" smtClean="0"/>
          </a:p>
          <a:p>
            <a:endParaRPr lang="en-GB" sz="2400" dirty="0" smtClean="0"/>
          </a:p>
          <a:p>
            <a:endParaRPr lang="en-GB" sz="2400" dirty="0" smtClean="0"/>
          </a:p>
          <a:p>
            <a:r>
              <a:rPr lang="en-GB" sz="2400" dirty="0" smtClean="0"/>
              <a:t>This can be a very effective form of haemostasis, particularly with bleeding from the subclavian and cervical vessels. </a:t>
            </a:r>
          </a:p>
          <a:p>
            <a:r>
              <a:rPr lang="en-GB" sz="2400" dirty="0" smtClean="0"/>
              <a:t>The patient should remain recumbent, or the neck wound must be covered with an occlusive dressing when the patient sits up, to prevent air embolism.</a:t>
            </a:r>
          </a:p>
          <a:p>
            <a:pPr>
              <a:buNone/>
            </a:pPr>
            <a:endParaRPr lang="en-GB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435811"/>
          </a:xfrm>
        </p:spPr>
        <p:txBody>
          <a:bodyPr/>
          <a:lstStyle/>
          <a:p>
            <a:pPr>
              <a:buNone/>
            </a:pPr>
            <a:r>
              <a:rPr lang="en-GB" dirty="0" smtClean="0"/>
              <a:t>  </a:t>
            </a:r>
          </a:p>
          <a:p>
            <a:pPr>
              <a:buNone/>
            </a:pPr>
            <a:r>
              <a:rPr lang="en-GB" dirty="0" smtClean="0"/>
              <a:t>   </a:t>
            </a:r>
            <a:r>
              <a:rPr lang="en-GB" sz="3200" dirty="0" smtClean="0">
                <a:solidFill>
                  <a:schemeClr val="accent3"/>
                </a:solidFill>
              </a:rPr>
              <a:t>DISABILITY</a:t>
            </a:r>
          </a:p>
          <a:p>
            <a:r>
              <a:rPr lang="en-GB" dirty="0" smtClean="0"/>
              <a:t>The GCS and pupil size are recorded, and power in the limbs assessed.</a:t>
            </a:r>
          </a:p>
          <a:p>
            <a:pPr>
              <a:buNone/>
            </a:pPr>
            <a:r>
              <a:rPr lang="en-GB" sz="3200" dirty="0" smtClean="0">
                <a:solidFill>
                  <a:srgbClr val="92D050"/>
                </a:solidFill>
              </a:rPr>
              <a:t>  </a:t>
            </a:r>
          </a:p>
          <a:p>
            <a:pPr>
              <a:buNone/>
            </a:pPr>
            <a:r>
              <a:rPr lang="en-GB" sz="3200" dirty="0" smtClean="0">
                <a:solidFill>
                  <a:srgbClr val="92D050"/>
                </a:solidFill>
              </a:rPr>
              <a:t>  EXPOSURE</a:t>
            </a:r>
          </a:p>
          <a:p>
            <a:r>
              <a:rPr lang="en-GB" dirty="0" smtClean="0"/>
              <a:t>All clothes are removed in order to avoid missing associated injuries and the patient is kept warm.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428604"/>
            <a:ext cx="8501122" cy="5578687"/>
          </a:xfrm>
        </p:spPr>
        <p:txBody>
          <a:bodyPr/>
          <a:lstStyle/>
          <a:p>
            <a:pPr>
              <a:buNone/>
            </a:pPr>
            <a:r>
              <a:rPr lang="en-GB" dirty="0" smtClean="0"/>
              <a:t> </a:t>
            </a:r>
          </a:p>
          <a:p>
            <a:pPr>
              <a:buNone/>
            </a:pPr>
            <a:r>
              <a:rPr lang="en-GB" dirty="0" smtClean="0"/>
              <a:t> </a:t>
            </a:r>
          </a:p>
          <a:p>
            <a:pPr>
              <a:buNone/>
            </a:pPr>
            <a:r>
              <a:rPr lang="en-GB" dirty="0" smtClean="0"/>
              <a:t>  </a:t>
            </a:r>
            <a:r>
              <a:rPr lang="en-GB" b="1" dirty="0" smtClean="0">
                <a:solidFill>
                  <a:srgbClr val="00B050"/>
                </a:solidFill>
              </a:rPr>
              <a:t>ADJUNCTS TO PRIMARY SURVEY</a:t>
            </a:r>
          </a:p>
          <a:p>
            <a:r>
              <a:rPr lang="en-GB" sz="2400" dirty="0" smtClean="0"/>
              <a:t>Adequate monitoring  including electrocardiogram, pulse oximetry and non-invasive blood pressure monitoring is instituted. </a:t>
            </a:r>
          </a:p>
        </p:txBody>
      </p:sp>
      <p:pic>
        <p:nvPicPr>
          <p:cNvPr id="16386" name="Picture 2" descr="C:\Users\rozh\Pictures\IB9CA1VJBGPCAF0D94FCA4RRYB9CASXA3STCAW7KPSYCA0ZBUK8CAOOLD3DCAK9TK39CA3W8AF8CAXTG4IGCA3RGXN9CAETLIWXCA2RC3WECASXCT9BCA0MJ1U7CAGD0FOTCAQ02CV5CA0X91XJCA2EKOVP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8024" y="3068819"/>
            <a:ext cx="3214710" cy="2574330"/>
          </a:xfrm>
          <a:prstGeom prst="rect">
            <a:avLst/>
          </a:prstGeom>
          <a:noFill/>
        </p:spPr>
      </p:pic>
      <p:pic>
        <p:nvPicPr>
          <p:cNvPr id="16387" name="Picture 3" descr="C:\Users\rozh\Pictures\O3CCAZ55CPACA94DE32CAUML17CCANJCLJNCAGBQVLACAUDTB0GCANF4AZ0CABM6V2QCA05JLVWCAOBMG2MCAQZLT8SCA8XL62MCAIIVVPHCA2U6L5JCAGVDPVQCAWM8A1LCAZ300H8CAZ5G0HJCA6UM3Y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7584" y="3212976"/>
            <a:ext cx="2286016" cy="22860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/>
          <a:lstStyle/>
          <a:p>
            <a:endParaRPr lang="en-GB" sz="2400" dirty="0" smtClean="0"/>
          </a:p>
          <a:p>
            <a:endParaRPr lang="en-GB" sz="2400" dirty="0" smtClean="0"/>
          </a:p>
          <a:p>
            <a:r>
              <a:rPr lang="en-GB" sz="2400" dirty="0" smtClean="0"/>
              <a:t>The haemoglobin level, blood glucose and arterial blood gas are checked.</a:t>
            </a:r>
          </a:p>
          <a:p>
            <a:r>
              <a:rPr lang="en-GB" sz="2400" dirty="0" smtClean="0"/>
              <a:t> Essential xrays are requested. </a:t>
            </a:r>
          </a:p>
          <a:p>
            <a:r>
              <a:rPr lang="en-GB" sz="2400" dirty="0" smtClean="0"/>
              <a:t>In the polytrauma patient this comprises cervical spine, chest x-ray (CXR) and pelvic  x-rays. </a:t>
            </a:r>
          </a:p>
          <a:p>
            <a:r>
              <a:rPr lang="en-GB" sz="2400" dirty="0" smtClean="0"/>
              <a:t>In a patient with isolated penetrating neck trauma, a cervical spine and CXR will suffice</a:t>
            </a:r>
            <a:r>
              <a:rPr lang="en-GB" dirty="0" smtClean="0"/>
              <a:t>.</a:t>
            </a:r>
            <a:endParaRPr lang="en-GB" dirty="0"/>
          </a:p>
        </p:txBody>
      </p:sp>
      <p:pic>
        <p:nvPicPr>
          <p:cNvPr id="17410" name="Picture 2" descr="C:\Users\rozh\Pictures\PX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53194" y="4143380"/>
            <a:ext cx="2428892" cy="2428892"/>
          </a:xfrm>
          <a:prstGeom prst="rect">
            <a:avLst/>
          </a:prstGeom>
          <a:noFill/>
        </p:spPr>
      </p:pic>
      <p:pic>
        <p:nvPicPr>
          <p:cNvPr id="17411" name="Picture 3" descr="C:\Users\rozh\Pictures\CX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4230289"/>
            <a:ext cx="1428760" cy="1910967"/>
          </a:xfrm>
          <a:prstGeom prst="rect">
            <a:avLst/>
          </a:prstGeom>
          <a:noFill/>
        </p:spPr>
      </p:pic>
      <p:pic>
        <p:nvPicPr>
          <p:cNvPr id="17412" name="Picture 4" descr="C:\Users\rozh\Pictures\CHEST X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868" y="4286256"/>
            <a:ext cx="2286016" cy="22758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/>
          <a:lstStyle/>
          <a:p>
            <a:endParaRPr lang="en-GB" sz="2400" dirty="0" smtClean="0"/>
          </a:p>
          <a:p>
            <a:endParaRPr lang="en-GB" sz="2400" dirty="0" smtClean="0"/>
          </a:p>
          <a:p>
            <a:r>
              <a:rPr lang="en-GB" sz="2400" dirty="0" smtClean="0"/>
              <a:t>Non urgent x-rays should be requested only on completion of the secondary survey.</a:t>
            </a:r>
          </a:p>
          <a:p>
            <a:r>
              <a:rPr lang="en-GB" sz="2400" dirty="0" smtClean="0"/>
              <a:t> Haemo- or pneumothorax, pneumomediastinum (tracheal or oesophageal injury) and widened mediastinum should be excluded. </a:t>
            </a:r>
          </a:p>
          <a:p>
            <a:r>
              <a:rPr lang="en-GB" sz="2400" dirty="0" smtClean="0"/>
              <a:t>The mediastinal width on a supine CXR should not exceed 8 cm</a:t>
            </a:r>
            <a:r>
              <a:rPr lang="en-GB" dirty="0" smtClean="0"/>
              <a:t>.</a:t>
            </a:r>
            <a:endParaRPr lang="en-GB" dirty="0"/>
          </a:p>
        </p:txBody>
      </p:sp>
      <p:pic>
        <p:nvPicPr>
          <p:cNvPr id="18434" name="Picture 2" descr="C:\Users\rozh\Pictures\MEDIA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876" y="3643314"/>
            <a:ext cx="4019560" cy="31255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507249"/>
          </a:xfrm>
        </p:spPr>
        <p:txBody>
          <a:bodyPr>
            <a:normAutofit/>
          </a:bodyPr>
          <a:lstStyle/>
          <a:p>
            <a:endParaRPr lang="en-GB" sz="2400" dirty="0" smtClean="0"/>
          </a:p>
          <a:p>
            <a:endParaRPr lang="en-GB" sz="2400" dirty="0" smtClean="0"/>
          </a:p>
          <a:p>
            <a:r>
              <a:rPr lang="en-GB" sz="2400" dirty="0" smtClean="0"/>
              <a:t>A widened mediastinum is suggestive of a major intrathoracic injury and must be investigated further. </a:t>
            </a:r>
          </a:p>
          <a:p>
            <a:r>
              <a:rPr lang="en-GB" sz="2400" dirty="0" smtClean="0"/>
              <a:t>Cervical spine x-ray is used to exclude spinal column injury and prevertebral air (pharyngeal or oesophageal injury) .</a:t>
            </a:r>
            <a:endParaRPr lang="en-GB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507249"/>
          </a:xfrm>
        </p:spPr>
        <p:txBody>
          <a:bodyPr/>
          <a:lstStyle/>
          <a:p>
            <a:pPr>
              <a:buNone/>
            </a:pPr>
            <a:r>
              <a:rPr lang="en-GB" dirty="0" smtClean="0"/>
              <a:t> </a:t>
            </a:r>
          </a:p>
          <a:p>
            <a:pPr>
              <a:buNone/>
            </a:pPr>
            <a:r>
              <a:rPr lang="en-GB" dirty="0" smtClean="0"/>
              <a:t> </a:t>
            </a:r>
          </a:p>
          <a:p>
            <a:pPr>
              <a:buNone/>
            </a:pPr>
            <a:r>
              <a:rPr lang="en-GB" dirty="0" smtClean="0"/>
              <a:t>  </a:t>
            </a:r>
            <a:r>
              <a:rPr lang="en-GB" sz="3200" dirty="0" smtClean="0">
                <a:solidFill>
                  <a:schemeClr val="accent3">
                    <a:lumMod val="75000"/>
                  </a:schemeClr>
                </a:solidFill>
              </a:rPr>
              <a:t>Secondary survey</a:t>
            </a:r>
          </a:p>
          <a:p>
            <a:r>
              <a:rPr lang="en-GB" dirty="0" smtClean="0"/>
              <a:t>A detailed head-to-foot examination of the patient should be conducted. </a:t>
            </a:r>
          </a:p>
          <a:p>
            <a:r>
              <a:rPr lang="en-GB" dirty="0" smtClean="0"/>
              <a:t>In fire arm injuries the entrance and exit wounds must be noted and the tract of the projectile determined to identify which anatomical structures may have been injured.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650125"/>
          </a:xfrm>
        </p:spPr>
        <p:txBody>
          <a:bodyPr>
            <a:normAutofit/>
          </a:bodyPr>
          <a:lstStyle/>
          <a:p>
            <a:endParaRPr lang="en-GB" sz="2600" dirty="0" smtClean="0"/>
          </a:p>
          <a:p>
            <a:r>
              <a:rPr lang="en-GB" sz="2600" dirty="0" smtClean="0"/>
              <a:t>If an exit wound is not present, then xrays are obtained (anteroposterior and lateral) to locate</a:t>
            </a:r>
          </a:p>
          <a:p>
            <a:pPr>
              <a:buNone/>
            </a:pPr>
            <a:r>
              <a:rPr lang="en-GB" sz="2600" dirty="0" smtClean="0"/>
              <a:t>  the bullet so that the tract of the bullet can be determined.</a:t>
            </a:r>
          </a:p>
          <a:p>
            <a:r>
              <a:rPr lang="en-GB" sz="2600" dirty="0" smtClean="0"/>
              <a:t>The cranial nerves should be examined and Horner's syndrome excluded.</a:t>
            </a:r>
          </a:p>
          <a:p>
            <a:pPr>
              <a:buNone/>
            </a:pPr>
            <a:r>
              <a:rPr lang="en-GB" sz="2600" dirty="0" smtClean="0"/>
              <a:t>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/>
          <a:lstStyle/>
          <a:p>
            <a:endParaRPr lang="en-GB" sz="2800" dirty="0" smtClean="0"/>
          </a:p>
          <a:p>
            <a:endParaRPr lang="en-GB" sz="2400" dirty="0" smtClean="0"/>
          </a:p>
          <a:p>
            <a:endParaRPr lang="en-GB" sz="2400" dirty="0" smtClean="0"/>
          </a:p>
          <a:p>
            <a:r>
              <a:rPr lang="en-GB" sz="2400" dirty="0" smtClean="0"/>
              <a:t>Note the presence of large cervical haematomas, subcutaneous emphysema, the jugular venous pressure, the presence of blood in the nasogastric tube and tenderness over the mandible</a:t>
            </a:r>
            <a:r>
              <a:rPr lang="en-GB" dirty="0" smtClean="0"/>
              <a:t>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>
            <a:normAutofit/>
          </a:bodyPr>
          <a:lstStyle/>
          <a:p>
            <a:pPr>
              <a:buNone/>
            </a:pPr>
            <a:endParaRPr lang="en-GB" dirty="0" smtClean="0"/>
          </a:p>
          <a:p>
            <a:endParaRPr lang="en-GB" sz="2400" dirty="0" smtClean="0"/>
          </a:p>
          <a:p>
            <a:endParaRPr lang="en-GB" sz="2400" dirty="0"/>
          </a:p>
          <a:p>
            <a:r>
              <a:rPr lang="en-GB" sz="2400" dirty="0" smtClean="0"/>
              <a:t> Wounds should </a:t>
            </a:r>
            <a:r>
              <a:rPr lang="en-GB" sz="3200" dirty="0" smtClean="0">
                <a:latin typeface="Aharoni" pitchFamily="2" charset="-79"/>
                <a:cs typeface="Aharoni" pitchFamily="2" charset="-79"/>
              </a:rPr>
              <a:t>not</a:t>
            </a:r>
            <a:r>
              <a:rPr lang="en-GB" sz="2400" dirty="0" smtClean="0"/>
              <a:t> be probed as this may result in massive bleeding from an arterial injury. </a:t>
            </a:r>
          </a:p>
          <a:p>
            <a:r>
              <a:rPr lang="en-GB" sz="2400" dirty="0" smtClean="0"/>
              <a:t> The peripheral pulses should be checked for discrepancy or absence. </a:t>
            </a:r>
          </a:p>
          <a:p>
            <a:pPr marL="109728" indent="0">
              <a:buNone/>
            </a:pPr>
            <a:endParaRPr lang="en-GB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507249"/>
          </a:xfrm>
        </p:spPr>
        <p:txBody>
          <a:bodyPr>
            <a:normAutofit/>
          </a:bodyPr>
          <a:lstStyle/>
          <a:p>
            <a:endParaRPr lang="en-GB" sz="2400" dirty="0" smtClean="0"/>
          </a:p>
          <a:p>
            <a:endParaRPr lang="en-GB" sz="2400" dirty="0" smtClean="0"/>
          </a:p>
          <a:p>
            <a:r>
              <a:rPr lang="en-GB" sz="2400" dirty="0" smtClean="0"/>
              <a:t>The abdomen and pelvis should be examined, followed by a full neurological examination during which spinal cord and brachial plexus trauma are excluded.</a:t>
            </a:r>
          </a:p>
          <a:p>
            <a:r>
              <a:rPr lang="en-GB" sz="2400" dirty="0" smtClean="0"/>
              <a:t> Note the presence of hemiplegia (hemitransection of spinal cord).</a:t>
            </a:r>
          </a:p>
          <a:p>
            <a:r>
              <a:rPr lang="en-GB" sz="2400" dirty="0" smtClean="0"/>
              <a:t> The patient should be log-rolled in order that the back can be examined for trauma.</a:t>
            </a:r>
          </a:p>
          <a:p>
            <a:endParaRPr lang="en-GB" sz="2400" dirty="0" smtClean="0"/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39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</a:p>
          <a:p>
            <a:pPr>
              <a:buNone/>
            </a:pPr>
            <a:r>
              <a:rPr lang="en-GB" sz="39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 HISTORY</a:t>
            </a:r>
          </a:p>
          <a:p>
            <a:r>
              <a:rPr lang="en-GB" sz="2400" dirty="0" smtClean="0"/>
              <a:t>Take a history with specific reference to the nature of the trauma. </a:t>
            </a:r>
          </a:p>
          <a:p>
            <a:r>
              <a:rPr lang="en-GB" sz="2400" dirty="0" smtClean="0"/>
              <a:t>Enquire about symptoms related to oesophageal</a:t>
            </a:r>
          </a:p>
          <a:p>
            <a:pPr>
              <a:buNone/>
            </a:pPr>
            <a:r>
              <a:rPr lang="en-GB" sz="2400" dirty="0" smtClean="0"/>
              <a:t>  injury (</a:t>
            </a:r>
            <a:r>
              <a:rPr lang="en-GB" sz="2400" dirty="0" smtClean="0">
                <a:solidFill>
                  <a:srgbClr val="FF00FF"/>
                </a:solidFill>
                <a:latin typeface="Aharoni" pitchFamily="2" charset="-79"/>
                <a:cs typeface="Aharoni" pitchFamily="2" charset="-79"/>
              </a:rPr>
              <a:t>haemoptysis, haematemesis, dysphagia and odynophagia) </a:t>
            </a:r>
            <a:r>
              <a:rPr lang="en-GB" sz="2400" dirty="0" smtClean="0"/>
              <a:t>and recurrent laryngeal nerve or laryngeal injury </a:t>
            </a:r>
            <a:r>
              <a:rPr lang="en-GB" sz="2400" dirty="0" smtClean="0">
                <a:solidFill>
                  <a:schemeClr val="accent3"/>
                </a:solidFill>
                <a:latin typeface="Aharoni" pitchFamily="2" charset="-79"/>
                <a:cs typeface="Aharoni" pitchFamily="2" charset="-79"/>
              </a:rPr>
              <a:t>(dysphonia,  stridor), </a:t>
            </a:r>
          </a:p>
          <a:p>
            <a:r>
              <a:rPr lang="en-GB" sz="2400" dirty="0" smtClean="0"/>
              <a:t>Past medical and surgical history are documented, as well as the time of the patient's last meal</a:t>
            </a:r>
            <a:r>
              <a:rPr lang="en-GB" dirty="0" smtClean="0"/>
              <a:t>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 smtClean="0"/>
              <a:t>  </a:t>
            </a:r>
            <a:r>
              <a:rPr lang="en-GB" sz="3500" dirty="0" smtClean="0">
                <a:solidFill>
                  <a:schemeClr val="accent3">
                    <a:lumMod val="75000"/>
                  </a:schemeClr>
                </a:solidFill>
                <a:latin typeface="Aharoni" pitchFamily="2" charset="-79"/>
                <a:cs typeface="Aharoni" pitchFamily="2" charset="-79"/>
              </a:rPr>
              <a:t>FURTHER INVESTIGATIONS</a:t>
            </a:r>
          </a:p>
          <a:p>
            <a:r>
              <a:rPr lang="en-GB" sz="2400" dirty="0" smtClean="0"/>
              <a:t>Any further x-rays that are required after the secondary survey are now completed. Special investigations such as angiography, computed tomography (CT) scan, ultrasound and gastrograffin/barium studies may now be performed in a haemodynamically stable patient.</a:t>
            </a:r>
          </a:p>
          <a:p>
            <a:pPr>
              <a:buNone/>
            </a:pPr>
            <a:endParaRPr lang="en-GB" sz="2400" dirty="0" smtClean="0"/>
          </a:p>
          <a:p>
            <a:pPr>
              <a:buNone/>
            </a:pPr>
            <a:r>
              <a:rPr lang="en-GB" sz="3200" dirty="0" smtClean="0">
                <a:solidFill>
                  <a:srgbClr val="7030A0"/>
                </a:solidFill>
              </a:rPr>
              <a:t>  FULL DOCUMENTATION</a:t>
            </a:r>
          </a:p>
          <a:p>
            <a:r>
              <a:rPr lang="en-GB" sz="2400" dirty="0" smtClean="0"/>
              <a:t>All injuries are documented and the patient is referred for definitive care</a:t>
            </a:r>
            <a:r>
              <a:rPr lang="en-GB" dirty="0" smtClean="0"/>
              <a:t>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 smtClean="0">
                <a:latin typeface="Aharoni" pitchFamily="2" charset="-79"/>
                <a:cs typeface="Aharoni" pitchFamily="2" charset="-79"/>
              </a:rPr>
              <a:t>  </a:t>
            </a:r>
            <a:r>
              <a:rPr lang="en-GB" sz="3500" dirty="0" smtClean="0">
                <a:solidFill>
                  <a:srgbClr val="0070C0"/>
                </a:solidFill>
                <a:latin typeface="Aharoni" pitchFamily="2" charset="-79"/>
                <a:cs typeface="Aharoni" pitchFamily="2" charset="-79"/>
              </a:rPr>
              <a:t>AETIOLOGICAL CLASSIFICATION</a:t>
            </a:r>
          </a:p>
          <a:p>
            <a:r>
              <a:rPr lang="en-GB" sz="2400" dirty="0" smtClean="0"/>
              <a:t>Unlike stab wounds and low velocity gun shot wounds , close-range shotgun, rifle and bomb injuries cause extensive soft tissue trauma:</a:t>
            </a:r>
          </a:p>
          <a:p>
            <a:pPr marL="566928" indent="-457200"/>
            <a:r>
              <a:rPr lang="en-GB" sz="2400" dirty="0" smtClean="0"/>
              <a:t>   penetrating</a:t>
            </a:r>
          </a:p>
          <a:p>
            <a:pPr marL="566928" indent="-457200">
              <a:buFont typeface="+mj-lt"/>
              <a:buAutoNum type="arabicPeriod"/>
            </a:pPr>
            <a:r>
              <a:rPr lang="en-GB" sz="2400" dirty="0" smtClean="0"/>
              <a:t>  </a:t>
            </a:r>
            <a:r>
              <a:rPr lang="en-GB" sz="2400" dirty="0" smtClean="0">
                <a:latin typeface="Aharoni" pitchFamily="2" charset="-79"/>
                <a:cs typeface="Aharoni" pitchFamily="2" charset="-79"/>
              </a:rPr>
              <a:t>stabs</a:t>
            </a:r>
          </a:p>
          <a:p>
            <a:pPr marL="566928" indent="-457200">
              <a:buFont typeface="+mj-lt"/>
              <a:buAutoNum type="arabicPeriod"/>
            </a:pPr>
            <a:r>
              <a:rPr lang="en-GB" sz="2400" dirty="0" smtClean="0"/>
              <a:t>   </a:t>
            </a:r>
            <a:r>
              <a:rPr lang="en-GB" sz="2400" dirty="0" smtClean="0">
                <a:latin typeface="Aharoni" pitchFamily="2" charset="-79"/>
                <a:cs typeface="Aharoni" pitchFamily="2" charset="-79"/>
              </a:rPr>
              <a:t>gun shot wound (GSW)</a:t>
            </a:r>
          </a:p>
          <a:p>
            <a:pPr marL="566928" indent="-457200">
              <a:buNone/>
            </a:pPr>
            <a:r>
              <a:rPr lang="en-GB" sz="2400" dirty="0" smtClean="0"/>
              <a:t>                                         low velocity</a:t>
            </a:r>
          </a:p>
          <a:p>
            <a:pPr marL="566928" indent="-457200">
              <a:buNone/>
            </a:pPr>
            <a:r>
              <a:rPr lang="en-GB" sz="2400" dirty="0" smtClean="0"/>
              <a:t>                                         high velocity</a:t>
            </a:r>
          </a:p>
          <a:p>
            <a:pPr marL="566928" indent="-457200">
              <a:buNone/>
            </a:pPr>
            <a:r>
              <a:rPr lang="en-GB" sz="2400" dirty="0" smtClean="0"/>
              <a:t>                                         shotgun</a:t>
            </a:r>
          </a:p>
          <a:p>
            <a:pPr marL="566928" indent="-457200"/>
            <a:r>
              <a:rPr lang="en-GB" sz="2400" dirty="0" smtClean="0"/>
              <a:t>   blast</a:t>
            </a:r>
          </a:p>
          <a:p>
            <a:pPr marL="566928" indent="-457200"/>
            <a:r>
              <a:rPr lang="en-GB" sz="2400" dirty="0" smtClean="0"/>
              <a:t>   blunt</a:t>
            </a:r>
            <a:endParaRPr lang="en-GB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4200" dirty="0" smtClean="0">
                <a:solidFill>
                  <a:srgbClr val="00B050"/>
                </a:solidFill>
              </a:rPr>
              <a:t>  </a:t>
            </a:r>
            <a:r>
              <a:rPr lang="en-GB" sz="4200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  <a:t>ZONES OF THE NECK</a:t>
            </a:r>
          </a:p>
          <a:p>
            <a:r>
              <a:rPr lang="en-GB" dirty="0" smtClean="0">
                <a:latin typeface="Andalus" pitchFamily="18" charset="-78"/>
                <a:cs typeface="Andalus" pitchFamily="18" charset="-78"/>
              </a:rPr>
              <a:t>Roon and Christensen's classification </a:t>
            </a:r>
            <a:r>
              <a:rPr lang="en-GB" dirty="0" smtClean="0"/>
              <a:t>is most commonly used for description of the site of cervical trauma .</a:t>
            </a:r>
          </a:p>
          <a:p>
            <a:r>
              <a:rPr lang="en-GB" dirty="0" smtClean="0"/>
              <a:t>The neck contains three principal anatomic components:</a:t>
            </a:r>
          </a:p>
          <a:p>
            <a:pPr marL="624078" indent="-514350">
              <a:buFont typeface="+mj-lt"/>
              <a:buAutoNum type="arabicPeriod"/>
            </a:pPr>
            <a:r>
              <a:rPr lang="en-GB" dirty="0" smtClean="0">
                <a:solidFill>
                  <a:schemeClr val="accent2"/>
                </a:solidFill>
              </a:rPr>
              <a:t> </a:t>
            </a:r>
            <a:r>
              <a:rPr lang="en-GB" dirty="0" smtClean="0">
                <a:solidFill>
                  <a:schemeClr val="accent2"/>
                </a:solidFill>
                <a:latin typeface="Aharoni" pitchFamily="2" charset="-79"/>
                <a:cs typeface="Aharoni" pitchFamily="2" charset="-79"/>
              </a:rPr>
              <a:t>vascular (carotid, vertebral and subclavian arteries, </a:t>
            </a:r>
            <a:r>
              <a:rPr lang="en-GB" dirty="0" smtClean="0">
                <a:solidFill>
                  <a:schemeClr val="accent1"/>
                </a:solidFill>
                <a:latin typeface="Aharoni" pitchFamily="2" charset="-79"/>
                <a:cs typeface="Aharoni" pitchFamily="2" charset="-79"/>
              </a:rPr>
              <a:t>jugular and subclavian veins)</a:t>
            </a:r>
          </a:p>
          <a:p>
            <a:pPr marL="624078" indent="-514350">
              <a:buFont typeface="+mj-lt"/>
              <a:buAutoNum type="arabicPeriod"/>
            </a:pPr>
            <a:r>
              <a:rPr lang="en-GB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n-GB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digestive (pharynx and oesophagus) </a:t>
            </a:r>
          </a:p>
          <a:p>
            <a:pPr marL="624078" indent="-514350">
              <a:buFont typeface="+mj-lt"/>
              <a:buAutoNum type="arabicPeriod"/>
            </a:pPr>
            <a:r>
              <a:rPr lang="en-GB" dirty="0" smtClean="0">
                <a:latin typeface="Aharoni" pitchFamily="2" charset="-79"/>
                <a:cs typeface="Aharoni" pitchFamily="2" charset="-79"/>
              </a:rPr>
              <a:t> </a:t>
            </a:r>
            <a:r>
              <a:rPr lang="en-GB" dirty="0" smtClean="0">
                <a:solidFill>
                  <a:srgbClr val="FF00FF"/>
                </a:solidFill>
                <a:latin typeface="Aharoni" pitchFamily="2" charset="-79"/>
                <a:cs typeface="Aharoni" pitchFamily="2" charset="-79"/>
              </a:rPr>
              <a:t>respiratory (larynx and trachea).</a:t>
            </a:r>
          </a:p>
          <a:p>
            <a:pPr>
              <a:buNone/>
            </a:pPr>
            <a:endParaRPr lang="en-GB" dirty="0"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/>
          <a:lstStyle/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All three zones contain major vascular and aerodigestive structures. </a:t>
            </a:r>
          </a:p>
          <a:p>
            <a:r>
              <a:rPr lang="en-GB" dirty="0" smtClean="0"/>
              <a:t>However injuries to zones I and III are both diagnostically and surgically more challenging,</a:t>
            </a:r>
            <a:endParaRPr lang="en-GB" dirty="0"/>
          </a:p>
        </p:txBody>
      </p:sp>
      <p:pic>
        <p:nvPicPr>
          <p:cNvPr id="1026" name="Picture 2" descr="C:\Users\rozh\Desktop\penetrating-neck-2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3071810"/>
            <a:ext cx="4762500" cy="35337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shta konakan\rasamkan\My picture\scott picture\ch139\gr1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143372" y="0"/>
            <a:ext cx="5000628" cy="6369128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85720" y="357166"/>
            <a:ext cx="385765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GB" sz="2400" dirty="0" smtClean="0">
                <a:solidFill>
                  <a:schemeClr val="accent3"/>
                </a:solidFill>
              </a:rPr>
              <a:t>Roon and Christensen             classification</a:t>
            </a:r>
            <a:endParaRPr lang="en-GB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GB" sz="2800" dirty="0" smtClean="0"/>
              <a:t> </a:t>
            </a:r>
            <a:r>
              <a:rPr lang="en-GB" sz="2800" dirty="0" smtClean="0">
                <a:solidFill>
                  <a:schemeClr val="bg2">
                    <a:lumMod val="75000"/>
                  </a:schemeClr>
                </a:solidFill>
              </a:rPr>
              <a:t>Zone I </a:t>
            </a:r>
            <a:r>
              <a:rPr lang="en-GB" sz="2800" dirty="0" smtClean="0">
                <a:solidFill>
                  <a:srgbClr val="92D050"/>
                </a:solidFill>
              </a:rPr>
              <a:t>:</a:t>
            </a:r>
            <a:r>
              <a:rPr lang="it-IT" sz="2800" dirty="0" smtClean="0"/>
              <a:t>sternal notch/clavicle to cricoid cartilage.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2800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zone II:</a:t>
            </a:r>
            <a:r>
              <a:rPr lang="it-IT" sz="2800" dirty="0" smtClean="0"/>
              <a:t> cricoid </a:t>
            </a:r>
            <a:r>
              <a:rPr lang="en-GB" sz="2800" dirty="0" smtClean="0"/>
              <a:t>cartilage to angle of mandible.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800" dirty="0" smtClean="0">
                <a:solidFill>
                  <a:srgbClr val="92D050"/>
                </a:solidFill>
              </a:rPr>
              <a:t>zone III: </a:t>
            </a:r>
            <a:r>
              <a:rPr lang="en-GB" sz="2800" dirty="0" smtClean="0"/>
              <a:t>angle of mandible to base of skull</a:t>
            </a:r>
            <a:r>
              <a:rPr lang="en-GB" dirty="0" smtClean="0"/>
              <a:t>.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ozh\Desktop\gr2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285728"/>
            <a:ext cx="8123448" cy="5311168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643042" y="5715016"/>
            <a:ext cx="69294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solidFill>
                  <a:srgbClr val="7030A0"/>
                </a:solidFill>
              </a:rPr>
              <a:t>(Selective surgical exploration algorithm</a:t>
            </a:r>
            <a:r>
              <a:rPr lang="en-GB" sz="2400" dirty="0" smtClean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GB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929354"/>
          </a:xfrm>
        </p:spPr>
        <p:txBody>
          <a:bodyPr/>
          <a:lstStyle/>
          <a:p>
            <a:endParaRPr lang="en-GB" sz="2800" dirty="0" smtClean="0"/>
          </a:p>
          <a:p>
            <a:endParaRPr lang="en-GB" sz="2400" dirty="0" smtClean="0"/>
          </a:p>
          <a:p>
            <a:r>
              <a:rPr lang="en-GB" sz="2400" dirty="0" smtClean="0"/>
              <a:t>Vascular injuries in zones I and III can be difficult to assess clinically.</a:t>
            </a:r>
            <a:endParaRPr lang="en-GB" sz="2400" dirty="0"/>
          </a:p>
        </p:txBody>
      </p:sp>
      <p:pic>
        <p:nvPicPr>
          <p:cNvPr id="4" name="Picture 2" descr="D:\shta konakan\rasamkan\My picture\scott picture\ch139\gr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2066" y="1928801"/>
            <a:ext cx="3571900" cy="454940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7504" y="116632"/>
            <a:ext cx="8928992" cy="5890659"/>
          </a:xfrm>
        </p:spPr>
        <p:txBody>
          <a:bodyPr/>
          <a:lstStyle/>
          <a:p>
            <a:pPr marL="109728" indent="0">
              <a:buNone/>
            </a:pPr>
            <a:r>
              <a:rPr lang="en-US" dirty="0" smtClean="0"/>
              <a:t>  </a:t>
            </a:r>
          </a:p>
          <a:p>
            <a:pPr marL="109728" indent="0">
              <a:buNone/>
            </a:pPr>
            <a:r>
              <a:rPr lang="en-US" dirty="0"/>
              <a:t> </a:t>
            </a:r>
            <a:r>
              <a:rPr lang="en-US" dirty="0" smtClean="0"/>
              <a:t> Reference</a:t>
            </a:r>
          </a:p>
          <a:p>
            <a:r>
              <a:rPr lang="en-US" dirty="0" smtClean="0"/>
              <a:t>Scott brown-ENT textbook </a:t>
            </a:r>
          </a:p>
          <a:p>
            <a:r>
              <a:rPr lang="en-US" dirty="0" smtClean="0"/>
              <a:t>Logan turners – disease of ear , nose and throat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7660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5578687"/>
          </a:xfrm>
        </p:spPr>
        <p:txBody>
          <a:bodyPr/>
          <a:lstStyle/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pPr>
              <a:buNone/>
            </a:pPr>
            <a:r>
              <a:rPr lang="en-GB" sz="8000" dirty="0" smtClean="0"/>
              <a:t>      </a:t>
            </a:r>
            <a:r>
              <a:rPr lang="en-GB" sz="8000" dirty="0" smtClean="0">
                <a:solidFill>
                  <a:srgbClr val="00B0F0"/>
                </a:solidFill>
              </a:rPr>
              <a:t>T</a:t>
            </a:r>
            <a:r>
              <a:rPr lang="en-GB" sz="8000" dirty="0" smtClean="0">
                <a:solidFill>
                  <a:srgbClr val="00B050"/>
                </a:solidFill>
              </a:rPr>
              <a:t>H</a:t>
            </a:r>
            <a:r>
              <a:rPr lang="en-GB" sz="8000" dirty="0" smtClean="0">
                <a:solidFill>
                  <a:schemeClr val="accent3"/>
                </a:solidFill>
              </a:rPr>
              <a:t>A</a:t>
            </a:r>
            <a:r>
              <a:rPr lang="en-GB" sz="8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</a:t>
            </a:r>
            <a:r>
              <a:rPr lang="en-GB" sz="8000" dirty="0" smtClean="0">
                <a:solidFill>
                  <a:srgbClr val="92D050"/>
                </a:solidFill>
              </a:rPr>
              <a:t>K</a:t>
            </a:r>
            <a:r>
              <a:rPr lang="en-GB" sz="8000" dirty="0" smtClean="0">
                <a:solidFill>
                  <a:srgbClr val="FF00FF"/>
                </a:solidFill>
              </a:rPr>
              <a:t>S</a:t>
            </a:r>
            <a:endParaRPr lang="en-GB" sz="80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2388</TotalTime>
  <Words>1364</Words>
  <Application>Microsoft Office PowerPoint</Application>
  <PresentationFormat>On-screen Show (4:3)</PresentationFormat>
  <Paragraphs>160</Paragraphs>
  <Slides>37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By DR.Ahmed Saker 2o1O ;)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rozh</dc:creator>
  <cp:lastModifiedBy>Rozh</cp:lastModifiedBy>
  <cp:revision>470</cp:revision>
  <dcterms:created xsi:type="dcterms:W3CDTF">2013-01-06T19:58:04Z</dcterms:created>
  <dcterms:modified xsi:type="dcterms:W3CDTF">2025-10-20T18:16:58Z</dcterms:modified>
</cp:coreProperties>
</file>