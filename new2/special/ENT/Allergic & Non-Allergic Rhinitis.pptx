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eg"/>
  <Override PartName="/ppt/media/image7.jpg" ContentType="image/jpeg"/>
  <Override PartName="/ppt/media/image9.jpg" ContentType="image/jpeg"/>
  <Override PartName="/ppt/media/image11.jpg" ContentType="image/jpeg"/>
  <Override PartName="/ppt/media/image13.jpg" ContentType="image/jpeg"/>
  <Override PartName="/ppt/media/image15.jpg" ContentType="image/jpeg"/>
  <Override PartName="/ppt/media/image16.jpg" ContentType="image/jpeg"/>
  <Override PartName="/ppt/media/image17.jpg" ContentType="image/jpeg"/>
  <Override PartName="/ppt/media/image18.jpg" ContentType="image/jpeg"/>
  <Override PartName="/ppt/media/image20.jpg" ContentType="image/jpeg"/>
  <Override PartName="/ppt/media/image21.jpg" ContentType="image/jpeg"/>
  <Override PartName="/ppt/media/image22.jpg" ContentType="image/jpeg"/>
  <Override PartName="/ppt/media/image23.jpg" ContentType="image/jpeg"/>
  <Override PartName="/ppt/media/image24.jpg" ContentType="image/jpeg"/>
  <Override PartName="/ppt/media/image25.jpg" ContentType="image/jpeg"/>
  <Override PartName="/ppt/media/image31.jpg" ContentType="image/jpeg"/>
  <Override PartName="/ppt/media/image33.jpg" ContentType="image/jpeg"/>
  <Override PartName="/ppt/media/image34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321" r:id="rId3"/>
    <p:sldId id="285" r:id="rId4"/>
    <p:sldId id="284" r:id="rId5"/>
    <p:sldId id="281" r:id="rId6"/>
    <p:sldId id="272" r:id="rId7"/>
    <p:sldId id="271" r:id="rId8"/>
    <p:sldId id="270" r:id="rId9"/>
    <p:sldId id="269" r:id="rId10"/>
    <p:sldId id="268" r:id="rId11"/>
    <p:sldId id="314" r:id="rId12"/>
    <p:sldId id="315" r:id="rId13"/>
    <p:sldId id="316" r:id="rId14"/>
    <p:sldId id="267" r:id="rId15"/>
    <p:sldId id="317" r:id="rId16"/>
    <p:sldId id="266" r:id="rId17"/>
    <p:sldId id="263" r:id="rId18"/>
    <p:sldId id="262" r:id="rId19"/>
    <p:sldId id="261" r:id="rId20"/>
    <p:sldId id="260" r:id="rId21"/>
    <p:sldId id="323" r:id="rId22"/>
    <p:sldId id="259" r:id="rId23"/>
    <p:sldId id="291" r:id="rId24"/>
    <p:sldId id="300" r:id="rId25"/>
    <p:sldId id="325" r:id="rId26"/>
    <p:sldId id="326" r:id="rId27"/>
    <p:sldId id="359" r:id="rId28"/>
    <p:sldId id="299" r:id="rId29"/>
    <p:sldId id="297" r:id="rId30"/>
    <p:sldId id="328" r:id="rId31"/>
    <p:sldId id="329" r:id="rId32"/>
    <p:sldId id="331" r:id="rId33"/>
    <p:sldId id="330" r:id="rId34"/>
    <p:sldId id="332" r:id="rId35"/>
    <p:sldId id="336" r:id="rId36"/>
    <p:sldId id="335" r:id="rId37"/>
    <p:sldId id="334" r:id="rId38"/>
    <p:sldId id="333" r:id="rId39"/>
    <p:sldId id="295" r:id="rId40"/>
    <p:sldId id="294" r:id="rId41"/>
    <p:sldId id="337" r:id="rId42"/>
    <p:sldId id="350" r:id="rId43"/>
    <p:sldId id="349" r:id="rId44"/>
    <p:sldId id="348" r:id="rId45"/>
    <p:sldId id="347" r:id="rId46"/>
    <p:sldId id="346" r:id="rId47"/>
    <p:sldId id="345" r:id="rId48"/>
    <p:sldId id="344" r:id="rId49"/>
    <p:sldId id="343" r:id="rId50"/>
    <p:sldId id="342" r:id="rId51"/>
    <p:sldId id="341" r:id="rId52"/>
    <p:sldId id="340" r:id="rId53"/>
    <p:sldId id="339" r:id="rId54"/>
    <p:sldId id="338" r:id="rId55"/>
    <p:sldId id="351" r:id="rId56"/>
    <p:sldId id="357" r:id="rId57"/>
    <p:sldId id="356" r:id="rId58"/>
    <p:sldId id="354" r:id="rId59"/>
    <p:sldId id="353" r:id="rId60"/>
    <p:sldId id="304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95360-5F6A-47D8-A293-5FC89F887CA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1E2F2-978B-4C2E-B1B8-F33A2A56D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26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580A-6373-4A8C-8E6A-79AF7DA5DD9B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8396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D789-FB66-4C3C-93B9-BED987A6688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217" y="185738"/>
            <a:ext cx="22313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8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3E19-DBE8-4588-8EAA-59E8FCD3A30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5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B8BD1-E467-46E7-AC82-E1A7CBE5C69F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9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67DF-2981-4F6D-AD58-CD7B8EB5D5EF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3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C5AD-1876-45EF-9818-6EC226875EDB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4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7B26-CDFC-42B8-A360-11E3A31CDB1A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4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F71A-E7F5-43A9-A5A3-E15CA927298D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18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17EFC-A153-453B-95F5-F00958B11340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9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0D88-597E-445B-B26F-D73291B801A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65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51DDA-EF02-4BC7-9DF0-207188FF12B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0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568C6-6152-468F-8754-5B57E9A77799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9927-015A-4A44-8378-1E8649B2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1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g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1.png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wmf"/><Relationship Id="rId5" Type="http://schemas.openxmlformats.org/officeDocument/2006/relationships/image" Target="../media/image29.jpeg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Allergic </a:t>
            </a:r>
            <a:r>
              <a:rPr lang="en-US" b="1" dirty="0" smtClean="0"/>
              <a:t>&amp; </a:t>
            </a:r>
            <a:r>
              <a:rPr lang="en-US" b="1" dirty="0" smtClean="0"/>
              <a:t>Non-Allergic </a:t>
            </a:r>
            <a:r>
              <a:rPr lang="en-US" b="1" dirty="0" smtClean="0"/>
              <a:t>Rhinitis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Dr.Haval Ahmed Hama</a:t>
            </a:r>
          </a:p>
          <a:p>
            <a:r>
              <a:rPr lang="en-US" b="1" dirty="0" err="1" smtClean="0"/>
              <a:t>MBChB</a:t>
            </a:r>
            <a:r>
              <a:rPr lang="en-US" b="1" dirty="0" smtClean="0"/>
              <a:t>, F.K.B.M.S </a:t>
            </a:r>
          </a:p>
          <a:p>
            <a:r>
              <a:rPr lang="en-US" b="1" dirty="0" smtClean="0"/>
              <a:t>(Otolaryngology, Head and Neck Surgeon)</a:t>
            </a:r>
          </a:p>
          <a:p>
            <a:r>
              <a:rPr lang="en-US" b="1" dirty="0" smtClean="0"/>
              <a:t>University of </a:t>
            </a:r>
            <a:r>
              <a:rPr lang="en-US" b="1" dirty="0" err="1" smtClean="0"/>
              <a:t>Sulaimani</a:t>
            </a:r>
            <a:r>
              <a:rPr lang="en-US" b="1" dirty="0" smtClean="0"/>
              <a:t>, College of Medicine.</a:t>
            </a:r>
          </a:p>
          <a:p>
            <a:r>
              <a:rPr lang="en-US" b="1" dirty="0" smtClean="0"/>
              <a:t>Branch of clinical science.</a:t>
            </a: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A38D-6DE8-41FF-BA83-4B8D1D7B320F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8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 </a:t>
            </a:r>
            <a:r>
              <a:rPr lang="en-US" b="1" dirty="0" smtClean="0"/>
              <a:t>learning </a:t>
            </a:r>
            <a:r>
              <a:rPr lang="en-US" b="1" dirty="0" smtClean="0"/>
              <a:t>Objectives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 smtClean="0"/>
          </a:p>
          <a:p>
            <a:r>
              <a:rPr lang="en-US" altLang="en-US" dirty="0" smtClean="0"/>
              <a:t>Understanding </a:t>
            </a:r>
            <a:r>
              <a:rPr lang="en-US" altLang="en-US" dirty="0"/>
              <a:t>to define </a:t>
            </a:r>
            <a:r>
              <a:rPr lang="en-US" altLang="en-US" dirty="0" smtClean="0"/>
              <a:t>allergy.</a:t>
            </a:r>
            <a:endParaRPr lang="en-US" altLang="en-US" dirty="0"/>
          </a:p>
          <a:p>
            <a:r>
              <a:rPr lang="en-US" altLang="en-US" dirty="0"/>
              <a:t>Able to categorize types of </a:t>
            </a:r>
            <a:r>
              <a:rPr lang="en-US" altLang="en-US" dirty="0" smtClean="0"/>
              <a:t>rhinitis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r>
              <a:rPr lang="en-US" altLang="en-US" dirty="0"/>
              <a:t>Learning how to approach </a:t>
            </a:r>
            <a:r>
              <a:rPr lang="en-US" altLang="en-US" dirty="0" smtClean="0"/>
              <a:t>a </a:t>
            </a:r>
            <a:r>
              <a:rPr lang="en-US" altLang="en-US" dirty="0"/>
              <a:t>patient with </a:t>
            </a:r>
            <a:r>
              <a:rPr lang="en-US" altLang="en-US" dirty="0" smtClean="0"/>
              <a:t>an allergy </a:t>
            </a:r>
            <a:endParaRPr lang="en-US" altLang="en-US" dirty="0"/>
          </a:p>
          <a:p>
            <a:r>
              <a:rPr lang="en-US" altLang="en-US" dirty="0" smtClean="0"/>
              <a:t>Enhancing </a:t>
            </a:r>
            <a:r>
              <a:rPr lang="en-US" altLang="en-US" dirty="0"/>
              <a:t>knowledge regarding how to manage patients </a:t>
            </a:r>
            <a:r>
              <a:rPr lang="en-US" altLang="en-US" dirty="0" smtClean="0"/>
              <a:t>with</a:t>
            </a:r>
            <a:r>
              <a:rPr lang="en-US" altLang="en-US" dirty="0" smtClean="0"/>
              <a:t> </a:t>
            </a:r>
            <a:r>
              <a:rPr lang="en-US" altLang="en-US" dirty="0" smtClean="0"/>
              <a:t>rhinitis.</a:t>
            </a:r>
            <a:endParaRPr lang="en-US" altLang="en-US" dirty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5670-CBA7-48FB-BBB5-745B4516C4CF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4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                  Definition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u="sng" dirty="0">
                <a:solidFill>
                  <a:srgbClr val="C00000"/>
                </a:solidFill>
              </a:rPr>
              <a:t>R</a:t>
            </a:r>
            <a:r>
              <a:rPr lang="en-US" u="sng" dirty="0" smtClean="0">
                <a:solidFill>
                  <a:srgbClr val="C00000"/>
                </a:solidFill>
              </a:rPr>
              <a:t>hinitis</a:t>
            </a:r>
            <a:r>
              <a:rPr lang="en-US" dirty="0" smtClean="0"/>
              <a:t> is a group of disorders characterized by inflammation and irritation of the mucous membranes of the nose.</a:t>
            </a:r>
          </a:p>
          <a:p>
            <a:r>
              <a:rPr lang="en-US" dirty="0" smtClean="0"/>
              <a:t>As the lining of the nasal cavity and paranasal sinus is the same so it involves both of them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C2EA-2A95-402A-ABFF-2237261A20E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30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 Classification</a:t>
            </a:r>
            <a:endParaRPr lang="en-US" b="1" dirty="0"/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09462" y="1976846"/>
            <a:ext cx="1628503" cy="9719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60274" y="1800588"/>
            <a:ext cx="1323703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Rhinitis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219072" y="2262611"/>
            <a:ext cx="1663337" cy="8757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0424" y="2394328"/>
            <a:ext cx="15675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Non-Infected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1985554" y="2154199"/>
            <a:ext cx="4014650" cy="519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772297" y="3561806"/>
            <a:ext cx="0" cy="4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270172" y="2011768"/>
            <a:ext cx="3326675" cy="48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1219072" y="3013995"/>
            <a:ext cx="809646" cy="467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56" idx="1"/>
          </p:cNvCxnSpPr>
          <p:nvPr/>
        </p:nvCxnSpPr>
        <p:spPr>
          <a:xfrm>
            <a:off x="2804221" y="2710531"/>
            <a:ext cx="1852620" cy="738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859757" y="3394867"/>
            <a:ext cx="1099671" cy="3542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Acute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4441308" y="3394867"/>
            <a:ext cx="1471749" cy="3703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hronic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9048204" y="2505540"/>
            <a:ext cx="470265" cy="66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10617925" y="2773356"/>
            <a:ext cx="740230" cy="474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8356261" y="3079912"/>
            <a:ext cx="1360713" cy="5727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smtClean="0">
                <a:solidFill>
                  <a:schemeClr val="bg1"/>
                </a:solidFill>
              </a:rPr>
              <a:t>Allergic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10318183" y="3117697"/>
            <a:ext cx="1741712" cy="593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smtClean="0">
                <a:solidFill>
                  <a:schemeClr val="bg1"/>
                </a:solidFill>
              </a:rPr>
              <a:t>Vasomotor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4" name="Straight Connector 63"/>
          <p:cNvCxnSpPr>
            <a:stCxn id="55" idx="3"/>
          </p:cNvCxnSpPr>
          <p:nvPr/>
        </p:nvCxnSpPr>
        <p:spPr>
          <a:xfrm flipH="1">
            <a:off x="737838" y="3697207"/>
            <a:ext cx="282962" cy="713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55" idx="5"/>
          </p:cNvCxnSpPr>
          <p:nvPr/>
        </p:nvCxnSpPr>
        <p:spPr>
          <a:xfrm>
            <a:off x="1798385" y="3697207"/>
            <a:ext cx="389432" cy="336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579008" y="3765253"/>
            <a:ext cx="396427" cy="5775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56" idx="3"/>
          </p:cNvCxnSpPr>
          <p:nvPr/>
        </p:nvCxnSpPr>
        <p:spPr>
          <a:xfrm flipH="1">
            <a:off x="4406727" y="3711011"/>
            <a:ext cx="250114" cy="624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8253326" y="3584454"/>
            <a:ext cx="432296" cy="576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9370425" y="3481872"/>
            <a:ext cx="484547" cy="698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21920" y="4051420"/>
            <a:ext cx="1442206" cy="4013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Bacterial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1779303" y="3953800"/>
            <a:ext cx="1191111" cy="3510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  <a:r>
              <a:rPr lang="en-US" dirty="0" smtClean="0">
                <a:solidFill>
                  <a:schemeClr val="tx1"/>
                </a:solidFill>
              </a:rPr>
              <a:t>iral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Oval 96"/>
          <p:cNvSpPr/>
          <p:nvPr/>
        </p:nvSpPr>
        <p:spPr>
          <a:xfrm>
            <a:off x="7402286" y="3901974"/>
            <a:ext cx="1625737" cy="474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smtClean="0">
                <a:solidFill>
                  <a:schemeClr val="bg1"/>
                </a:solidFill>
              </a:rPr>
              <a:t>Seasonal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8" name="Oval 97"/>
          <p:cNvSpPr/>
          <p:nvPr/>
        </p:nvSpPr>
        <p:spPr>
          <a:xfrm>
            <a:off x="9256412" y="3949407"/>
            <a:ext cx="1471750" cy="5553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Perineal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3291840" y="4328160"/>
            <a:ext cx="1777903" cy="524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</a:rPr>
              <a:t>Specific</a:t>
            </a:r>
          </a:p>
        </p:txBody>
      </p:sp>
      <p:sp>
        <p:nvSpPr>
          <p:cNvPr id="106" name="Oval 105"/>
          <p:cNvSpPr/>
          <p:nvPr/>
        </p:nvSpPr>
        <p:spPr>
          <a:xfrm>
            <a:off x="5355122" y="4335392"/>
            <a:ext cx="1704762" cy="5589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</a:rPr>
              <a:t>Non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Specific</a:t>
            </a:r>
          </a:p>
        </p:txBody>
      </p:sp>
      <p:cxnSp>
        <p:nvCxnSpPr>
          <p:cNvPr id="109" name="Straight Connector 108"/>
          <p:cNvCxnSpPr/>
          <p:nvPr/>
        </p:nvCxnSpPr>
        <p:spPr>
          <a:xfrm flipH="1">
            <a:off x="737838" y="4737463"/>
            <a:ext cx="4722436" cy="722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8685622" y="6183086"/>
            <a:ext cx="142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3"/>
          </p:cNvCxnSpPr>
          <p:nvPr/>
        </p:nvCxnSpPr>
        <p:spPr>
          <a:xfrm flipH="1">
            <a:off x="2207159" y="4812463"/>
            <a:ext cx="3397620" cy="856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H="1">
            <a:off x="4531784" y="4861900"/>
            <a:ext cx="1245437" cy="963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080324" y="4927905"/>
            <a:ext cx="390145" cy="897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6557554" y="4861900"/>
            <a:ext cx="1911920" cy="807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7059884" y="4737463"/>
            <a:ext cx="3790996" cy="82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230359" y="5348226"/>
            <a:ext cx="1381245" cy="4046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Atrophic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1847984" y="5473614"/>
            <a:ext cx="1645921" cy="5166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chronic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3704610" y="5535274"/>
            <a:ext cx="2044693" cy="552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Hypertrophic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5941193" y="5663237"/>
            <a:ext cx="1751831" cy="5154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Rhinitis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tx1"/>
                </a:solidFill>
              </a:rPr>
              <a:t>sicca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7929404" y="5584897"/>
            <a:ext cx="1463648" cy="5997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Rhinitis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tx1"/>
                </a:solidFill>
              </a:rPr>
              <a:t>caseosa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9682101" y="5589500"/>
            <a:ext cx="2300893" cy="10186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Granulomatous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rhinitis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0E9-B143-477E-88FF-BB657DECD57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</a:t>
            </a:fld>
            <a:endParaRPr lang="en-US"/>
          </a:p>
        </p:txBody>
      </p:sp>
      <p:pic>
        <p:nvPicPr>
          <p:cNvPr id="4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8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225143" y="2098766"/>
            <a:ext cx="1602377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Specific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1889760" y="2394857"/>
            <a:ext cx="3466011" cy="1297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466011" y="2516777"/>
            <a:ext cx="2142309" cy="1628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294811" y="2516777"/>
            <a:ext cx="653143" cy="1744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270640" y="2510631"/>
            <a:ext cx="1347728" cy="1852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" idx="5"/>
          </p:cNvCxnSpPr>
          <p:nvPr/>
        </p:nvCxnSpPr>
        <p:spPr>
          <a:xfrm>
            <a:off x="6592857" y="2455561"/>
            <a:ext cx="2220218" cy="11751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4" idx="6"/>
          </p:cNvCxnSpPr>
          <p:nvPr/>
        </p:nvCxnSpPr>
        <p:spPr>
          <a:xfrm>
            <a:off x="6827520" y="2307772"/>
            <a:ext cx="3149857" cy="543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25" idx="0"/>
          </p:cNvCxnSpPr>
          <p:nvPr/>
        </p:nvCxnSpPr>
        <p:spPr>
          <a:xfrm>
            <a:off x="6052457" y="2516777"/>
            <a:ext cx="148046" cy="2664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332411" y="3622766"/>
            <a:ext cx="1384663" cy="63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Syphilis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2511334" y="3988525"/>
            <a:ext cx="1930506" cy="748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Tuberculosis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716160" y="4261666"/>
            <a:ext cx="1231794" cy="7370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leprosy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68389" y="5181600"/>
            <a:ext cx="2264227" cy="7748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Rhinoscleroma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7106194" y="4346960"/>
            <a:ext cx="2593446" cy="651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</a:t>
            </a:r>
            <a:r>
              <a:rPr lang="en-US" dirty="0" err="1" smtClean="0">
                <a:solidFill>
                  <a:schemeClr val="tx1"/>
                </a:solidFill>
              </a:rPr>
              <a:t>hinosporiodosis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8263271" y="3259239"/>
            <a:ext cx="1480458" cy="7178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Fungal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infection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9135293" y="2307771"/>
            <a:ext cx="2142307" cy="11234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leishmaniosis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289F-5F4B-4954-A316-0A7190811C7A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</a:t>
            </a:fld>
            <a:endParaRPr lang="en-US"/>
          </a:p>
        </p:txBody>
      </p:sp>
      <p:pic>
        <p:nvPicPr>
          <p:cNvPr id="2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5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515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Allergic Rhinitis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IgE</a:t>
            </a:r>
            <a:r>
              <a:rPr lang="en-US" dirty="0" smtClean="0">
                <a:solidFill>
                  <a:srgbClr val="C00000"/>
                </a:solidFill>
              </a:rPr>
              <a:t>-mediated </a:t>
            </a:r>
            <a:r>
              <a:rPr lang="en-US" dirty="0" smtClean="0"/>
              <a:t>hypersensitivity </a:t>
            </a:r>
            <a:r>
              <a:rPr lang="en-US" dirty="0" smtClean="0"/>
              <a:t>reaction in genetically susceptible individuals of nasal mucosa that is characterized by </a:t>
            </a:r>
            <a:r>
              <a:rPr lang="en-US" dirty="0" smtClean="0">
                <a:solidFill>
                  <a:srgbClr val="C00000"/>
                </a:solidFill>
              </a:rPr>
              <a:t>sneezing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itching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watery nasal rhinorrhea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C00000"/>
                </a:solidFill>
              </a:rPr>
              <a:t>nasal obstruction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u="sng" dirty="0" smtClean="0"/>
              <a:t>Prevalence: 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smtClean="0">
                <a:solidFill>
                  <a:srgbClr val="C00000"/>
                </a:solidFill>
              </a:rPr>
              <a:t>15%-20% </a:t>
            </a:r>
            <a:r>
              <a:rPr lang="en-US" dirty="0" smtClean="0"/>
              <a:t>of population</a:t>
            </a:r>
          </a:p>
          <a:p>
            <a:pPr marL="0" indent="0">
              <a:buNone/>
            </a:pPr>
            <a:r>
              <a:rPr lang="en-US" dirty="0" smtClean="0"/>
              <a:t>-more common in </a:t>
            </a:r>
            <a:r>
              <a:rPr lang="en-US" dirty="0" smtClean="0">
                <a:solidFill>
                  <a:srgbClr val="C00000"/>
                </a:solidFill>
              </a:rPr>
              <a:t>pediatrics</a:t>
            </a:r>
          </a:p>
          <a:p>
            <a:pPr marL="0" indent="0">
              <a:buNone/>
            </a:pPr>
            <a:r>
              <a:rPr lang="en-US" dirty="0" smtClean="0"/>
              <a:t>-about </a:t>
            </a:r>
            <a:r>
              <a:rPr lang="en-US" dirty="0" smtClean="0">
                <a:solidFill>
                  <a:srgbClr val="C00000"/>
                </a:solidFill>
              </a:rPr>
              <a:t>80% </a:t>
            </a:r>
            <a:r>
              <a:rPr lang="en-US" dirty="0" smtClean="0"/>
              <a:t>occur before the age of </a:t>
            </a:r>
            <a:r>
              <a:rPr lang="en-US" dirty="0" smtClean="0">
                <a:solidFill>
                  <a:srgbClr val="C00000"/>
                </a:solidFill>
              </a:rPr>
              <a:t>20</a:t>
            </a:r>
            <a:r>
              <a:rPr lang="en-US" dirty="0" smtClean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25F8-832A-4953-96A1-3877CA5AE37B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6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56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515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Risk factor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1-Genetic susceptibility</a:t>
            </a:r>
          </a:p>
          <a:p>
            <a:pPr marL="0" indent="0">
              <a:buNone/>
            </a:pPr>
            <a:r>
              <a:rPr lang="en-US" dirty="0" smtClean="0"/>
              <a:t>2-Family history of atopy: </a:t>
            </a:r>
            <a:r>
              <a:rPr lang="en-US" dirty="0" err="1" smtClean="0"/>
              <a:t>eg</a:t>
            </a:r>
            <a:r>
              <a:rPr lang="en-US" dirty="0" smtClean="0"/>
              <a:t>. asthma, eczema, urticarial</a:t>
            </a:r>
          </a:p>
          <a:p>
            <a:pPr marL="0" indent="0">
              <a:buNone/>
            </a:pPr>
            <a:r>
              <a:rPr lang="en-US" dirty="0" smtClean="0"/>
              <a:t>3-Environmental factors:</a:t>
            </a:r>
          </a:p>
          <a:p>
            <a:pPr marL="0" indent="0">
              <a:buNone/>
            </a:pPr>
            <a:r>
              <a:rPr lang="en-US" dirty="0" smtClean="0"/>
              <a:t>-pollution-climate interaction</a:t>
            </a:r>
          </a:p>
          <a:p>
            <a:pPr marL="0" indent="0">
              <a:buNone/>
            </a:pPr>
            <a:r>
              <a:rPr lang="en-US" dirty="0" smtClean="0"/>
              <a:t>-irritants: </a:t>
            </a:r>
            <a:r>
              <a:rPr lang="en-US" dirty="0" err="1" smtClean="0"/>
              <a:t>eg</a:t>
            </a:r>
            <a:r>
              <a:rPr lang="en-US" dirty="0" smtClean="0"/>
              <a:t>. fumes, tobacco</a:t>
            </a:r>
          </a:p>
          <a:p>
            <a:pPr marL="0" indent="0">
              <a:buNone/>
            </a:pPr>
            <a:r>
              <a:rPr lang="en-US" dirty="0" smtClean="0"/>
              <a:t>4-Exposure to allergens:</a:t>
            </a:r>
          </a:p>
          <a:p>
            <a:pPr marL="0" indent="0">
              <a:buNone/>
            </a:pPr>
            <a:r>
              <a:rPr lang="en-US" dirty="0" smtClean="0"/>
              <a:t>.seasonal: pollen, fungus</a:t>
            </a:r>
          </a:p>
          <a:p>
            <a:pPr marL="0" indent="0">
              <a:buNone/>
            </a:pPr>
            <a:r>
              <a:rPr lang="en-US" dirty="0" smtClean="0"/>
              <a:t>.perennial: dust mites, domestic pets, cockroaches</a:t>
            </a:r>
          </a:p>
          <a:p>
            <a:pPr marL="0" indent="0">
              <a:buNone/>
            </a:pPr>
            <a:r>
              <a:rPr lang="en-US" dirty="0" smtClean="0"/>
              <a:t>5-Hygenic hypothesis: childhood exposure to allergens and infestation with worms will protect from allergy by the maturation of immunity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D75F6-7604-4BEB-9F12-8CF53EE140D1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7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4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Pathogenesis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Sensitization &amp; Priming to specific antigen: </a:t>
            </a:r>
          </a:p>
          <a:p>
            <a:r>
              <a:rPr lang="en-US" dirty="0" smtClean="0"/>
              <a:t>Inhaled allergen produces specific </a:t>
            </a:r>
            <a:r>
              <a:rPr lang="en-US" dirty="0" err="1" smtClean="0"/>
              <a:t>IgE</a:t>
            </a:r>
            <a:r>
              <a:rPr lang="en-US" dirty="0" smtClean="0"/>
              <a:t> antibody which gets attached to mast cells </a:t>
            </a:r>
          </a:p>
          <a:p>
            <a:r>
              <a:rPr lang="en-US" dirty="0" smtClean="0"/>
              <a:t> Subsequent exposure to same antigen: Allergen combines with specific </a:t>
            </a:r>
            <a:r>
              <a:rPr lang="en-US" dirty="0" err="1" smtClean="0"/>
              <a:t>IgE</a:t>
            </a:r>
            <a:r>
              <a:rPr lang="en-US" dirty="0" smtClean="0"/>
              <a:t> antibody → degranulation of mast cells → chemical mediators released.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899" y="1027905"/>
            <a:ext cx="4114801" cy="4849019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E75-FB25-47C6-8FFB-98F321AB6CC8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8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50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Phase Response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u="sng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Acute or early phase response:-</a:t>
            </a:r>
            <a:endParaRPr lang="en-US" u="sng" dirty="0" smtClean="0">
              <a:solidFill>
                <a:srgbClr val="0070C0"/>
              </a:solidFill>
            </a:endParaRPr>
          </a:p>
          <a:p>
            <a:r>
              <a:rPr lang="en-US" dirty="0" smtClean="0"/>
              <a:t>Occurs </a:t>
            </a:r>
            <a:r>
              <a:rPr lang="en-US" dirty="0" smtClean="0">
                <a:solidFill>
                  <a:srgbClr val="C00000"/>
                </a:solidFill>
              </a:rPr>
              <a:t>5–30 min </a:t>
            </a:r>
            <a:r>
              <a:rPr lang="en-US" dirty="0" smtClean="0"/>
              <a:t>after antigen exposure </a:t>
            </a:r>
          </a:p>
          <a:p>
            <a:r>
              <a:rPr lang="en-US" dirty="0" smtClean="0"/>
              <a:t>Release of </a:t>
            </a:r>
            <a:r>
              <a:rPr lang="en-US" dirty="0" smtClean="0">
                <a:solidFill>
                  <a:srgbClr val="C00000"/>
                </a:solidFill>
              </a:rPr>
              <a:t>inflammatory mediators</a:t>
            </a:r>
            <a:r>
              <a:rPr lang="en-US" b="1" dirty="0" smtClean="0"/>
              <a:t>(HISTAMEN &amp;LEUKOTRINE)</a:t>
            </a:r>
          </a:p>
          <a:p>
            <a:r>
              <a:rPr lang="en-US" dirty="0" smtClean="0"/>
              <a:t>Increased nasal gland secretion → </a:t>
            </a:r>
            <a:r>
              <a:rPr lang="en-US" dirty="0" smtClean="0">
                <a:solidFill>
                  <a:srgbClr val="C00000"/>
                </a:solidFill>
              </a:rPr>
              <a:t>runny nose </a:t>
            </a:r>
          </a:p>
          <a:p>
            <a:r>
              <a:rPr lang="en-US" dirty="0" smtClean="0"/>
              <a:t>Mucosal edema &amp; Vasodilation → </a:t>
            </a:r>
            <a:r>
              <a:rPr lang="en-US" dirty="0" smtClean="0">
                <a:solidFill>
                  <a:srgbClr val="C00000"/>
                </a:solidFill>
              </a:rPr>
              <a:t>nose block </a:t>
            </a:r>
          </a:p>
          <a:p>
            <a:r>
              <a:rPr lang="en-US" dirty="0" smtClean="0"/>
              <a:t>Nerve irritation → </a:t>
            </a:r>
            <a:r>
              <a:rPr lang="en-US" dirty="0" smtClean="0">
                <a:solidFill>
                  <a:srgbClr val="C00000"/>
                </a:solidFill>
              </a:rPr>
              <a:t>sneezing &amp; itching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Late or delayed phase response </a:t>
            </a:r>
          </a:p>
          <a:p>
            <a:pPr marL="0" indent="0">
              <a:buNone/>
            </a:pPr>
            <a:r>
              <a:rPr lang="en-US" dirty="0" smtClean="0"/>
              <a:t>• Occurs </a:t>
            </a:r>
            <a:r>
              <a:rPr lang="en-US" dirty="0" smtClean="0">
                <a:solidFill>
                  <a:srgbClr val="C00000"/>
                </a:solidFill>
              </a:rPr>
              <a:t>2-8 hours </a:t>
            </a:r>
            <a:r>
              <a:rPr lang="en-US" dirty="0" smtClean="0"/>
              <a:t>after antigen exposure </a:t>
            </a:r>
          </a:p>
          <a:p>
            <a:pPr marL="0" indent="0">
              <a:buNone/>
            </a:pPr>
            <a:r>
              <a:rPr lang="en-US" dirty="0" smtClean="0"/>
              <a:t>• Infiltration by </a:t>
            </a:r>
            <a:r>
              <a:rPr lang="en-US" dirty="0" smtClean="0">
                <a:solidFill>
                  <a:srgbClr val="C00000"/>
                </a:solidFill>
              </a:rPr>
              <a:t>inflammatory cells </a:t>
            </a:r>
            <a:r>
              <a:rPr lang="en-US" dirty="0" smtClean="0"/>
              <a:t>(eosinophils, neutrophils, basophils, monocytes &amp; CD4+ T lymphocytes) </a:t>
            </a:r>
          </a:p>
          <a:p>
            <a:pPr marL="0" indent="0">
              <a:buNone/>
            </a:pPr>
            <a:r>
              <a:rPr lang="en-US" dirty="0" smtClean="0"/>
              <a:t>• Edema, congestion &amp; thick nasal secretion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• Sneezing </a:t>
            </a:r>
            <a:r>
              <a:rPr lang="en-US" dirty="0" smtClean="0"/>
              <a:t>&amp; </a:t>
            </a:r>
            <a:r>
              <a:rPr lang="en-US" dirty="0" smtClean="0">
                <a:solidFill>
                  <a:srgbClr val="C00000"/>
                </a:solidFill>
              </a:rPr>
              <a:t>itching decreases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8A03-6580-459B-A733-BEA8C05328CA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9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7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Clinical Features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Symptoms: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-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Running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-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Blocking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-Sneezing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-Itching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563" y="1492046"/>
            <a:ext cx="3317966" cy="468491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20F-A0FC-4D4C-A087-EDDA11262D78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10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12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/>
            </a:r>
            <a:br>
              <a:rPr lang="en-US" b="1" u="sng" dirty="0" smtClean="0">
                <a:solidFill>
                  <a:srgbClr val="0070C0"/>
                </a:solidFill>
              </a:rPr>
            </a:br>
            <a:r>
              <a:rPr lang="en-US" b="1" u="sng" dirty="0" smtClean="0">
                <a:solidFill>
                  <a:srgbClr val="0070C0"/>
                </a:solidFill>
              </a:rPr>
              <a:t/>
            </a:r>
            <a:br>
              <a:rPr lang="en-US" b="1" u="sng" dirty="0" smtClean="0">
                <a:solidFill>
                  <a:srgbClr val="0070C0"/>
                </a:solidFill>
              </a:rPr>
            </a:br>
            <a:r>
              <a:rPr lang="en-US" b="1" u="sng" dirty="0" smtClean="0"/>
              <a:t>Signs: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u="sng" dirty="0" smtClean="0"/>
              <a:t>Nose: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llergic salute(transverse nasal crease)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ale–blue enlarged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turbinates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285" y="3179196"/>
            <a:ext cx="4248150" cy="3219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46" y="3179196"/>
            <a:ext cx="4478383" cy="313270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BCD7C-8AA4-4168-AAAF-035CE1B17F10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11</a:t>
            </a:fld>
            <a:endParaRPr lang="en-US"/>
          </a:p>
        </p:txBody>
      </p:sp>
      <p:pic>
        <p:nvPicPr>
          <p:cNvPr id="10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02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u="sng" dirty="0" smtClean="0"/>
              <a:t>Face: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Dennie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-Morgan creases (in lower eyelid skin) 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Allergic shiners (dark discoloration below lower eyelids)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1" y="3335383"/>
            <a:ext cx="3707674" cy="25841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829" y="3179362"/>
            <a:ext cx="4876800" cy="2740152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43F7D-DD01-4998-8E28-5EBD5F8357BE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12</a:t>
            </a:fld>
            <a:endParaRPr lang="en-US"/>
          </a:p>
        </p:txBody>
      </p:sp>
      <p:pic>
        <p:nvPicPr>
          <p:cNvPr id="10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0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u="sng" dirty="0" smtClean="0"/>
              <a:t>Eye: </a:t>
            </a:r>
            <a:r>
              <a:rPr lang="en-US" dirty="0" smtClean="0"/>
              <a:t>Conjunctiva is congested, increased lacrimation</a:t>
            </a:r>
          </a:p>
          <a:p>
            <a:r>
              <a:rPr lang="en-US" dirty="0" smtClean="0"/>
              <a:t> </a:t>
            </a:r>
            <a:r>
              <a:rPr lang="en-US" u="sng" dirty="0" smtClean="0"/>
              <a:t>Ear: </a:t>
            </a:r>
            <a:r>
              <a:rPr lang="en-US" dirty="0" smtClean="0"/>
              <a:t>Aural fullness(Eustachian tube dysfunction) due to adenoid hypertrophy </a:t>
            </a:r>
          </a:p>
          <a:p>
            <a:r>
              <a:rPr lang="en-US" u="sng" dirty="0" smtClean="0"/>
              <a:t>Throat: </a:t>
            </a:r>
            <a:r>
              <a:rPr lang="en-US" dirty="0" smtClean="0"/>
              <a:t>Chronic pharyngitis, laryngitis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125" y="1690688"/>
            <a:ext cx="2219325" cy="2236879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690689"/>
            <a:ext cx="2714898" cy="22368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125" y="4090035"/>
            <a:ext cx="2289675" cy="18478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799" y="4090035"/>
            <a:ext cx="2714899" cy="184785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EAA7-99AA-4719-B067-F259BDE1615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13</a:t>
            </a:fld>
            <a:endParaRPr lang="en-US"/>
          </a:p>
        </p:txBody>
      </p:sp>
      <p:pic>
        <p:nvPicPr>
          <p:cNvPr id="11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53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Types of allergic rhinitis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5100" b="1" u="sng" dirty="0" smtClean="0">
                <a:solidFill>
                  <a:schemeClr val="accent2">
                    <a:lumMod val="75000"/>
                  </a:schemeClr>
                </a:solidFill>
              </a:rPr>
              <a:t>Seasonal allergic rhinitis: </a:t>
            </a:r>
          </a:p>
          <a:p>
            <a:pPr marL="0" indent="0">
              <a:buNone/>
            </a:pPr>
            <a:r>
              <a:rPr lang="en-US" dirty="0" smtClean="0"/>
              <a:t>Nasal discharge and conjunctivitis (more common)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Pollen: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-Spring (March-June)----tree pollen </a:t>
            </a:r>
          </a:p>
          <a:p>
            <a:pPr>
              <a:buFontTx/>
              <a:buChar char="-"/>
            </a:pPr>
            <a:r>
              <a:rPr lang="en-US" dirty="0" smtClean="0"/>
              <a:t>Summer (May-August)----Grass </a:t>
            </a:r>
          </a:p>
          <a:p>
            <a:pPr>
              <a:buFontTx/>
              <a:buChar char="-"/>
            </a:pPr>
            <a:r>
              <a:rPr lang="en-US" dirty="0" smtClean="0"/>
              <a:t>Fall (August-October)----Weeds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Mold: </a:t>
            </a:r>
            <a:r>
              <a:rPr lang="en-US" dirty="0" smtClean="0"/>
              <a:t>Spores outdoors have seasonal variation (reduced in winter, increased in summer/fall due to humidity)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House dust mites: </a:t>
            </a:r>
            <a:r>
              <a:rPr lang="en-US" dirty="0" smtClean="0"/>
              <a:t>Generally “perennial” allergen, but increased in damp autumn months</a:t>
            </a:r>
          </a:p>
          <a:p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563" y="2045925"/>
            <a:ext cx="4330337" cy="41310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7B36-8AB5-4448-9EEC-0B1AE7A41BE7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14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0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</a:rPr>
              <a:t/>
            </a:r>
            <a:br>
              <a:rPr lang="en-US" b="1" dirty="0" smtClean="0">
                <a:solidFill>
                  <a:schemeClr val="accent2"/>
                </a:solidFill>
              </a:rPr>
            </a:br>
            <a:r>
              <a:rPr lang="en-US" b="1" dirty="0" smtClean="0">
                <a:solidFill>
                  <a:schemeClr val="accent2"/>
                </a:solidFill>
              </a:rPr>
              <a:t>Perennial allergic rhinitis: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 smtClean="0"/>
              <a:t>Nasal blockage (more common), Hyposmia Less sneezing/nasal discharge /eye symptoms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Fungi/mold: </a:t>
            </a:r>
          </a:p>
          <a:p>
            <a:pPr marL="0" indent="0">
              <a:buNone/>
            </a:pPr>
            <a:r>
              <a:rPr lang="en-US" sz="2400" dirty="0" smtClean="0"/>
              <a:t>Exposure peaks accompany activities such as harvesting &amp; cutting grass 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Pet dander: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2400" dirty="0" smtClean="0"/>
              <a:t>(cats, dogs): up to 4 months after pet removal 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House dust mites: </a:t>
            </a:r>
          </a:p>
          <a:p>
            <a:pPr marL="0" indent="0">
              <a:buNone/>
            </a:pPr>
            <a:r>
              <a:rPr lang="en-US" dirty="0" smtClean="0"/>
              <a:t>Live in bedding &amp; carpets 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Cockroaches: </a:t>
            </a:r>
          </a:p>
          <a:p>
            <a:pPr marL="0" indent="0">
              <a:buNone/>
            </a:pPr>
            <a:r>
              <a:rPr lang="en-US" dirty="0" smtClean="0"/>
              <a:t>Respiratory allergy</a:t>
            </a:r>
          </a:p>
          <a:p>
            <a:pPr marL="0" indent="0">
              <a:buNone/>
            </a:pPr>
            <a:r>
              <a:rPr lang="en-US" dirty="0" smtClean="0"/>
              <a:t>Important allergen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903" y="1690688"/>
            <a:ext cx="2790825" cy="16383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503" y="3877877"/>
            <a:ext cx="2590800" cy="1762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482" y="3963602"/>
            <a:ext cx="2733675" cy="1676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C133-AD13-4B9E-B34B-54396B4E768C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15</a:t>
            </a:fld>
            <a:endParaRPr lang="en-US"/>
          </a:p>
        </p:txBody>
      </p:sp>
      <p:pic>
        <p:nvPicPr>
          <p:cNvPr id="10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53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ARIA </a:t>
            </a:r>
            <a:r>
              <a:rPr lang="en-US" dirty="0" smtClean="0"/>
              <a:t>classification= Allergic Rhinitis &amp; its Impact on Asthma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999" y="2254296"/>
            <a:ext cx="7471954" cy="428461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0B71-52B9-43BE-B01D-D3BABCF4B0DD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16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75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Diagnosis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History </a:t>
            </a:r>
          </a:p>
          <a:p>
            <a:pPr marL="0" indent="0">
              <a:buNone/>
            </a:pPr>
            <a:r>
              <a:rPr lang="en-US" dirty="0" smtClean="0"/>
              <a:t>2. Physical exam </a:t>
            </a:r>
          </a:p>
          <a:p>
            <a:pPr marL="0" indent="0">
              <a:buNone/>
            </a:pPr>
            <a:r>
              <a:rPr lang="en-US" dirty="0" smtClean="0"/>
              <a:t>3. Allergy diagnosis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(I) Skin prick test (SPT)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(II) Blood tests for allergy: Total </a:t>
            </a:r>
            <a:r>
              <a:rPr lang="en-US" sz="2400" dirty="0" err="1" smtClean="0">
                <a:solidFill>
                  <a:srgbClr val="C00000"/>
                </a:solidFill>
              </a:rPr>
              <a:t>IgE</a:t>
            </a:r>
            <a:r>
              <a:rPr lang="en-US" sz="2400" dirty="0" smtClean="0">
                <a:solidFill>
                  <a:srgbClr val="C00000"/>
                </a:solidFill>
              </a:rPr>
              <a:t>, Specific </a:t>
            </a:r>
            <a:r>
              <a:rPr lang="en-US" sz="2400" dirty="0" err="1" smtClean="0">
                <a:solidFill>
                  <a:srgbClr val="C00000"/>
                </a:solidFill>
              </a:rPr>
              <a:t>IgE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(III) Nasal allergen challenge test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B945B-1EBE-4DE5-B2A3-0182104E201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17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96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5150"/>
            <a:ext cx="10515600" cy="1325563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History and physical exam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History: </a:t>
            </a:r>
            <a:r>
              <a:rPr lang="en-US" sz="2400" dirty="0" smtClean="0"/>
              <a:t>Complete personal and family history especially for allergies.</a:t>
            </a:r>
            <a:endParaRPr lang="en-US" sz="2400" dirty="0"/>
          </a:p>
          <a:p>
            <a:r>
              <a:rPr lang="en-US" b="1" dirty="0" smtClean="0">
                <a:solidFill>
                  <a:srgbClr val="C00000"/>
                </a:solidFill>
              </a:rPr>
              <a:t>Examination 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7030A0"/>
                </a:solidFill>
              </a:rPr>
              <a:t>-</a:t>
            </a:r>
            <a:r>
              <a:rPr lang="en-US" sz="2400" b="1" dirty="0" smtClean="0">
                <a:solidFill>
                  <a:srgbClr val="7030A0"/>
                </a:solidFill>
              </a:rPr>
              <a:t>General</a:t>
            </a:r>
            <a:r>
              <a:rPr lang="en-US" sz="2400" b="1" dirty="0" smtClean="0"/>
              <a:t>: </a:t>
            </a:r>
            <a:r>
              <a:rPr lang="en-US" sz="2400" dirty="0" smtClean="0"/>
              <a:t>looking for signs of allergy like eczema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-local ENT examination: </a:t>
            </a:r>
            <a:r>
              <a:rPr lang="en-US" sz="2400" dirty="0" smtClean="0"/>
              <a:t>allergic nose appear as pale blue mucosa with enlarged </a:t>
            </a:r>
            <a:r>
              <a:rPr lang="en-US" sz="2400" dirty="0" err="1" smtClean="0"/>
              <a:t>turbinates</a:t>
            </a:r>
            <a:r>
              <a:rPr lang="en-US" sz="2400" dirty="0" smtClean="0"/>
              <a:t>, watery nasal discharge, and some time with deviated nasal septum(DNS), nasal polyp</a:t>
            </a:r>
          </a:p>
          <a:p>
            <a:pPr marL="0" indent="0">
              <a:buNone/>
            </a:pPr>
            <a:r>
              <a:rPr lang="en-US" sz="2400" dirty="0" smtClean="0"/>
              <a:t>-</a:t>
            </a:r>
            <a:r>
              <a:rPr lang="en-US" sz="2400" b="1" dirty="0" smtClean="0">
                <a:solidFill>
                  <a:srgbClr val="7030A0"/>
                </a:solidFill>
              </a:rPr>
              <a:t>Systematic ENT examination :</a:t>
            </a:r>
            <a:r>
              <a:rPr lang="en-US" sz="2400" dirty="0" smtClean="0"/>
              <a:t>ear ,throat, eye  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59" y="1985554"/>
            <a:ext cx="3587931" cy="348342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0F498-D125-49D8-9A8F-FD2E2D17ABC3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18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93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I. Skin prick test (SPT)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Rapid, efficient &amp; cost-effective </a:t>
            </a:r>
          </a:p>
          <a:p>
            <a:r>
              <a:rPr lang="en-US" dirty="0" smtClean="0"/>
              <a:t>Contain multiple antigens (pollen, mold, dust mite, animal dander)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Advantages: </a:t>
            </a:r>
          </a:p>
          <a:p>
            <a:pPr marL="0" indent="0">
              <a:buNone/>
            </a:pPr>
            <a:r>
              <a:rPr lang="en-US" dirty="0" smtClean="0"/>
              <a:t>1. Cheap </a:t>
            </a:r>
          </a:p>
          <a:p>
            <a:pPr marL="0" indent="0">
              <a:buNone/>
            </a:pPr>
            <a:r>
              <a:rPr lang="en-US" dirty="0" smtClean="0"/>
              <a:t>2. Immediate result </a:t>
            </a:r>
          </a:p>
          <a:p>
            <a:pPr marL="0" indent="0">
              <a:buNone/>
            </a:pPr>
            <a:r>
              <a:rPr lang="en-US" dirty="0" smtClean="0"/>
              <a:t>3. Sensitive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Contraindications: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1. Patients on antihistamines </a:t>
            </a:r>
          </a:p>
          <a:p>
            <a:pPr marL="0" indent="0">
              <a:buNone/>
            </a:pPr>
            <a:r>
              <a:rPr lang="en-US" dirty="0" smtClean="0"/>
              <a:t>2. Severe eczema </a:t>
            </a:r>
          </a:p>
          <a:p>
            <a:pPr marL="0" indent="0">
              <a:buNone/>
            </a:pPr>
            <a:r>
              <a:rPr lang="en-US" dirty="0" smtClean="0"/>
              <a:t>3. Previous anaphylaxis 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dirty="0" err="1" smtClean="0"/>
              <a:t>Dermatographism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347" y="951230"/>
            <a:ext cx="2692400" cy="30226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74" y="4063523"/>
            <a:ext cx="4267200" cy="24003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3935F-AC12-4628-A9F7-B2C8F0E84B60}" type="datetime1">
              <a:rPr lang="en-US" smtClean="0"/>
              <a:t>10/12/2025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19</a:t>
            </a:fld>
            <a:endParaRPr lang="en-US"/>
          </a:p>
        </p:txBody>
      </p:sp>
      <p:pic>
        <p:nvPicPr>
          <p:cNvPr id="9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29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(II) Blood tests for allergy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1. Total </a:t>
            </a:r>
            <a:r>
              <a:rPr lang="en-US" dirty="0" err="1" smtClean="0">
                <a:solidFill>
                  <a:srgbClr val="C00000"/>
                </a:solidFill>
              </a:rPr>
              <a:t>IgE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sz="2400" dirty="0" smtClean="0"/>
              <a:t>Rarely helpful as 50% patients have </a:t>
            </a:r>
            <a:r>
              <a:rPr lang="en-US" sz="2400" dirty="0" err="1" smtClean="0"/>
              <a:t>IgE</a:t>
            </a:r>
            <a:r>
              <a:rPr lang="en-US" sz="2400" dirty="0" smtClean="0"/>
              <a:t> levels within normal range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2. Specific </a:t>
            </a:r>
            <a:r>
              <a:rPr lang="en-US" dirty="0" err="1" smtClean="0">
                <a:solidFill>
                  <a:srgbClr val="C00000"/>
                </a:solidFill>
              </a:rPr>
              <a:t>IgE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(</a:t>
            </a:r>
            <a:r>
              <a:rPr lang="en-US" sz="2400" dirty="0" err="1" smtClean="0">
                <a:solidFill>
                  <a:srgbClr val="0070C0"/>
                </a:solidFill>
              </a:rPr>
              <a:t>i</a:t>
            </a:r>
            <a:r>
              <a:rPr lang="en-US" sz="2400" dirty="0" smtClean="0">
                <a:solidFill>
                  <a:srgbClr val="0070C0"/>
                </a:solidFill>
              </a:rPr>
              <a:t>) Radio-</a:t>
            </a:r>
            <a:r>
              <a:rPr lang="en-US" sz="2400" dirty="0" err="1" smtClean="0">
                <a:solidFill>
                  <a:srgbClr val="0070C0"/>
                </a:solidFill>
              </a:rPr>
              <a:t>allergosorbent</a:t>
            </a:r>
            <a:r>
              <a:rPr lang="en-US" sz="2400" dirty="0" smtClean="0">
                <a:solidFill>
                  <a:srgbClr val="0070C0"/>
                </a:solidFill>
              </a:rPr>
              <a:t> test (RAST)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(ii)Modified RAST Stabilized allergen is incubated with the patient’s serum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F9D7-EC69-4E17-A24D-E81B184872E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20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89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Immunoassay vs Skin Test for Diagnosis of Allergy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74320" lvl="0" indent="-274320" algn="ctr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endParaRPr lang="en-US" sz="2600" b="1" dirty="0" smtClean="0">
              <a:solidFill>
                <a:srgbClr val="C00000"/>
              </a:solidFill>
              <a:latin typeface="Constantia"/>
            </a:endParaRPr>
          </a:p>
          <a:p>
            <a:pPr marL="274320" lvl="0" indent="-274320" algn="ctr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endParaRPr lang="en-US" sz="2600" b="1" dirty="0">
              <a:solidFill>
                <a:srgbClr val="C00000"/>
              </a:solidFill>
              <a:latin typeface="Constantia"/>
            </a:endParaRPr>
          </a:p>
          <a:p>
            <a:pPr marL="274320" lvl="0" indent="-274320" algn="ctr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b="1" dirty="0" smtClean="0">
                <a:solidFill>
                  <a:srgbClr val="C00000"/>
                </a:solidFill>
                <a:latin typeface="Constantia"/>
              </a:rPr>
              <a:t>Immunoassay</a:t>
            </a:r>
            <a:endParaRPr lang="en-US" sz="2600" b="1" dirty="0">
              <a:solidFill>
                <a:srgbClr val="C00000"/>
              </a:solidFill>
              <a:latin typeface="Constantia"/>
            </a:endParaRPr>
          </a:p>
          <a:p>
            <a:pPr marL="0" lvl="0" indent="0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latin typeface="Constantia"/>
                <a:cs typeface="Times New Roman" pitchFamily="18" charset="0"/>
              </a:rPr>
              <a:t>-</a:t>
            </a:r>
            <a:r>
              <a:rPr lang="tr-TR" altLang="zh-TW" sz="2600" dirty="0" smtClean="0">
                <a:latin typeface="Constantia"/>
                <a:cs typeface="Times New Roman" pitchFamily="18" charset="0"/>
              </a:rPr>
              <a:t>Not </a:t>
            </a:r>
            <a:r>
              <a:rPr lang="tr-TR" altLang="zh-TW" sz="2600" dirty="0">
                <a:latin typeface="Constantia"/>
                <a:cs typeface="Times New Roman" pitchFamily="18" charset="0"/>
              </a:rPr>
              <a:t>influenced by medication</a:t>
            </a:r>
            <a:endParaRPr lang="en-US" sz="2600" dirty="0">
              <a:latin typeface="Constantia"/>
            </a:endParaRPr>
          </a:p>
          <a:p>
            <a:pPr marL="0" lvl="0" indent="0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latin typeface="Constantia"/>
              </a:rPr>
              <a:t>-</a:t>
            </a:r>
            <a:r>
              <a:rPr lang="tr-TR" altLang="zh-TW" sz="2600" dirty="0" smtClean="0">
                <a:latin typeface="Constantia"/>
              </a:rPr>
              <a:t>Not </a:t>
            </a:r>
            <a:r>
              <a:rPr lang="tr-TR" altLang="zh-TW" sz="2600" dirty="0">
                <a:latin typeface="Constantia"/>
              </a:rPr>
              <a:t>influenced by skin disease</a:t>
            </a:r>
            <a:endParaRPr lang="en-US" sz="2600" dirty="0">
              <a:latin typeface="Constantia"/>
            </a:endParaRPr>
          </a:p>
          <a:p>
            <a:pPr marL="0" lvl="0" indent="0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latin typeface="Constantia"/>
                <a:cs typeface="Times New Roman" pitchFamily="18" charset="0"/>
              </a:rPr>
              <a:t>-</a:t>
            </a:r>
            <a:r>
              <a:rPr lang="tr-TR" altLang="zh-TW" sz="2600" dirty="0" smtClean="0">
                <a:latin typeface="Constantia"/>
                <a:cs typeface="Times New Roman" pitchFamily="18" charset="0"/>
              </a:rPr>
              <a:t>Does </a:t>
            </a:r>
            <a:r>
              <a:rPr lang="tr-TR" altLang="zh-TW" sz="2600" dirty="0">
                <a:latin typeface="Constantia"/>
                <a:cs typeface="Times New Roman" pitchFamily="18" charset="0"/>
              </a:rPr>
              <a:t>not require expertise</a:t>
            </a:r>
            <a:endParaRPr lang="en-US" sz="2600" dirty="0">
              <a:latin typeface="Constantia"/>
              <a:cs typeface="Times New Roman" pitchFamily="18" charset="0"/>
            </a:endParaRPr>
          </a:p>
          <a:p>
            <a:pPr marL="0" lvl="0" indent="0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latin typeface="Constantia"/>
                <a:cs typeface="Times New Roman" pitchFamily="18" charset="0"/>
              </a:rPr>
              <a:t>-</a:t>
            </a:r>
            <a:r>
              <a:rPr lang="tr-TR" altLang="zh-TW" sz="2600" dirty="0" smtClean="0">
                <a:latin typeface="Constantia"/>
                <a:cs typeface="Times New Roman" pitchFamily="18" charset="0"/>
              </a:rPr>
              <a:t>Quality </a:t>
            </a:r>
            <a:r>
              <a:rPr lang="tr-TR" altLang="zh-TW" sz="2600" dirty="0">
                <a:latin typeface="Constantia"/>
                <a:cs typeface="Times New Roman" pitchFamily="18" charset="0"/>
              </a:rPr>
              <a:t>control possible</a:t>
            </a:r>
            <a:endParaRPr lang="en-US" sz="2600" dirty="0">
              <a:latin typeface="Constantia"/>
              <a:cs typeface="Times New Roman" pitchFamily="18" charset="0"/>
            </a:endParaRPr>
          </a:p>
          <a:p>
            <a:pPr marL="0" lvl="0" indent="0"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latin typeface="Constantia"/>
                <a:cs typeface="Times New Roman" pitchFamily="18" charset="0"/>
              </a:rPr>
              <a:t>-</a:t>
            </a:r>
            <a:r>
              <a:rPr lang="tr-TR" altLang="zh-TW" sz="2600" dirty="0" smtClean="0">
                <a:latin typeface="Constantia"/>
                <a:cs typeface="Times New Roman" pitchFamily="18" charset="0"/>
              </a:rPr>
              <a:t>Expensive</a:t>
            </a:r>
            <a:endParaRPr lang="en-US" sz="2600" dirty="0">
              <a:latin typeface="Constantia"/>
            </a:endParaRP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74320" lvl="0" indent="-274320" algn="ctr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endParaRPr lang="en-US" altLang="zh-TW" sz="2600" b="1" dirty="0" smtClean="0">
              <a:solidFill>
                <a:srgbClr val="C00000"/>
              </a:solidFill>
              <a:latin typeface="Constantia"/>
            </a:endParaRPr>
          </a:p>
          <a:p>
            <a:pPr marL="274320" lvl="0" indent="-274320" algn="ctr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endParaRPr lang="en-US" altLang="zh-TW" sz="2600" b="1" dirty="0">
              <a:solidFill>
                <a:srgbClr val="C00000"/>
              </a:solidFill>
              <a:latin typeface="Constantia"/>
            </a:endParaRPr>
          </a:p>
          <a:p>
            <a:pPr marL="274320" lvl="0" indent="-274320" algn="ctr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tr-TR" altLang="zh-TW" sz="2600" b="1" dirty="0" smtClean="0">
                <a:solidFill>
                  <a:srgbClr val="C00000"/>
                </a:solidFill>
                <a:latin typeface="Constantia"/>
              </a:rPr>
              <a:t>Skin </a:t>
            </a:r>
            <a:r>
              <a:rPr lang="tr-TR" altLang="zh-TW" sz="2600" b="1" dirty="0">
                <a:solidFill>
                  <a:srgbClr val="C00000"/>
                </a:solidFill>
                <a:latin typeface="Constantia"/>
              </a:rPr>
              <a:t>test</a:t>
            </a:r>
            <a:endParaRPr lang="en-US" sz="2600" b="1" dirty="0">
              <a:solidFill>
                <a:srgbClr val="C00000"/>
              </a:solidFill>
              <a:latin typeface="Constantia"/>
            </a:endParaRPr>
          </a:p>
          <a:p>
            <a:pPr marL="0" lvl="0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</a:rPr>
              <a:t>Higher </a:t>
            </a:r>
            <a:r>
              <a:rPr lang="tr-TR" altLang="zh-TW" sz="2600" dirty="0">
                <a:solidFill>
                  <a:prstClr val="black"/>
                </a:solidFill>
                <a:latin typeface="Constantia"/>
              </a:rPr>
              <a:t>sensitivity</a:t>
            </a:r>
            <a:endParaRPr lang="en-US" sz="2600" dirty="0">
              <a:solidFill>
                <a:prstClr val="black"/>
              </a:solidFill>
              <a:latin typeface="Constantia"/>
            </a:endParaRPr>
          </a:p>
          <a:p>
            <a:pPr marL="0" lvl="0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Immediate </a:t>
            </a:r>
            <a:r>
              <a:rPr lang="tr-TR" altLang="zh-TW" sz="2600" dirty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results</a:t>
            </a:r>
            <a:endParaRPr lang="en-US" sz="2600" dirty="0">
              <a:solidFill>
                <a:prstClr val="black"/>
              </a:solidFill>
              <a:latin typeface="Constantia"/>
              <a:cs typeface="Times New Roman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Requires </a:t>
            </a:r>
            <a:r>
              <a:rPr lang="tr-TR" altLang="zh-TW" sz="2600" dirty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expertise</a:t>
            </a:r>
          </a:p>
          <a:p>
            <a:pPr marL="0" lvl="0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  <a:cs typeface="Times New Roman" pitchFamily="18" charset="0"/>
              </a:rPr>
              <a:t>Cheaper</a:t>
            </a:r>
            <a:endParaRPr lang="en-US" sz="2600" dirty="0">
              <a:solidFill>
                <a:prstClr val="black"/>
              </a:solidFill>
              <a:latin typeface="Constantia"/>
              <a:cs typeface="Times New Roman" pitchFamily="18" charset="0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/>
              <a:buChar char=""/>
            </a:pPr>
            <a:endParaRPr lang="en-US" sz="2600" dirty="0">
              <a:solidFill>
                <a:prstClr val="black"/>
              </a:solidFill>
              <a:latin typeface="Constantia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480C-AABE-4DFB-885B-B2042EA4260E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21</a:t>
            </a:fld>
            <a:endParaRPr lang="en-US"/>
          </a:p>
        </p:txBody>
      </p:sp>
      <p:pic>
        <p:nvPicPr>
          <p:cNvPr id="10" name="Picture 9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46912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(III)Nasal allergen challenge (nasal provocation) test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Indication:  </a:t>
            </a:r>
            <a:r>
              <a:rPr lang="en-US" sz="2400" dirty="0" smtClean="0"/>
              <a:t>positive  history &amp; negative SPT 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Disadvantages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sz="2400" dirty="0" smtClean="0"/>
              <a:t>1. Time-consuming</a:t>
            </a:r>
          </a:p>
          <a:p>
            <a:pPr marL="0" indent="0">
              <a:buNone/>
            </a:pPr>
            <a:r>
              <a:rPr lang="en-US" sz="2400" dirty="0" smtClean="0"/>
              <a:t>2. Difficult </a:t>
            </a:r>
          </a:p>
          <a:p>
            <a:pPr marL="0" indent="0">
              <a:buNone/>
            </a:pPr>
            <a:r>
              <a:rPr lang="en-US" sz="2400" dirty="0" smtClean="0"/>
              <a:t>3. Excessive lab facilities </a:t>
            </a:r>
          </a:p>
          <a:p>
            <a:pPr marL="0" indent="0">
              <a:buNone/>
            </a:pPr>
            <a:r>
              <a:rPr lang="en-US" sz="2400" dirty="0" smtClean="0"/>
              <a:t>4. Trained staff 5.Resuscitation equipment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971" y="2063931"/>
            <a:ext cx="3024051" cy="251677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2D9B-E637-4F4A-99CC-6F0090B7B50C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22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19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515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</a:t>
            </a:r>
            <a:br>
              <a:rPr lang="en-US" b="1" dirty="0" smtClean="0"/>
            </a:br>
            <a:r>
              <a:rPr lang="en-US" b="1" dirty="0" smtClean="0"/>
              <a:t>Nasal </a:t>
            </a:r>
            <a:r>
              <a:rPr lang="en-US" b="1" dirty="0" smtClean="0"/>
              <a:t>endoscopy CT scan-Nose and PNS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96294"/>
            <a:ext cx="5144589" cy="3810000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9" y="2096294"/>
            <a:ext cx="4036423" cy="38100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29EA-ABD7-45B9-A385-299B384F9E97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23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69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b="1" dirty="0" smtClean="0"/>
              <a:t>Management of allergic rhinitis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1. Environmental control measures (Avoidance of allergens)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. Nasal douching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3. Medical therapy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4. Immunotherapy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5. Surgery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A2EE-1BAA-4995-A391-73E36D60B1C3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24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80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Garamond" pitchFamily="18" charset="0"/>
              </a:rPr>
              <a:t> </a:t>
            </a:r>
            <a:br>
              <a:rPr lang="en-US" b="1" dirty="0" smtClean="0">
                <a:solidFill>
                  <a:srgbClr val="C00000"/>
                </a:solidFill>
                <a:latin typeface="Garamond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aramond" pitchFamily="18" charset="0"/>
              </a:rPr>
              <a:t> </a:t>
            </a:r>
            <a:r>
              <a:rPr lang="en-US" b="1" dirty="0" smtClean="0">
                <a:solidFill>
                  <a:srgbClr val="C00000"/>
                </a:solidFill>
                <a:latin typeface="Garamond" pitchFamily="18" charset="0"/>
              </a:rPr>
              <a:t>   </a:t>
            </a:r>
            <a:r>
              <a:rPr lang="tr-TR" b="1" dirty="0" smtClean="0">
                <a:solidFill>
                  <a:srgbClr val="C00000"/>
                </a:solidFill>
                <a:latin typeface="Garamond" pitchFamily="18" charset="0"/>
              </a:rPr>
              <a:t>Globally </a:t>
            </a:r>
            <a:r>
              <a:rPr lang="en-US" b="1" dirty="0" err="1" smtClean="0">
                <a:solidFill>
                  <a:srgbClr val="C00000"/>
                </a:solidFill>
                <a:latin typeface="Garamond" pitchFamily="18" charset="0"/>
              </a:rPr>
              <a:t>i</a:t>
            </a:r>
            <a:r>
              <a:rPr lang="tr-TR" b="1" dirty="0" smtClean="0">
                <a:solidFill>
                  <a:srgbClr val="C00000"/>
                </a:solidFill>
                <a:latin typeface="Garamond" pitchFamily="18" charset="0"/>
              </a:rPr>
              <a:t>mportant </a:t>
            </a:r>
            <a:r>
              <a:rPr lang="en-US" b="1" dirty="0" smtClean="0">
                <a:solidFill>
                  <a:srgbClr val="C00000"/>
                </a:solidFill>
                <a:latin typeface="Garamond" pitchFamily="18" charset="0"/>
              </a:rPr>
              <a:t>s</a:t>
            </a:r>
            <a:r>
              <a:rPr lang="tr-TR" b="1" dirty="0" smtClean="0">
                <a:solidFill>
                  <a:srgbClr val="C00000"/>
                </a:solidFill>
                <a:latin typeface="Garamond" pitchFamily="18" charset="0"/>
              </a:rPr>
              <a:t>ources of </a:t>
            </a:r>
            <a:r>
              <a:rPr lang="en-US" b="1" dirty="0" smtClean="0">
                <a:solidFill>
                  <a:srgbClr val="C00000"/>
                </a:solidFill>
                <a:latin typeface="Garamond" pitchFamily="18" charset="0"/>
              </a:rPr>
              <a:t>a</a:t>
            </a:r>
            <a:r>
              <a:rPr lang="tr-TR" b="1" dirty="0" smtClean="0">
                <a:solidFill>
                  <a:srgbClr val="C00000"/>
                </a:solidFill>
                <a:latin typeface="Garamond" pitchFamily="18" charset="0"/>
              </a:rPr>
              <a:t>llergens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" name="Content Placeholder 5"/>
          <p:cNvPicPr>
            <a:picLocks noGrp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3663" y="1828801"/>
            <a:ext cx="2379663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smtClean="0">
                <a:latin typeface="Garamond" pitchFamily="18" charset="0"/>
              </a:rPr>
              <a:t>House dust mites</a:t>
            </a:r>
          </a:p>
          <a:p>
            <a:r>
              <a:rPr lang="tr-TR" smtClean="0">
                <a:latin typeface="Garamond" pitchFamily="18" charset="0"/>
              </a:rPr>
              <a:t>Grass, tree and weed pollen</a:t>
            </a:r>
          </a:p>
          <a:p>
            <a:r>
              <a:rPr lang="tr-TR" smtClean="0">
                <a:latin typeface="Garamond" pitchFamily="18" charset="0"/>
              </a:rPr>
              <a:t>Pets</a:t>
            </a:r>
          </a:p>
          <a:p>
            <a:r>
              <a:rPr lang="tr-TR" smtClean="0">
                <a:latin typeface="Garamond" pitchFamily="18" charset="0"/>
              </a:rPr>
              <a:t>Cockroaches</a:t>
            </a:r>
          </a:p>
          <a:p>
            <a:r>
              <a:rPr lang="tr-TR" smtClean="0">
                <a:latin typeface="Garamond" pitchFamily="18" charset="0"/>
              </a:rPr>
              <a:t>Molds</a:t>
            </a:r>
          </a:p>
          <a:p>
            <a:endParaRPr lang="en-US" dirty="0"/>
          </a:p>
        </p:txBody>
      </p:sp>
      <p:pic>
        <p:nvPicPr>
          <p:cNvPr id="7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07753" y="1827151"/>
            <a:ext cx="160020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4564" y="3802032"/>
            <a:ext cx="2619375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8" descr="1576000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28801" y="5708588"/>
            <a:ext cx="1584325" cy="1050925"/>
          </a:xfrm>
          <a:prstGeom prst="rect">
            <a:avLst/>
          </a:prstGeom>
          <a:noFill/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48570" y="4541776"/>
            <a:ext cx="2111375" cy="221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C588-3E99-4F71-A5BC-1E88F0A21B49}" type="datetime1">
              <a:rPr lang="en-US" smtClean="0"/>
              <a:t>10/12/2025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25</a:t>
            </a:fld>
            <a:endParaRPr lang="en-US"/>
          </a:p>
        </p:txBody>
      </p:sp>
      <p:pic>
        <p:nvPicPr>
          <p:cNvPr id="15" name="Picture 14"/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2013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45152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buClr>
                <a:srgbClr val="0BD0D9"/>
              </a:buClr>
            </a:pPr>
            <a:endParaRPr lang="en-US" altLang="zh-TW" sz="1500" b="1" dirty="0" smtClean="0">
              <a:solidFill>
                <a:prstClr val="black"/>
              </a:solidFill>
            </a:endParaRPr>
          </a:p>
          <a:p>
            <a:pPr marL="0" lvl="0" indent="0">
              <a:lnSpc>
                <a:spcPct val="120000"/>
              </a:lnSpc>
              <a:buClr>
                <a:srgbClr val="0BD0D9"/>
              </a:buClr>
              <a:buNone/>
            </a:pPr>
            <a:r>
              <a:rPr lang="tr-TR" altLang="zh-TW" sz="3600" b="1" dirty="0" smtClean="0">
                <a:solidFill>
                  <a:prstClr val="black"/>
                </a:solidFill>
              </a:rPr>
              <a:t>Pets</a:t>
            </a:r>
            <a:endParaRPr lang="tr-TR" altLang="zh-TW" sz="3600" b="1" dirty="0">
              <a:solidFill>
                <a:prstClr val="black"/>
              </a:solidFill>
            </a:endParaRPr>
          </a:p>
          <a:p>
            <a:pPr marL="914400" lvl="2" indent="0">
              <a:lnSpc>
                <a:spcPct val="120000"/>
              </a:lnSpc>
              <a:buClr>
                <a:srgbClr val="009DD9"/>
              </a:buClr>
              <a:buNone/>
            </a:pPr>
            <a:r>
              <a:rPr lang="en-US" altLang="zh-TW" sz="2400" dirty="0" smtClean="0">
                <a:solidFill>
                  <a:prstClr val="black"/>
                </a:solidFill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</a:rPr>
              <a:t>Remove </a:t>
            </a:r>
            <a:r>
              <a:rPr lang="tr-TR" altLang="zh-TW" sz="2400" dirty="0">
                <a:solidFill>
                  <a:prstClr val="black"/>
                </a:solidFill>
              </a:rPr>
              <a:t>pets from bedrooms and, even better, from the entire home</a:t>
            </a:r>
          </a:p>
          <a:p>
            <a:pPr marL="914400" lvl="2" indent="0">
              <a:lnSpc>
                <a:spcPct val="120000"/>
              </a:lnSpc>
              <a:buClr>
                <a:srgbClr val="009DD9"/>
              </a:buClr>
              <a:buNone/>
            </a:pPr>
            <a:r>
              <a:rPr lang="en-US" altLang="zh-TW" sz="2400" dirty="0" smtClean="0">
                <a:solidFill>
                  <a:prstClr val="black"/>
                </a:solidFill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</a:rPr>
              <a:t>Vacuum </a:t>
            </a:r>
            <a:r>
              <a:rPr lang="tr-TR" altLang="zh-TW" sz="2400" dirty="0">
                <a:solidFill>
                  <a:prstClr val="black"/>
                </a:solidFill>
              </a:rPr>
              <a:t>carpets, mattresses and upholstery regularly</a:t>
            </a:r>
          </a:p>
          <a:p>
            <a:pPr marL="914400" lvl="2" indent="0">
              <a:lnSpc>
                <a:spcPct val="120000"/>
              </a:lnSpc>
              <a:buClr>
                <a:srgbClr val="009DD9"/>
              </a:buClr>
              <a:buNone/>
            </a:pPr>
            <a:r>
              <a:rPr lang="en-US" altLang="zh-TW" sz="2400" dirty="0" smtClean="0">
                <a:solidFill>
                  <a:prstClr val="black"/>
                </a:solidFill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</a:rPr>
              <a:t>Wash </a:t>
            </a:r>
            <a:r>
              <a:rPr lang="tr-TR" altLang="zh-TW" sz="2400" dirty="0">
                <a:solidFill>
                  <a:prstClr val="black"/>
                </a:solidFill>
              </a:rPr>
              <a:t>pets regularly (±)</a:t>
            </a:r>
          </a:p>
          <a:p>
            <a:pPr marL="0" lvl="0" indent="0">
              <a:lnSpc>
                <a:spcPct val="120000"/>
              </a:lnSpc>
              <a:buClr>
                <a:prstClr val="black"/>
              </a:buClr>
              <a:buNone/>
            </a:pPr>
            <a:r>
              <a:rPr lang="tr-TR" altLang="zh-TW" sz="3600" b="1" dirty="0">
                <a:solidFill>
                  <a:prstClr val="black"/>
                </a:solidFill>
              </a:rPr>
              <a:t>Molds</a:t>
            </a:r>
          </a:p>
          <a:p>
            <a:pPr marL="914400" lvl="2" indent="0">
              <a:lnSpc>
                <a:spcPct val="120000"/>
              </a:lnSpc>
              <a:buClr>
                <a:srgbClr val="009DD9"/>
              </a:buClr>
              <a:buNone/>
            </a:pPr>
            <a:r>
              <a:rPr lang="en-US" altLang="zh-TW" sz="2400" dirty="0" smtClean="0">
                <a:solidFill>
                  <a:prstClr val="black"/>
                </a:solidFill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</a:rPr>
              <a:t>Ensure </a:t>
            </a:r>
            <a:r>
              <a:rPr lang="tr-TR" altLang="zh-TW" sz="2400" dirty="0">
                <a:solidFill>
                  <a:prstClr val="black"/>
                </a:solidFill>
              </a:rPr>
              <a:t>dry indoor conditions</a:t>
            </a:r>
          </a:p>
          <a:p>
            <a:pPr marL="914400" lvl="2" indent="0">
              <a:lnSpc>
                <a:spcPct val="120000"/>
              </a:lnSpc>
              <a:buClr>
                <a:srgbClr val="009DD9"/>
              </a:buClr>
              <a:buNone/>
            </a:pPr>
            <a:r>
              <a:rPr lang="en-US" altLang="zh-TW" sz="2400" dirty="0" smtClean="0">
                <a:solidFill>
                  <a:prstClr val="black"/>
                </a:solidFill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</a:rPr>
              <a:t>Use </a:t>
            </a:r>
            <a:r>
              <a:rPr lang="tr-TR" altLang="zh-TW" sz="2400" dirty="0">
                <a:solidFill>
                  <a:prstClr val="black"/>
                </a:solidFill>
              </a:rPr>
              <a:t>ammonia to remove mold from bathrooms and other wet spaces</a:t>
            </a:r>
          </a:p>
          <a:p>
            <a:endParaRPr lang="en-US" sz="20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55197-9568-4A72-B182-CD471CD83D8D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6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lnSpc>
                <a:spcPct val="120000"/>
              </a:lnSpc>
              <a:spcBef>
                <a:spcPct val="20000"/>
              </a:spcBef>
              <a:buClr>
                <a:prstClr val="black"/>
              </a:buClr>
              <a:buSzPct val="95000"/>
              <a:buNone/>
            </a:pPr>
            <a:r>
              <a:rPr lang="tr-TR" altLang="zh-TW" sz="3600" b="1" dirty="0">
                <a:solidFill>
                  <a:prstClr val="black"/>
                </a:solidFill>
                <a:latin typeface="Constantia"/>
              </a:rPr>
              <a:t>Cockroaches</a:t>
            </a:r>
          </a:p>
          <a:p>
            <a:pPr marL="914400" lvl="2" indent="-246888">
              <a:lnSpc>
                <a:spcPct val="120000"/>
              </a:lnSpc>
              <a:spcBef>
                <a:spcPct val="20000"/>
              </a:spcBef>
              <a:buClr>
                <a:prstClr val="white"/>
              </a:buClr>
              <a:buSzPct val="70000"/>
              <a:buFont typeface="Wingdings 2"/>
              <a:buChar char=""/>
            </a:pPr>
            <a:r>
              <a:rPr lang="en-US" altLang="zh-TW" sz="24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  <a:latin typeface="Constantia"/>
              </a:rPr>
              <a:t>Eradicate </a:t>
            </a:r>
            <a:r>
              <a:rPr lang="tr-TR" altLang="zh-TW" sz="2400" dirty="0">
                <a:solidFill>
                  <a:prstClr val="black"/>
                </a:solidFill>
                <a:latin typeface="Constantia"/>
              </a:rPr>
              <a:t>cockroaches with appropriate gel-type, non-volatile, insecticides</a:t>
            </a:r>
          </a:p>
          <a:p>
            <a:pPr marL="914400" lvl="2" indent="-246888">
              <a:lnSpc>
                <a:spcPct val="120000"/>
              </a:lnSpc>
              <a:spcBef>
                <a:spcPct val="20000"/>
              </a:spcBef>
              <a:buClr>
                <a:prstClr val="white"/>
              </a:buClr>
              <a:buSzPct val="70000"/>
              <a:buFont typeface="Wingdings 2"/>
              <a:buChar char=""/>
            </a:pPr>
            <a:r>
              <a:rPr lang="en-US" altLang="zh-TW" sz="24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  <a:latin typeface="Constantia"/>
              </a:rPr>
              <a:t>Eliminate </a:t>
            </a:r>
            <a:r>
              <a:rPr lang="tr-TR" altLang="zh-TW" sz="2400" dirty="0">
                <a:solidFill>
                  <a:prstClr val="black"/>
                </a:solidFill>
                <a:latin typeface="Constantia"/>
              </a:rPr>
              <a:t>dampness, cracks in floors, ceilings, cover food; wash surfaces, fabrics to remove allergen</a:t>
            </a:r>
          </a:p>
          <a:p>
            <a:pPr marL="0" lvl="0" indent="0">
              <a:lnSpc>
                <a:spcPct val="12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tr-TR" altLang="zh-TW" sz="3600" b="1" dirty="0">
                <a:solidFill>
                  <a:prstClr val="black"/>
                </a:solidFill>
                <a:latin typeface="Constantia"/>
              </a:rPr>
              <a:t>Pollen</a:t>
            </a:r>
          </a:p>
          <a:p>
            <a:pPr marL="667512" lvl="2" indent="0">
              <a:lnSpc>
                <a:spcPct val="120000"/>
              </a:lnSpc>
              <a:spcBef>
                <a:spcPct val="20000"/>
              </a:spcBef>
              <a:buClr>
                <a:srgbClr val="009DD9"/>
              </a:buClr>
              <a:buSzPct val="70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</a:rPr>
              <a:t>Remain </a:t>
            </a:r>
            <a:r>
              <a:rPr lang="tr-TR" altLang="zh-TW" sz="2600" dirty="0">
                <a:solidFill>
                  <a:prstClr val="black"/>
                </a:solidFill>
                <a:latin typeface="Constantia"/>
              </a:rPr>
              <a:t>indoors with windows closed at peak pollen times</a:t>
            </a:r>
          </a:p>
          <a:p>
            <a:pPr marL="667512" lvl="2" indent="0">
              <a:lnSpc>
                <a:spcPct val="120000"/>
              </a:lnSpc>
              <a:spcBef>
                <a:spcPct val="20000"/>
              </a:spcBef>
              <a:buClr>
                <a:srgbClr val="009DD9"/>
              </a:buClr>
              <a:buSzPct val="70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</a:rPr>
              <a:t>Wear </a:t>
            </a:r>
            <a:r>
              <a:rPr lang="tr-TR" altLang="zh-TW" sz="2600" dirty="0">
                <a:solidFill>
                  <a:prstClr val="black"/>
                </a:solidFill>
                <a:latin typeface="Constantia"/>
              </a:rPr>
              <a:t>sunglasses </a:t>
            </a:r>
          </a:p>
          <a:p>
            <a:pPr marL="667512" lvl="2" indent="0">
              <a:lnSpc>
                <a:spcPct val="120000"/>
              </a:lnSpc>
              <a:spcBef>
                <a:spcPct val="20000"/>
              </a:spcBef>
              <a:buClr>
                <a:srgbClr val="009DD9"/>
              </a:buClr>
              <a:buSzPct val="70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</a:rPr>
              <a:t>Use </a:t>
            </a:r>
            <a:r>
              <a:rPr lang="tr-TR" altLang="zh-TW" sz="2600" dirty="0">
                <a:solidFill>
                  <a:prstClr val="black"/>
                </a:solidFill>
                <a:latin typeface="Constantia"/>
              </a:rPr>
              <a:t>air-conditioning, where possible</a:t>
            </a:r>
          </a:p>
          <a:p>
            <a:pPr marL="667512" lvl="2" indent="0">
              <a:lnSpc>
                <a:spcPct val="120000"/>
              </a:lnSpc>
              <a:spcBef>
                <a:spcPct val="20000"/>
              </a:spcBef>
              <a:buClr>
                <a:srgbClr val="009DD9"/>
              </a:buClr>
              <a:buSzPct val="70000"/>
              <a:buNone/>
            </a:pPr>
            <a:r>
              <a:rPr lang="en-US" altLang="zh-TW" sz="26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600" dirty="0" smtClean="0">
                <a:solidFill>
                  <a:prstClr val="black"/>
                </a:solidFill>
                <a:latin typeface="Constantia"/>
              </a:rPr>
              <a:t>Install </a:t>
            </a:r>
            <a:r>
              <a:rPr lang="tr-TR" altLang="zh-TW" sz="2600" dirty="0">
                <a:solidFill>
                  <a:prstClr val="black"/>
                </a:solidFill>
                <a:latin typeface="Constantia"/>
              </a:rPr>
              <a:t>car pollen filter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D789-FB66-4C3C-93B9-BED987A6688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23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(I) Avoidance of allergens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3600" b="1" dirty="0" smtClean="0">
              <a:solidFill>
                <a:srgbClr val="0070C0"/>
              </a:solidFill>
            </a:endParaRPr>
          </a:p>
          <a:p>
            <a:r>
              <a:rPr lang="en-US" sz="3600" b="1" dirty="0" smtClean="0">
                <a:solidFill>
                  <a:srgbClr val="0070C0"/>
                </a:solidFill>
              </a:rPr>
              <a:t>Best treatment method </a:t>
            </a:r>
          </a:p>
          <a:p>
            <a:r>
              <a:rPr lang="en-US" u="sng" dirty="0" smtClean="0">
                <a:solidFill>
                  <a:schemeClr val="accent2"/>
                </a:solidFill>
              </a:rPr>
              <a:t>Indoor allergens:</a:t>
            </a:r>
            <a:r>
              <a:rPr lang="en-US" dirty="0" smtClean="0"/>
              <a:t> </a:t>
            </a:r>
            <a:r>
              <a:rPr lang="en-US" sz="2600" dirty="0" smtClean="0"/>
              <a:t>Removing allergens from the indoor environment should be a primary strategy for the management and treatment of allergic disease 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u="sng" dirty="0" smtClean="0">
                <a:solidFill>
                  <a:schemeClr val="accent2"/>
                </a:solidFill>
              </a:rPr>
              <a:t>Outdoor allergens: </a:t>
            </a:r>
            <a:r>
              <a:rPr lang="en-US" sz="2600" dirty="0" smtClean="0"/>
              <a:t>Avoid irritants: smoke, and dust. </a:t>
            </a:r>
          </a:p>
          <a:p>
            <a:r>
              <a:rPr lang="en-US" sz="2600" u="sng" dirty="0" smtClean="0">
                <a:solidFill>
                  <a:schemeClr val="accent2"/>
                </a:solidFill>
              </a:rPr>
              <a:t>Avoidance of animal allergen</a:t>
            </a:r>
            <a:r>
              <a:rPr lang="en-US" sz="2600" dirty="0" smtClean="0">
                <a:solidFill>
                  <a:schemeClr val="accent2"/>
                </a:solidFill>
              </a:rPr>
              <a:t>: </a:t>
            </a:r>
            <a:r>
              <a:rPr lang="en-US" sz="2600" dirty="0" smtClean="0"/>
              <a:t>remove pet animals (cats, dogs) from the bedroom. 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Measures to avoid house dust mite:  </a:t>
            </a:r>
            <a:r>
              <a:rPr lang="en-US" sz="2600" dirty="0" smtClean="0"/>
              <a:t>Covers for pillows &amp; bedding.  </a:t>
            </a:r>
          </a:p>
          <a:p>
            <a:r>
              <a:rPr lang="en-US" u="sng" dirty="0" smtClean="0">
                <a:solidFill>
                  <a:schemeClr val="accent2"/>
                </a:solidFill>
              </a:rPr>
              <a:t>Pollen avoidance measures: </a:t>
            </a:r>
            <a:r>
              <a:rPr lang="en-US" sz="2600" dirty="0" smtClean="0"/>
              <a:t>Avoid walking in open grassy spaces during hot, dry days, keep windows closed, and wear facemask &amp; sunglasses when moving out.</a:t>
            </a:r>
            <a:endParaRPr lang="en-US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777B-FA91-4E4F-B7EA-7EADD185B69E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28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00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(</a:t>
            </a:r>
            <a:r>
              <a:rPr lang="en-US" b="1" dirty="0" smtClean="0">
                <a:solidFill>
                  <a:srgbClr val="C00000"/>
                </a:solidFill>
              </a:rPr>
              <a:t>II) </a:t>
            </a:r>
            <a:r>
              <a:rPr lang="en-US" b="1" dirty="0" smtClean="0">
                <a:solidFill>
                  <a:srgbClr val="C00000"/>
                </a:solidFill>
              </a:rPr>
              <a:t>Nasal douching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Saline irrigation </a:t>
            </a:r>
          </a:p>
          <a:p>
            <a:r>
              <a:rPr lang="en-US" dirty="0" smtClean="0"/>
              <a:t>Improves quality of life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320" y="2124892"/>
            <a:ext cx="3074125" cy="293478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B969F-E64A-4567-B7E1-FE997623769B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29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68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     (</a:t>
            </a:r>
            <a:r>
              <a:rPr lang="en-US" b="1" dirty="0">
                <a:solidFill>
                  <a:srgbClr val="C00000"/>
                </a:solidFill>
              </a:rPr>
              <a:t>III) Medical therapy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812" y="1825625"/>
            <a:ext cx="6590375" cy="43513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DAB7-CC19-4BDC-AD43-FB3F889035C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15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Newer </a:t>
            </a:r>
            <a:r>
              <a:rPr lang="en-US" b="1" dirty="0"/>
              <a:t>Generation Oral Antihistamines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-First-line </a:t>
            </a:r>
            <a:r>
              <a:rPr lang="en-US" sz="8000" dirty="0"/>
              <a:t>treatment for mild allergic rhinitis</a:t>
            </a:r>
          </a:p>
          <a:p>
            <a:endParaRPr lang="en-US" sz="3700" dirty="0"/>
          </a:p>
          <a:p>
            <a:pPr marL="0" indent="0">
              <a:buNone/>
            </a:pPr>
            <a:r>
              <a:rPr lang="en-US" sz="8000" b="1" dirty="0"/>
              <a:t>Effective </a:t>
            </a:r>
            <a:r>
              <a:rPr lang="en-US" sz="8000" b="1" dirty="0" smtClean="0"/>
              <a:t>for:-</a:t>
            </a:r>
            <a:endParaRPr lang="en-US" sz="8000" b="1" dirty="0"/>
          </a:p>
          <a:p>
            <a:pPr marL="0" indent="0">
              <a:buNone/>
            </a:pPr>
            <a:r>
              <a:rPr lang="en-US" sz="8000" dirty="0" smtClean="0"/>
              <a:t>-Rhinorrhea</a:t>
            </a:r>
            <a:endParaRPr lang="en-US" sz="8000" dirty="0"/>
          </a:p>
          <a:p>
            <a:pPr marL="0" indent="0">
              <a:buNone/>
            </a:pPr>
            <a:r>
              <a:rPr lang="en-US" sz="8000" dirty="0" smtClean="0"/>
              <a:t>-Nasal </a:t>
            </a:r>
            <a:r>
              <a:rPr lang="en-US" sz="8000" dirty="0"/>
              <a:t>pruritus</a:t>
            </a:r>
          </a:p>
          <a:p>
            <a:pPr marL="0" indent="0">
              <a:buNone/>
            </a:pPr>
            <a:r>
              <a:rPr lang="en-US" sz="8000" dirty="0" smtClean="0"/>
              <a:t>-Sneezing</a:t>
            </a:r>
            <a:endParaRPr lang="en-US" sz="8000" dirty="0"/>
          </a:p>
          <a:p>
            <a:endParaRPr lang="en-US" sz="8000" dirty="0"/>
          </a:p>
          <a:p>
            <a:r>
              <a:rPr lang="en-US" sz="8000" dirty="0"/>
              <a:t>Less effective </a:t>
            </a:r>
            <a:r>
              <a:rPr lang="en-US" sz="8000" dirty="0" smtClean="0"/>
              <a:t>for nasal blockage</a:t>
            </a:r>
            <a:endParaRPr lang="en-US" sz="8000" dirty="0"/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lvl="0"/>
            <a:r>
              <a:rPr lang="en-US" sz="8000" dirty="0">
                <a:solidFill>
                  <a:prstClr val="black"/>
                </a:solidFill>
              </a:rPr>
              <a:t>Minimal or no sedative effects</a:t>
            </a:r>
          </a:p>
          <a:p>
            <a:pPr lvl="0"/>
            <a:endParaRPr lang="en-US" sz="8000" dirty="0">
              <a:solidFill>
                <a:prstClr val="black"/>
              </a:solidFill>
            </a:endParaRPr>
          </a:p>
          <a:p>
            <a:pPr lvl="0"/>
            <a:r>
              <a:rPr lang="en-US" sz="8000" dirty="0">
                <a:solidFill>
                  <a:prstClr val="black"/>
                </a:solidFill>
              </a:rPr>
              <a:t>Once daily administration</a:t>
            </a:r>
          </a:p>
          <a:p>
            <a:pPr lvl="0"/>
            <a:endParaRPr lang="en-US" sz="8000" dirty="0">
              <a:solidFill>
                <a:prstClr val="black"/>
              </a:solidFill>
            </a:endParaRPr>
          </a:p>
          <a:p>
            <a:pPr lvl="0"/>
            <a:r>
              <a:rPr lang="en-US" sz="8000" dirty="0">
                <a:solidFill>
                  <a:prstClr val="black"/>
                </a:solidFill>
              </a:rPr>
              <a:t>Rapid onset and </a:t>
            </a:r>
            <a:r>
              <a:rPr lang="en-US" sz="8000" dirty="0" smtClean="0">
                <a:solidFill>
                  <a:prstClr val="black"/>
                </a:solidFill>
              </a:rPr>
              <a:t>24-hour </a:t>
            </a:r>
            <a:r>
              <a:rPr lang="en-US" sz="8000" dirty="0">
                <a:solidFill>
                  <a:prstClr val="black"/>
                </a:solidFill>
              </a:rPr>
              <a:t>duration of action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BE245-5C22-4001-95F2-BEAED76787EF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31</a:t>
            </a:fld>
            <a:endParaRPr lang="en-US"/>
          </a:p>
        </p:txBody>
      </p:sp>
      <p:pic>
        <p:nvPicPr>
          <p:cNvPr id="9" name="Picture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7057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  Decongestants</a:t>
            </a:r>
            <a:r>
              <a:rPr lang="en-US" b="1" dirty="0"/>
              <a:t>: Alpha-2 </a:t>
            </a:r>
            <a:br>
              <a:rPr lang="en-US" b="1" dirty="0"/>
            </a:br>
            <a:r>
              <a:rPr lang="en-US" b="1" dirty="0" smtClean="0"/>
              <a:t>                  Adrenergic </a:t>
            </a:r>
            <a:r>
              <a:rPr lang="en-US" b="1" dirty="0"/>
              <a:t>Agonists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74320" lvl="0" indent="-27432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>
                <a:solidFill>
                  <a:srgbClr val="04617B"/>
                </a:solidFill>
                <a:latin typeface="Constantia"/>
              </a:rPr>
              <a:t> </a:t>
            </a:r>
            <a:r>
              <a:rPr lang="en-US" sz="2600" b="1" dirty="0">
                <a:solidFill>
                  <a:srgbClr val="C00000"/>
                </a:solidFill>
                <a:latin typeface="Constantia"/>
              </a:rPr>
              <a:t>Oral</a:t>
            </a:r>
          </a:p>
          <a:p>
            <a:pPr marL="274320" lvl="0" indent="-27432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>
                <a:solidFill>
                  <a:srgbClr val="FFFFFF"/>
                </a:solidFill>
                <a:latin typeface="Constantia"/>
              </a:rPr>
              <a:t>	</a:t>
            </a:r>
            <a:r>
              <a:rPr lang="en-US" sz="2600" dirty="0">
                <a:solidFill>
                  <a:prstClr val="black"/>
                </a:solidFill>
                <a:latin typeface="Constantia"/>
              </a:rPr>
              <a:t>Pseudoephedrine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lvl="0" indent="-34290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b="1" dirty="0">
                <a:solidFill>
                  <a:srgbClr val="C00000"/>
                </a:solidFill>
                <a:latin typeface="Constantia"/>
              </a:rPr>
              <a:t>Nasal</a:t>
            </a:r>
          </a:p>
          <a:p>
            <a:pPr marL="342900" lvl="0" indent="-34290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>
                <a:solidFill>
                  <a:prstClr val="black"/>
                </a:solidFill>
                <a:latin typeface="Constantia"/>
              </a:rPr>
              <a:t>	Phenylephrine</a:t>
            </a:r>
          </a:p>
          <a:p>
            <a:pPr marL="342900" lvl="0" indent="-34290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>
                <a:solidFill>
                  <a:prstClr val="black"/>
                </a:solidFill>
                <a:latin typeface="Constantia"/>
              </a:rPr>
              <a:t>	</a:t>
            </a:r>
            <a:r>
              <a:rPr lang="en-US" sz="2600" dirty="0" err="1">
                <a:solidFill>
                  <a:prstClr val="black"/>
                </a:solidFill>
                <a:latin typeface="Constantia"/>
              </a:rPr>
              <a:t>Oxymetazoline</a:t>
            </a:r>
            <a:endParaRPr lang="en-US" sz="2600" dirty="0">
              <a:solidFill>
                <a:prstClr val="black"/>
              </a:solidFill>
              <a:latin typeface="Constantia"/>
            </a:endParaRPr>
          </a:p>
          <a:p>
            <a:pPr marL="342900" lvl="0" indent="-34290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>
                <a:solidFill>
                  <a:prstClr val="black"/>
                </a:solidFill>
                <a:latin typeface="Constantia"/>
              </a:rPr>
              <a:t>	</a:t>
            </a:r>
            <a:r>
              <a:rPr lang="en-US" sz="2600" dirty="0" err="1">
                <a:solidFill>
                  <a:prstClr val="black"/>
                </a:solidFill>
                <a:latin typeface="Constantia"/>
              </a:rPr>
              <a:t>Xylometazoline</a:t>
            </a:r>
            <a:endParaRPr lang="en-US" sz="2600" dirty="0">
              <a:solidFill>
                <a:prstClr val="black"/>
              </a:solidFill>
              <a:latin typeface="Constantia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34592-4111-43C4-B011-638CE62271C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32</a:t>
            </a:fld>
            <a:endParaRPr lang="en-US"/>
          </a:p>
        </p:txBody>
      </p:sp>
      <p:pic>
        <p:nvPicPr>
          <p:cNvPr id="9" name="Picture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578303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EFFICACY:</a:t>
            </a:r>
            <a:r>
              <a:rPr lang="en-US" dirty="0"/>
              <a:t>	</a:t>
            </a:r>
          </a:p>
          <a:p>
            <a:r>
              <a:rPr lang="en-US" dirty="0" smtClean="0"/>
              <a:t>Oral </a:t>
            </a:r>
            <a:r>
              <a:rPr lang="en-US" dirty="0"/>
              <a:t>decongestants: moderate</a:t>
            </a:r>
          </a:p>
          <a:p>
            <a:r>
              <a:rPr lang="en-US" dirty="0" smtClean="0"/>
              <a:t>Nasal </a:t>
            </a:r>
            <a:r>
              <a:rPr lang="en-US" dirty="0"/>
              <a:t>decongestants: high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ADVERSE EFFECTS:</a:t>
            </a:r>
          </a:p>
          <a:p>
            <a:r>
              <a:rPr lang="en-US" dirty="0"/>
              <a:t>Oral decongestants: insomnia, tachycardia, </a:t>
            </a:r>
            <a:r>
              <a:rPr lang="en-US" dirty="0" err="1" smtClean="0"/>
              <a:t>hyperkinesia,tremor</a:t>
            </a:r>
            <a:r>
              <a:rPr lang="en-US" dirty="0"/>
              <a:t>, increased blood pressure, stroke (?)</a:t>
            </a:r>
          </a:p>
          <a:p>
            <a:r>
              <a:rPr lang="en-US" dirty="0"/>
              <a:t>Nasal decongestants: </a:t>
            </a:r>
            <a:r>
              <a:rPr lang="en-US" dirty="0" err="1"/>
              <a:t>tachyphylaxis</a:t>
            </a:r>
            <a:r>
              <a:rPr lang="en-US" dirty="0"/>
              <a:t>, rebound congestion,                                                               nasal  </a:t>
            </a:r>
            <a:r>
              <a:rPr lang="en-US" dirty="0" err="1"/>
              <a:t>hyperresponsiveness</a:t>
            </a:r>
            <a:r>
              <a:rPr lang="en-US" dirty="0"/>
              <a:t>, rhinitis </a:t>
            </a:r>
            <a:r>
              <a:rPr lang="en-US" dirty="0" err="1"/>
              <a:t>medicamentosa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139C-532D-4A72-88A3-B19FA777998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786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Anti-leukotriene </a:t>
            </a:r>
            <a:r>
              <a:rPr lang="en-US" b="1" dirty="0"/>
              <a:t>agents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74320" lvl="0" indent="-27432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b="1" dirty="0">
                <a:solidFill>
                  <a:srgbClr val="C00000"/>
                </a:solidFill>
                <a:latin typeface="Garamond" pitchFamily="18" charset="0"/>
              </a:rPr>
              <a:t>CysLT1 Receptor </a:t>
            </a:r>
          </a:p>
          <a:p>
            <a:pPr marL="274320" lvl="0" indent="-27432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b="1" dirty="0">
                <a:solidFill>
                  <a:srgbClr val="C00000"/>
                </a:solidFill>
                <a:latin typeface="Garamond" pitchFamily="18" charset="0"/>
              </a:rPr>
              <a:t>Antagonists</a:t>
            </a:r>
          </a:p>
          <a:p>
            <a:pPr marL="0" lvl="0" indent="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 smtClean="0">
                <a:solidFill>
                  <a:prstClr val="black"/>
                </a:solidFill>
                <a:latin typeface="Garamond" pitchFamily="18" charset="0"/>
              </a:rPr>
              <a:t>-</a:t>
            </a:r>
            <a:r>
              <a:rPr lang="en-US" sz="2600" dirty="0" err="1" smtClean="0">
                <a:solidFill>
                  <a:prstClr val="black"/>
                </a:solidFill>
                <a:latin typeface="Garamond" pitchFamily="18" charset="0"/>
              </a:rPr>
              <a:t>Montelukast</a:t>
            </a:r>
            <a:r>
              <a:rPr lang="en-US" sz="2600" dirty="0" smtClean="0">
                <a:solidFill>
                  <a:prstClr val="black"/>
                </a:solidFill>
                <a:latin typeface="Garamond" pitchFamily="18" charset="0"/>
              </a:rPr>
              <a:t> </a:t>
            </a:r>
            <a:endParaRPr lang="en-US" sz="2600" dirty="0">
              <a:solidFill>
                <a:prstClr val="black"/>
              </a:solidFill>
              <a:latin typeface="Garamond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 smtClean="0">
                <a:solidFill>
                  <a:prstClr val="black"/>
                </a:solidFill>
                <a:latin typeface="Garamond" pitchFamily="18" charset="0"/>
              </a:rPr>
              <a:t>-</a:t>
            </a:r>
            <a:r>
              <a:rPr lang="en-US" sz="2600" dirty="0" err="1" smtClean="0">
                <a:solidFill>
                  <a:prstClr val="black"/>
                </a:solidFill>
                <a:latin typeface="Garamond" pitchFamily="18" charset="0"/>
              </a:rPr>
              <a:t>Pranlukast</a:t>
            </a:r>
            <a:r>
              <a:rPr lang="en-US" sz="2600" dirty="0" smtClean="0">
                <a:solidFill>
                  <a:prstClr val="black"/>
                </a:solidFill>
                <a:latin typeface="Garamond" pitchFamily="18" charset="0"/>
              </a:rPr>
              <a:t> </a:t>
            </a:r>
            <a:endParaRPr lang="en-US" sz="2600" dirty="0">
              <a:solidFill>
                <a:prstClr val="black"/>
              </a:solidFill>
              <a:latin typeface="Garamond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 smtClean="0">
                <a:solidFill>
                  <a:prstClr val="black"/>
                </a:solidFill>
                <a:latin typeface="Garamond" pitchFamily="18" charset="0"/>
              </a:rPr>
              <a:t>-</a:t>
            </a:r>
            <a:r>
              <a:rPr lang="en-US" sz="2600" dirty="0" err="1" smtClean="0">
                <a:solidFill>
                  <a:prstClr val="black"/>
                </a:solidFill>
                <a:latin typeface="Garamond" pitchFamily="18" charset="0"/>
              </a:rPr>
              <a:t>Zafirlukast</a:t>
            </a:r>
            <a:endParaRPr lang="en-US" sz="2600" dirty="0">
              <a:solidFill>
                <a:prstClr val="black"/>
              </a:solidFill>
              <a:latin typeface="Garamond" pitchFamily="18" charset="0"/>
            </a:endParaRP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74320" lvl="0" indent="-27432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b="1" dirty="0">
                <a:solidFill>
                  <a:srgbClr val="C00000"/>
                </a:solidFill>
                <a:latin typeface="Garamond" pitchFamily="18" charset="0"/>
              </a:rPr>
              <a:t>5-Lipoxygenase </a:t>
            </a:r>
          </a:p>
          <a:p>
            <a:pPr marL="274320" lvl="0" indent="-27432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b="1" dirty="0">
                <a:solidFill>
                  <a:srgbClr val="C00000"/>
                </a:solidFill>
                <a:latin typeface="Garamond" pitchFamily="18" charset="0"/>
              </a:rPr>
              <a:t>Inhibitors</a:t>
            </a:r>
          </a:p>
          <a:p>
            <a:pPr marL="274320" lvl="0" indent="-27432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/>
              <a:buChar char=""/>
            </a:pPr>
            <a:endParaRPr lang="en-US" sz="2600" dirty="0">
              <a:solidFill>
                <a:srgbClr val="FFFF99"/>
              </a:solidFill>
              <a:latin typeface="Garamond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sz="2600" dirty="0" smtClean="0">
                <a:solidFill>
                  <a:prstClr val="black"/>
                </a:solidFill>
                <a:latin typeface="Garamond" pitchFamily="18" charset="0"/>
              </a:rPr>
              <a:t>-</a:t>
            </a:r>
            <a:r>
              <a:rPr lang="en-US" sz="2600" dirty="0" err="1" smtClean="0">
                <a:solidFill>
                  <a:prstClr val="black"/>
                </a:solidFill>
                <a:latin typeface="Garamond" pitchFamily="18" charset="0"/>
              </a:rPr>
              <a:t>Zileuton</a:t>
            </a:r>
            <a:endParaRPr lang="en-US" sz="2600" dirty="0">
              <a:solidFill>
                <a:prstClr val="black"/>
              </a:solidFill>
              <a:latin typeface="Garamond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34-CC63-4B1C-B2ED-814F6BF1A96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34</a:t>
            </a:fld>
            <a:endParaRPr lang="en-US"/>
          </a:p>
        </p:txBody>
      </p:sp>
      <p:pic>
        <p:nvPicPr>
          <p:cNvPr id="9" name="Picture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3304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Efficacy:</a:t>
            </a:r>
            <a:endParaRPr lang="en-US" dirty="0"/>
          </a:p>
          <a:p>
            <a:r>
              <a:rPr lang="en-US" dirty="0"/>
              <a:t>Equipotent to H1 receptor antagonists but with onset of action after 2 days</a:t>
            </a:r>
          </a:p>
          <a:p>
            <a:r>
              <a:rPr lang="en-US" dirty="0"/>
              <a:t>Reduce nasal and systemic eosinophilia</a:t>
            </a:r>
          </a:p>
          <a:p>
            <a:r>
              <a:rPr lang="en-US" dirty="0"/>
              <a:t>May be used for simultaneous treatment of allergic rhinitis and asthma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Safety:</a:t>
            </a:r>
            <a:endParaRPr lang="en-US" b="1" dirty="0"/>
          </a:p>
          <a:p>
            <a:r>
              <a:rPr lang="en-US" dirty="0"/>
              <a:t>Dyspepsia (approx. 2%)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05F-61D1-4F0E-8CF5-ACF52C5EE4D3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9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</a:t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Nasal </a:t>
            </a:r>
            <a:r>
              <a:rPr lang="en-US" b="1" dirty="0"/>
              <a:t>Corticosteroids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400" b="1" dirty="0">
                <a:solidFill>
                  <a:srgbClr val="C00000"/>
                </a:solidFill>
                <a:latin typeface="Constantia"/>
              </a:rPr>
              <a:t>T</a:t>
            </a:r>
            <a:r>
              <a:rPr lang="en-US" altLang="zh-TW" sz="2400" b="1" dirty="0" smtClean="0">
                <a:solidFill>
                  <a:srgbClr val="C00000"/>
                </a:solidFill>
                <a:latin typeface="Constantia"/>
              </a:rPr>
              <a:t>opical</a:t>
            </a:r>
          </a:p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4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  <a:latin typeface="Constantia"/>
              </a:rPr>
              <a:t>Beclomethasone </a:t>
            </a:r>
            <a:r>
              <a:rPr lang="tr-TR" altLang="zh-TW" sz="2400" dirty="0">
                <a:solidFill>
                  <a:prstClr val="black"/>
                </a:solidFill>
                <a:latin typeface="Constantia"/>
              </a:rPr>
              <a:t>dipropionate</a:t>
            </a:r>
          </a:p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4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  <a:latin typeface="Constantia"/>
              </a:rPr>
              <a:t>Budesonide</a:t>
            </a:r>
            <a:endParaRPr lang="tr-TR" altLang="zh-TW" sz="2400" dirty="0">
              <a:solidFill>
                <a:prstClr val="black"/>
              </a:solidFill>
              <a:latin typeface="Constantia"/>
            </a:endParaRPr>
          </a:p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4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  <a:latin typeface="Constantia"/>
              </a:rPr>
              <a:t>Fluticasone </a:t>
            </a:r>
            <a:r>
              <a:rPr lang="tr-TR" altLang="zh-TW" sz="2400" dirty="0">
                <a:solidFill>
                  <a:prstClr val="black"/>
                </a:solidFill>
                <a:latin typeface="Constantia"/>
              </a:rPr>
              <a:t>propionate</a:t>
            </a:r>
          </a:p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r>
              <a:rPr lang="en-US" altLang="zh-TW" sz="2400" dirty="0" smtClean="0">
                <a:solidFill>
                  <a:prstClr val="black"/>
                </a:solidFill>
                <a:latin typeface="Constantia"/>
              </a:rPr>
              <a:t>-</a:t>
            </a:r>
            <a:r>
              <a:rPr lang="tr-TR" altLang="zh-TW" sz="2400" dirty="0" smtClean="0">
                <a:solidFill>
                  <a:prstClr val="black"/>
                </a:solidFill>
                <a:latin typeface="Constantia"/>
              </a:rPr>
              <a:t>Mometasone </a:t>
            </a:r>
            <a:r>
              <a:rPr lang="tr-TR" altLang="zh-TW" sz="2400" dirty="0">
                <a:solidFill>
                  <a:prstClr val="black"/>
                </a:solidFill>
                <a:latin typeface="Constantia"/>
              </a:rPr>
              <a:t>furoate</a:t>
            </a:r>
          </a:p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rgbClr val="0BD0D9"/>
              </a:buClr>
              <a:buSzPct val="95000"/>
              <a:buNone/>
            </a:pP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Systemic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 smtClean="0"/>
              <a:t>Prednisolon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 smtClean="0"/>
              <a:t>Dexamtehazone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/>
              <a:t>D</a:t>
            </a:r>
            <a:r>
              <a:rPr lang="en-US" dirty="0" err="1" smtClean="0"/>
              <a:t>epomedrol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B51E-D0A3-445E-B803-697C470DDA99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36</a:t>
            </a:fld>
            <a:endParaRPr lang="en-US"/>
          </a:p>
        </p:txBody>
      </p:sp>
      <p:pic>
        <p:nvPicPr>
          <p:cNvPr id="9" name="Picture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32093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Intranasal corticosteroid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Most potent anti-inflammatory agents</a:t>
            </a:r>
          </a:p>
          <a:p>
            <a:r>
              <a:rPr lang="en-US" dirty="0"/>
              <a:t>Effective in treatment of all nasal symptoms including obstruction</a:t>
            </a:r>
          </a:p>
          <a:p>
            <a:r>
              <a:rPr lang="en-US" dirty="0"/>
              <a:t>Superior to anti-histamines and anti-</a:t>
            </a:r>
            <a:r>
              <a:rPr lang="en-US" dirty="0" err="1"/>
              <a:t>leukotienes</a:t>
            </a:r>
            <a:endParaRPr lang="en-US" dirty="0"/>
          </a:p>
          <a:p>
            <a:r>
              <a:rPr lang="en-US" dirty="0"/>
              <a:t>First line pharmacotherapy for persistent allergic rhinitis</a:t>
            </a:r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Overall safe to use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Adverse </a:t>
            </a:r>
            <a:r>
              <a:rPr lang="en-US" b="1" dirty="0" smtClean="0">
                <a:solidFill>
                  <a:srgbClr val="C00000"/>
                </a:solidFill>
              </a:rPr>
              <a:t>Effects: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-Nasal </a:t>
            </a:r>
            <a:r>
              <a:rPr lang="en-US" dirty="0"/>
              <a:t>irritation</a:t>
            </a:r>
          </a:p>
          <a:p>
            <a:pPr marL="0" indent="0">
              <a:buNone/>
            </a:pPr>
            <a:r>
              <a:rPr lang="en-US" dirty="0" smtClean="0"/>
              <a:t>-Epistaxis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-Septal </a:t>
            </a:r>
            <a:r>
              <a:rPr lang="en-US" dirty="0"/>
              <a:t>perforation (extremely rare)</a:t>
            </a:r>
          </a:p>
          <a:p>
            <a:pPr marL="0" indent="0">
              <a:buNone/>
            </a:pPr>
            <a:r>
              <a:rPr lang="en-US" dirty="0" smtClean="0"/>
              <a:t>-HPA </a:t>
            </a:r>
            <a:r>
              <a:rPr lang="en-US" dirty="0"/>
              <a:t>axis suppression</a:t>
            </a:r>
          </a:p>
          <a:p>
            <a:pPr marL="0" indent="0">
              <a:buNone/>
            </a:pPr>
            <a:r>
              <a:rPr lang="en-US" dirty="0" smtClean="0"/>
              <a:t>-Suppressed </a:t>
            </a:r>
            <a:r>
              <a:rPr lang="en-US" dirty="0"/>
              <a:t>growth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E7DFD-FBFA-4796-B47A-FF1BBB5AA21B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37</a:t>
            </a:fld>
            <a:endParaRPr lang="en-US"/>
          </a:p>
        </p:txBody>
      </p:sp>
      <p:pic>
        <p:nvPicPr>
          <p:cNvPr id="10" name="Picture 9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1594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3200" b="1" u="sng" dirty="0"/>
              <a:t>Monoclonal antibody: </a:t>
            </a:r>
          </a:p>
          <a:p>
            <a:pPr marL="0" lvl="0" indent="0">
              <a:buNone/>
            </a:pPr>
            <a:endParaRPr lang="en-US" sz="32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3200" dirty="0" err="1" smtClean="0">
                <a:solidFill>
                  <a:prstClr val="black"/>
                </a:solidFill>
              </a:rPr>
              <a:t>Omalizumab</a:t>
            </a:r>
            <a:r>
              <a:rPr lang="en-US" sz="3200" dirty="0" smtClean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prstClr val="black"/>
                </a:solidFill>
              </a:rPr>
              <a:t>- recent developments in the treatment of atopic diseases</a:t>
            </a:r>
            <a:endParaRPr lang="en-US" sz="3200" b="1" u="sng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314F6-3371-4E67-AD0B-17E9ADCC4D9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59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>
                <a:solidFill>
                  <a:srgbClr val="FF0000"/>
                </a:solidFill>
              </a:rPr>
              <a:t>(IV)</a:t>
            </a:r>
            <a:r>
              <a:rPr lang="en-US" b="1" u="sng" dirty="0" smtClean="0">
                <a:solidFill>
                  <a:srgbClr val="FF0000"/>
                </a:solidFill>
              </a:rPr>
              <a:t>. Immunotherapy:</a:t>
            </a:r>
            <a:r>
              <a:rPr lang="en-US" b="1" u="sng" dirty="0" smtClean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 smtClean="0"/>
              <a:t>Allergen is given in gradually increasing doses till the maintenance dose is reached. Immunotherapy suppresses the formation of </a:t>
            </a:r>
            <a:r>
              <a:rPr lang="en-US" sz="2400" dirty="0" err="1" smtClean="0"/>
              <a:t>IgE</a:t>
            </a:r>
            <a:r>
              <a:rPr lang="en-US" sz="2400" dirty="0" smtClean="0"/>
              <a:t>. 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Contraindications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sz="2400" dirty="0" smtClean="0"/>
              <a:t>• Asthma(severe) </a:t>
            </a:r>
          </a:p>
          <a:p>
            <a:pPr marL="0" indent="0">
              <a:buNone/>
            </a:pPr>
            <a:r>
              <a:rPr lang="en-US" sz="2400" dirty="0" smtClean="0"/>
              <a:t>• Autoimmune diseases </a:t>
            </a:r>
          </a:p>
          <a:p>
            <a:pPr marL="0" indent="0">
              <a:buNone/>
            </a:pPr>
            <a:r>
              <a:rPr lang="en-US" sz="2400" dirty="0" smtClean="0"/>
              <a:t>• Beta-blockers or Anti-adrenergic medicines </a:t>
            </a:r>
          </a:p>
          <a:p>
            <a:pPr marL="0" indent="0">
              <a:buNone/>
            </a:pPr>
            <a:r>
              <a:rPr lang="en-US" sz="2400" dirty="0" smtClean="0"/>
              <a:t>• Children less than &lt; 5 </a:t>
            </a:r>
            <a:r>
              <a:rPr lang="en-US" sz="2400" dirty="0" err="1" smtClean="0"/>
              <a:t>yrs</a:t>
            </a:r>
            <a:r>
              <a:rPr lang="en-US" sz="2400" dirty="0" smtClean="0"/>
              <a:t> </a:t>
            </a:r>
          </a:p>
          <a:p>
            <a:pPr marL="0" indent="0">
              <a:buNone/>
            </a:pPr>
            <a:r>
              <a:rPr lang="en-US" sz="2400" dirty="0" smtClean="0"/>
              <a:t>• Pregnancy (induction but not maintenance)</a:t>
            </a:r>
          </a:p>
          <a:p>
            <a:pPr marL="0" indent="0">
              <a:buNone/>
            </a:pPr>
            <a:endParaRPr lang="en-US" sz="24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6FC09-F9E6-4FD3-B269-48C1530213E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39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665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(V) </a:t>
            </a:r>
            <a:r>
              <a:rPr lang="en-US" b="1" dirty="0" smtClean="0">
                <a:solidFill>
                  <a:srgbClr val="C00000"/>
                </a:solidFill>
              </a:rPr>
              <a:t>Surgery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Usually not indicated </a:t>
            </a:r>
          </a:p>
          <a:p>
            <a:r>
              <a:rPr lang="en-US" dirty="0" smtClean="0"/>
              <a:t>Not a last resort but complementary </a:t>
            </a:r>
          </a:p>
          <a:p>
            <a:r>
              <a:rPr lang="en-US" dirty="0" smtClean="0"/>
              <a:t>Comorbid or complicating conditions </a:t>
            </a:r>
            <a:r>
              <a:rPr lang="en-US" dirty="0" err="1" smtClean="0"/>
              <a:t>eg</a:t>
            </a:r>
            <a:r>
              <a:rPr lang="en-US" dirty="0" smtClean="0"/>
              <a:t>: </a:t>
            </a:r>
            <a:r>
              <a:rPr lang="en-US" dirty="0" smtClean="0"/>
              <a:t>Marked deviated nasal </a:t>
            </a:r>
            <a:r>
              <a:rPr lang="en-US" dirty="0" smtClean="0"/>
              <a:t>septum(DNS), </a:t>
            </a:r>
            <a:r>
              <a:rPr lang="en-US" dirty="0" smtClean="0"/>
              <a:t>Turbinate hypertrophy, CRS.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663" y="2060234"/>
            <a:ext cx="3910148" cy="227663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E7F4-8268-4FF0-8F13-AC4FA7D73AD4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40</a:t>
            </a:fld>
            <a:endParaRPr lang="en-US"/>
          </a:p>
        </p:txBody>
      </p:sp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76200"/>
            <a:ext cx="2194894" cy="60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76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NON-ALLERGIC </a:t>
            </a:r>
            <a:r>
              <a:rPr lang="en-US" b="1" dirty="0"/>
              <a:t>RHINITIS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dirty="0" smtClean="0"/>
              <a:t>Non-allergic rhinitis </a:t>
            </a:r>
            <a:r>
              <a:rPr lang="en-US" dirty="0"/>
              <a:t>is commonly applied to a diagnosis of any nasal condition in which the symptoms are identical to those seen in Allergic </a:t>
            </a:r>
            <a:r>
              <a:rPr lang="en-US" dirty="0" smtClean="0"/>
              <a:t>rhinitis, </a:t>
            </a:r>
            <a:r>
              <a:rPr lang="en-US" dirty="0"/>
              <a:t>but an allergic </a:t>
            </a:r>
            <a:r>
              <a:rPr lang="en-US" dirty="0" err="1"/>
              <a:t>aetiology</a:t>
            </a:r>
            <a:r>
              <a:rPr lang="en-US" dirty="0"/>
              <a:t> has been excluded.</a:t>
            </a:r>
          </a:p>
          <a:p>
            <a:r>
              <a:rPr lang="en-US" dirty="0"/>
              <a:t>Occur more frequently in adults than in children, </a:t>
            </a:r>
          </a:p>
          <a:p>
            <a:r>
              <a:rPr lang="en-US" dirty="0"/>
              <a:t>More likely to be perennial than seasonal.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0D8E-88AC-4EE5-9602-52DD824E243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31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TYPES:</a:t>
            </a:r>
          </a:p>
          <a:p>
            <a:pPr marL="0" indent="0">
              <a:buNone/>
            </a:pPr>
            <a:r>
              <a:rPr lang="en-US" dirty="0"/>
              <a:t>1.Vasomotor rhinitis</a:t>
            </a:r>
          </a:p>
          <a:p>
            <a:pPr marL="0" indent="0">
              <a:buNone/>
            </a:pPr>
            <a:r>
              <a:rPr lang="en-US" dirty="0"/>
              <a:t>2.Infection</a:t>
            </a:r>
          </a:p>
          <a:p>
            <a:pPr marL="0" indent="0">
              <a:buNone/>
            </a:pPr>
            <a:r>
              <a:rPr lang="en-US" dirty="0"/>
              <a:t>3.Rhinitis associated with physical or chemical factors</a:t>
            </a:r>
          </a:p>
          <a:p>
            <a:pPr marL="0" indent="0">
              <a:buNone/>
            </a:pPr>
            <a:r>
              <a:rPr lang="en-US" dirty="0"/>
              <a:t>4.Drug, food induced rhinitis</a:t>
            </a:r>
          </a:p>
          <a:p>
            <a:pPr marL="0" indent="0">
              <a:buNone/>
            </a:pPr>
            <a:r>
              <a:rPr lang="en-US" dirty="0"/>
              <a:t>5.NARES, aspirin sensitivity</a:t>
            </a:r>
          </a:p>
          <a:p>
            <a:pPr marL="0" indent="0">
              <a:buNone/>
            </a:pPr>
            <a:r>
              <a:rPr lang="en-US" dirty="0"/>
              <a:t>6.Rhinitis of pregnancy </a:t>
            </a:r>
          </a:p>
          <a:p>
            <a:pPr marL="0" indent="0">
              <a:buNone/>
            </a:pPr>
            <a:r>
              <a:rPr lang="en-US" dirty="0"/>
              <a:t>7.Atrophic rhinitis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D4E5-1B19-4A0B-AFED-6CEA5F79408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393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Vasomotor </a:t>
            </a:r>
            <a:r>
              <a:rPr lang="en-US" b="1" dirty="0"/>
              <a:t>Rhinitis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Autonomic disturbance – excessive parasympathetic activity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 specific cause found</a:t>
            </a:r>
          </a:p>
          <a:p>
            <a:endParaRPr lang="en-US" dirty="0"/>
          </a:p>
          <a:p>
            <a:r>
              <a:rPr lang="en-US" dirty="0"/>
              <a:t>Symptoms : </a:t>
            </a:r>
            <a:r>
              <a:rPr lang="en-US" dirty="0" err="1"/>
              <a:t>rhinorrhoea</a:t>
            </a:r>
            <a:r>
              <a:rPr lang="en-US" dirty="0"/>
              <a:t>, sneezing, nasal obstruction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349E-0FDA-4F16-8D8D-3765A1D4B9F9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12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Neurovascular disorder</a:t>
            </a:r>
          </a:p>
          <a:p>
            <a:r>
              <a:rPr lang="en-US" dirty="0"/>
              <a:t>No specific antibodies</a:t>
            </a:r>
          </a:p>
          <a:p>
            <a:r>
              <a:rPr lang="en-US" dirty="0"/>
              <a:t>Nonspecific reflex hypersensitivity</a:t>
            </a:r>
          </a:p>
          <a:p>
            <a:r>
              <a:rPr lang="en-US" b="1" dirty="0"/>
              <a:t>Caused by various </a:t>
            </a:r>
            <a:r>
              <a:rPr lang="en-US" b="1" dirty="0" smtClean="0"/>
              <a:t>influences: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-Change </a:t>
            </a:r>
            <a:r>
              <a:rPr lang="en-US" dirty="0"/>
              <a:t>of temperature or humidity</a:t>
            </a:r>
          </a:p>
          <a:p>
            <a:pPr marL="0" indent="0">
              <a:buNone/>
            </a:pPr>
            <a:r>
              <a:rPr lang="en-US" dirty="0" smtClean="0"/>
              <a:t>-Alcohol </a:t>
            </a:r>
            <a:r>
              <a:rPr lang="en-US" dirty="0"/>
              <a:t>, dust, smoke, mechanical irritation, stress, anxiety neurosis, endocrine </a:t>
            </a:r>
            <a:r>
              <a:rPr lang="en-US" dirty="0" smtClean="0"/>
              <a:t>disorders.</a:t>
            </a:r>
            <a:endParaRPr lang="en-US" dirty="0"/>
          </a:p>
          <a:p>
            <a:r>
              <a:rPr lang="en-US" dirty="0"/>
              <a:t>Drugs: (e.g., antihypertensive agents as reserpine or beta-blockers, oral contraceptives)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A62B-00B1-4CCA-9D9D-DAB26537172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833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         Diagnosis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Typical </a:t>
            </a:r>
            <a:r>
              <a:rPr lang="en-US" dirty="0"/>
              <a:t>history</a:t>
            </a:r>
          </a:p>
          <a:p>
            <a:r>
              <a:rPr lang="en-US" dirty="0"/>
              <a:t>Negative allergen tests</a:t>
            </a:r>
          </a:p>
          <a:p>
            <a:r>
              <a:rPr lang="en-US" dirty="0"/>
              <a:t>No elevated </a:t>
            </a:r>
            <a:r>
              <a:rPr lang="en-US" dirty="0" err="1"/>
              <a:t>IgE</a:t>
            </a:r>
            <a:r>
              <a:rPr lang="en-US" dirty="0"/>
              <a:t> in the secretion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EAD7F-DA70-4B40-91B7-77EBBEF1949A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45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  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Conservative Treatment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Elimination </a:t>
            </a:r>
            <a:r>
              <a:rPr lang="en-US" dirty="0"/>
              <a:t>of irritant factors</a:t>
            </a:r>
          </a:p>
          <a:p>
            <a:r>
              <a:rPr lang="en-US" dirty="0"/>
              <a:t>Antihistamines</a:t>
            </a:r>
          </a:p>
          <a:p>
            <a:r>
              <a:rPr lang="en-US" dirty="0"/>
              <a:t>Nasal decongestant drops</a:t>
            </a:r>
          </a:p>
          <a:p>
            <a:r>
              <a:rPr lang="en-US" dirty="0"/>
              <a:t>Oral decongestant drugs</a:t>
            </a:r>
          </a:p>
          <a:p>
            <a:r>
              <a:rPr lang="en-US" dirty="0"/>
              <a:t>Steroids (e.g., </a:t>
            </a:r>
            <a:r>
              <a:rPr lang="en-US" dirty="0" err="1"/>
              <a:t>beclomethasone</a:t>
            </a:r>
            <a:r>
              <a:rPr lang="en-US" dirty="0"/>
              <a:t>)</a:t>
            </a:r>
          </a:p>
          <a:p>
            <a:r>
              <a:rPr lang="en-US" dirty="0"/>
              <a:t>Metabolic &amp; endocrine systems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3CAD-C09A-4A63-9FD0-984C33EB284A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46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Surgical </a:t>
            </a:r>
            <a:r>
              <a:rPr lang="en-US" b="1" dirty="0"/>
              <a:t>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smtClean="0"/>
              <a:t>Turbinate </a:t>
            </a:r>
            <a:r>
              <a:rPr lang="en-US" dirty="0"/>
              <a:t>surgery --</a:t>
            </a:r>
            <a:r>
              <a:rPr lang="en-US" dirty="0" err="1"/>
              <a:t>Electrocautery,cryosurgery</a:t>
            </a:r>
            <a:r>
              <a:rPr lang="en-US" dirty="0"/>
              <a:t>, laser</a:t>
            </a:r>
          </a:p>
          <a:p>
            <a:pPr marL="0" indent="0">
              <a:buNone/>
            </a:pPr>
            <a:r>
              <a:rPr lang="en-US" dirty="0" smtClean="0"/>
              <a:t>-Correction </a:t>
            </a:r>
            <a:r>
              <a:rPr lang="en-US" dirty="0"/>
              <a:t>of anatomical deformity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 smtClean="0"/>
              <a:t>Conchotomy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-Parasympathetic </a:t>
            </a:r>
            <a:r>
              <a:rPr lang="en-US" dirty="0"/>
              <a:t>nasal fibers divisions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vidian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neurectomy</a:t>
            </a:r>
            <a:r>
              <a:rPr lang="en-US" dirty="0">
                <a:solidFill>
                  <a:srgbClr val="C00000"/>
                </a:solidFill>
              </a:rPr>
              <a:t>)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0BA-062A-4B4D-B254-40516C62721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60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</a:t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   Atrophic </a:t>
            </a:r>
            <a:r>
              <a:rPr lang="en-US" b="1" dirty="0"/>
              <a:t>rhinitis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Predominantly  in women &amp; is </a:t>
            </a:r>
            <a:r>
              <a:rPr lang="en-US" dirty="0" err="1"/>
              <a:t>charaterised</a:t>
            </a:r>
            <a:r>
              <a:rPr lang="en-US" dirty="0"/>
              <a:t> by progressive atrophy of the nasal mucosa &amp; underlying bone of the </a:t>
            </a:r>
            <a:r>
              <a:rPr lang="en-US" dirty="0" err="1"/>
              <a:t>turbinates</a:t>
            </a:r>
            <a:r>
              <a:rPr lang="en-US" dirty="0"/>
              <a:t>. </a:t>
            </a:r>
          </a:p>
          <a:p>
            <a:r>
              <a:rPr lang="en-US" dirty="0"/>
              <a:t>Leads to formation of thick crusts, which leave a constant foul smell ( </a:t>
            </a:r>
            <a:r>
              <a:rPr lang="en-US" dirty="0" err="1"/>
              <a:t>ozaena</a:t>
            </a:r>
            <a:r>
              <a:rPr lang="en-US" dirty="0"/>
              <a:t>) in nose.</a:t>
            </a:r>
          </a:p>
          <a:p>
            <a:r>
              <a:rPr lang="en-US" dirty="0"/>
              <a:t>Nasal cavities are enlarged &amp; there is sensation of nasal congestion.</a:t>
            </a:r>
          </a:p>
          <a:p>
            <a:r>
              <a:rPr lang="en-US" dirty="0"/>
              <a:t> Thought to be due to infection with </a:t>
            </a:r>
            <a:r>
              <a:rPr lang="en-US" dirty="0" err="1"/>
              <a:t>klebsiella</a:t>
            </a:r>
            <a:r>
              <a:rPr lang="en-US" dirty="0"/>
              <a:t> </a:t>
            </a:r>
            <a:r>
              <a:rPr lang="en-US" dirty="0" err="1"/>
              <a:t>ozaenae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8B4-268A-4DC0-842A-B5B7E768CFB3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598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Clinical features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Greenish–yellow  or  brownish-black crusts</a:t>
            </a:r>
          </a:p>
          <a:p>
            <a:r>
              <a:rPr lang="en-US" dirty="0"/>
              <a:t>Wide nasal cavity</a:t>
            </a:r>
          </a:p>
          <a:p>
            <a:r>
              <a:rPr lang="en-US" dirty="0"/>
              <a:t>Atrophic mucosa &amp; dry</a:t>
            </a:r>
          </a:p>
          <a:p>
            <a:r>
              <a:rPr lang="en-US" dirty="0" err="1"/>
              <a:t>Subepithelial</a:t>
            </a:r>
            <a:r>
              <a:rPr lang="en-US" dirty="0"/>
              <a:t> layer fibrosis</a:t>
            </a:r>
          </a:p>
          <a:p>
            <a:r>
              <a:rPr lang="en-US" dirty="0"/>
              <a:t>Fetid secretion &amp;crusts (</a:t>
            </a:r>
            <a:r>
              <a:rPr lang="en-US" dirty="0" err="1"/>
              <a:t>Ozena</a:t>
            </a:r>
            <a:r>
              <a:rPr lang="en-US" dirty="0"/>
              <a:t>)</a:t>
            </a:r>
          </a:p>
          <a:p>
            <a:r>
              <a:rPr lang="en-US" dirty="0"/>
              <a:t>Anosmia &amp; social problem</a:t>
            </a:r>
          </a:p>
          <a:p>
            <a:r>
              <a:rPr lang="en-US" dirty="0"/>
              <a:t>Nasal obstruction</a:t>
            </a:r>
          </a:p>
          <a:p>
            <a:r>
              <a:rPr lang="en-US" dirty="0"/>
              <a:t>Mucosal changes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B75-034D-499A-8A86-102696E0BF9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03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r>
              <a:rPr lang="en-US" dirty="0" smtClean="0"/>
              <a:t>                    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    </a:t>
            </a:r>
            <a:r>
              <a:rPr lang="en-US" b="1" dirty="0" smtClean="0"/>
              <a:t>Pathogenesis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-Unknown </a:t>
            </a:r>
            <a:r>
              <a:rPr lang="en-US" dirty="0"/>
              <a:t>but is  multifactorial</a:t>
            </a:r>
          </a:p>
          <a:p>
            <a:pPr marL="0" indent="0">
              <a:buNone/>
            </a:pPr>
            <a:r>
              <a:rPr lang="en-US" dirty="0" smtClean="0"/>
              <a:t>-Common </a:t>
            </a:r>
            <a:r>
              <a:rPr lang="en-US" dirty="0"/>
              <a:t>in </a:t>
            </a:r>
            <a:r>
              <a:rPr lang="en-US" dirty="0" err="1"/>
              <a:t>orientals</a:t>
            </a:r>
            <a:r>
              <a:rPr lang="en-US" dirty="0"/>
              <a:t> than in whites than in blacks</a:t>
            </a:r>
          </a:p>
          <a:p>
            <a:pPr marL="0" indent="0">
              <a:buNone/>
            </a:pPr>
            <a:r>
              <a:rPr lang="en-US" dirty="0" smtClean="0"/>
              <a:t>-Abnormally </a:t>
            </a:r>
            <a:r>
              <a:rPr lang="en-US" dirty="0"/>
              <a:t>wide nasal cavity</a:t>
            </a:r>
          </a:p>
          <a:p>
            <a:pPr marL="0" indent="0">
              <a:buNone/>
            </a:pPr>
            <a:r>
              <a:rPr lang="en-US" dirty="0" smtClean="0"/>
              <a:t>-Mucosal </a:t>
            </a:r>
            <a:r>
              <a:rPr lang="en-US" dirty="0"/>
              <a:t>atrophy&amp; bony nasal skeleton.</a:t>
            </a:r>
          </a:p>
          <a:p>
            <a:pPr marL="0" indent="0">
              <a:buNone/>
            </a:pPr>
            <a:r>
              <a:rPr lang="en-US" dirty="0" smtClean="0"/>
              <a:t>-Respiratory </a:t>
            </a:r>
            <a:r>
              <a:rPr lang="en-US" dirty="0" err="1"/>
              <a:t>epith</a:t>
            </a:r>
            <a:r>
              <a:rPr lang="en-US" dirty="0"/>
              <a:t>. keratinized sq. metaplasia</a:t>
            </a:r>
          </a:p>
          <a:p>
            <a:pPr marL="0" indent="0">
              <a:buNone/>
            </a:pPr>
            <a:r>
              <a:rPr lang="en-US" dirty="0" smtClean="0"/>
              <a:t>-Destroyed </a:t>
            </a:r>
            <a:r>
              <a:rPr lang="en-US" dirty="0" err="1"/>
              <a:t>mucociliary</a:t>
            </a:r>
            <a:r>
              <a:rPr lang="en-US" dirty="0"/>
              <a:t> cleaning system</a:t>
            </a:r>
          </a:p>
          <a:p>
            <a:pPr marL="0" indent="0">
              <a:buNone/>
            </a:pPr>
            <a:r>
              <a:rPr lang="en-US" dirty="0" smtClean="0"/>
              <a:t>-Bacterial </a:t>
            </a:r>
            <a:r>
              <a:rPr lang="en-US" dirty="0"/>
              <a:t>proteolysis decomposed the thick &amp; gluey secretions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C39B-79D6-4531-BCBB-A21FF3DBCFCF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258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b="1" dirty="0" smtClean="0"/>
              <a:t>Secondary </a:t>
            </a:r>
            <a:r>
              <a:rPr lang="en-US" b="1" dirty="0"/>
              <a:t>Atrophic Rhinitis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Nasal </a:t>
            </a:r>
            <a:r>
              <a:rPr lang="en-US" dirty="0"/>
              <a:t>Trauma</a:t>
            </a:r>
          </a:p>
          <a:p>
            <a:r>
              <a:rPr lang="en-US" dirty="0"/>
              <a:t>Extensive surgery</a:t>
            </a:r>
          </a:p>
          <a:p>
            <a:r>
              <a:rPr lang="en-US" dirty="0"/>
              <a:t>Occupational exposure to</a:t>
            </a:r>
            <a:r>
              <a:rPr lang="en-US" dirty="0" smtClean="0"/>
              <a:t>:- Glass</a:t>
            </a:r>
            <a:r>
              <a:rPr lang="en-US" dirty="0"/>
              <a:t>, wood, asbestos, etc.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79457-FFCA-400A-BF07-02F51ACBB62E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55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     </a:t>
            </a:r>
            <a:r>
              <a:rPr lang="en-US" b="1" dirty="0" smtClean="0"/>
              <a:t>Diagnosis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3200" dirty="0" smtClean="0"/>
              <a:t>Gluey</a:t>
            </a:r>
            <a:r>
              <a:rPr lang="en-US" sz="3200" dirty="0"/>
              <a:t>, dry, greenish-yellow secretions &amp; crusts</a:t>
            </a:r>
          </a:p>
          <a:p>
            <a:r>
              <a:rPr lang="en-US" sz="3200" dirty="0" smtClean="0"/>
              <a:t>wide </a:t>
            </a:r>
            <a:r>
              <a:rPr lang="en-US" sz="3200" dirty="0"/>
              <a:t>nasal cavity &amp; very  small </a:t>
            </a:r>
            <a:r>
              <a:rPr lang="en-US" sz="3200" dirty="0" err="1"/>
              <a:t>turbinates</a:t>
            </a:r>
            <a:endParaRPr lang="en-US" sz="3200" dirty="0"/>
          </a:p>
          <a:p>
            <a:r>
              <a:rPr lang="en-US" sz="3200" dirty="0"/>
              <a:t>Foul-smelling crusts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E4D5-F2DE-40D5-84F8-1B09C8298FB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465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     </a:t>
            </a:r>
            <a:r>
              <a:rPr lang="en-US" b="1" dirty="0" smtClean="0"/>
              <a:t>Treatment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Nasal </a:t>
            </a:r>
            <a:r>
              <a:rPr lang="en-US" dirty="0"/>
              <a:t>douching</a:t>
            </a:r>
          </a:p>
          <a:p>
            <a:r>
              <a:rPr lang="en-US" dirty="0"/>
              <a:t>Alkaline nasal </a:t>
            </a:r>
            <a:r>
              <a:rPr lang="en-US" dirty="0" smtClean="0"/>
              <a:t>lotion</a:t>
            </a:r>
            <a:endParaRPr lang="en-US" dirty="0"/>
          </a:p>
          <a:p>
            <a:r>
              <a:rPr lang="en-US" dirty="0"/>
              <a:t>Oily nasal drops, </a:t>
            </a:r>
            <a:r>
              <a:rPr lang="en-US" dirty="0" smtClean="0"/>
              <a:t>emulsions, </a:t>
            </a:r>
            <a:r>
              <a:rPr lang="en-US" dirty="0"/>
              <a:t>or ointments</a:t>
            </a:r>
          </a:p>
          <a:p>
            <a:r>
              <a:rPr lang="en-US" dirty="0"/>
              <a:t>Steam inhalations</a:t>
            </a:r>
          </a:p>
          <a:p>
            <a:r>
              <a:rPr lang="en-US" dirty="0"/>
              <a:t>Osmotic Powders :Dextrose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18FF-658F-427F-88A2-0669ED699D8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824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</a:t>
            </a:r>
            <a:r>
              <a:rPr lang="en-US" b="1" dirty="0" smtClean="0"/>
              <a:t>Surgical Treatment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Young’s </a:t>
            </a:r>
            <a:r>
              <a:rPr lang="en-US" b="1" dirty="0"/>
              <a:t>operation</a:t>
            </a:r>
          </a:p>
          <a:p>
            <a:r>
              <a:rPr lang="en-US" dirty="0" smtClean="0"/>
              <a:t>Both </a:t>
            </a:r>
            <a:r>
              <a:rPr lang="en-US" dirty="0"/>
              <a:t>nostrils are closed completely just within nasal cavity by raising flaps. Opened </a:t>
            </a:r>
            <a:r>
              <a:rPr lang="en-US" dirty="0" smtClean="0"/>
              <a:t>6 month </a:t>
            </a:r>
            <a:r>
              <a:rPr lang="en-US" dirty="0"/>
              <a:t>or later.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Modified Young’s operation</a:t>
            </a:r>
          </a:p>
          <a:p>
            <a:r>
              <a:rPr lang="en-US" dirty="0" smtClean="0"/>
              <a:t>to </a:t>
            </a:r>
            <a:r>
              <a:rPr lang="en-US" dirty="0"/>
              <a:t>avoid discomfort of bilateral nasal obstruction, nostrils are partially closed.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AFDF-949C-4C9A-A457-49D90A645A7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70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/>
              <a:t>Hormonal </a:t>
            </a:r>
            <a:r>
              <a:rPr lang="en-US" b="1" u="sng" dirty="0" smtClean="0"/>
              <a:t>rhinitis- pregnancy:    </a:t>
            </a:r>
            <a:r>
              <a:rPr lang="en-US" dirty="0" err="1"/>
              <a:t>Oestrogens</a:t>
            </a:r>
            <a:r>
              <a:rPr lang="en-US" dirty="0"/>
              <a:t> cause vascular engorgement in the </a:t>
            </a:r>
            <a:r>
              <a:rPr lang="en-US" dirty="0" smtClean="0"/>
              <a:t>nose, </a:t>
            </a:r>
            <a:r>
              <a:rPr lang="en-US" dirty="0"/>
              <a:t>leading to nasal obstruction and/or nasal hypersecretion.</a:t>
            </a:r>
          </a:p>
          <a:p>
            <a:endParaRPr lang="en-US" dirty="0"/>
          </a:p>
          <a:p>
            <a:r>
              <a:rPr lang="en-US" b="1" u="sng" dirty="0"/>
              <a:t>EMOTIONALLY INDUCED RHINITIS</a:t>
            </a:r>
          </a:p>
          <a:p>
            <a:pPr marL="0" indent="0">
              <a:buNone/>
            </a:pPr>
            <a:r>
              <a:rPr lang="en-US" dirty="0" smtClean="0"/>
              <a:t>Emotional </a:t>
            </a:r>
            <a:r>
              <a:rPr lang="en-US" dirty="0"/>
              <a:t>factors such  as stress and sexual arousal have been documented to affect the nose,  as a result of autonomic stimulation.</a:t>
            </a:r>
          </a:p>
          <a:p>
            <a:endParaRPr lang="en-US" dirty="0"/>
          </a:p>
          <a:p>
            <a:r>
              <a:rPr lang="en-US" b="1" u="sng" dirty="0"/>
              <a:t>Drug </a:t>
            </a:r>
            <a:r>
              <a:rPr lang="en-US" b="1" u="sng" dirty="0" smtClean="0"/>
              <a:t>induced: </a:t>
            </a:r>
            <a:r>
              <a:rPr lang="en-US" dirty="0"/>
              <a:t>aspirin, other </a:t>
            </a:r>
            <a:r>
              <a:rPr lang="en-US" dirty="0" smtClean="0"/>
              <a:t>NSAIDs, beta-blockers, ACE </a:t>
            </a:r>
            <a:r>
              <a:rPr lang="en-US" dirty="0"/>
              <a:t>inhibitors</a:t>
            </a:r>
            <a:r>
              <a:rPr lang="en-US" dirty="0" smtClean="0"/>
              <a:t>, methyl </a:t>
            </a:r>
            <a:r>
              <a:rPr lang="en-US" dirty="0" err="1" smtClean="0"/>
              <a:t>dopa</a:t>
            </a:r>
            <a:r>
              <a:rPr lang="en-US" dirty="0" smtClean="0"/>
              <a:t>, </a:t>
            </a:r>
            <a:r>
              <a:rPr lang="en-US" dirty="0"/>
              <a:t>nasal topical decongestants induce symptoms of rhinitis when </a:t>
            </a:r>
            <a:r>
              <a:rPr lang="en-US" dirty="0" err="1"/>
              <a:t>administred</a:t>
            </a:r>
            <a:r>
              <a:rPr lang="en-US" dirty="0"/>
              <a:t> either topically or systemically.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A292-F225-497C-9C2A-C3D30587099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26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FOOD-INDUCED RHINITIS</a:t>
            </a:r>
          </a:p>
          <a:p>
            <a:r>
              <a:rPr lang="en-US" dirty="0" smtClean="0"/>
              <a:t>Certain </a:t>
            </a:r>
            <a:r>
              <a:rPr lang="en-US" dirty="0"/>
              <a:t>foods and alcoholic beverages can induce </a:t>
            </a:r>
            <a:r>
              <a:rPr lang="en-US" dirty="0" err="1"/>
              <a:t>nonallergic</a:t>
            </a:r>
            <a:r>
              <a:rPr lang="en-US" dirty="0"/>
              <a:t> rhinitis,</a:t>
            </a:r>
          </a:p>
          <a:p>
            <a:r>
              <a:rPr lang="en-US" dirty="0" smtClean="0"/>
              <a:t>Underlying </a:t>
            </a:r>
            <a:r>
              <a:rPr lang="en-US" dirty="0"/>
              <a:t>mechanisms are largely unknown.</a:t>
            </a:r>
          </a:p>
          <a:p>
            <a:r>
              <a:rPr lang="en-US" dirty="0" smtClean="0"/>
              <a:t>Hot </a:t>
            </a:r>
            <a:r>
              <a:rPr lang="en-US" dirty="0"/>
              <a:t>and spicy foods lead to a watery </a:t>
            </a:r>
            <a:r>
              <a:rPr lang="en-US" dirty="0" err="1"/>
              <a:t>rhinorrhoea</a:t>
            </a:r>
            <a:r>
              <a:rPr lang="en-US" dirty="0"/>
              <a:t> termed 'gustatory rhinitis', probably as a result of the capsaicin stimulating the sensory nerves to release neuropeptides and tachykinins.</a:t>
            </a:r>
          </a:p>
          <a:p>
            <a:r>
              <a:rPr lang="en-US" dirty="0" smtClean="0"/>
              <a:t>Alcoholic </a:t>
            </a:r>
            <a:r>
              <a:rPr lang="en-US" dirty="0"/>
              <a:t>beverages are thought to induce symptoms as a result of vasodilation.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3D46-9F9F-4AF3-9D26-349024ADB83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478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RHINITIS </a:t>
            </a:r>
            <a:r>
              <a:rPr lang="en-US" b="1" u="sng" dirty="0"/>
              <a:t>DUE TO PHYSICAL AND CHEMICAL FACTORS</a:t>
            </a:r>
          </a:p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individuals with sensitized nasal mucous membranes. Cold, dry air has been shown to lead to a condition known as skier's nose, in which </a:t>
            </a:r>
            <a:r>
              <a:rPr lang="en-US" dirty="0" err="1"/>
              <a:t>rhinorrhoea</a:t>
            </a:r>
            <a:r>
              <a:rPr lang="en-US" dirty="0"/>
              <a:t> features prominently</a:t>
            </a:r>
            <a:r>
              <a:rPr lang="en-US" dirty="0" smtClean="0"/>
              <a:t>.</a:t>
            </a:r>
          </a:p>
          <a:p>
            <a:pPr lvl="0"/>
            <a:r>
              <a:rPr lang="en-US" b="1" u="sng" dirty="0">
                <a:solidFill>
                  <a:prstClr val="black"/>
                </a:solidFill>
              </a:rPr>
              <a:t>Rhinitis </a:t>
            </a:r>
            <a:r>
              <a:rPr lang="en-US" b="1" u="sng" dirty="0" err="1">
                <a:solidFill>
                  <a:prstClr val="black"/>
                </a:solidFill>
              </a:rPr>
              <a:t>medicamentosa</a:t>
            </a:r>
            <a:endParaRPr lang="en-US" b="1" u="sng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</a:rPr>
              <a:t>Persistent overuse of the topical nasal vasoconstrictors also leads to nasal decongestion by a mechanism involving a rebound effect following withdrawal of these drugs, excessive use of these agents may also lead to nasal hyper-reactivity and hypertrophy of the nasal mucosa known as rhinitis </a:t>
            </a:r>
            <a:r>
              <a:rPr lang="en-US" dirty="0" err="1">
                <a:solidFill>
                  <a:prstClr val="black"/>
                </a:solidFill>
              </a:rPr>
              <a:t>medicamentosa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4407-BA19-4E17-8AA5-AC880E7B1D5A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451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NARES:- </a:t>
            </a:r>
            <a:r>
              <a:rPr lang="en-US" dirty="0"/>
              <a:t>condition where there is presence of &gt;20% eosinophils in nasal smears of symptomatic </a:t>
            </a:r>
            <a:r>
              <a:rPr lang="en-US" dirty="0" smtClean="0"/>
              <a:t>patients </a:t>
            </a:r>
            <a:r>
              <a:rPr lang="en-US" dirty="0"/>
              <a:t>with perennial sneezing attacks, profuse watery </a:t>
            </a:r>
            <a:r>
              <a:rPr lang="en-US" dirty="0" err="1"/>
              <a:t>rhinorrhoea</a:t>
            </a:r>
            <a:r>
              <a:rPr lang="en-US" dirty="0"/>
              <a:t>, nasal </a:t>
            </a:r>
            <a:r>
              <a:rPr lang="en-US" dirty="0" err="1"/>
              <a:t>pruritis</a:t>
            </a:r>
            <a:r>
              <a:rPr lang="en-US" dirty="0"/>
              <a:t>, incomplete nasal obstruction &amp; often loss of smell.</a:t>
            </a:r>
          </a:p>
          <a:p>
            <a:r>
              <a:rPr lang="en-US" dirty="0" smtClean="0"/>
              <a:t> </a:t>
            </a:r>
            <a:r>
              <a:rPr lang="en-US" dirty="0"/>
              <a:t>Marked feature is lack of evidence of allergy, as indicated by negative SPT &amp;/or absence of serum </a:t>
            </a:r>
            <a:r>
              <a:rPr lang="en-US" dirty="0" err="1"/>
              <a:t>IgE</a:t>
            </a:r>
            <a:r>
              <a:rPr lang="en-US" dirty="0"/>
              <a:t> antibodies to specific allergens.</a:t>
            </a:r>
          </a:p>
          <a:p>
            <a:r>
              <a:rPr lang="en-US" dirty="0" smtClean="0"/>
              <a:t>Triad </a:t>
            </a:r>
            <a:r>
              <a:rPr lang="en-US" dirty="0"/>
              <a:t>of nasal polyposis , intrinsic asthma, intolerance to aspirin-</a:t>
            </a:r>
            <a:r>
              <a:rPr lang="en-US" dirty="0" err="1"/>
              <a:t>sampter’s</a:t>
            </a:r>
            <a:r>
              <a:rPr lang="en-US" dirty="0"/>
              <a:t> triad.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3B048-4A45-4B03-8894-5B10C19DFDC3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39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Ocupational </a:t>
            </a:r>
            <a:r>
              <a:rPr lang="en-US" b="1" dirty="0"/>
              <a:t>rhinitis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Episodic work related symptoms of rhinitis which usually manifest on weekdays &amp; abate during weekends &amp; holidays.</a:t>
            </a:r>
          </a:p>
          <a:p>
            <a:r>
              <a:rPr lang="en-US" dirty="0"/>
              <a:t>Risk factors for developing occupational rhinitis are:</a:t>
            </a:r>
          </a:p>
          <a:p>
            <a:pPr marL="0" indent="0">
              <a:buNone/>
            </a:pPr>
            <a:r>
              <a:rPr lang="en-US" dirty="0" smtClean="0"/>
              <a:t>-Exposure{intensity </a:t>
            </a:r>
            <a:r>
              <a:rPr lang="en-US" dirty="0"/>
              <a:t>&amp; duration}</a:t>
            </a:r>
          </a:p>
          <a:p>
            <a:pPr marL="0" indent="0">
              <a:buNone/>
            </a:pPr>
            <a:r>
              <a:rPr lang="en-US" dirty="0" smtClean="0"/>
              <a:t>-Atopy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-Smoking.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Occupational rhinitis frequently coexists with asthma &amp; </a:t>
            </a:r>
            <a:r>
              <a:rPr lang="en-US" dirty="0" err="1">
                <a:solidFill>
                  <a:prstClr val="black"/>
                </a:solidFill>
              </a:rPr>
              <a:t>conjuctivitis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Prevention is the best approach .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In medical therapy only non sedating antihistamines should be used.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B0F8-8EA9-40B9-A041-96CD9C1C10F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136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    </a:t>
            </a:r>
            <a:r>
              <a:rPr lang="en-US" b="1" dirty="0" smtClean="0"/>
              <a:t>Source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LOGAN TURNER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114" y="1738314"/>
            <a:ext cx="3372286" cy="43513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6AEC9-AA93-473C-958D-D690B8A32A7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A.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9927-015A-4A44-8378-1E8649B29E5E}" type="slidenum">
              <a:rPr lang="en-US" smtClean="0"/>
              <a:t>60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495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</TotalTime>
  <Words>2492</Words>
  <Application>Microsoft Office PowerPoint</Application>
  <PresentationFormat>Widescreen</PresentationFormat>
  <Paragraphs>604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Arial</vt:lpstr>
      <vt:lpstr>Calibri</vt:lpstr>
      <vt:lpstr>Constantia</vt:lpstr>
      <vt:lpstr>Garamond</vt:lpstr>
      <vt:lpstr>新細明體</vt:lpstr>
      <vt:lpstr>Times New Roman</vt:lpstr>
      <vt:lpstr>Wingdings 2</vt:lpstr>
      <vt:lpstr>Office Theme</vt:lpstr>
      <vt:lpstr>Allergic &amp; Non-Allergic Rhinitis</vt:lpstr>
      <vt:lpstr>           learning Objectives </vt:lpstr>
      <vt:lpstr>                    Definition</vt:lpstr>
      <vt:lpstr>   Classification</vt:lpstr>
      <vt:lpstr>PowerPoint Presentation</vt:lpstr>
      <vt:lpstr> Allergic Rhinitis </vt:lpstr>
      <vt:lpstr> Risk factor</vt:lpstr>
      <vt:lpstr> Pathogenesis</vt:lpstr>
      <vt:lpstr> Phase Response</vt:lpstr>
      <vt:lpstr> Clinical Features</vt:lpstr>
      <vt:lpstr>  Signs: </vt:lpstr>
      <vt:lpstr>PowerPoint Presentation</vt:lpstr>
      <vt:lpstr>PowerPoint Presentation</vt:lpstr>
      <vt:lpstr> Types of allergic rhinitis</vt:lpstr>
      <vt:lpstr> Perennial allergic rhinitis:</vt:lpstr>
      <vt:lpstr>  ARIA classification= Allergic Rhinitis &amp; its Impact on Asthma</vt:lpstr>
      <vt:lpstr> Diagnosis</vt:lpstr>
      <vt:lpstr>  History and physical exam  </vt:lpstr>
      <vt:lpstr> I. Skin prick test (SPT)</vt:lpstr>
      <vt:lpstr> (II) Blood tests for allergy</vt:lpstr>
      <vt:lpstr>   Immunoassay vs Skin Test for Diagnosis of Allergy </vt:lpstr>
      <vt:lpstr> (III)Nasal allergen challenge (nasal provocation) test</vt:lpstr>
      <vt:lpstr>   Nasal endoscopy CT scan-Nose and PNS</vt:lpstr>
      <vt:lpstr> Management of allergic rhinitis</vt:lpstr>
      <vt:lpstr>      Globally important sources of allergens</vt:lpstr>
      <vt:lpstr>PowerPoint Presentation</vt:lpstr>
      <vt:lpstr>PowerPoint Presentation</vt:lpstr>
      <vt:lpstr> (I) Avoidance of allergens</vt:lpstr>
      <vt:lpstr> (II) Nasal douching</vt:lpstr>
      <vt:lpstr>       (III) Medical therapy</vt:lpstr>
      <vt:lpstr>   Newer Generation Oral Antihistamines</vt:lpstr>
      <vt:lpstr>             Decongestants: Alpha-2                    Adrenergic Agonists</vt:lpstr>
      <vt:lpstr>PowerPoint Presentation</vt:lpstr>
      <vt:lpstr>         Anti-leukotriene agents</vt:lpstr>
      <vt:lpstr>PowerPoint Presentation</vt:lpstr>
      <vt:lpstr>         Nasal Corticosteroids </vt:lpstr>
      <vt:lpstr>        Intranasal corticosteroid</vt:lpstr>
      <vt:lpstr>PowerPoint Presentation</vt:lpstr>
      <vt:lpstr>PowerPoint Presentation</vt:lpstr>
      <vt:lpstr> (V) Surgery</vt:lpstr>
      <vt:lpstr>        NON-ALLERGIC RHINITIS</vt:lpstr>
      <vt:lpstr>PowerPoint Presentation</vt:lpstr>
      <vt:lpstr>           Vasomotor Rhinitis</vt:lpstr>
      <vt:lpstr>PowerPoint Presentation</vt:lpstr>
      <vt:lpstr>                     Diagnosis</vt:lpstr>
      <vt:lpstr>          Conservative Treatment</vt:lpstr>
      <vt:lpstr>  Surgical Treatment</vt:lpstr>
      <vt:lpstr>                            Atrophic rhinitis</vt:lpstr>
      <vt:lpstr>                 Clinical features</vt:lpstr>
      <vt:lpstr>                                         Pathogenesis </vt:lpstr>
      <vt:lpstr>                     Secondary Atrophic Rhinitis</vt:lpstr>
      <vt:lpstr>                     Diagnosis </vt:lpstr>
      <vt:lpstr>                      Treatment </vt:lpstr>
      <vt:lpstr>               Surgical Treatment</vt:lpstr>
      <vt:lpstr>PowerPoint Presentation</vt:lpstr>
      <vt:lpstr>PowerPoint Presentation</vt:lpstr>
      <vt:lpstr>PowerPoint Presentation</vt:lpstr>
      <vt:lpstr>PowerPoint Presentation</vt:lpstr>
      <vt:lpstr>          Ocupational rhinitis</vt:lpstr>
      <vt:lpstr>               Source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Rhinitis ,Allergic Rhinitis and Nasal Polyp</dc:title>
  <dc:creator>hp</dc:creator>
  <cp:lastModifiedBy>hp</cp:lastModifiedBy>
  <cp:revision>74</cp:revision>
  <dcterms:created xsi:type="dcterms:W3CDTF">2022-09-16T12:50:58Z</dcterms:created>
  <dcterms:modified xsi:type="dcterms:W3CDTF">2025-10-12T20:12:34Z</dcterms:modified>
</cp:coreProperties>
</file>