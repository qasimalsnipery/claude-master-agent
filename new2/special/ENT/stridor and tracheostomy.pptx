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59" r:id="rId4"/>
    <p:sldId id="260" r:id="rId5"/>
    <p:sldId id="262" r:id="rId6"/>
    <p:sldId id="266" r:id="rId7"/>
    <p:sldId id="267" r:id="rId8"/>
    <p:sldId id="268" r:id="rId9"/>
    <p:sldId id="269" r:id="rId10"/>
    <p:sldId id="270" r:id="rId11"/>
    <p:sldId id="271" r:id="rId12"/>
    <p:sldId id="272" r:id="rId13"/>
    <p:sldId id="273" r:id="rId14"/>
    <p:sldId id="274" r:id="rId15"/>
    <p:sldId id="286" r:id="rId16"/>
    <p:sldId id="275" r:id="rId17"/>
    <p:sldId id="276" r:id="rId18"/>
    <p:sldId id="277" r:id="rId19"/>
    <p:sldId id="278" r:id="rId20"/>
    <p:sldId id="279" r:id="rId21"/>
    <p:sldId id="280" r:id="rId22"/>
    <p:sldId id="281" r:id="rId23"/>
    <p:sldId id="282" r:id="rId24"/>
    <p:sldId id="283" r:id="rId25"/>
    <p:sldId id="284" r:id="rId26"/>
    <p:sldId id="285"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16BD8E19-40BD-4EA4-9782-3FB402DB630E}"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6BD8E19-40BD-4EA4-9782-3FB402DB630E}"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6BD8E19-40BD-4EA4-9782-3FB402DB630E}"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6BD8E19-40BD-4EA4-9782-3FB402DB630E}"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447D63A-0027-491C-82B7-6E41043E505E}" type="datetimeFigureOut">
              <a:rPr lang="en-US" smtClean="0"/>
              <a:t>10/21/2025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6BD8E19-40BD-4EA4-9782-3FB402DB630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447D63A-0027-491C-82B7-6E41043E505E}" type="datetimeFigureOut">
              <a:rPr lang="en-US" smtClean="0"/>
              <a:t>10/21/2025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6BD8E19-40BD-4EA4-9782-3FB402DB630E}"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hyperlink" Target="https://www.google.com/url?sa=i&amp;rct=j&amp;q=&amp;esrc=s&amp;source=images&amp;cd=&amp;ved=2ahUKEwjZ3eKb9vHlAhXNbFAKHX3FCkAQjRx6BAgBEAQ&amp;url=https://craighospital.org/resources/tracheostomy-guide&amp;psig=AOvVaw3KMuzIlz83JFTncB27wS55&amp;ust=1574103230775491" TargetMode="Externa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google.com/imgres?imgurl=https://www.stgeorges.nhs.uk/wp-content/uploads/2013/08/trach5-300x248.jpg&amp;imgrefurl=https://www.stgeorges.nhs.uk/gps-and-clinicians/clinical-resources/tracheostomy-guidelines/tracheostomy-tubes/&amp;docid=5rbvEqeqkmg9ZM&amp;tbnid=YCkgVLvcqJdSNM:&amp;vet=10ahUKEwj1qKzQ9fHlAhUOnxQKHYnhCI4QMwiKASgkMCQ..i&amp;w=300&amp;h=248&amp;bih=418&amp;biw=937&amp;q=tracheostomy%20types&amp;ved=0ahUKEwj1qKzQ9fHlAhUOnxQKHYnhCI4QMwiKASgkMCQ&amp;iact=mrc&amp;uact=8"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hyperlink" Target="https://www.google.com/imgres?imgurl=https://d35cnulyv0pa6p.cloudfront.net/products/images/2017/26906/tracheostomy_tube_with_adjustable_flange_long.jpg?87g0t66TZURXXxFkFjGMNW01zfHwMGmj=&amp;imgrefurl=https://www.omniagmd.com/product/tracheostomy-tube-adjustable-flange-long&amp;docid=vnX_p9nteXXgSM&amp;tbnid=_BKXQlQG-uTEsM:&amp;vet=10ahUKEwiC-f_Z-_HlAhUJkRQKHQEfAYYQMwhPKAIwAg..i&amp;w=500&amp;h=335&amp;bih=418&amp;biw=937&amp;q=%20adjustable%20flangrs%20tracheostomy%20tube&amp;ved=0ahUKEwiC-f_Z-_HlAhUJkRQKHQEfAYYQMwhPKAIwAg&amp;iact=mrc&amp;uact=8" TargetMode="External"/><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248400"/>
          </a:xfrm>
        </p:spPr>
        <p:txBody>
          <a:bodyPr/>
          <a:lstStyle/>
          <a:p>
            <a:pPr marL="0" indent="0">
              <a:buNone/>
            </a:pPr>
            <a:r>
              <a:rPr lang="en-US" dirty="0" smtClean="0"/>
              <a:t>            </a:t>
            </a:r>
          </a:p>
          <a:p>
            <a:pPr marL="0" indent="0">
              <a:buNone/>
            </a:pPr>
            <a:r>
              <a:rPr lang="en-US" sz="4000" dirty="0"/>
              <a:t> </a:t>
            </a:r>
            <a:r>
              <a:rPr lang="en-US" sz="4000" dirty="0" smtClean="0"/>
              <a:t>                     </a:t>
            </a:r>
            <a:r>
              <a:rPr lang="en-US" sz="4000" b="1" dirty="0" smtClean="0">
                <a:solidFill>
                  <a:schemeClr val="accent1">
                    <a:lumMod val="75000"/>
                  </a:schemeClr>
                </a:solidFill>
              </a:rPr>
              <a:t>Lecture on </a:t>
            </a:r>
            <a:endParaRPr lang="en-US" sz="4000" b="1" dirty="0">
              <a:solidFill>
                <a:schemeClr val="accent1">
                  <a:lumMod val="75000"/>
                </a:schemeClr>
              </a:solidFill>
            </a:endParaRPr>
          </a:p>
          <a:p>
            <a:pPr marL="0" indent="0">
              <a:buNone/>
            </a:pPr>
            <a:r>
              <a:rPr lang="en-US" dirty="0" smtClean="0"/>
              <a:t>          </a:t>
            </a:r>
            <a:r>
              <a:rPr lang="en-US" sz="4400" b="1" dirty="0" smtClean="0">
                <a:solidFill>
                  <a:schemeClr val="accent1">
                    <a:lumMod val="75000"/>
                  </a:schemeClr>
                </a:solidFill>
              </a:rPr>
              <a:t>Stridor and tracheostomy</a:t>
            </a:r>
          </a:p>
          <a:p>
            <a:pPr marL="0" indent="0">
              <a:buNone/>
            </a:pPr>
            <a:r>
              <a:rPr lang="en-US" sz="4400" b="1" dirty="0" smtClean="0">
                <a:solidFill>
                  <a:schemeClr val="accent1">
                    <a:lumMod val="75000"/>
                  </a:schemeClr>
                </a:solidFill>
              </a:rPr>
              <a:t>             </a:t>
            </a:r>
            <a:r>
              <a:rPr lang="en-US" sz="3600" b="1" dirty="0" smtClean="0">
                <a:solidFill>
                  <a:schemeClr val="accent1">
                    <a:lumMod val="75000"/>
                  </a:schemeClr>
                </a:solidFill>
              </a:rPr>
              <a:t>By </a:t>
            </a:r>
            <a:r>
              <a:rPr lang="en-US" sz="3600" b="1" dirty="0" err="1" smtClean="0">
                <a:solidFill>
                  <a:schemeClr val="accent1">
                    <a:lumMod val="75000"/>
                  </a:schemeClr>
                </a:solidFill>
              </a:rPr>
              <a:t>Dr.Mariwan</a:t>
            </a:r>
            <a:r>
              <a:rPr lang="en-US" sz="3600" b="1" dirty="0" smtClean="0">
                <a:solidFill>
                  <a:schemeClr val="accent1">
                    <a:lumMod val="75000"/>
                  </a:schemeClr>
                </a:solidFill>
              </a:rPr>
              <a:t> </a:t>
            </a:r>
            <a:r>
              <a:rPr lang="en-US" sz="3600" b="1" dirty="0" err="1" smtClean="0">
                <a:solidFill>
                  <a:schemeClr val="accent1">
                    <a:lumMod val="75000"/>
                  </a:schemeClr>
                </a:solidFill>
              </a:rPr>
              <a:t>latif</a:t>
            </a:r>
            <a:r>
              <a:rPr lang="en-US" sz="3600" b="1" dirty="0" smtClean="0">
                <a:solidFill>
                  <a:schemeClr val="accent1">
                    <a:lumMod val="75000"/>
                  </a:schemeClr>
                </a:solidFill>
              </a:rPr>
              <a:t> </a:t>
            </a:r>
            <a:r>
              <a:rPr lang="en-US" sz="3600" b="1" dirty="0" err="1" smtClean="0">
                <a:solidFill>
                  <a:schemeClr val="accent1">
                    <a:lumMod val="75000"/>
                  </a:schemeClr>
                </a:solidFill>
              </a:rPr>
              <a:t>fatah</a:t>
            </a:r>
            <a:r>
              <a:rPr lang="en-US" sz="3600" b="1" dirty="0" smtClean="0">
                <a:solidFill>
                  <a:schemeClr val="accent1">
                    <a:lumMod val="75000"/>
                  </a:schemeClr>
                </a:solidFill>
              </a:rPr>
              <a:t> </a:t>
            </a:r>
          </a:p>
          <a:p>
            <a:pPr marL="0" indent="0">
              <a:buNone/>
            </a:pPr>
            <a:r>
              <a:rPr lang="en-US" sz="3600" b="1" dirty="0" smtClean="0">
                <a:solidFill>
                  <a:schemeClr val="accent1">
                    <a:lumMod val="75000"/>
                  </a:schemeClr>
                </a:solidFill>
              </a:rPr>
              <a:t>                      </a:t>
            </a:r>
            <a:r>
              <a:rPr lang="en-US" sz="3600" b="1" dirty="0" err="1" smtClean="0">
                <a:solidFill>
                  <a:schemeClr val="accent1">
                    <a:lumMod val="75000"/>
                  </a:schemeClr>
                </a:solidFill>
              </a:rPr>
              <a:t>M.B.ch.B</a:t>
            </a:r>
            <a:r>
              <a:rPr lang="en-US" sz="3600" b="1" dirty="0" smtClean="0">
                <a:solidFill>
                  <a:schemeClr val="accent1">
                    <a:lumMod val="75000"/>
                  </a:schemeClr>
                </a:solidFill>
              </a:rPr>
              <a:t>  F.I.C.M.S</a:t>
            </a:r>
            <a:endParaRPr lang="en-US" sz="3600" b="1" dirty="0">
              <a:solidFill>
                <a:schemeClr val="accent1">
                  <a:lumMod val="75000"/>
                </a:schemeClr>
              </a:solidFill>
            </a:endParaRPr>
          </a:p>
        </p:txBody>
      </p:sp>
    </p:spTree>
    <p:extLst>
      <p:ext uri="{BB962C8B-B14F-4D97-AF65-F5344CB8AC3E}">
        <p14:creationId xmlns:p14="http://schemas.microsoft.com/office/powerpoint/2010/main" val="2136644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04800"/>
            <a:ext cx="7772400" cy="6248400"/>
          </a:xfrm>
        </p:spPr>
        <p:txBody>
          <a:bodyPr/>
          <a:lstStyle/>
          <a:p>
            <a:pPr marL="0" indent="0">
              <a:buNone/>
            </a:pPr>
            <a:r>
              <a:rPr lang="en-US" dirty="0" smtClean="0"/>
              <a:t>      </a:t>
            </a:r>
          </a:p>
          <a:p>
            <a:pPr marL="0" indent="0">
              <a:buNone/>
            </a:pPr>
            <a:r>
              <a:rPr lang="en-US" sz="4400" dirty="0">
                <a:solidFill>
                  <a:srgbClr val="C00000"/>
                </a:solidFill>
              </a:rPr>
              <a:t> </a:t>
            </a:r>
            <a:r>
              <a:rPr lang="en-US" sz="4400" dirty="0" smtClean="0">
                <a:solidFill>
                  <a:srgbClr val="C00000"/>
                </a:solidFill>
              </a:rPr>
              <a:t>  Stridor:</a:t>
            </a:r>
          </a:p>
          <a:p>
            <a:r>
              <a:rPr lang="en-US" sz="2400" dirty="0" smtClean="0"/>
              <a:t>A harsh, high pitched musical sound that results from turbulent airflow through a partially obstructed  airway.</a:t>
            </a:r>
          </a:p>
          <a:p>
            <a:r>
              <a:rPr lang="en-US" sz="2400" dirty="0" smtClean="0"/>
              <a:t>Etiology may range from mild illness to severe, life-threatening situation</a:t>
            </a:r>
          </a:p>
          <a:p>
            <a:pPr marL="82296" indent="0">
              <a:buNone/>
            </a:pPr>
            <a:endParaRPr lang="en-US" sz="2400" dirty="0"/>
          </a:p>
        </p:txBody>
      </p:sp>
    </p:spTree>
    <p:extLst>
      <p:ext uri="{BB962C8B-B14F-4D97-AF65-F5344CB8AC3E}">
        <p14:creationId xmlns:p14="http://schemas.microsoft.com/office/powerpoint/2010/main" val="2393315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7848600" cy="6477000"/>
          </a:xfrm>
        </p:spPr>
        <p:txBody>
          <a:bodyPr/>
          <a:lstStyle/>
          <a:p>
            <a:pPr marL="0" indent="0">
              <a:buNone/>
            </a:pPr>
            <a:r>
              <a:rPr lang="en-US" dirty="0" smtClean="0"/>
              <a:t>               </a:t>
            </a:r>
            <a:r>
              <a:rPr lang="en-US" sz="4000" b="1" dirty="0" smtClean="0">
                <a:solidFill>
                  <a:srgbClr val="7030A0"/>
                </a:solidFill>
              </a:rPr>
              <a:t>Types of stridor </a:t>
            </a:r>
          </a:p>
          <a:p>
            <a:pPr marL="0" indent="0">
              <a:buNone/>
            </a:pPr>
            <a:r>
              <a:rPr lang="en-US" sz="4000" dirty="0" smtClean="0">
                <a:solidFill>
                  <a:srgbClr val="C00000"/>
                </a:solidFill>
              </a:rPr>
              <a:t>      Inspiratory stridor:</a:t>
            </a:r>
          </a:p>
          <a:p>
            <a:r>
              <a:rPr lang="en-US" sz="2400" dirty="0" smtClean="0"/>
              <a:t>It is often produced in obstructive lesion of supraglottis or pharynx.</a:t>
            </a:r>
          </a:p>
          <a:p>
            <a:pPr marL="0" indent="0">
              <a:buNone/>
            </a:pPr>
            <a:r>
              <a:rPr lang="en-US" sz="4000" dirty="0" smtClean="0">
                <a:solidFill>
                  <a:srgbClr val="C00000"/>
                </a:solidFill>
              </a:rPr>
              <a:t>       Expiratory stridor:</a:t>
            </a:r>
          </a:p>
          <a:p>
            <a:r>
              <a:rPr lang="en-US" sz="2400" dirty="0" smtClean="0"/>
              <a:t>It is produced in lesion of thoracic trachea  and bronchi.</a:t>
            </a:r>
          </a:p>
          <a:p>
            <a:pPr marL="0" indent="0">
              <a:buNone/>
            </a:pPr>
            <a:endParaRPr lang="en-US" sz="2400" dirty="0" smtClean="0"/>
          </a:p>
          <a:p>
            <a:pPr marL="0" indent="0">
              <a:buNone/>
            </a:pPr>
            <a:r>
              <a:rPr lang="en-US" sz="4000" dirty="0" smtClean="0">
                <a:solidFill>
                  <a:srgbClr val="C00000"/>
                </a:solidFill>
              </a:rPr>
              <a:t>        Biphasic  stridor:</a:t>
            </a:r>
          </a:p>
          <a:p>
            <a:r>
              <a:rPr lang="en-US" sz="2400" dirty="0" smtClean="0"/>
              <a:t>It is seen in lesion of glottis , </a:t>
            </a:r>
            <a:r>
              <a:rPr lang="en-US" sz="2400" dirty="0" err="1" smtClean="0"/>
              <a:t>subglottis</a:t>
            </a:r>
            <a:r>
              <a:rPr lang="en-US" sz="2400" dirty="0"/>
              <a:t> </a:t>
            </a:r>
            <a:r>
              <a:rPr lang="en-US" sz="2400" dirty="0" smtClean="0"/>
              <a:t>and cervical trachea.</a:t>
            </a:r>
          </a:p>
          <a:p>
            <a:pPr marL="0" indent="0">
              <a:buNone/>
            </a:pPr>
            <a:endParaRPr lang="en-US" sz="2400" dirty="0"/>
          </a:p>
        </p:txBody>
      </p:sp>
    </p:spTree>
    <p:extLst>
      <p:ext uri="{BB962C8B-B14F-4D97-AF65-F5344CB8AC3E}">
        <p14:creationId xmlns:p14="http://schemas.microsoft.com/office/powerpoint/2010/main" val="15707820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6321" y="304800"/>
            <a:ext cx="8077200" cy="5943600"/>
          </a:xfrm>
        </p:spPr>
        <p:txBody>
          <a:bodyPr/>
          <a:lstStyle/>
          <a:p>
            <a:pPr marL="82296" indent="0">
              <a:buNone/>
            </a:pPr>
            <a:r>
              <a:rPr lang="en-US" sz="2400" dirty="0" smtClean="0"/>
              <a:t>Common causes of stridor in infant and </a:t>
            </a:r>
            <a:r>
              <a:rPr lang="en-US" sz="2400" dirty="0" err="1" smtClean="0"/>
              <a:t>chlidren</a:t>
            </a:r>
            <a:endParaRPr lang="en-US" sz="2400" dirty="0" smtClean="0"/>
          </a:p>
          <a:p>
            <a:endParaRPr lang="en-US" dirty="0"/>
          </a:p>
        </p:txBody>
      </p:sp>
      <p:pic>
        <p:nvPicPr>
          <p:cNvPr id="5" name="Content Placeholder 8">
            <a:extLst>
              <a:ext uri="{FF2B5EF4-FFF2-40B4-BE49-F238E27FC236}">
                <a16:creationId xmlns:lc="http://schemas.openxmlformats.org/drawingml/2006/lockedCanvas" xmlns:a16="http://schemas.microsoft.com/office/drawing/2014/main" xmlns="" id="{35B6DA90-E7B8-441B-AEB6-A720DD8BBD71}"/>
              </a:ext>
            </a:extLst>
          </p:cNvPr>
          <p:cNvPicPr>
            <a:picLocks noGrp="1" noChangeAspect="1"/>
          </p:cNvPicPr>
          <p:nvPr/>
        </p:nvPicPr>
        <p:blipFill rotWithShape="1">
          <a:blip r:embed="rId2"/>
          <a:srcRect t="13142" b="3880"/>
          <a:stretch/>
        </p:blipFill>
        <p:spPr>
          <a:xfrm>
            <a:off x="1174988" y="914400"/>
            <a:ext cx="7913594" cy="55996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1853154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a:t>
            </a:r>
            <a:endParaRPr lang="en-US" dirty="0"/>
          </a:p>
        </p:txBody>
      </p:sp>
      <p:sp>
        <p:nvSpPr>
          <p:cNvPr id="3" name="Content Placeholder 2"/>
          <p:cNvSpPr>
            <a:spLocks noGrp="1"/>
          </p:cNvSpPr>
          <p:nvPr>
            <p:ph idx="1"/>
          </p:nvPr>
        </p:nvSpPr>
        <p:spPr>
          <a:xfrm>
            <a:off x="990600" y="533400"/>
            <a:ext cx="7943088" cy="5715000"/>
          </a:xfrm>
        </p:spPr>
        <p:txBody>
          <a:bodyPr>
            <a:normAutofit/>
          </a:bodyPr>
          <a:lstStyle/>
          <a:p>
            <a:pPr marL="82296" lvl="0" indent="0">
              <a:buNone/>
            </a:pPr>
            <a:endParaRPr lang="en-US" sz="2400" dirty="0"/>
          </a:p>
          <a:p>
            <a:pPr lvl="0"/>
            <a:endParaRPr lang="en-US" sz="2400" dirty="0" smtClean="0"/>
          </a:p>
          <a:p>
            <a:pPr lvl="0"/>
            <a:r>
              <a:rPr lang="en-US" sz="2400" dirty="0" smtClean="0"/>
              <a:t>History </a:t>
            </a:r>
            <a:r>
              <a:rPr lang="en-US" sz="2400" dirty="0"/>
              <a:t>&amp; Examination </a:t>
            </a:r>
          </a:p>
          <a:p>
            <a:pPr lvl="0"/>
            <a:r>
              <a:rPr lang="en-US" sz="2400" dirty="0" smtClean="0"/>
              <a:t>Flexible </a:t>
            </a:r>
            <a:r>
              <a:rPr lang="en-US" sz="2400" dirty="0" err="1"/>
              <a:t>fiberoptic</a:t>
            </a:r>
            <a:r>
              <a:rPr lang="en-US" sz="2400" dirty="0"/>
              <a:t> laryngoscopy </a:t>
            </a:r>
          </a:p>
          <a:p>
            <a:pPr lvl="0"/>
            <a:r>
              <a:rPr lang="en-US" sz="2400" dirty="0"/>
              <a:t>Direct laryngoscopy with rigid bronchoscopy</a:t>
            </a:r>
          </a:p>
          <a:p>
            <a:pPr lvl="0"/>
            <a:r>
              <a:rPr lang="en-US" sz="2400" dirty="0"/>
              <a:t>Barium </a:t>
            </a:r>
            <a:r>
              <a:rPr lang="en-US" sz="2400" dirty="0" err="1"/>
              <a:t>esophagram</a:t>
            </a:r>
            <a:r>
              <a:rPr lang="en-US" sz="2400" dirty="0"/>
              <a:t> </a:t>
            </a:r>
          </a:p>
          <a:p>
            <a:pPr lvl="0"/>
            <a:r>
              <a:rPr lang="en-US" sz="2400" dirty="0"/>
              <a:t>CT neck and chest</a:t>
            </a:r>
          </a:p>
          <a:p>
            <a:endParaRPr lang="en-US" sz="2400" dirty="0"/>
          </a:p>
        </p:txBody>
      </p:sp>
    </p:spTree>
    <p:extLst>
      <p:ext uri="{BB962C8B-B14F-4D97-AF65-F5344CB8AC3E}">
        <p14:creationId xmlns:p14="http://schemas.microsoft.com/office/powerpoint/2010/main" val="189378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81000"/>
            <a:ext cx="7848600" cy="6096000"/>
          </a:xfrm>
        </p:spPr>
        <p:txBody>
          <a:bodyPr/>
          <a:lstStyle/>
          <a:p>
            <a:pPr marL="82296" indent="0">
              <a:buNone/>
            </a:pPr>
            <a:r>
              <a:rPr lang="en-US" dirty="0" smtClean="0"/>
              <a:t>  </a:t>
            </a:r>
            <a:r>
              <a:rPr lang="en-US" b="1" dirty="0" smtClean="0">
                <a:solidFill>
                  <a:srgbClr val="7030A0"/>
                </a:solidFill>
              </a:rPr>
              <a:t>MANAGEMENT</a:t>
            </a:r>
          </a:p>
          <a:p>
            <a:pPr marL="0" indent="0">
              <a:lnSpc>
                <a:spcPct val="200000"/>
              </a:lnSpc>
              <a:buNone/>
            </a:pPr>
            <a:r>
              <a:rPr lang="en-US" dirty="0"/>
              <a:t> </a:t>
            </a:r>
            <a:r>
              <a:rPr lang="en-US" sz="2400" dirty="0"/>
              <a:t>Maintain Airway</a:t>
            </a:r>
          </a:p>
          <a:p>
            <a:pPr marL="0" indent="0">
              <a:lnSpc>
                <a:spcPct val="200000"/>
              </a:lnSpc>
              <a:buNone/>
            </a:pPr>
            <a:r>
              <a:rPr lang="en-US" sz="2400" dirty="0"/>
              <a:t> Positioning of neck and body </a:t>
            </a:r>
          </a:p>
          <a:p>
            <a:pPr marL="0" indent="0">
              <a:lnSpc>
                <a:spcPct val="200000"/>
              </a:lnSpc>
              <a:buNone/>
            </a:pPr>
            <a:r>
              <a:rPr lang="en-US" sz="2400" dirty="0"/>
              <a:t> Supplemental Oxygen as needed </a:t>
            </a:r>
          </a:p>
          <a:p>
            <a:pPr marL="0" indent="0">
              <a:lnSpc>
                <a:spcPct val="200000"/>
              </a:lnSpc>
              <a:buNone/>
            </a:pPr>
            <a:r>
              <a:rPr lang="en-US" sz="2400" dirty="0"/>
              <a:t> Stridor has varied etiology hence specific </a:t>
            </a:r>
            <a:r>
              <a:rPr lang="en-US" sz="2400" dirty="0" smtClean="0"/>
              <a:t>management depends </a:t>
            </a:r>
            <a:r>
              <a:rPr lang="en-US" sz="2400" dirty="0"/>
              <a:t>on the cause</a:t>
            </a:r>
            <a:r>
              <a:rPr lang="en-US" dirty="0"/>
              <a:t>.</a:t>
            </a:r>
          </a:p>
          <a:p>
            <a:endParaRPr lang="en-US" dirty="0"/>
          </a:p>
        </p:txBody>
      </p:sp>
    </p:spTree>
    <p:extLst>
      <p:ext uri="{BB962C8B-B14F-4D97-AF65-F5344CB8AC3E}">
        <p14:creationId xmlns:p14="http://schemas.microsoft.com/office/powerpoint/2010/main" val="2700556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81000"/>
            <a:ext cx="7790688" cy="6096000"/>
          </a:xfrm>
        </p:spPr>
        <p:txBody>
          <a:bodyPr/>
          <a:lstStyle/>
          <a:p>
            <a:endParaRPr lang="en-US" b="1" dirty="0" smtClean="0">
              <a:solidFill>
                <a:srgbClr val="0070C0"/>
              </a:solidFill>
            </a:endParaRPr>
          </a:p>
          <a:p>
            <a:pPr marL="82296" indent="0">
              <a:buNone/>
            </a:pPr>
            <a:r>
              <a:rPr lang="en-US" b="1" dirty="0">
                <a:solidFill>
                  <a:srgbClr val="0070C0"/>
                </a:solidFill>
              </a:rPr>
              <a:t> </a:t>
            </a:r>
            <a:r>
              <a:rPr lang="en-US" b="1" dirty="0" smtClean="0">
                <a:solidFill>
                  <a:srgbClr val="0070C0"/>
                </a:solidFill>
              </a:rPr>
              <a:t>                 </a:t>
            </a:r>
          </a:p>
          <a:p>
            <a:pPr marL="82296" indent="0">
              <a:buNone/>
            </a:pPr>
            <a:endParaRPr lang="en-US" b="1" dirty="0">
              <a:solidFill>
                <a:srgbClr val="0070C0"/>
              </a:solidFill>
            </a:endParaRPr>
          </a:p>
          <a:p>
            <a:pPr marL="82296" indent="0">
              <a:buNone/>
            </a:pPr>
            <a:r>
              <a:rPr lang="en-US" sz="5400" b="1" dirty="0" smtClean="0">
                <a:solidFill>
                  <a:srgbClr val="0070C0"/>
                </a:solidFill>
              </a:rPr>
              <a:t>       Tracheostomy</a:t>
            </a:r>
            <a:endParaRPr lang="en-US" sz="5400" b="1" dirty="0">
              <a:solidFill>
                <a:srgbClr val="0070C0"/>
              </a:solidFill>
            </a:endParaRPr>
          </a:p>
          <a:p>
            <a:endParaRPr lang="en-US" sz="5400" dirty="0"/>
          </a:p>
        </p:txBody>
      </p:sp>
    </p:spTree>
    <p:extLst>
      <p:ext uri="{BB962C8B-B14F-4D97-AF65-F5344CB8AC3E}">
        <p14:creationId xmlns:p14="http://schemas.microsoft.com/office/powerpoint/2010/main" val="13612500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81000"/>
            <a:ext cx="7714488" cy="6172200"/>
          </a:xfrm>
        </p:spPr>
        <p:txBody>
          <a:bodyPr/>
          <a:lstStyle/>
          <a:p>
            <a:pPr marL="0" indent="0">
              <a:buNone/>
            </a:pPr>
            <a:endParaRPr lang="en-US" b="1" dirty="0" smtClean="0">
              <a:solidFill>
                <a:srgbClr val="00B0F0"/>
              </a:solidFill>
            </a:endParaRPr>
          </a:p>
          <a:p>
            <a:pPr marL="0" indent="0">
              <a:buNone/>
            </a:pPr>
            <a:r>
              <a:rPr lang="en-US" b="1" dirty="0">
                <a:solidFill>
                  <a:srgbClr val="00B0F0"/>
                </a:solidFill>
              </a:rPr>
              <a:t> </a:t>
            </a:r>
            <a:r>
              <a:rPr lang="en-US" b="1" dirty="0" smtClean="0">
                <a:solidFill>
                  <a:srgbClr val="00B0F0"/>
                </a:solidFill>
              </a:rPr>
              <a:t> Tracheotomy</a:t>
            </a:r>
            <a:r>
              <a:rPr lang="en-US" b="1" dirty="0" smtClean="0"/>
              <a:t> </a:t>
            </a:r>
            <a:endParaRPr lang="en-US" b="1" dirty="0"/>
          </a:p>
          <a:p>
            <a:r>
              <a:rPr lang="en-US" sz="2400" dirty="0"/>
              <a:t>is the term used to describe the surgical opening of the trachea. </a:t>
            </a:r>
          </a:p>
          <a:p>
            <a:pPr marL="82296" indent="0">
              <a:buNone/>
            </a:pPr>
            <a:r>
              <a:rPr lang="en-US" b="1" dirty="0" smtClean="0">
                <a:solidFill>
                  <a:srgbClr val="FF0000"/>
                </a:solidFill>
              </a:rPr>
              <a:t>  Tracheostomy</a:t>
            </a:r>
            <a:r>
              <a:rPr lang="en-US" dirty="0" smtClean="0"/>
              <a:t> </a:t>
            </a:r>
          </a:p>
          <a:p>
            <a:r>
              <a:rPr lang="en-US" sz="2400" dirty="0" smtClean="0"/>
              <a:t>is </a:t>
            </a:r>
            <a:r>
              <a:rPr lang="en-US" sz="2400" dirty="0"/>
              <a:t>used to describe the creation of a stoma at the skin surface which leads into the trachea</a:t>
            </a:r>
          </a:p>
        </p:txBody>
      </p:sp>
    </p:spTree>
    <p:extLst>
      <p:ext uri="{BB962C8B-B14F-4D97-AF65-F5344CB8AC3E}">
        <p14:creationId xmlns:p14="http://schemas.microsoft.com/office/powerpoint/2010/main" val="38536389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81000"/>
            <a:ext cx="7790688" cy="6172200"/>
          </a:xfrm>
        </p:spPr>
        <p:txBody>
          <a:bodyPr>
            <a:normAutofit/>
          </a:bodyPr>
          <a:lstStyle/>
          <a:p>
            <a:pPr marL="0" indent="0">
              <a:buNone/>
            </a:pPr>
            <a:r>
              <a:rPr lang="en-US" b="1" dirty="0" smtClean="0">
                <a:solidFill>
                  <a:srgbClr val="FF0000"/>
                </a:solidFill>
              </a:rPr>
              <a:t>           </a:t>
            </a:r>
          </a:p>
          <a:p>
            <a:pPr marL="0" indent="0">
              <a:buNone/>
            </a:pPr>
            <a:r>
              <a:rPr lang="en-US" b="1" dirty="0">
                <a:solidFill>
                  <a:srgbClr val="FF0000"/>
                </a:solidFill>
              </a:rPr>
              <a:t> </a:t>
            </a:r>
            <a:r>
              <a:rPr lang="en-US" b="1" dirty="0" smtClean="0">
                <a:solidFill>
                  <a:srgbClr val="FF0000"/>
                </a:solidFill>
              </a:rPr>
              <a:t>        Types of tracheostomy</a:t>
            </a:r>
          </a:p>
          <a:p>
            <a:pPr marL="0" indent="0">
              <a:buNone/>
            </a:pPr>
            <a:r>
              <a:rPr lang="en-US" b="1" dirty="0" smtClean="0">
                <a:solidFill>
                  <a:srgbClr val="FF0000"/>
                </a:solidFill>
              </a:rPr>
              <a:t>   Temporary </a:t>
            </a:r>
            <a:r>
              <a:rPr lang="en-US" b="1" dirty="0">
                <a:solidFill>
                  <a:srgbClr val="FF0000"/>
                </a:solidFill>
              </a:rPr>
              <a:t>tracheostomy</a:t>
            </a:r>
          </a:p>
          <a:p>
            <a:r>
              <a:rPr lang="en-US" sz="2400" dirty="0"/>
              <a:t>Temporary tracheostomy may be either elective or emergency</a:t>
            </a:r>
          </a:p>
          <a:p>
            <a:pPr marL="0" indent="0">
              <a:buNone/>
            </a:pPr>
            <a:r>
              <a:rPr lang="en-US" dirty="0"/>
              <a:t>    </a:t>
            </a:r>
            <a:r>
              <a:rPr lang="en-US" b="1" dirty="0">
                <a:solidFill>
                  <a:srgbClr val="7030A0"/>
                </a:solidFill>
              </a:rPr>
              <a:t>Permanent tracheostomy</a:t>
            </a:r>
          </a:p>
          <a:p>
            <a:r>
              <a:rPr lang="en-US" sz="2400" dirty="0"/>
              <a:t>Permanent tracheostomy is an elective procedure carried out as part of an operation involving removal of the larynx, such as a </a:t>
            </a:r>
            <a:r>
              <a:rPr lang="en-US" sz="2400" dirty="0" err="1"/>
              <a:t>laryngectomy</a:t>
            </a:r>
            <a:r>
              <a:rPr lang="en-US" sz="2400" dirty="0"/>
              <a:t> or </a:t>
            </a:r>
            <a:r>
              <a:rPr lang="en-US" sz="2400" dirty="0" err="1"/>
              <a:t>laryngopharyngectomy</a:t>
            </a:r>
            <a:r>
              <a:rPr lang="en-US" sz="2400" dirty="0"/>
              <a:t>, or as part of a diversion procedure for aspiration problems.</a:t>
            </a:r>
          </a:p>
          <a:p>
            <a:endParaRPr lang="en-US" dirty="0"/>
          </a:p>
        </p:txBody>
      </p:sp>
    </p:spTree>
    <p:extLst>
      <p:ext uri="{BB962C8B-B14F-4D97-AF65-F5344CB8AC3E}">
        <p14:creationId xmlns:p14="http://schemas.microsoft.com/office/powerpoint/2010/main" val="8776956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04800"/>
            <a:ext cx="7714488" cy="6248400"/>
          </a:xfrm>
        </p:spPr>
        <p:txBody>
          <a:bodyPr/>
          <a:lstStyle/>
          <a:p>
            <a:pPr marL="0" indent="0">
              <a:buNone/>
            </a:pPr>
            <a:r>
              <a:rPr lang="en-US" dirty="0"/>
              <a:t> </a:t>
            </a:r>
          </a:p>
          <a:p>
            <a:pPr marL="0" indent="0">
              <a:buNone/>
            </a:pPr>
            <a:r>
              <a:rPr lang="en-US" dirty="0"/>
              <a:t>  </a:t>
            </a:r>
            <a:r>
              <a:rPr lang="en-US" b="1" dirty="0">
                <a:solidFill>
                  <a:srgbClr val="7030A0"/>
                </a:solidFill>
              </a:rPr>
              <a:t>INDICATIONS</a:t>
            </a:r>
          </a:p>
          <a:p>
            <a:pPr marL="514350" indent="-514350">
              <a:buFont typeface="+mj-lt"/>
              <a:buAutoNum type="arabicPeriod"/>
            </a:pPr>
            <a:r>
              <a:rPr lang="en-US" dirty="0"/>
              <a:t>Upper airway obstruction</a:t>
            </a:r>
          </a:p>
          <a:p>
            <a:pPr marL="514350" indent="-514350">
              <a:buFont typeface="+mj-lt"/>
              <a:buAutoNum type="arabicPeriod"/>
            </a:pPr>
            <a:r>
              <a:rPr lang="en-US" dirty="0"/>
              <a:t>Removal of secretions</a:t>
            </a:r>
          </a:p>
          <a:p>
            <a:pPr marL="514350" indent="-514350">
              <a:buFont typeface="+mj-lt"/>
              <a:buAutoNum type="arabicPeriod"/>
            </a:pPr>
            <a:r>
              <a:rPr lang="en-US" dirty="0"/>
              <a:t>Prolonged ventilation</a:t>
            </a:r>
          </a:p>
          <a:p>
            <a:pPr marL="514350" indent="-514350">
              <a:buFont typeface="+mj-lt"/>
              <a:buAutoNum type="arabicPeriod"/>
            </a:pPr>
            <a:r>
              <a:rPr lang="en-US" dirty="0"/>
              <a:t>Part of </a:t>
            </a:r>
            <a:r>
              <a:rPr lang="en-US" dirty="0" smtClean="0"/>
              <a:t>another surgical procedure in the head and neck.</a:t>
            </a:r>
            <a:endParaRPr lang="en-US" dirty="0"/>
          </a:p>
          <a:p>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214801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81000"/>
            <a:ext cx="7790688" cy="6096000"/>
          </a:xfrm>
        </p:spPr>
        <p:txBody>
          <a:bodyPr/>
          <a:lstStyle/>
          <a:p>
            <a:pPr marL="0" indent="0">
              <a:buNone/>
            </a:pPr>
            <a:r>
              <a:rPr lang="en-US" b="1" dirty="0">
                <a:solidFill>
                  <a:srgbClr val="7030A0"/>
                </a:solidFill>
              </a:rPr>
              <a:t> </a:t>
            </a:r>
            <a:r>
              <a:rPr lang="en-US" b="1" dirty="0" err="1" smtClean="0">
                <a:solidFill>
                  <a:srgbClr val="7030A0"/>
                </a:solidFill>
              </a:rPr>
              <a:t>Cricothyroidotomy</a:t>
            </a:r>
            <a:r>
              <a:rPr lang="en-US" b="1" dirty="0" smtClean="0">
                <a:solidFill>
                  <a:srgbClr val="7030A0"/>
                </a:solidFill>
              </a:rPr>
              <a:t> </a:t>
            </a:r>
            <a:r>
              <a:rPr lang="en-US" b="1" dirty="0" err="1">
                <a:solidFill>
                  <a:srgbClr val="7030A0"/>
                </a:solidFill>
              </a:rPr>
              <a:t>Minitracheostomy</a:t>
            </a:r>
            <a:endParaRPr lang="en-US" b="1" dirty="0">
              <a:solidFill>
                <a:srgbClr val="7030A0"/>
              </a:solidFill>
            </a:endParaRPr>
          </a:p>
          <a:p>
            <a:r>
              <a:rPr lang="en-US" sz="2400" dirty="0"/>
              <a:t>In an emergency, rapid entry to the airway can be achieved through the </a:t>
            </a:r>
            <a:r>
              <a:rPr lang="en-US" sz="2400" dirty="0" err="1"/>
              <a:t>cricothyroid</a:t>
            </a:r>
            <a:r>
              <a:rPr lang="en-US" sz="2400" dirty="0"/>
              <a:t> membrane. </a:t>
            </a:r>
          </a:p>
          <a:p>
            <a:r>
              <a:rPr lang="en-US" sz="2400" dirty="0"/>
              <a:t>Once the </a:t>
            </a:r>
            <a:r>
              <a:rPr lang="en-US" sz="2400" dirty="0" err="1"/>
              <a:t>cricothyroid</a:t>
            </a:r>
            <a:r>
              <a:rPr lang="en-US" sz="2400" dirty="0"/>
              <a:t> has been breached the airway can be maintained either with a </a:t>
            </a:r>
            <a:r>
              <a:rPr lang="en-US" sz="2400" dirty="0" err="1"/>
              <a:t>minitracheostomy</a:t>
            </a:r>
            <a:r>
              <a:rPr lang="en-US" sz="2400" dirty="0"/>
              <a:t> tube or a large-bore cannula</a:t>
            </a:r>
            <a:r>
              <a:rPr lang="en-US" dirty="0"/>
              <a:t>.</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109" y="3048000"/>
            <a:ext cx="4267200" cy="2460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290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533400"/>
            <a:ext cx="7638288" cy="5943600"/>
          </a:xfrm>
        </p:spPr>
        <p:txBody>
          <a:bodyPr/>
          <a:lstStyle/>
          <a:p>
            <a:pPr marL="0" indent="0">
              <a:buNone/>
            </a:pPr>
            <a:r>
              <a:rPr lang="en-US" b="1" dirty="0">
                <a:solidFill>
                  <a:srgbClr val="7030A0"/>
                </a:solidFill>
              </a:rPr>
              <a:t> </a:t>
            </a:r>
          </a:p>
          <a:p>
            <a:pPr marL="0" indent="0">
              <a:buNone/>
            </a:pPr>
            <a:r>
              <a:rPr lang="en-US" b="1" dirty="0">
                <a:solidFill>
                  <a:srgbClr val="7030A0"/>
                </a:solidFill>
              </a:rPr>
              <a:t>   Technique</a:t>
            </a:r>
          </a:p>
          <a:p>
            <a:r>
              <a:rPr lang="en-US" sz="2400" dirty="0"/>
              <a:t>Percutaneous tracheostomy(minimally invasive)</a:t>
            </a:r>
          </a:p>
          <a:p>
            <a:r>
              <a:rPr lang="en-US" sz="2400" dirty="0"/>
              <a:t>Open tracheostomy.  </a:t>
            </a:r>
          </a:p>
          <a:p>
            <a:endParaRPr lang="en-US" sz="2400" dirty="0"/>
          </a:p>
        </p:txBody>
      </p:sp>
    </p:spTree>
    <p:extLst>
      <p:ext uri="{BB962C8B-B14F-4D97-AF65-F5344CB8AC3E}">
        <p14:creationId xmlns:p14="http://schemas.microsoft.com/office/powerpoint/2010/main" val="10738009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04800"/>
            <a:ext cx="7790688" cy="6248400"/>
          </a:xfrm>
        </p:spPr>
        <p:txBody>
          <a:bodyPr/>
          <a:lstStyle/>
          <a:p>
            <a:pPr marL="82296" indent="0">
              <a:buNone/>
            </a:pPr>
            <a:r>
              <a:rPr lang="en-US" dirty="0" smtClean="0"/>
              <a:t>    </a:t>
            </a:r>
            <a:r>
              <a:rPr lang="en-US" b="1" dirty="0" smtClean="0">
                <a:solidFill>
                  <a:srgbClr val="C00000"/>
                </a:solidFill>
              </a:rPr>
              <a:t>Open surgical technique </a:t>
            </a:r>
          </a:p>
          <a:p>
            <a:r>
              <a:rPr lang="en-US" sz="2400" dirty="0"/>
              <a:t>The should be </a:t>
            </a:r>
            <a:r>
              <a:rPr lang="en-US" sz="2400" dirty="0" smtClean="0"/>
              <a:t>positioned on </a:t>
            </a:r>
            <a:r>
              <a:rPr lang="en-US" sz="2400" dirty="0"/>
              <a:t>the operating table, with a </a:t>
            </a:r>
            <a:r>
              <a:rPr lang="en-US" sz="2400" dirty="0" smtClean="0"/>
              <a:t>sandbag under the shoulders </a:t>
            </a:r>
            <a:r>
              <a:rPr lang="en-US" sz="2400" dirty="0"/>
              <a:t>for neck </a:t>
            </a:r>
            <a:r>
              <a:rPr lang="en-US" sz="2400" dirty="0" smtClean="0"/>
              <a:t>extension.</a:t>
            </a:r>
          </a:p>
          <a:p>
            <a:endParaRPr lang="en-US" sz="2400" dirty="0" smtClean="0"/>
          </a:p>
          <a:p>
            <a:r>
              <a:rPr lang="en-US" sz="2400" dirty="0"/>
              <a:t>The surface anatomy should be marked on the skin surface to highlight the position of the lower border of the cricoid cartilage and the suprasternal </a:t>
            </a:r>
            <a:r>
              <a:rPr lang="en-US" sz="2400" dirty="0" smtClean="0"/>
              <a:t>notch.</a:t>
            </a:r>
          </a:p>
          <a:p>
            <a:r>
              <a:rPr lang="en-US" sz="2400" dirty="0"/>
              <a:t>The horizontal incision is sited midway between these </a:t>
            </a:r>
            <a:r>
              <a:rPr lang="en-US" sz="2400" dirty="0" smtClean="0"/>
              <a:t>landmarks.</a:t>
            </a:r>
          </a:p>
          <a:p>
            <a:endParaRPr lang="en-US" sz="2400" dirty="0" smtClean="0"/>
          </a:p>
          <a:p>
            <a:r>
              <a:rPr lang="en-US" sz="2400" dirty="0"/>
              <a:t>It is useful in elective cases to infiltrate the incision line with adrenaline to aid </a:t>
            </a:r>
            <a:r>
              <a:rPr lang="en-US" sz="2400" dirty="0" err="1"/>
              <a:t>haemostasis</a:t>
            </a:r>
            <a:endParaRPr lang="en-US" sz="2400" dirty="0"/>
          </a:p>
        </p:txBody>
      </p:sp>
    </p:spTree>
    <p:extLst>
      <p:ext uri="{BB962C8B-B14F-4D97-AF65-F5344CB8AC3E}">
        <p14:creationId xmlns:p14="http://schemas.microsoft.com/office/powerpoint/2010/main" val="2278427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90688" cy="6400800"/>
          </a:xfrm>
        </p:spPr>
        <p:txBody>
          <a:bodyPr>
            <a:normAutofit/>
          </a:bodyPr>
          <a:lstStyle/>
          <a:p>
            <a:r>
              <a:rPr lang="en-US" sz="2400" dirty="0"/>
              <a:t>In a true emergency tracheostomy it is useful to employ a midline vertical incision and cut down directly onto the surface of the trachea, thus gaining rapid control of the </a:t>
            </a:r>
            <a:r>
              <a:rPr lang="en-US" sz="2400" dirty="0" smtClean="0"/>
              <a:t>airway.</a:t>
            </a:r>
          </a:p>
          <a:p>
            <a:r>
              <a:rPr lang="en-US" sz="2400" dirty="0"/>
              <a:t>The skin and subcutaneous tissues are divided horizontally to the depth of the strap </a:t>
            </a:r>
            <a:r>
              <a:rPr lang="en-US" sz="2400" dirty="0" smtClean="0"/>
              <a:t>muscles.</a:t>
            </a:r>
          </a:p>
          <a:p>
            <a:r>
              <a:rPr lang="en-US" sz="2400" dirty="0"/>
              <a:t>The strap muscles are separated vertically by blunt dissection in the midline</a:t>
            </a:r>
            <a:r>
              <a:rPr lang="en-US" sz="2400" dirty="0" smtClean="0"/>
              <a:t>.</a:t>
            </a:r>
          </a:p>
          <a:p>
            <a:r>
              <a:rPr lang="en-US" sz="2400" dirty="0"/>
              <a:t>thyroid isthmus is identified, and this should be divided between clamps and the ends </a:t>
            </a:r>
            <a:r>
              <a:rPr lang="en-US" sz="2400" dirty="0" err="1" smtClean="0"/>
              <a:t>oversewn</a:t>
            </a:r>
            <a:r>
              <a:rPr lang="en-US" sz="2400" dirty="0" smtClean="0"/>
              <a:t>.</a:t>
            </a:r>
            <a:endParaRPr lang="en-US" sz="2400" dirty="0"/>
          </a:p>
        </p:txBody>
      </p:sp>
    </p:spTree>
    <p:extLst>
      <p:ext uri="{BB962C8B-B14F-4D97-AF65-F5344CB8AC3E}">
        <p14:creationId xmlns:p14="http://schemas.microsoft.com/office/powerpoint/2010/main" val="15277818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228600"/>
            <a:ext cx="2667000" cy="307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838198"/>
            <a:ext cx="3352800" cy="227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4057" y="3429000"/>
            <a:ext cx="3669616" cy="2521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Image result for tracheostomy types">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075214"/>
            <a:ext cx="2971800" cy="3449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4985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90688" cy="6400800"/>
          </a:xfrm>
        </p:spPr>
        <p:txBody>
          <a:bodyPr>
            <a:normAutofit/>
          </a:bodyPr>
          <a:lstStyle/>
          <a:p>
            <a:endParaRPr lang="en-US" sz="2400" dirty="0" smtClean="0"/>
          </a:p>
          <a:p>
            <a:r>
              <a:rPr lang="en-US" sz="2400" dirty="0" smtClean="0"/>
              <a:t>Following </a:t>
            </a:r>
            <a:r>
              <a:rPr lang="en-US" sz="2400" dirty="0"/>
              <a:t>division of the thyroid isthmus, the trachea is visible, at which point it is useful to identify the cricoid cartilage and palpate each of the tracheal rings to determine the best position for the tracheotomy to be </a:t>
            </a:r>
            <a:r>
              <a:rPr lang="en-US" sz="2400" dirty="0" smtClean="0"/>
              <a:t>made.</a:t>
            </a:r>
          </a:p>
          <a:p>
            <a:r>
              <a:rPr lang="en-US" sz="2400" dirty="0"/>
              <a:t>In general, the incision should be through the second to fourth tracheal rings. It is important to refrain from causing any damage in the region of the cricoid cartilage as this may result in an increased incidence of postoperative subglottic </a:t>
            </a:r>
            <a:r>
              <a:rPr lang="en-US" sz="2400" dirty="0" smtClean="0"/>
              <a:t>stenosis.</a:t>
            </a:r>
            <a:endParaRPr lang="en-US" sz="2400" dirty="0"/>
          </a:p>
        </p:txBody>
      </p:sp>
    </p:spTree>
    <p:extLst>
      <p:ext uri="{BB962C8B-B14F-4D97-AF65-F5344CB8AC3E}">
        <p14:creationId xmlns:p14="http://schemas.microsoft.com/office/powerpoint/2010/main" val="18481335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90688" cy="6324600"/>
          </a:xfrm>
        </p:spPr>
        <p:txBody>
          <a:bodyPr/>
          <a:lstStyle/>
          <a:p>
            <a:r>
              <a:rPr lang="en-US" sz="2400" dirty="0"/>
              <a:t>An exception to this rule is when a patient has a laryngeal </a:t>
            </a:r>
            <a:r>
              <a:rPr lang="en-US" sz="2400" dirty="0" smtClean="0"/>
              <a:t>malignancy, </a:t>
            </a:r>
            <a:r>
              <a:rPr lang="en-US" sz="2400" dirty="0"/>
              <a:t>and under these circumstances the tracheotomy should be placed high so as to allow resection of the tracheotomy site at the time of </a:t>
            </a:r>
            <a:r>
              <a:rPr lang="en-US" sz="2400" dirty="0" err="1"/>
              <a:t>laryngectomy</a:t>
            </a:r>
            <a:r>
              <a:rPr lang="en-US" dirty="0" smtClean="0"/>
              <a:t>.</a:t>
            </a:r>
          </a:p>
          <a:p>
            <a:r>
              <a:rPr lang="en-US" sz="2400" dirty="0"/>
              <a:t>The tracheostomy tube having been inserted, the endotracheal tube can be removed and the ventilator can be connected </a:t>
            </a:r>
            <a:r>
              <a:rPr lang="en-US" sz="2400" dirty="0" smtClean="0"/>
              <a:t>to </a:t>
            </a:r>
            <a:r>
              <a:rPr lang="en-US" sz="2400" dirty="0"/>
              <a:t>the tracheostomy </a:t>
            </a:r>
            <a:r>
              <a:rPr lang="en-US" sz="2400" dirty="0" smtClean="0"/>
              <a:t>tube.</a:t>
            </a:r>
          </a:p>
          <a:p>
            <a:r>
              <a:rPr lang="en-US" sz="2400" dirty="0"/>
              <a:t>The incision should be closed loosely with sutures to prevent the formation of surgical emphysema, and the tracheostomy tube should be sutured in position.</a:t>
            </a:r>
          </a:p>
        </p:txBody>
      </p:sp>
    </p:spTree>
    <p:extLst>
      <p:ext uri="{BB962C8B-B14F-4D97-AF65-F5344CB8AC3E}">
        <p14:creationId xmlns:p14="http://schemas.microsoft.com/office/powerpoint/2010/main" val="24955400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81000"/>
            <a:ext cx="7790688" cy="6248400"/>
          </a:xfrm>
        </p:spPr>
        <p:txBody>
          <a:bodyPr/>
          <a:lstStyle/>
          <a:p>
            <a:pPr marL="82296" indent="0">
              <a:buNone/>
            </a:pPr>
            <a:r>
              <a:rPr lang="en-US" dirty="0" smtClean="0"/>
              <a:t>    </a:t>
            </a:r>
            <a:r>
              <a:rPr lang="en-US" dirty="0" smtClean="0">
                <a:solidFill>
                  <a:srgbClr val="C00000"/>
                </a:solidFill>
              </a:rPr>
              <a:t>Types of tracheostomy tube:(Features)</a:t>
            </a:r>
          </a:p>
          <a:p>
            <a:r>
              <a:rPr lang="en-US" sz="2400" dirty="0" smtClean="0"/>
              <a:t>Cuffed tube.</a:t>
            </a:r>
          </a:p>
          <a:p>
            <a:r>
              <a:rPr lang="en-US" sz="2400" dirty="0" smtClean="0"/>
              <a:t>Un cuffed tube.</a:t>
            </a:r>
          </a:p>
          <a:p>
            <a:r>
              <a:rPr lang="en-US" sz="2400" dirty="0" smtClean="0"/>
              <a:t>Inner tube.</a:t>
            </a:r>
          </a:p>
          <a:p>
            <a:r>
              <a:rPr lang="en-US" sz="2400" dirty="0" smtClean="0"/>
              <a:t>Fenestration.</a:t>
            </a:r>
          </a:p>
          <a:p>
            <a:r>
              <a:rPr lang="en-US" sz="2400" dirty="0" smtClean="0"/>
              <a:t>Flexibility.</a:t>
            </a:r>
            <a:r>
              <a:rPr lang="en-US" sz="2400" dirty="0"/>
              <a:t> </a:t>
            </a:r>
            <a:r>
              <a:rPr lang="en-US" sz="2400" dirty="0" smtClean="0"/>
              <a:t>(</a:t>
            </a:r>
            <a:r>
              <a:rPr lang="en-US" sz="2400" dirty="0" err="1" smtClean="0"/>
              <a:t>armoured</a:t>
            </a:r>
            <a:r>
              <a:rPr lang="en-US" sz="2400" dirty="0" smtClean="0"/>
              <a:t> tube)</a:t>
            </a:r>
          </a:p>
          <a:p>
            <a:r>
              <a:rPr lang="en-US" sz="2400" dirty="0" smtClean="0"/>
              <a:t>Adjustable flanges.</a:t>
            </a:r>
          </a:p>
          <a:p>
            <a:pPr marL="82296" indent="0">
              <a:buNone/>
            </a:pPr>
            <a:r>
              <a:rPr lang="en-US" sz="2400" dirty="0" smtClean="0"/>
              <a:t> </a:t>
            </a:r>
            <a:endParaRPr lang="en-US" sz="2400" dirty="0"/>
          </a:p>
          <a:p>
            <a:endParaRPr lang="en-US" sz="2400" dirty="0"/>
          </a:p>
          <a:p>
            <a:endParaRPr lang="en-US" sz="2400" dirty="0" smtClean="0"/>
          </a:p>
          <a:p>
            <a:endParaRPr lang="en-US" sz="2400" dirty="0"/>
          </a:p>
          <a:p>
            <a:endParaRPr lang="en-US" dirty="0"/>
          </a:p>
        </p:txBody>
      </p:sp>
    </p:spTree>
    <p:extLst>
      <p:ext uri="{BB962C8B-B14F-4D97-AF65-F5344CB8AC3E}">
        <p14:creationId xmlns:p14="http://schemas.microsoft.com/office/powerpoint/2010/main" val="18305432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result for tracheostomy types">
            <a:hlinkClick r:id="rId2"/>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943600" y="3733800"/>
            <a:ext cx="2352675" cy="19431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8151"/>
            <a:ext cx="7315199" cy="6866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27920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050" name="Picture 2" descr="C:\Users\Rozh\Desktop\img570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1" y="304800"/>
            <a:ext cx="2514600" cy="30242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hiley Uncuffed Tra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7914" y="59066"/>
            <a:ext cx="3384072" cy="31584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TT-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914" y="3276600"/>
            <a:ext cx="3384072" cy="297180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8" descr="Image result for adjustable flange tracheostomy tube">
            <a:hlinkClick r:id="rId5"/>
          </p:cNvPr>
          <p:cNvSpPr>
            <a:spLocks noChangeAspect="1" noChangeArrowheads="1"/>
          </p:cNvSpPr>
          <p:nvPr/>
        </p:nvSpPr>
        <p:spPr bwMode="auto">
          <a:xfrm>
            <a:off x="92075"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10" descr="Image result for adjustable flange tracheostomy tube">
            <a:hlinkClick r:id="rId5"/>
          </p:cNvPr>
          <p:cNvSpPr>
            <a:spLocks noChangeAspect="1" noChangeArrowheads="1"/>
          </p:cNvSpPr>
          <p:nvPr/>
        </p:nvSpPr>
        <p:spPr bwMode="auto">
          <a:xfrm>
            <a:off x="244475"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2" descr="Image result for adjustable flange tracheostomy tube">
            <a:hlinkClick r:id="rId5"/>
          </p:cNvPr>
          <p:cNvSpPr>
            <a:spLocks noChangeAspect="1" noChangeArrowheads="1"/>
          </p:cNvSpPr>
          <p:nvPr/>
        </p:nvSpPr>
        <p:spPr bwMode="auto">
          <a:xfrm>
            <a:off x="396875"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2" name="Picture 14" descr="C:\Users\Rozh\Desktop\tracheostomy_tube_with_adjustable_flange_long.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733990"/>
            <a:ext cx="3752850" cy="2514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6106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Rozh\Desktop\IMD_3piece_tracheostomy_tube_EN.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4375" y="1447800"/>
            <a:ext cx="64008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89111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81000"/>
            <a:ext cx="7714488" cy="6248400"/>
          </a:xfrm>
        </p:spPr>
        <p:txBody>
          <a:bodyPr/>
          <a:lstStyle/>
          <a:p>
            <a:pPr marL="0" indent="0">
              <a:buNone/>
            </a:pPr>
            <a:r>
              <a:rPr lang="en-US" b="1" dirty="0" smtClean="0">
                <a:solidFill>
                  <a:srgbClr val="7030A0"/>
                </a:solidFill>
              </a:rPr>
              <a:t> </a:t>
            </a:r>
          </a:p>
          <a:p>
            <a:pPr marL="0" indent="0">
              <a:buNone/>
            </a:pPr>
            <a:r>
              <a:rPr lang="en-US" b="1" dirty="0" smtClean="0">
                <a:solidFill>
                  <a:srgbClr val="7030A0"/>
                </a:solidFill>
              </a:rPr>
              <a:t>POSTOPERATIVE </a:t>
            </a:r>
            <a:r>
              <a:rPr lang="en-US" b="1" dirty="0">
                <a:solidFill>
                  <a:srgbClr val="7030A0"/>
                </a:solidFill>
              </a:rPr>
              <a:t>MANAGEMENT</a:t>
            </a:r>
          </a:p>
          <a:p>
            <a:r>
              <a:rPr lang="en-US" dirty="0"/>
              <a:t>Tracheostomy tube</a:t>
            </a:r>
          </a:p>
          <a:p>
            <a:r>
              <a:rPr lang="en-US" dirty="0"/>
              <a:t>Humidification and removal of secretions.</a:t>
            </a:r>
          </a:p>
          <a:p>
            <a:r>
              <a:rPr lang="en-US" dirty="0"/>
              <a:t>Swallowing</a:t>
            </a:r>
          </a:p>
          <a:p>
            <a:endParaRPr lang="en-US" dirty="0"/>
          </a:p>
        </p:txBody>
      </p:sp>
    </p:spTree>
    <p:extLst>
      <p:ext uri="{BB962C8B-B14F-4D97-AF65-F5344CB8AC3E}">
        <p14:creationId xmlns:p14="http://schemas.microsoft.com/office/powerpoint/2010/main" val="40833576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81000"/>
            <a:ext cx="7714488" cy="6248400"/>
          </a:xfrm>
        </p:spPr>
        <p:txBody>
          <a:bodyPr>
            <a:normAutofit fontScale="62500" lnSpcReduction="20000"/>
          </a:bodyPr>
          <a:lstStyle/>
          <a:p>
            <a:pPr marL="0" indent="0">
              <a:buNone/>
            </a:pPr>
            <a:r>
              <a:rPr lang="en-US" sz="4600" b="1" dirty="0" err="1">
                <a:solidFill>
                  <a:srgbClr val="7030A0"/>
                </a:solidFill>
              </a:rPr>
              <a:t>Cmplication</a:t>
            </a:r>
            <a:r>
              <a:rPr lang="en-US" sz="4600" b="1" dirty="0">
                <a:solidFill>
                  <a:srgbClr val="7030A0"/>
                </a:solidFill>
              </a:rPr>
              <a:t> </a:t>
            </a:r>
          </a:p>
          <a:p>
            <a:r>
              <a:rPr lang="en-US" dirty="0"/>
              <a:t>The complications of tracheostomy fall into the following categories:</a:t>
            </a:r>
          </a:p>
          <a:p>
            <a:pPr marL="0" indent="0">
              <a:buNone/>
            </a:pPr>
            <a:r>
              <a:rPr lang="en-US" b="1" u="sng" dirty="0">
                <a:solidFill>
                  <a:srgbClr val="FF0000"/>
                </a:solidFill>
              </a:rPr>
              <a:t>     </a:t>
            </a:r>
            <a:r>
              <a:rPr lang="en-US" sz="4600" b="1" u="sng" dirty="0">
                <a:solidFill>
                  <a:srgbClr val="FF0000"/>
                </a:solidFill>
              </a:rPr>
              <a:t>Immediate:</a:t>
            </a:r>
          </a:p>
          <a:p>
            <a:r>
              <a:rPr lang="en-US" dirty="0"/>
              <a:t> </a:t>
            </a:r>
            <a:r>
              <a:rPr lang="en-US" dirty="0" err="1"/>
              <a:t>anaesthetic</a:t>
            </a:r>
            <a:r>
              <a:rPr lang="en-US" dirty="0"/>
              <a:t> complications</a:t>
            </a:r>
          </a:p>
          <a:p>
            <a:pPr marL="0" indent="0">
              <a:buNone/>
            </a:pPr>
            <a:r>
              <a:rPr lang="en-US" dirty="0"/>
              <a:t>      </a:t>
            </a:r>
          </a:p>
          <a:p>
            <a:pPr marL="0" indent="0">
              <a:buNone/>
            </a:pPr>
            <a:r>
              <a:rPr lang="en-US" dirty="0"/>
              <a:t>     </a:t>
            </a:r>
            <a:r>
              <a:rPr lang="en-US" b="1" i="1" dirty="0" err="1">
                <a:solidFill>
                  <a:srgbClr val="FF0000"/>
                </a:solidFill>
              </a:rPr>
              <a:t>haemorrhage</a:t>
            </a:r>
            <a:r>
              <a:rPr lang="en-US" b="1" i="1" dirty="0">
                <a:solidFill>
                  <a:srgbClr val="FF0000"/>
                </a:solidFill>
              </a:rPr>
              <a:t>:</a:t>
            </a:r>
          </a:p>
          <a:p>
            <a:r>
              <a:rPr lang="en-US" dirty="0"/>
              <a:t> thyroid veins.</a:t>
            </a:r>
          </a:p>
          <a:p>
            <a:r>
              <a:rPr lang="en-US" dirty="0"/>
              <a:t> jugular veins.</a:t>
            </a:r>
          </a:p>
          <a:p>
            <a:r>
              <a:rPr lang="en-US" dirty="0"/>
              <a:t> arteries.</a:t>
            </a:r>
          </a:p>
          <a:p>
            <a:endParaRPr lang="en-US" sz="3400" dirty="0"/>
          </a:p>
          <a:p>
            <a:r>
              <a:rPr lang="en-US" sz="3400" dirty="0"/>
              <a:t>air embolism</a:t>
            </a:r>
          </a:p>
          <a:p>
            <a:r>
              <a:rPr lang="en-US" dirty="0"/>
              <a:t> </a:t>
            </a:r>
            <a:r>
              <a:rPr lang="en-US" dirty="0" err="1"/>
              <a:t>apnoea</a:t>
            </a:r>
            <a:r>
              <a:rPr lang="en-US" dirty="0"/>
              <a:t>.</a:t>
            </a:r>
          </a:p>
          <a:p>
            <a:r>
              <a:rPr lang="en-US" dirty="0"/>
              <a:t> cardiac arrest</a:t>
            </a:r>
          </a:p>
          <a:p>
            <a:pPr marL="0" indent="0">
              <a:buNone/>
            </a:pPr>
            <a:r>
              <a:rPr lang="en-US" dirty="0"/>
              <a:t>       </a:t>
            </a:r>
            <a:r>
              <a:rPr lang="en-US" sz="5100" b="1" i="1" u="sng" dirty="0">
                <a:solidFill>
                  <a:schemeClr val="accent6"/>
                </a:solidFill>
              </a:rPr>
              <a:t>local damage:</a:t>
            </a:r>
          </a:p>
          <a:p>
            <a:pPr marL="0" indent="0">
              <a:buNone/>
            </a:pPr>
            <a:r>
              <a:rPr lang="en-US" dirty="0"/>
              <a:t>      • thyroid cartilage.</a:t>
            </a:r>
          </a:p>
          <a:p>
            <a:pPr marL="0" indent="0">
              <a:buNone/>
            </a:pPr>
            <a:r>
              <a:rPr lang="en-US" dirty="0"/>
              <a:t>      • cricoid cartilage.</a:t>
            </a:r>
          </a:p>
          <a:p>
            <a:pPr marL="0" indent="0">
              <a:buNone/>
            </a:pPr>
            <a:r>
              <a:rPr lang="en-US" dirty="0"/>
              <a:t>      • recurrent laryngeal nerve.</a:t>
            </a:r>
          </a:p>
          <a:p>
            <a:endParaRPr lang="en-US" dirty="0"/>
          </a:p>
        </p:txBody>
      </p:sp>
    </p:spTree>
    <p:extLst>
      <p:ext uri="{BB962C8B-B14F-4D97-AF65-F5344CB8AC3E}">
        <p14:creationId xmlns:p14="http://schemas.microsoft.com/office/powerpoint/2010/main" val="38145225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04800"/>
            <a:ext cx="7772400" cy="6248400"/>
          </a:xfrm>
        </p:spPr>
        <p:txBody>
          <a:bodyPr>
            <a:normAutofit/>
          </a:bodyPr>
          <a:lstStyle/>
          <a:p>
            <a:pPr marL="0" indent="0">
              <a:buNone/>
            </a:pPr>
            <a:r>
              <a:rPr lang="en-US" sz="4100" b="1" i="1" dirty="0" smtClean="0">
                <a:solidFill>
                  <a:srgbClr val="00B0F0"/>
                </a:solidFill>
              </a:rPr>
              <a:t>    Intermediate</a:t>
            </a:r>
            <a:endParaRPr lang="en-US" sz="4100" b="1" i="1" u="sng" dirty="0">
              <a:solidFill>
                <a:srgbClr val="00B0F0"/>
              </a:solidFill>
            </a:endParaRPr>
          </a:p>
          <a:p>
            <a:pPr marL="0" indent="0">
              <a:buNone/>
            </a:pPr>
            <a:r>
              <a:rPr lang="en-US" dirty="0"/>
              <a:t>       - </a:t>
            </a:r>
            <a:r>
              <a:rPr lang="en-US" sz="2400" dirty="0"/>
              <a:t>displacement of the tube.</a:t>
            </a:r>
          </a:p>
          <a:p>
            <a:pPr marL="0" indent="0">
              <a:buNone/>
            </a:pPr>
            <a:r>
              <a:rPr lang="en-US" sz="2400" dirty="0"/>
              <a:t>       - surgical emphysema.</a:t>
            </a:r>
          </a:p>
          <a:p>
            <a:pPr marL="0" indent="0">
              <a:buNone/>
            </a:pPr>
            <a:r>
              <a:rPr lang="en-US" sz="2400" dirty="0"/>
              <a:t>       - pneumothorax/</a:t>
            </a:r>
            <a:r>
              <a:rPr lang="en-US" sz="2400" dirty="0" err="1"/>
              <a:t>pneumomediastinum</a:t>
            </a:r>
            <a:r>
              <a:rPr lang="en-US" sz="2400" dirty="0"/>
              <a:t>.</a:t>
            </a:r>
          </a:p>
          <a:p>
            <a:pPr marL="0" indent="0">
              <a:buNone/>
            </a:pPr>
            <a:r>
              <a:rPr lang="en-US" sz="2400" dirty="0"/>
              <a:t>       - infection:                  </a:t>
            </a:r>
            <a:r>
              <a:rPr lang="en-US" sz="2400" dirty="0" err="1"/>
              <a:t>perichondritis</a:t>
            </a:r>
            <a:r>
              <a:rPr lang="en-US" sz="2400" dirty="0"/>
              <a:t>.</a:t>
            </a:r>
          </a:p>
          <a:p>
            <a:pPr marL="0" indent="0">
              <a:buNone/>
            </a:pPr>
            <a:r>
              <a:rPr lang="en-US" sz="2400" dirty="0"/>
              <a:t>       - tube obstruction by secretions or crusts.</a:t>
            </a:r>
          </a:p>
          <a:p>
            <a:pPr marL="0" indent="0">
              <a:buNone/>
            </a:pPr>
            <a:r>
              <a:rPr lang="en-US" sz="2400" dirty="0"/>
              <a:t>       - tracheal necrosis;</a:t>
            </a:r>
          </a:p>
          <a:p>
            <a:pPr marL="0" indent="0">
              <a:buNone/>
            </a:pPr>
            <a:r>
              <a:rPr lang="en-US" sz="2400" dirty="0"/>
              <a:t>       - </a:t>
            </a:r>
            <a:r>
              <a:rPr lang="en-US" sz="2400" dirty="0" err="1"/>
              <a:t>tracheoarterial</a:t>
            </a:r>
            <a:r>
              <a:rPr lang="en-US" sz="2400" dirty="0"/>
              <a:t> fistula.</a:t>
            </a:r>
          </a:p>
          <a:p>
            <a:pPr marL="0" indent="0">
              <a:buNone/>
            </a:pPr>
            <a:r>
              <a:rPr lang="en-US" sz="2400" dirty="0"/>
              <a:t>       - </a:t>
            </a:r>
            <a:r>
              <a:rPr lang="en-US" sz="2400" dirty="0" err="1"/>
              <a:t>tracheo-oesophageal</a:t>
            </a:r>
            <a:r>
              <a:rPr lang="en-US" sz="2400" dirty="0"/>
              <a:t> fistula.</a:t>
            </a:r>
          </a:p>
          <a:p>
            <a:pPr marL="0" indent="0">
              <a:buNone/>
            </a:pPr>
            <a:r>
              <a:rPr lang="en-US" sz="2400" dirty="0"/>
              <a:t>       - dysphagia.</a:t>
            </a:r>
          </a:p>
          <a:p>
            <a:pPr marL="0" indent="0">
              <a:buNone/>
            </a:pPr>
            <a:endParaRPr lang="en-US" dirty="0"/>
          </a:p>
        </p:txBody>
      </p:sp>
      <p:sp>
        <p:nvSpPr>
          <p:cNvPr id="4" name="Right Arrow 3"/>
          <p:cNvSpPr/>
          <p:nvPr/>
        </p:nvSpPr>
        <p:spPr>
          <a:xfrm>
            <a:off x="3276601" y="2500329"/>
            <a:ext cx="129540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04472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304800"/>
            <a:ext cx="7638288" cy="6248400"/>
          </a:xfrm>
        </p:spPr>
        <p:txBody>
          <a:bodyPr/>
          <a:lstStyle/>
          <a:p>
            <a:pPr marL="0" indent="0">
              <a:buNone/>
            </a:pPr>
            <a:r>
              <a:rPr lang="en-US" b="1" i="1" u="sng" dirty="0" smtClean="0">
                <a:solidFill>
                  <a:srgbClr val="C00000"/>
                </a:solidFill>
              </a:rPr>
              <a:t> • </a:t>
            </a:r>
            <a:r>
              <a:rPr lang="en-US" b="1" i="1" u="sng" dirty="0">
                <a:solidFill>
                  <a:srgbClr val="C00000"/>
                </a:solidFill>
              </a:rPr>
              <a:t>Long term:</a:t>
            </a:r>
          </a:p>
          <a:p>
            <a:pPr marL="0" indent="0">
              <a:buNone/>
            </a:pPr>
            <a:r>
              <a:rPr lang="en-US" dirty="0"/>
              <a:t>     - </a:t>
            </a:r>
            <a:r>
              <a:rPr lang="en-US" sz="2400" dirty="0"/>
              <a:t>stenosis</a:t>
            </a:r>
          </a:p>
          <a:p>
            <a:pPr marL="0" indent="0">
              <a:buNone/>
            </a:pPr>
            <a:r>
              <a:rPr lang="en-US" sz="2400" dirty="0"/>
              <a:t>     - </a:t>
            </a:r>
            <a:r>
              <a:rPr lang="en-US" sz="2400" dirty="0" err="1"/>
              <a:t>decannulation</a:t>
            </a:r>
            <a:r>
              <a:rPr lang="en-US" sz="2400" dirty="0"/>
              <a:t> problems.</a:t>
            </a:r>
          </a:p>
          <a:p>
            <a:pPr marL="0" indent="0">
              <a:buNone/>
            </a:pPr>
            <a:r>
              <a:rPr lang="en-US" sz="2400" dirty="0"/>
              <a:t>     - </a:t>
            </a:r>
            <a:r>
              <a:rPr lang="en-US" sz="2400" dirty="0" err="1"/>
              <a:t>tracheocutaneous</a:t>
            </a:r>
            <a:r>
              <a:rPr lang="en-US" sz="2400" dirty="0"/>
              <a:t> fistula.</a:t>
            </a:r>
          </a:p>
          <a:p>
            <a:pPr marL="0" indent="0">
              <a:buNone/>
            </a:pPr>
            <a:r>
              <a:rPr lang="en-US" sz="2400" dirty="0"/>
              <a:t>     - disfiguring scar</a:t>
            </a:r>
          </a:p>
        </p:txBody>
      </p:sp>
    </p:spTree>
    <p:extLst>
      <p:ext uri="{BB962C8B-B14F-4D97-AF65-F5344CB8AC3E}">
        <p14:creationId xmlns:p14="http://schemas.microsoft.com/office/powerpoint/2010/main" val="82128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Rozh\Desktop\thank-you-185078737-58adfa013df78c345b0837e7.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908722"/>
            <a:ext cx="7791450" cy="5192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16265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209</TotalTime>
  <Words>829</Words>
  <Application>Microsoft Office PowerPoint</Application>
  <PresentationFormat>On-screen Show (4:3)</PresentationFormat>
  <Paragraphs>125</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Solstice</vt:lpstr>
      <vt:lpstr>PowerPoint Presentation</vt:lpstr>
      <vt:lpstr>PowerPoint Presentation</vt:lpstr>
      <vt:lpstr>PowerPoint Presentation</vt:lpstr>
      <vt:lpstr>PowerPoint Presentation</vt:lpstr>
      <vt:lpstr>Diagnosis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Rozh</dc:creator>
  <cp:lastModifiedBy>Rozh</cp:lastModifiedBy>
  <cp:revision>44</cp:revision>
  <dcterms:created xsi:type="dcterms:W3CDTF">2019-11-17T08:46:41Z</dcterms:created>
  <dcterms:modified xsi:type="dcterms:W3CDTF">2025-10-21T18:21:55Z</dcterms:modified>
</cp:coreProperties>
</file>