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57" r:id="rId4"/>
    <p:sldId id="258" r:id="rId5"/>
    <p:sldId id="291" r:id="rId6"/>
    <p:sldId id="292" r:id="rId7"/>
    <p:sldId id="293" r:id="rId8"/>
    <p:sldId id="260" r:id="rId9"/>
    <p:sldId id="295" r:id="rId10"/>
    <p:sldId id="296" r:id="rId11"/>
    <p:sldId id="297" r:id="rId12"/>
    <p:sldId id="298" r:id="rId13"/>
    <p:sldId id="299" r:id="rId14"/>
    <p:sldId id="268" r:id="rId15"/>
    <p:sldId id="269" r:id="rId16"/>
    <p:sldId id="270" r:id="rId17"/>
    <p:sldId id="300" r:id="rId18"/>
    <p:sldId id="294" r:id="rId19"/>
    <p:sldId id="288" r:id="rId20"/>
    <p:sldId id="28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173"/>
  </p:normalViewPr>
  <p:slideViewPr>
    <p:cSldViewPr>
      <p:cViewPr varScale="1">
        <p:scale>
          <a:sx n="121" d="100"/>
          <a:sy n="121" d="100"/>
        </p:scale>
        <p:origin x="136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20T11:07:36.341" idx="1">
    <p:pos x="761" y="4058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B9A35-CF02-4F69-914D-C5E670A4FA46}" type="datetimeFigureOut">
              <a:rPr lang="en-CA" smtClean="0"/>
              <a:t>2025-10-20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7F358-FF66-48C6-B07E-CF65ECE9EAD3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24328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IQ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0E8C8-E43A-4AD0-9825-8DEFD1A7C876}" type="slidenum">
              <a:rPr lang="ar-IQ" smtClean="0"/>
              <a:t>14</a:t>
            </a:fld>
            <a:endParaRPr lang="ar-IQ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7F358-FF66-48C6-B07E-CF65ECE9EAD3}" type="slidenum">
              <a:rPr lang="en-CA" smtClean="0"/>
              <a:t>19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5555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7F358-FF66-48C6-B07E-CF65ECE9EAD3}" type="slidenum">
              <a:rPr lang="en-CA" smtClean="0"/>
              <a:t>20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98108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www.google.com/imgres?imgurl=http://embryology.med.unsw.edu.au/Defect/images/preauricular_sinus_sm.jpg&amp;imgrefurl=http://embryology.med.unsw.edu.au/Notes/ear8.htm&amp;usg=__W0SmlMI2tk5R62ouatTJBiYZOiM=&amp;h=263&amp;w=350&amp;sz=16&amp;hl=ar&amp;start=46&amp;zoom=1&amp;um=1&amp;itbs=1&amp;tbnid=7LnUhuD_Y0u6iM:&amp;tbnh=90&amp;tbnw=120&amp;prev=/images%3Fq%3Dacquired%2Batresia%2Bof%2Bthe%2Bexternal%2Bauditory%2Bcanal%26start%3D42%26um%3D1%26hl%3Dar%26sa%3DN%26rlz%3D1T4RNSN_enIQ399IQ399%26ndsp%3D21%26tbs%3Disch:1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tusa.com/ear_photographs_html/chronic_otitis_externa-2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tusa.com/ear_photographs_html/otomycosis_ear_fungus-1.htm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1.png"/><Relationship Id="rId2" Type="http://schemas.openxmlformats.org/officeDocument/2006/relationships/hyperlink" Target="http://www.google.com/imgres?imgurl=http://www.entusa.com/Ear_Photos/20030414-ear-canal-osteoma.jpg&amp;imgrefurl=http://www.entusa.com/ear_photographs_html/osteoma-2.htm&amp;usg=__-Xh9y9eW-LWoF9ThGN75noQx5Us=&amp;h=496&amp;w=494&amp;sz=42&amp;hl=ar&amp;start=4&amp;zoom=1&amp;um=1&amp;itbs=1&amp;tbnid=pIaFEkLzivDolM:&amp;tbnh=130&amp;tbnw=129&amp;prev=/images%3Fq%3Dear%2Bosteoma%26um%3D1%26hl%3Dar%26rlz%3D1T4RNSN_enIQ399IQ399%26tbs%3Disch:1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jpeg"/><Relationship Id="rId5" Type="http://schemas.openxmlformats.org/officeDocument/2006/relationships/hyperlink" Target="http://www.entusa.com/ear_photographs_html/osteoma-8.htm" TargetMode="External"/><Relationship Id="rId4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Diseases of the External ear</a:t>
            </a:r>
            <a:endParaRPr lang="en-CA" dirty="0">
              <a:solidFill>
                <a:srgbClr val="0070C0"/>
              </a:solidFill>
              <a:latin typeface="Times New Roman" panose="02020603050405020304" pitchFamily="18" charset="0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ea typeface="American Typewriter" charset="0"/>
                <a:cs typeface="Times New Roman" panose="02020603050405020304" pitchFamily="18" charset="0"/>
              </a:rPr>
              <a:t>MUAID ISMAIEL AZIZ BABAN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ea typeface="American Typewriter" charset="0"/>
                <a:cs typeface="Times New Roman" panose="02020603050405020304" pitchFamily="18" charset="0"/>
              </a:rPr>
              <a:t> PROF IN ORL-HNS-SBS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ea typeface="American Typewriter" charset="0"/>
                <a:cs typeface="Times New Roman" panose="02020603050405020304" pitchFamily="18" charset="0"/>
              </a:rPr>
              <a:t>CONSULTANT IN RHINOLOGY-SKULL BASE SURGERY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ea typeface="American Typewriter" charset="0"/>
                <a:cs typeface="Times New Roman" panose="02020603050405020304" pitchFamily="18" charset="0"/>
              </a:rPr>
              <a:t>MBCHB-FICMS-FACS-DOHNS.ED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ea typeface="American Typewriter" charset="0"/>
                <a:cs typeface="Times New Roman" panose="02020603050405020304" pitchFamily="18" charset="0"/>
              </a:rPr>
              <a:t>SULAYMANIYAH UNIVERSITY – COLLEGE OF MEDICINE</a:t>
            </a:r>
          </a:p>
          <a:p>
            <a:endParaRPr lang="en-CA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MUAID ISMAIEL AZIZ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9" name="Picture 8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9782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267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This lecture outline the different pathology affecting the external ear, focus mainly on the inflammatory condition</a:t>
            </a:r>
            <a:r>
              <a:rPr lang="en-CA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 marL="0" indent="0">
              <a:buNone/>
            </a:pPr>
            <a:endParaRPr lang="en-CA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2" name="Picture 11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1905000"/>
            <a:ext cx="4419599" cy="371475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655638"/>
          </a:xfrm>
        </p:spPr>
        <p:txBody>
          <a:bodyPr>
            <a:normAutofit fontScale="90000"/>
          </a:bodyPr>
          <a:lstStyle/>
          <a:p>
            <a:pPr algn="r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589720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Auricle 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Congenital 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Trauma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Inflammation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tumors</a:t>
            </a:r>
          </a:p>
          <a:p>
            <a:pPr algn="l" rtl="0">
              <a:buNone/>
            </a:pPr>
            <a:endParaRPr lang="ar-IQ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AFDAB1-522E-A8D0-2124-80473D3B61D1}"/>
              </a:ext>
            </a:extLst>
          </p:cNvPr>
          <p:cNvSpPr txBox="1">
            <a:spLocks/>
          </p:cNvSpPr>
          <p:nvPr/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IQ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72E45-D178-EAA5-D4EC-CBD7AF43E5CA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34ECF0B-0DAA-C9B0-7BA0-D466E8CC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D402F42-794E-132C-3BB1-34C922B8C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MUAID ISMAIEL AZIZ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986644A-F917-2F87-10F4-7E00FA58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dr\Pictures\Bifid_Earlobe_11_March_2004_0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6216" y="0"/>
            <a:ext cx="2627785" cy="3284984"/>
          </a:xfrm>
          <a:prstGeom prst="rect">
            <a:avLst/>
          </a:prstGeom>
          <a:noFill/>
        </p:spPr>
      </p:pic>
      <p:pic>
        <p:nvPicPr>
          <p:cNvPr id="1027" name="Picture 3" descr="C:\Users\dr\Pictures\DSC0238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2699792" cy="3284984"/>
          </a:xfrm>
          <a:prstGeom prst="rect">
            <a:avLst/>
          </a:prstGeom>
          <a:noFill/>
        </p:spPr>
      </p:pic>
      <p:pic>
        <p:nvPicPr>
          <p:cNvPr id="1028" name="Picture 4" descr="C:\Users\dr\Pictures\1_29_sized_thumb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216" y="3645023"/>
            <a:ext cx="2627784" cy="3212977"/>
          </a:xfrm>
          <a:prstGeom prst="rect">
            <a:avLst/>
          </a:prstGeom>
          <a:noFill/>
        </p:spPr>
      </p:pic>
      <p:pic>
        <p:nvPicPr>
          <p:cNvPr id="1029" name="Picture 5" descr="C:\Users\dr\Pictures\otopl_1b_thumb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51038" y="2209800"/>
            <a:ext cx="3240360" cy="3816424"/>
          </a:xfrm>
          <a:prstGeom prst="rect">
            <a:avLst/>
          </a:prstGeom>
          <a:noFill/>
        </p:spPr>
      </p:pic>
      <p:pic>
        <p:nvPicPr>
          <p:cNvPr id="1030" name="Picture 6" descr="C:\Users\dr\Pictures\AURICLE_MICROTIA_376SQ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3645024"/>
            <a:ext cx="2699792" cy="321297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B360627-04D3-79A1-3EE9-36A8A7A79A69}"/>
              </a:ext>
            </a:extLst>
          </p:cNvPr>
          <p:cNvPicPr/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B3FD9F-A052-7C90-54D5-19565511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717B5-7D9A-3B16-FB9E-8CBD6DEC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61F25-BA38-B88A-389E-FF3EE35F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 descr="data:image/jpg;base64,/9j/4AAQSkZJRgABAQAAAQABAAD/2wCEAAkGBhQSERUSEhQVFRUTFhgXGBQYFRYVFBYUFRQXFRgcFxQXHCYeFxkkGRcYHy8gIycpLCwsFR4xNTAqNSYrLCkBCQoKDgwOGg8PGCwfHyQsKSwsLyw0KSkpKiksLCwpLCwpKSwpKSwpLCw1LCwsLCkpKSwsLCwsKSwsKTEsKTIyLP/AABEIAFoAeAMBIgACEQEDEQH/xAAbAAACAwEBAQAAAAAAAAAAAAADBAIFBgABB//EADYQAAIBAgMGBAQEBgMAAAAAAAECAAMRBCExBRJBUWFxBiKBsROhwfAyQpHRFSMzkuHxBxRS/8QAGgEAAgMBAQAAAAAAAAAAAAAAAgMAAQQFBv/EAB8RAAICAwEBAAMAAAAAAAAAAAABAhEDEjEhQQQiUf/aAAwDAQACEQMRAD8ApfiZ7vLWM4t/Kq8zEcINW9YXEP5k9piZ00O1NAOhi9NvLY/eUMW0HT6wYS+UBhoKRp1Enh2i5qZW5H95Ok+Rg2GhqtVvbtDhvLbnaV7tp39xf3jfEdBKIBV7NbuPTUfIx2mun3eKCneoT6R9fpKIEqLcDpAb9ye0K75QNCnqeftw+UssHSQ59DaNrT5TkSHp2kCsGlOwnQ5E6WQxiNYHtItUuw6D6wQfOdxPaNZmRY1WsR2kkbzRdnuBCUFJIAFyeEBhxPaozNpJVP39/d5b4bYB1qHM/lByHc8fSP8A8LQWFgOp/wAwGNUTOoM+g946ovp0Hv8AvLVdj0nHlIJHI/tFa2zmQ5eYfMScD1sDSTU8z/qel87c48lDLSV20XFMF2IVVFyToB9mFXgLVHvxILGbSp0E36rBRw5k8lAzY9BMDX8bs+JBSy01uE394gM3l+I6oCWNibKNL977HY+yKeVd2atVIyquCLdKdMj+WO2fWE4a+yExyb+RLnCVt5VaxAYBrEFWFxfMHQ9IypgEMmGi7HpBgZ7IrOkLMGz6SQP0lccRcgRmlVyvNDRiTH6L+WXmDUUaRqnVtOi8P1mewYuwHUe8vttuSBTAsB9NBFy4asEdpelXX2nVqk+ZgOQNvaR/6DWuST3JMd2fhM7Wl0MMLW0g1R0t0uGQTbBoMCL3B/UcRN5gNprVUMNGF7zO7Q2PhyN6o4XuQJLwxjqW89KkxZUsQeGZOkK2LyaP1dNS9QCwsc+nvM/4g8NDEkCq7/DXMUlsoZubtmW6AWtNHQfKRrLzhxTMOTV+GWwewaND+lTRbfmtdv7jn846pjdVYo6WMVNEikuBRwkqcisnTgUEGBnTxZ7DLPktCtn6SxovkBENpYP4NVl4XuO0Lh3muaOVinZeYLW/rL+uN6x5zOYGqJpsA96Xa4iGdDHLVjWCpbvmlftna+6DbWXNAgpMriqW9Ua/OKfTdiadtlKaDVWu+d5e7Bwq0bkZb1r+kKux3Zf5ai/Mm0osRQxFN9yoCt9OR7GE5X4XJ7fTb4XH7xspEdcE6m8xnhlQKxLMb2yB75/SalsZfISKTZlnBX4EteBdYxTGUg4koBMgqSaCRJnBoVFNhQZ0GHnkuimyj2l4BqVmLiogPKxzHSAX/jyqqkh0PLWb8P8AKSUZkc8x9Z0J40cHFlaPkONwNXDNaoLciNDLvwttDeLIeIuPTIzX7a2QtamyMNfl2mf2P4MVCGWq28OBAt2mWWN/Dpw/IVfsNtiCmXCDoKKjXUDLUnh/mM1qNjuuP2MPRQKLKLCZJJo6MMia8Co4TK9zPa1H4ilXUWPygwc4QVLRbRKKKn4ctVD7xsug46WzMsai2McRuJmZ/i2+7Hhc27cJEynbNBRqyRN5VUsTGadePixDQyZAme708vGUVse706eTpZdk8b4halXqJ8EtTpBd51OYLqpUeYBc2YLbevnfSDHjqj+ErVB+IaYyW4YEKTbfzG8QOl+omjZRbSctFbaDnoNefedFo86pL+Gfq+N6LC6oxA3N9xuFQrnhZrs2uQGqnOV2L8TIDvUwd4hfJv0yCCame9TdgbfDYG18yo522QpADIAegk6VFeQyyGQyFuEW4j1OzK4DxPSxW8gRjuqzFjuBQFCkZhr57wta8pMP4ouoJS+vlRw9iFRvxGynJtQSMtc7D6alFbaD9BK3G0FBsFA7ADWKlFPpohklDjMS3iymCBZvxBfy5FnqIL+bL+mT2YS9UkSxp0Vv+Ec9BqND3lnhkF9BM8sC+GuP5cl1GE8QbfFNTTU3qMCLf+b8TM9gGsJ9W8RYNHw7FkRiBkSoJGml9J8pp6mIyR1NOPNuuFxRqxxHlThzH6UBBMfp1oZWlemsbox8WJkHnTk1nRgNn//Z">
            <a:hlinkClick r:id="rId2"/>
          </p:cNvPr>
          <p:cNvSpPr>
            <a:spLocks noChangeAspect="1" noChangeArrowheads="1"/>
          </p:cNvSpPr>
          <p:nvPr/>
        </p:nvSpPr>
        <p:spPr bwMode="auto">
          <a:xfrm>
            <a:off x="7656513" y="-411163"/>
            <a:ext cx="1143000" cy="8572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IQ"/>
          </a:p>
        </p:txBody>
      </p:sp>
      <p:sp>
        <p:nvSpPr>
          <p:cNvPr id="20484" name="AutoShape 4" descr="data:image/jpg;base64,/9j/4AAQSkZJRgABAQAAAQABAAD/2wCEAAkGBhQSERUSEhQVFRUTFhgXGBQYFRYVFBYUFRQXFRgcFxQXHCYeFxkkGRcYHy8gIycpLCwsFR4xNTAqNSYrLCkBCQoKDgwOGg8PGCwfHyQsKSwsLyw0KSkpKiksLCwpLCwpKSwpKSwpLCw1LCwsLCkpKSwsLCwsKSwsKTEsKTIyLP/AABEIAFoAeAMBIgACEQEDEQH/xAAbAAACAwEBAQAAAAAAAAAAAAADBAIFBgABB//EADYQAAIBAgMGBAQEBgMAAAAAAAECAAMRBCExBRJBUWFxBiKBsROhwfAyQpHRFSMzkuHxBxRS/8QAGgEAAgMBAQAAAAAAAAAAAAAAAgMAAQQFBv/EAB8RAAICAwEBAAMAAAAAAAAAAAABAhEDEjEhQQQiUf/aAAwDAQACEQMRAD8ApfiZ7vLWM4t/Kq8zEcINW9YXEP5k9piZ00O1NAOhi9NvLY/eUMW0HT6wYS+UBhoKRp1Enh2i5qZW5H95Ok+Rg2GhqtVvbtDhvLbnaV7tp39xf3jfEdBKIBV7NbuPTUfIx2mun3eKCneoT6R9fpKIEqLcDpAb9ye0K75QNCnqeftw+UssHSQ59DaNrT5TkSHp2kCsGlOwnQ5E6WQxiNYHtItUuw6D6wQfOdxPaNZmRY1WsR2kkbzRdnuBCUFJIAFyeEBhxPaozNpJVP39/d5b4bYB1qHM/lByHc8fSP8A8LQWFgOp/wAwGNUTOoM+g946ovp0Hv8AvLVdj0nHlIJHI/tFa2zmQ5eYfMScD1sDSTU8z/qel87c48lDLSV20XFMF2IVVFyToB9mFXgLVHvxILGbSp0E36rBRw5k8lAzY9BMDX8bs+JBSy01uE394gM3l+I6oCWNibKNL977HY+yKeVd2atVIyquCLdKdMj+WO2fWE4a+yExyb+RLnCVt5VaxAYBrEFWFxfMHQ9IypgEMmGi7HpBgZ7IrOkLMGz6SQP0lccRcgRmlVyvNDRiTH6L+WXmDUUaRqnVtOi8P1mewYuwHUe8vttuSBTAsB9NBFy4asEdpelXX2nVqk+ZgOQNvaR/6DWuST3JMd2fhM7Wl0MMLW0g1R0t0uGQTbBoMCL3B/UcRN5gNprVUMNGF7zO7Q2PhyN6o4XuQJLwxjqW89KkxZUsQeGZOkK2LyaP1dNS9QCwsc+nvM/4g8NDEkCq7/DXMUlsoZubtmW6AWtNHQfKRrLzhxTMOTV+GWwewaND+lTRbfmtdv7jn846pjdVYo6WMVNEikuBRwkqcisnTgUEGBnTxZ7DLPktCtn6SxovkBENpYP4NVl4XuO0Lh3muaOVinZeYLW/rL+uN6x5zOYGqJpsA96Xa4iGdDHLVjWCpbvmlftna+6DbWXNAgpMriqW9Ua/OKfTdiadtlKaDVWu+d5e7Bwq0bkZb1r+kKux3Zf5ai/Mm0osRQxFN9yoCt9OR7GE5X4XJ7fTb4XH7xspEdcE6m8xnhlQKxLMb2yB75/SalsZfISKTZlnBX4EteBdYxTGUg4koBMgqSaCRJnBoVFNhQZ0GHnkuimyj2l4BqVmLiogPKxzHSAX/jyqqkh0PLWb8P8AKSUZkc8x9Z0J40cHFlaPkONwNXDNaoLciNDLvwttDeLIeIuPTIzX7a2QtamyMNfl2mf2P4MVCGWq28OBAt2mWWN/Dpw/IVfsNtiCmXCDoKKjXUDLUnh/mM1qNjuuP2MPRQKLKLCZJJo6MMia8Co4TK9zPa1H4ilXUWPygwc4QVLRbRKKKn4ctVD7xsug46WzMsai2McRuJmZ/i2+7Hhc27cJEynbNBRqyRN5VUsTGadePixDQyZAme708vGUVse706eTpZdk8b4halXqJ8EtTpBd51OYLqpUeYBc2YLbevnfSDHjqj+ErVB+IaYyW4YEKTbfzG8QOl+omjZRbSctFbaDnoNefedFo86pL+Gfq+N6LC6oxA3N9xuFQrnhZrs2uQGqnOV2L8TIDvUwd4hfJv0yCCame9TdgbfDYG18yo522QpADIAegk6VFeQyyGQyFuEW4j1OzK4DxPSxW8gRjuqzFjuBQFCkZhr57wta8pMP4ouoJS+vlRw9iFRvxGynJtQSMtc7D6alFbaD9BK3G0FBsFA7ADWKlFPpohklDjMS3iymCBZvxBfy5FnqIL+bL+mT2YS9UkSxp0Vv+Ec9BqND3lnhkF9BM8sC+GuP5cl1GE8QbfFNTTU3qMCLf+b8TM9gGsJ9W8RYNHw7FkRiBkSoJGml9J8pp6mIyR1NOPNuuFxRqxxHlThzH6UBBMfp1oZWlemsbox8WJkHnTk1nRgNn//Z">
            <a:hlinkClick r:id="rId2"/>
          </p:cNvPr>
          <p:cNvSpPr>
            <a:spLocks noChangeAspect="1" noChangeArrowheads="1"/>
          </p:cNvSpPr>
          <p:nvPr/>
        </p:nvSpPr>
        <p:spPr bwMode="auto">
          <a:xfrm>
            <a:off x="7656513" y="-411163"/>
            <a:ext cx="1143000" cy="8572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IQ"/>
          </a:p>
        </p:txBody>
      </p:sp>
      <p:pic>
        <p:nvPicPr>
          <p:cNvPr id="20486" name="Picture 6" descr="http://embryology.med.unsw.edu.au/Defect/images/preauricular_sinus_sm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1844824"/>
            <a:ext cx="3333750" cy="3744416"/>
          </a:xfrm>
          <a:prstGeom prst="rect">
            <a:avLst/>
          </a:prstGeom>
          <a:noFill/>
        </p:spPr>
      </p:pic>
      <p:pic>
        <p:nvPicPr>
          <p:cNvPr id="2" name="Picture 1">
            <a:hlinkClick r:id="" action="ppaction://hlinkshowjump?jump=endshow"/>
            <a:extLst>
              <a:ext uri="{FF2B5EF4-FFF2-40B4-BE49-F238E27FC236}">
                <a16:creationId xmlns:a16="http://schemas.microsoft.com/office/drawing/2014/main" id="{F8F8813F-849C-A926-EC8A-05304DBD3FB9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1695450" cy="76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807230-43AE-8EA4-8A79-ECC791519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CC4E2-385F-3E24-C945-DE66D7A8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82E71-97C9-8F56-F7B4-1675F611C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9100" y="457200"/>
            <a:ext cx="8305800" cy="1226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Hematoma</a:t>
            </a:r>
            <a:br>
              <a:rPr lang="en-US" dirty="0"/>
            </a:br>
            <a:endParaRPr lang="ar-IQ" dirty="0"/>
          </a:p>
        </p:txBody>
      </p:sp>
      <p:pic>
        <p:nvPicPr>
          <p:cNvPr id="2050" name="Picture 2" descr="C:\Users\dr\Pictures\hematoma_thumb[3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84784"/>
            <a:ext cx="2771800" cy="4032448"/>
          </a:xfrm>
          <a:prstGeom prst="rect">
            <a:avLst/>
          </a:prstGeom>
          <a:noFill/>
        </p:spPr>
      </p:pic>
      <p:pic>
        <p:nvPicPr>
          <p:cNvPr id="2051" name="Picture 3" descr="C:\Users\dr\Pictures\AURICULAR_ABSCESSG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5816" y="1988840"/>
            <a:ext cx="3096344" cy="4104456"/>
          </a:xfrm>
          <a:prstGeom prst="rect">
            <a:avLst/>
          </a:prstGeom>
          <a:noFill/>
        </p:spPr>
      </p:pic>
      <p:pic>
        <p:nvPicPr>
          <p:cNvPr id="2052" name="Picture 4" descr="C:\Users\dr\Pictures\Cauliflower_Ear_360x265_20April05_00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91672" y="3041576"/>
            <a:ext cx="2952328" cy="3816424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95D23F-78EC-1C87-AC10-00CA20F77346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52400" y="95276"/>
            <a:ext cx="1828800" cy="7429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6D725-18F7-ADAC-91A4-C56999F15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C633-5718-8F2B-188C-2EF81E788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F9A0B-7708-00C3-7889-0E3CFE4D3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704088"/>
            <a:ext cx="8439472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Laceration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C:\Users\dr\Pictures\avulsion_thum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3" y="2178176"/>
            <a:ext cx="2807568" cy="4275159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87AB8-58E5-2DB8-D2CD-04332E9EC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8F273-A0AE-6351-D514-0B1B2EC3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277C6-E870-B72C-149A-67ADBE23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hlinkClick r:id="" action="ppaction://hlinkshowjump?jump=endshow"/>
            <a:extLst>
              <a:ext uri="{FF2B5EF4-FFF2-40B4-BE49-F238E27FC236}">
                <a16:creationId xmlns:a16="http://schemas.microsoft.com/office/drawing/2014/main" id="{7610BDF7-B2DE-9BA6-7E4C-DC11681847C9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1695450" cy="76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349201"/>
            <a:ext cx="382528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Perichondritis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3" descr="C:\Users\dr\Pictures\AURICULAR_ABSCESSG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3680" y="3113584"/>
            <a:ext cx="2880320" cy="3744416"/>
          </a:xfrm>
          <a:prstGeom prst="rect">
            <a:avLst/>
          </a:prstGeom>
          <a:noFill/>
        </p:spPr>
      </p:pic>
      <p:pic>
        <p:nvPicPr>
          <p:cNvPr id="3074" name="Picture 2" descr="C:\Users\dr\Pictures\Auricle_Perichondritis_May29_2003_00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484784"/>
            <a:ext cx="2843808" cy="3816424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08BC4-3661-7265-6450-A9BE49A7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12ECE-B45B-1F42-6FE0-5A48F1D88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A224-9D92-A501-50DE-72DD79DA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hlinkClick r:id="" action="ppaction://hlinkshowjump?jump=endshow"/>
            <a:extLst>
              <a:ext uri="{FF2B5EF4-FFF2-40B4-BE49-F238E27FC236}">
                <a16:creationId xmlns:a16="http://schemas.microsoft.com/office/drawing/2014/main" id="{754E532C-A3E4-5D25-2269-B319E07FBCEE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1695450" cy="76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342107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auditory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meatus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Atresia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stenosis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Cong. or acquired</a:t>
            </a:r>
          </a:p>
          <a:p>
            <a:pPr algn="l" rtl="0">
              <a:buNone/>
            </a:pPr>
            <a:endParaRPr lang="ar-IQ" dirty="0"/>
          </a:p>
        </p:txBody>
      </p:sp>
      <p:pic>
        <p:nvPicPr>
          <p:cNvPr id="5122" name="Picture 2" descr="Photograph of the right ear in a patient with uni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024" y="2780928"/>
            <a:ext cx="2880320" cy="3024336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505E0-2FC1-A1AA-5F8C-A74B1B8F5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6A567-DC54-3B52-A2D1-1DD766E42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C717-36B5-A9DD-696A-1FE6D937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hlinkClick r:id="" action="ppaction://hlinkshowjump?jump=endshow"/>
            <a:extLst>
              <a:ext uri="{FF2B5EF4-FFF2-40B4-BE49-F238E27FC236}">
                <a16:creationId xmlns:a16="http://schemas.microsoft.com/office/drawing/2014/main" id="{062DE4AA-7CD5-6873-6D97-B2BE27E49325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1695450" cy="76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5221" y="567647"/>
            <a:ext cx="8435280" cy="1143000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wax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, color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</a:p>
          <a:p>
            <a:pPr algn="l" rtl="0">
              <a:buNone/>
            </a:pPr>
            <a:endParaRPr lang="ar-IQ" dirty="0"/>
          </a:p>
        </p:txBody>
      </p:sp>
      <p:pic>
        <p:nvPicPr>
          <p:cNvPr id="3" name="Picture 2" descr="http://2.bp.blogspot.com/_YPdaMTvCxiE/SEX4YUrNtNI/AAAAAAAAAB8/AQAgu8Nkz6A/s400/ear-wa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2420888"/>
            <a:ext cx="3600400" cy="324036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3FAEE-1037-CEA9-2ADF-99AB57CA6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A4CC0-65E9-D524-4220-99CDC906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0D519-F8A7-2491-92E9-2C05D520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>
            <a:hlinkClick r:id="" action="ppaction://hlinkshowjump?jump=endshow"/>
            <a:extLst>
              <a:ext uri="{FF2B5EF4-FFF2-40B4-BE49-F238E27FC236}">
                <a16:creationId xmlns:a16="http://schemas.microsoft.com/office/drawing/2014/main" id="{0F3CC146-F718-EFAF-2906-7A1BFC69379D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1695450" cy="76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319549"/>
            <a:ext cx="4343400" cy="1143000"/>
          </a:xfrm>
        </p:spPr>
        <p:txBody>
          <a:bodyPr/>
          <a:lstStyle/>
          <a:p>
            <a:pPr algn="l"/>
            <a:r>
              <a:rPr lang="en-US" dirty="0"/>
              <a:t>Foreign bodies</a:t>
            </a:r>
            <a:r>
              <a:rPr lang="ar-IQ" dirty="0"/>
              <a:t> </a:t>
            </a:r>
            <a:r>
              <a:rPr lang="en-US" dirty="0"/>
              <a:t>  </a:t>
            </a:r>
            <a:endParaRPr lang="ar-IQ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Insects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14" descr="http://www.rcsullivan.com/www/forum/zlinsky/a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5856" y="2348880"/>
            <a:ext cx="2771799" cy="2520280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5D39D-697B-E9FE-6A17-065C7435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1A2C6-820D-4D5D-90ED-1EB5972E3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51D10-757E-670C-B290-E3B1E118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7">
            <a:hlinkClick r:id="" action="ppaction://hlinkshowjump?jump=endshow"/>
            <a:extLst>
              <a:ext uri="{FF2B5EF4-FFF2-40B4-BE49-F238E27FC236}">
                <a16:creationId xmlns:a16="http://schemas.microsoft.com/office/drawing/2014/main" id="{B1A0F344-4342-819B-27FA-2D4B2E043AD8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1695450" cy="76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Otitis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externa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 ( 1ry , 2ry ) </a:t>
            </a:r>
          </a:p>
          <a:p>
            <a:pPr algn="l"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scratching of the ear with dirty fingers or contaminated objects as matchstick or hair grip , faulty syringing , allergy may be the primary factor.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Microorganisms</a:t>
            </a:r>
          </a:p>
          <a:p>
            <a:pPr algn="l" rtl="0">
              <a:buNone/>
            </a:pPr>
            <a:endParaRPr lang="ar-IQ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7E43E-F500-FAB9-5DA5-E0539AA00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BBD2D-2845-DFC6-4F80-03A2AC40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AB49F-A022-718D-D0D0-73A99487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hlinkClick r:id="" action="ppaction://hlinkshowjump?jump=endshow"/>
            <a:extLst>
              <a:ext uri="{FF2B5EF4-FFF2-40B4-BE49-F238E27FC236}">
                <a16:creationId xmlns:a16="http://schemas.microsoft.com/office/drawing/2014/main" id="{DFC1CCAB-388B-261F-E373-5E38B3C4681A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1695450" cy="76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3058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Furunculosis  ( boils)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>
            <a:normAutofit lnSpcReduction="10000"/>
          </a:bodyPr>
          <a:lstStyle/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M.O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</a:p>
          <a:p>
            <a:pPr algn="l" rtl="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</a:t>
            </a:r>
          </a:p>
          <a:p>
            <a:pPr algn="l" rtl="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Tenderness</a:t>
            </a:r>
          </a:p>
          <a:p>
            <a:pPr algn="l" rtl="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Swelling  ( ant , post.) </a:t>
            </a:r>
          </a:p>
          <a:p>
            <a:pPr algn="l" rtl="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Lymphadenitis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</a:t>
            </a:r>
          </a:p>
          <a:p>
            <a:pPr algn="l" rtl="0">
              <a:buFont typeface="Wingdings" pitchFamily="2" charset="2"/>
              <a:buChar char="Ø"/>
            </a:pPr>
            <a:endParaRPr lang="en-US" dirty="0"/>
          </a:p>
          <a:p>
            <a:pPr algn="l" rtl="0"/>
            <a:endParaRPr lang="ar-IQ" dirty="0"/>
          </a:p>
        </p:txBody>
      </p:sp>
      <p:pic>
        <p:nvPicPr>
          <p:cNvPr id="21506" name="Picture 2" descr="C:\Users\dr\Pictures\Otitis_Externa_349x465__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87666" y="1457263"/>
            <a:ext cx="3419872" cy="4556563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84B59-721F-D0FC-1223-B675783A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D3D7A-2B51-58E7-6A9F-826C63B2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CFF79-FEA3-EA41-E855-6ABE9679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>
            <a:hlinkClick r:id="" action="ppaction://hlinkshowjump?jump=endshow"/>
            <a:extLst>
              <a:ext uri="{FF2B5EF4-FFF2-40B4-BE49-F238E27FC236}">
                <a16:creationId xmlns:a16="http://schemas.microsoft.com/office/drawing/2014/main" id="{94D392A7-9850-B1E5-1628-88ABEB0AE25D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1695450" cy="76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9552" y="332656"/>
            <a:ext cx="8928992" cy="114300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otitis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externa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4294967295"/>
          </p:nvPr>
        </p:nvSpPr>
        <p:spPr>
          <a:xfrm>
            <a:off x="251520" y="1628800"/>
            <a:ext cx="4040188" cy="639763"/>
          </a:xfrm>
        </p:spPr>
        <p:txBody>
          <a:bodyPr>
            <a:normAutofit/>
          </a:bodyPr>
          <a:lstStyle/>
          <a:p>
            <a:pPr algn="l"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Acute stage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0" y="2174875"/>
            <a:ext cx="4040188" cy="3198813"/>
          </a:xfrm>
        </p:spPr>
        <p:txBody>
          <a:bodyPr>
            <a:normAutofit fontScale="77500" lnSpcReduction="20000"/>
          </a:bodyPr>
          <a:lstStyle/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sensation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 pain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Discharge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swollen canal skin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</a:t>
            </a:r>
          </a:p>
          <a:p>
            <a:pPr algn="l" rtl="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Lymphadentitis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with dry mopping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/steroid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94967295"/>
          </p:nvPr>
        </p:nvSpPr>
        <p:spPr>
          <a:xfrm>
            <a:off x="5102225" y="1412776"/>
            <a:ext cx="4041775" cy="639762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endParaRPr lang="en-US" dirty="0"/>
          </a:p>
          <a:p>
            <a:pPr algn="l" rtl="0">
              <a:buNone/>
            </a:pPr>
            <a:r>
              <a:rPr lang="en-US" sz="9600" dirty="0"/>
              <a:t>  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stage</a:t>
            </a:r>
          </a:p>
          <a:p>
            <a:endParaRPr lang="ar-IQ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294967295"/>
          </p:nvPr>
        </p:nvSpPr>
        <p:spPr>
          <a:xfrm>
            <a:off x="5102225" y="2174875"/>
            <a:ext cx="4041775" cy="3198813"/>
          </a:xfrm>
        </p:spPr>
        <p:txBody>
          <a:bodyPr>
            <a:normAutofit fontScale="85000" lnSpcReduction="20000"/>
          </a:bodyPr>
          <a:lstStyle/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Discharge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Itching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Thickening &amp; narrowing of the canal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Congested granular TM surface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+ sedation for nocturnal itching</a:t>
            </a:r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ar-IQ" dirty="0"/>
          </a:p>
        </p:txBody>
      </p:sp>
      <p:sp>
        <p:nvSpPr>
          <p:cNvPr id="10" name="Rectangle 9"/>
          <p:cNvSpPr/>
          <p:nvPr/>
        </p:nvSpPr>
        <p:spPr>
          <a:xfrm>
            <a:off x="0" y="529152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buFont typeface="Wingdings" pitchFamily="2" charset="2"/>
              <a:buChar char="Ø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of both stages generally  required  thorough &amp; gentle cleansing of external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meatus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keeping the ear dry, avoiding trauma by scratching , attention to personal hygiene &amp; treating the associated skin condition .</a:t>
            </a:r>
          </a:p>
          <a:p>
            <a:pPr algn="l"/>
            <a:endParaRPr lang="ar-IQ" dirty="0"/>
          </a:p>
        </p:txBody>
      </p:sp>
      <p:pic>
        <p:nvPicPr>
          <p:cNvPr id="22532" name="Picture 4" descr="Chronic Otitis Externa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71800" y="2132856"/>
            <a:ext cx="2304256" cy="2160240"/>
          </a:xfrm>
          <a:prstGeom prst="rect">
            <a:avLst/>
          </a:prstGeom>
          <a:noFill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3C09F-4967-B12D-CA57-F1A78293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BC8F6-79A8-C684-683B-D90EDB9D9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08CD06-1735-25E4-B596-B8ADC2D71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1" name="Picture 10">
            <a:hlinkClick r:id="" action="ppaction://hlinkshowjump?jump=endshow"/>
            <a:extLst>
              <a:ext uri="{FF2B5EF4-FFF2-40B4-BE49-F238E27FC236}">
                <a16:creationId xmlns:a16="http://schemas.microsoft.com/office/drawing/2014/main" id="{804C02F3-F6FA-754B-FA2F-08E381FAE3EC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1695450" cy="76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76672"/>
            <a:ext cx="8305800" cy="1143000"/>
          </a:xfrm>
        </p:spPr>
        <p:txBody>
          <a:bodyPr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Otomycosis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fungal infection) 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742" y="1286544"/>
            <a:ext cx="8229600" cy="4525963"/>
          </a:xfrm>
        </p:spPr>
        <p:txBody>
          <a:bodyPr/>
          <a:lstStyle/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Organism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http://www.drtbalu.co.in/images97/otomycosis_nig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2990183"/>
            <a:ext cx="2979491" cy="2645307"/>
          </a:xfrm>
          <a:prstGeom prst="rect">
            <a:avLst/>
          </a:prstGeom>
          <a:noFill/>
        </p:spPr>
      </p:pic>
      <p:pic>
        <p:nvPicPr>
          <p:cNvPr id="25602" name="Picture 2" descr="Otomycosis - Fungus in the Ear Canal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0800" y="2990184"/>
            <a:ext cx="2895600" cy="2645306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E3900-A20F-5E34-4445-16846F89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73EA9-E0AA-04CE-C70D-7B922E6B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30C23-C70F-0B32-D5BF-8F0C4D20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Picture 7">
            <a:hlinkClick r:id="" action="ppaction://hlinkshowjump?jump=endshow"/>
            <a:extLst>
              <a:ext uri="{FF2B5EF4-FFF2-40B4-BE49-F238E27FC236}">
                <a16:creationId xmlns:a16="http://schemas.microsoft.com/office/drawing/2014/main" id="{AFAF3A3A-D1FC-4B5F-3F07-24B59B567143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52400" y="168056"/>
            <a:ext cx="1695450" cy="76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14912"/>
            <a:ext cx="8305800" cy="1143000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Malignant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otitis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externa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Skull base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osteomyelitis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Immunocompromised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stages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</a:t>
            </a:r>
          </a:p>
          <a:p>
            <a:pPr algn="l" rtl="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Curetting  granulation tissue </a:t>
            </a:r>
          </a:p>
          <a:p>
            <a:pPr algn="l" rtl="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daily packing with ribbon gauze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impegented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gentamycin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ointment </a:t>
            </a:r>
          </a:p>
          <a:p>
            <a:pPr algn="l" rtl="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 antibiotics as 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generation cephalosporin 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ticarcillin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using oral  ciprofloxacin (for 6 wks duration ) is very effective .</a:t>
            </a:r>
          </a:p>
          <a:p>
            <a:pPr algn="l" rtl="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Surgery rarely required</a:t>
            </a:r>
          </a:p>
          <a:p>
            <a:pPr algn="l" rtl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Font typeface="Wingdings" pitchFamily="2" charset="2"/>
              <a:buChar char="Ø"/>
            </a:pPr>
            <a:endParaRPr lang="ar-IQ" dirty="0"/>
          </a:p>
        </p:txBody>
      </p:sp>
      <p:pic>
        <p:nvPicPr>
          <p:cNvPr id="23555" name="Picture 3" descr="C:\Users\dr\Pictures\afp20061101p1510-f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34125" y="760808"/>
            <a:ext cx="2571750" cy="267082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4B709-6674-9C78-2EC6-FAF4D166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19/10/2025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DA532-D8D8-FDBC-FDA7-3864D891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5651D-CAFB-F514-5B89-FFDDA3A8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>
            <a:hlinkClick r:id="" action="ppaction://hlinkshowjump?jump=endshow"/>
            <a:extLst>
              <a:ext uri="{FF2B5EF4-FFF2-40B4-BE49-F238E27FC236}">
                <a16:creationId xmlns:a16="http://schemas.microsoft.com/office/drawing/2014/main" id="{650FE0DF-18D8-A5D7-39CE-3003594FEBBF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25139" y="95171"/>
            <a:ext cx="1695450" cy="76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305800" cy="1143000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Osteoma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Swimmer ear 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or multiple exostosis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Conservative or surgery</a:t>
            </a:r>
          </a:p>
          <a:p>
            <a:pPr algn="l" rtl="0">
              <a:buNone/>
            </a:pPr>
            <a:endParaRPr lang="en-US" dirty="0"/>
          </a:p>
          <a:p>
            <a:pPr marL="0" indent="0" algn="l" rtl="0">
              <a:buNone/>
            </a:pPr>
            <a:endParaRPr lang="ar-IQ" dirty="0"/>
          </a:p>
        </p:txBody>
      </p:sp>
      <p:sp>
        <p:nvSpPr>
          <p:cNvPr id="24582" name="AutoShape 6" descr="data:image/jpg;base64,/9j/4AAQSkZJRgABAQAAAQABAAD/2wCEAAkGBhMSEBMUExQUFBQVFxoYFxgYGBccFxcYHRUXFxgaFBgcHCYeFxolHxQUHy8gJCcpLCwsFR4xNTAqNSYrLCkBCQoKDgwOGg8PFykkHyQsLCwsKiosLCwpKSwsLCwpKSwsLCwpKSwsLCwsLCwsLCwsLCwsLCwpLCwsLCwsLCksLP/AABEIAIIAgQMBIgACEQEDEQH/xAAcAAACAgMBAQAAAAAAAAAAAAAABAUGAQMHCAL/xAA7EAABAwIDBQUFBgYDAQAAAAABAAIDBBEFITEGEkFRYSJxgZGhBxMysdFCUnKSweEUI3OywvBDgqJT/8QAGQEAAgMBAAAAAAAAAAAAAAAAAgMAAQQF/8QAIhEAAgMAAgMAAgMAAAAAAAAAAAECAxESIQQxQSIyE0JR/9oADAMBAAIRAxEAPwDhyEIUICEKaw3Z4us6S7Ry4nv5fPuVN4FGLk8REwQOebNBJ6fqpam2ZefjcG9Bmfp81YoqNrGgNAA6LcxqBzNsPFX9iNptmoRqC7vJ/SykosDhH/Ez8oPzW+NiciYq1mpUwXpC7cDhP/FH+Rv0WmfZGmf9jd6tLh+pHopxkK2xwqJ4X/FB/EUyr9nd84pO4PH+TfoqriWFyU8hZK0td6Ec2nQhdnjhNwFnGdl46yDdkG64X3JAM2nnbiOY4+RRcjLb4y9xOGIUhjeCS0kzopRYjQj4XN4OYeIP7aqPRmBrAQhChQIQhQgLICwrJs1hYAEzhc/YH+X6DxPJU3gUIubxGzBsC3LPeLv4A/Z/f5KeZCtsMV0yIUvdOvXUoLEKmNfO5ZOGJYdGqZoUTXCy6fp2aXSkQsnIJc7FUU0SzKO7bjMDX6jp8u7NNQ0Abuki4cL36cx1HJfWAzgPDSQCTYE/Zdo0nmw33SDwKn6egJa+O1i3+awHUffaPL/yoL3CElpCHW8v98VKwQ9kcgPVHug5rHcR2T+nhb5KQY30Q72N46iB2k2ThracxyCxFzG8fEx3Mcwcrjj32I4JjuBS0k7oZm2cND9lzeDmHiD+xzC9MhnDgojavZSGvh93Jk4XLHgdqN1tRzByu3j0IBDIywxX+Py7Xs82IUjj2Ay0c7oZhZw0I+FzeDmHiD9Qcwo5NOY1nTBCEKFDWGUXvZWs4auPJo1/3qr/AAxCwAFgAAByHJVzZalsxz/vGw7hr6/2qzRApcmdPxa8jy/0epqVSLMPJ4LTh+eqstHGLDnwQtmltogpMOtlZKTUdlaZqe6TNASVXIbFlejoiVrqKchWN9NuZgJeUNvcjvCm9FSbbEcNBs09f2XVRDZ8JIzs4G/Ub3zJ81zvZKh97XtY34B2yD0tb1I8l14YcC0A6j63VxRlutUcTKeym7braJpjVI1VFuXASLhZBhqjYproN1fLmHI81sa5Yc8c7qFdlW2v2YirYSyXJwuY3gXLDzHMGwuOPeARwPG8FlpZnRSizhmD9lzeDmniDb0I1C9PSx5aLl/thwkOp45gO1E/dP4H8+5zW/nKdDTD5Nazl9ORIQhGc4v+F0m5FG3k0eZzPqSpWCFbY6QqRpaJZ5HerSUUjVS3apqkquC1w0CZbR2S9DaTHopLpiQBrN7icgkI3WTGJS5XOgsqXsF/ihB787nVR1aBwTsmY3gkZc00VGXZIbC4rHT1pMmTXt3N7g03BF+mVvFdfDgRcaLg7qIkXTEO0NZTMtHK9rOANiB3Ag2RptejJfXzlunTNq8digtvOs46AZk9wVQbtSHHIWCoUuJySyOdI4uccySbkpunm0S5LTX4+RjiOhU+LApuKoJ+6qlhtQdFPU03TXyQpGhslnTZZ7p81V9tKYTUVSzdOcTiOObRvt9WhTQGWiSq4A4Oacr5eYtmnxbMtv1Hmq6Fn3ZWUw453Wlo7qWpaDovrC4A9rXAZOaHDuIBHzU3BR3WOR3YPrSOFJZfX8N0UqafNEkORySxyaKvVM3StmIkGIFM4jT5EqI992Swo4C7l0aHVZtktbM1gSjQrD5AjZlTwk6HFvcX7DH3GW8L26jNLbR7SioiDfdta4E5tGqip6hIzu4okypRUnog2PtX706wbri06hJxOu4rZHPvPJHNWxlf7FjoJFN00hy6Kv0Kn6VgI70JqY6KlJ1k98zkWgnyFzfyW17CO5Qu1VT7ujqH6WicB3uG431cE2JktednCt9CxZCYcg9B+y+t/iMPgN7uYDEe9mQv/wBS1XeKBcT9huNhtTJSudYTDfj/AKjRmPFt/wAoXfaOCwzSJQ1nRruSrQrBS3C+5qSw0zKeghzPn4LMrDnzVcOgXc+RVK6lyPBVfEKIgq+18Y5KExGk7N0txa7R1KpKxYyh1TTx1+aSNSRkrbWUDXNzVcrMNc3kR6olLfYmyhp9CTpUsQT3LdM43zC+GxFyvRarkxOoadG+KYoKa1kyyisnKWmUQ+NfHseoWKfoGEEEKLo4NFLUuX6IsJJjclrG4XOvaviu7TMhB7Ur7n8DM/7i38pV7qqnguG7cY//ABdY97TeNvYj6tbe58SXO8QmxRz/ACJ4sK+hCERzxigrnwysljcWvjcHNI4EG4XrDYzaiPEaWOoZlcbsjf8A5yD4mn5joQvI6tfs829kwup3xd8L7CaO/wAQ4ObwD23Nj3jQqmFF4ermQ2A5hfT9fBIYPjMVXAyaB4fE8XDh6tcNWuGhB0ITspzHLQqwvbF5aVv1Ch8Ug3TmDY69everCIhe6UxKEOFjY28CCqcdRpou4yRT56QZ7puP91+qia6iBt43H0VjmpLE5kGwt38itT6APH3XX1OXy+fnzWZwO4rFnbKLVYdn0WmKhsrjWYcQc9QdbfqkZaPLTTJREbWaQQj6LZGzNNyUufRYbTm/yRAOSNlNCRqb5+iZfJu8ei0tdugjiFBbUbTMpY945vd8DOLjzPJo4nw1RRRjsml2xH2h7U+5hMLD/NlFjzbGcie92YHS/RcoW+urnzSOkkO89xuT9OQGgHRaE45Nk+b0EIQoLBCEKELf7O/aLNhc9xeSneR72K+vDeZ914HnoeBHpPAtqqaugMtM/wB4wZOFiHNNgbOBzBF+7I5lePVIYJj9RRyiWnldE8cWnIjk4aOHQq0Wnh7JZMDYA5EJOod2u0QL8RxXHNlfb229qyPdcbAvjF2HqWatPdcdF0vC9p6aqBkgmikyGQcN4d7TmPJWaYRW9Mcmhu23EG/ctMcO8GnivrfyI4nj0WKaqsADbI5pbz6blyS6NNfT2abjTXooWriFsiCrDUV7XNLTxVfrqptxwsDcm1vPkga76G1zfHGR0zLLTvjhrkojHtvqOEEe994/7sVnebh2fVc5xv2gzzXbF/JYfum7z3v4eFvFEomezyIx+l22s20ipt5rbST/AHQcm/1CNPwjPu1XKcQxGSeQySOLnH0HAAcAOQS10IksOdZY5+wQhCsWCEIUICEIUICEIUIC+mPIzBIPMaoQoQv+weP1JcGmonLQDkZH24cLrrVHVPO9dzjkNSUIRv8AU6FT/Er+2eISsfHuSPb2Jvhc4cGW0PUrh9diMsrj7ySST8bnO+ZQhD8Qi5sUQhCozAhCFCAhCFCAhCFCH//Z">
            <a:hlinkClick r:id="rId2"/>
          </p:cNvPr>
          <p:cNvSpPr>
            <a:spLocks noChangeAspect="1" noChangeArrowheads="1"/>
          </p:cNvSpPr>
          <p:nvPr/>
        </p:nvSpPr>
        <p:spPr bwMode="auto">
          <a:xfrm>
            <a:off x="7508875" y="-593725"/>
            <a:ext cx="1228725" cy="1238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IQ"/>
          </a:p>
        </p:txBody>
      </p:sp>
      <p:pic>
        <p:nvPicPr>
          <p:cNvPr id="24584" name="Picture 8" descr="Anterior Superior Right External Auditory Canal Osteom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2800" y="548681"/>
            <a:ext cx="1981200" cy="2140586"/>
          </a:xfrm>
          <a:prstGeom prst="rect">
            <a:avLst/>
          </a:prstGeom>
          <a:noFill/>
        </p:spPr>
      </p:pic>
      <p:pic>
        <p:nvPicPr>
          <p:cNvPr id="24586" name="Picture 10" descr="External Auditory Canal Osteoma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38800" y="2231912"/>
            <a:ext cx="2017986" cy="2052630"/>
          </a:xfrm>
          <a:prstGeom prst="rect">
            <a:avLst/>
          </a:prstGeom>
          <a:noFill/>
        </p:spPr>
      </p:pic>
      <p:pic>
        <p:nvPicPr>
          <p:cNvPr id="24588" name="Picture 12" descr="External Auditory Canal Osteoma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14800" y="3413235"/>
            <a:ext cx="2139280" cy="2195244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79B38-E718-BF38-A47A-2495876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435D3-984D-E37E-0988-98062FD03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939EC-506C-309E-3B29-AA53BA05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6">
            <a:hlinkClick r:id="" action="ppaction://hlinkshowjump?jump=endshow"/>
            <a:extLst>
              <a:ext uri="{FF2B5EF4-FFF2-40B4-BE49-F238E27FC236}">
                <a16:creationId xmlns:a16="http://schemas.microsoft.com/office/drawing/2014/main" id="{CC76AA1A-9088-8BED-61C5-5A5E553D0D42}"/>
              </a:ext>
            </a:extLst>
          </p:cNvPr>
          <p:cNvPicPr/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1695450" cy="76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5050" y="23539"/>
            <a:ext cx="4533900" cy="1143000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Malignant tumors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97422" y="1539155"/>
            <a:ext cx="5105400" cy="1140421"/>
          </a:xfrm>
        </p:spPr>
        <p:txBody>
          <a:bodyPr>
            <a:normAutofit lnSpcReduction="10000"/>
          </a:bodyPr>
          <a:lstStyle/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BCC</a:t>
            </a:r>
          </a:p>
          <a:p>
            <a:pPr algn="l" rt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SCC</a:t>
            </a:r>
            <a:endParaRPr lang="ar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746" name="Picture 2" descr="C:\Users\dr\Pictures\Auricle_Basal_Cell_Ca_June_2008_0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399279"/>
            <a:ext cx="2438400" cy="3249930"/>
          </a:xfrm>
          <a:prstGeom prst="rect">
            <a:avLst/>
          </a:prstGeom>
          <a:noFill/>
        </p:spPr>
      </p:pic>
      <p:pic>
        <p:nvPicPr>
          <p:cNvPr id="31748" name="Picture 4" descr="Large, neglected cutaneous squamous cell carcinom..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3068960"/>
            <a:ext cx="2561481" cy="3022557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A37D0-5ECD-0279-7B34-076FBC41D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0AA0F-CCA2-9D80-E883-84A5B59C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94EDC-B863-FB62-56C1-285BD2E4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>
            <a:hlinkClick r:id="" action="ppaction://hlinkshowjump?jump=endshow"/>
            <a:extLst>
              <a:ext uri="{FF2B5EF4-FFF2-40B4-BE49-F238E27FC236}">
                <a16:creationId xmlns:a16="http://schemas.microsoft.com/office/drawing/2014/main" id="{8B713132-D11A-6704-982E-3469712FC75C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1695450" cy="762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37845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2819400"/>
            <a:ext cx="8458200" cy="19812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The commonest inflammatory condition affecting the external ear is diffuse otitis externa, but don’t miss the Malignant otitis externa in immune compromised patients.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2" name="Picture 11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64284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19/10/2025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MUAID ISMAIEL AZIZ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2" name="Picture 11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A611CE-D096-4B18-38B6-6A9D89BE9F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Q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Scott B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book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Logan’s turner text book</a:t>
            </a:r>
            <a:endParaRPr lang="en-IQ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747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429</Words>
  <Application>Microsoft Macintosh PowerPoint</Application>
  <PresentationFormat>On-screen Show (4:3)</PresentationFormat>
  <Paragraphs>152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Tahoma</vt:lpstr>
      <vt:lpstr>Times New Roman</vt:lpstr>
      <vt:lpstr>Wingdings</vt:lpstr>
      <vt:lpstr>Office Theme</vt:lpstr>
      <vt:lpstr>Diseases of the External ear</vt:lpstr>
      <vt:lpstr>Objectives</vt:lpstr>
      <vt:lpstr>Auricle </vt:lpstr>
      <vt:lpstr>PowerPoint Presentation</vt:lpstr>
      <vt:lpstr>PowerPoint Presentation</vt:lpstr>
      <vt:lpstr>Hematoma </vt:lpstr>
      <vt:lpstr>Laceration</vt:lpstr>
      <vt:lpstr>Perichondritis </vt:lpstr>
      <vt:lpstr>External auditory meatus</vt:lpstr>
      <vt:lpstr>wax</vt:lpstr>
      <vt:lpstr>Foreign bodies   </vt:lpstr>
      <vt:lpstr>Otitis externa</vt:lpstr>
      <vt:lpstr>Furunculosis  ( boils)</vt:lpstr>
      <vt:lpstr>Diffuse otitis externa</vt:lpstr>
      <vt:lpstr>Otomycosis ( fungal infection) </vt:lpstr>
      <vt:lpstr>Malignant otitis externa </vt:lpstr>
      <vt:lpstr>Osteoma</vt:lpstr>
      <vt:lpstr>Malignant tumors</vt:lpstr>
      <vt:lpstr>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PRESENTATIONS</dc:title>
  <dc:creator>Twana Rahim</dc:creator>
  <cp:lastModifiedBy>Microsoft Office User</cp:lastModifiedBy>
  <cp:revision>27</cp:revision>
  <dcterms:created xsi:type="dcterms:W3CDTF">2006-08-16T00:00:00Z</dcterms:created>
  <dcterms:modified xsi:type="dcterms:W3CDTF">2025-10-20T08:30:17Z</dcterms:modified>
</cp:coreProperties>
</file>