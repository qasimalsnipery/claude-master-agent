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8" r:id="rId2"/>
    <p:sldId id="289" r:id="rId3"/>
    <p:sldId id="259"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301" r:id="rId24"/>
    <p:sldId id="280" r:id="rId25"/>
    <p:sldId id="281" r:id="rId26"/>
    <p:sldId id="282" r:id="rId27"/>
    <p:sldId id="283" r:id="rId28"/>
    <p:sldId id="284" r:id="rId29"/>
    <p:sldId id="285" r:id="rId30"/>
    <p:sldId id="286" r:id="rId31"/>
    <p:sldId id="287" r:id="rId32"/>
    <p:sldId id="288" r:id="rId33"/>
    <p:sldId id="291" r:id="rId34"/>
    <p:sldId id="290" r:id="rId35"/>
    <p:sldId id="292" r:id="rId36"/>
    <p:sldId id="293" r:id="rId37"/>
    <p:sldId id="294" r:id="rId38"/>
    <p:sldId id="295" r:id="rId39"/>
    <p:sldId id="296" r:id="rId40"/>
    <p:sldId id="297" r:id="rId41"/>
    <p:sldId id="298" r:id="rId42"/>
    <p:sldId id="299" r:id="rId43"/>
    <p:sldId id="300" r:id="rId44"/>
    <p:sldId id="305" r:id="rId45"/>
    <p:sldId id="306" r:id="rId46"/>
    <p:sldId id="304" r:id="rId47"/>
    <p:sldId id="308" r:id="rId48"/>
    <p:sldId id="307"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E57F87C-4889-4A13-910F-98855CFD93E5}"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603125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57F87C-4889-4A13-910F-98855CFD93E5}"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3842996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E57F87C-4889-4A13-910F-98855CFD93E5}"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331415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E57F87C-4889-4A13-910F-98855CFD93E5}"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1530936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E57F87C-4889-4A13-910F-98855CFD93E5}"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2662477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E57F87C-4889-4A13-910F-98855CFD93E5}" type="datetimeFigureOut">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3688462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57F87C-4889-4A13-910F-98855CFD93E5}" type="datetimeFigureOut">
              <a:rPr lang="en-US" smtClean="0"/>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1382878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57F87C-4889-4A13-910F-98855CFD93E5}"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524788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57F87C-4889-4A13-910F-98855CFD93E5}"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2941707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57F87C-4889-4A13-910F-98855CFD93E5}"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774485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57F87C-4889-4A13-910F-98855CFD93E5}"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8A502D-C55F-4E59-B9D8-CF586BCF24EA}" type="slidenum">
              <a:rPr lang="en-US" smtClean="0"/>
              <a:t>‹#›</a:t>
            </a:fld>
            <a:endParaRPr lang="en-US"/>
          </a:p>
        </p:txBody>
      </p:sp>
    </p:spTree>
    <p:extLst>
      <p:ext uri="{BB962C8B-B14F-4D97-AF65-F5344CB8AC3E}">
        <p14:creationId xmlns:p14="http://schemas.microsoft.com/office/powerpoint/2010/main" val="34004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57F87C-4889-4A13-910F-98855CFD93E5}" type="datetimeFigureOut">
              <a:rPr lang="en-US" smtClean="0"/>
              <a:t>10/20/2025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A502D-C55F-4E59-B9D8-CF586BCF24EA}" type="slidenum">
              <a:rPr lang="en-US" smtClean="0"/>
              <a:t>‹#›</a:t>
            </a:fld>
            <a:endParaRPr lang="en-US"/>
          </a:p>
        </p:txBody>
      </p:sp>
    </p:spTree>
    <p:extLst>
      <p:ext uri="{BB962C8B-B14F-4D97-AF65-F5344CB8AC3E}">
        <p14:creationId xmlns:p14="http://schemas.microsoft.com/office/powerpoint/2010/main" val="61278552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lstStyle/>
          <a:p>
            <a:pPr marL="0" indent="0">
              <a:buNone/>
            </a:pPr>
            <a:r>
              <a:rPr lang="en-US" dirty="0" smtClean="0"/>
              <a:t>               </a:t>
            </a:r>
          </a:p>
          <a:p>
            <a:pPr marL="0" indent="0">
              <a:buNone/>
            </a:pPr>
            <a:endParaRPr lang="en-US" dirty="0"/>
          </a:p>
          <a:p>
            <a:pPr marL="0" indent="0">
              <a:buNone/>
            </a:pPr>
            <a:r>
              <a:rPr lang="en-US" dirty="0" smtClean="0"/>
              <a:t>                  </a:t>
            </a:r>
          </a:p>
          <a:p>
            <a:pPr marL="0" indent="0">
              <a:buNone/>
            </a:pPr>
            <a:r>
              <a:rPr lang="en-US" sz="4000" b="1" dirty="0">
                <a:solidFill>
                  <a:srgbClr val="FFC000"/>
                </a:solidFill>
              </a:rPr>
              <a:t> </a:t>
            </a:r>
            <a:r>
              <a:rPr lang="en-US" sz="4000" b="1" dirty="0" smtClean="0">
                <a:solidFill>
                  <a:srgbClr val="FFC000"/>
                </a:solidFill>
              </a:rPr>
              <a:t>        </a:t>
            </a:r>
            <a:r>
              <a:rPr lang="en-US" sz="4000" b="1" dirty="0" smtClean="0">
                <a:solidFill>
                  <a:srgbClr val="00B0F0"/>
                </a:solidFill>
              </a:rPr>
              <a:t>Acute and chronic laryngitis </a:t>
            </a:r>
          </a:p>
          <a:p>
            <a:pPr marL="0" indent="0">
              <a:buNone/>
            </a:pPr>
            <a:r>
              <a:rPr lang="en-US" sz="4000" b="1" dirty="0" smtClean="0">
                <a:solidFill>
                  <a:srgbClr val="00B0F0"/>
                </a:solidFill>
              </a:rPr>
              <a:t>             By </a:t>
            </a:r>
            <a:r>
              <a:rPr lang="en-US" sz="4000" b="1" dirty="0" err="1" smtClean="0">
                <a:solidFill>
                  <a:srgbClr val="00B0F0"/>
                </a:solidFill>
              </a:rPr>
              <a:t>Dr</a:t>
            </a:r>
            <a:r>
              <a:rPr lang="en-US" sz="4000" b="1" dirty="0" smtClean="0">
                <a:solidFill>
                  <a:srgbClr val="00B0F0"/>
                </a:solidFill>
              </a:rPr>
              <a:t>:. </a:t>
            </a:r>
            <a:r>
              <a:rPr lang="en-US" sz="4000" b="1" dirty="0" err="1" smtClean="0">
                <a:solidFill>
                  <a:srgbClr val="00B0F0"/>
                </a:solidFill>
              </a:rPr>
              <a:t>Mariwan</a:t>
            </a:r>
            <a:r>
              <a:rPr lang="en-US" sz="4000" b="1" dirty="0" smtClean="0">
                <a:solidFill>
                  <a:srgbClr val="00B0F0"/>
                </a:solidFill>
              </a:rPr>
              <a:t> </a:t>
            </a:r>
            <a:r>
              <a:rPr lang="en-US" sz="4000" b="1" dirty="0" err="1" smtClean="0">
                <a:solidFill>
                  <a:srgbClr val="00B0F0"/>
                </a:solidFill>
              </a:rPr>
              <a:t>Latif</a:t>
            </a:r>
            <a:r>
              <a:rPr lang="en-US" sz="4000" b="1" dirty="0" smtClean="0">
                <a:solidFill>
                  <a:srgbClr val="00B0F0"/>
                </a:solidFill>
              </a:rPr>
              <a:t> Fatah </a:t>
            </a:r>
          </a:p>
          <a:p>
            <a:pPr marL="0" indent="0">
              <a:buNone/>
            </a:pPr>
            <a:r>
              <a:rPr lang="en-US" sz="4000" b="1" dirty="0" smtClean="0">
                <a:solidFill>
                  <a:srgbClr val="00B0F0"/>
                </a:solidFill>
              </a:rPr>
              <a:t>                   </a:t>
            </a:r>
            <a:r>
              <a:rPr lang="en-US" sz="4000" b="1" dirty="0" err="1" smtClean="0">
                <a:solidFill>
                  <a:srgbClr val="00B0F0"/>
                </a:solidFill>
              </a:rPr>
              <a:t>M.B.ch.B</a:t>
            </a:r>
            <a:r>
              <a:rPr lang="en-US" sz="4000" b="1" dirty="0" smtClean="0">
                <a:solidFill>
                  <a:srgbClr val="00B0F0"/>
                </a:solidFill>
              </a:rPr>
              <a:t> _F.I.C.M.S </a:t>
            </a:r>
            <a:endParaRPr lang="en-US" sz="4000" b="1" dirty="0">
              <a:solidFill>
                <a:srgbClr val="00B0F0"/>
              </a:solidFill>
            </a:endParaRPr>
          </a:p>
        </p:txBody>
      </p:sp>
      <p:pic>
        <p:nvPicPr>
          <p:cNvPr id="3074"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1000"/>
            <a:ext cx="3733800" cy="1474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4063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76200" y="228600"/>
            <a:ext cx="8839200" cy="6400800"/>
          </a:xfrm>
        </p:spPr>
        <p:txBody>
          <a:bodyPr>
            <a:normAutofit/>
          </a:bodyPr>
          <a:lstStyle/>
          <a:p>
            <a:pPr marL="0" indent="0">
              <a:buNone/>
            </a:pPr>
            <a:r>
              <a:rPr lang="en-US" dirty="0" smtClean="0"/>
              <a:t>   </a:t>
            </a:r>
          </a:p>
          <a:p>
            <a:pPr marL="0" indent="0">
              <a:buNone/>
            </a:pPr>
            <a:endParaRPr lang="en-US" dirty="0"/>
          </a:p>
          <a:p>
            <a:pPr marL="0" indent="0">
              <a:buNone/>
            </a:pPr>
            <a:r>
              <a:rPr lang="en-US" dirty="0" smtClean="0"/>
              <a:t>    </a:t>
            </a:r>
            <a:r>
              <a:rPr lang="en-US" dirty="0" smtClean="0">
                <a:solidFill>
                  <a:srgbClr val="002060"/>
                </a:solidFill>
              </a:rPr>
              <a:t>Key </a:t>
            </a:r>
            <a:r>
              <a:rPr lang="en-US" dirty="0">
                <a:solidFill>
                  <a:srgbClr val="002060"/>
                </a:solidFill>
              </a:rPr>
              <a:t>Features </a:t>
            </a:r>
            <a:endParaRPr lang="en-US" dirty="0" smtClean="0">
              <a:solidFill>
                <a:srgbClr val="002060"/>
              </a:solidFill>
            </a:endParaRPr>
          </a:p>
          <a:p>
            <a:pPr>
              <a:buFont typeface="Wingdings" pitchFamily="2" charset="2"/>
              <a:buChar char="q"/>
            </a:pPr>
            <a:r>
              <a:rPr lang="en-US" sz="2400" dirty="0" smtClean="0"/>
              <a:t> </a:t>
            </a:r>
            <a:r>
              <a:rPr lang="en-US" sz="2400" dirty="0"/>
              <a:t>Infections of the larynx may be acute or chronic in nature. </a:t>
            </a:r>
            <a:endParaRPr lang="en-US" sz="2400" dirty="0" smtClean="0"/>
          </a:p>
          <a:p>
            <a:pPr>
              <a:buFont typeface="Wingdings" pitchFamily="2" charset="2"/>
              <a:buChar char="q"/>
            </a:pPr>
            <a:r>
              <a:rPr lang="en-US" sz="2400" dirty="0" smtClean="0"/>
              <a:t>Symptoms </a:t>
            </a:r>
            <a:r>
              <a:rPr lang="en-US" sz="2400" dirty="0"/>
              <a:t>and signs include hoarseness, pain, dysphagia, cough, dyspnea, stridor, and signs of systemic illness</a:t>
            </a:r>
            <a:r>
              <a:rPr lang="en-US" sz="2400" dirty="0" smtClean="0"/>
              <a:t>.</a:t>
            </a:r>
          </a:p>
          <a:p>
            <a:pPr>
              <a:buFont typeface="Wingdings" pitchFamily="2" charset="2"/>
              <a:buChar char="q"/>
            </a:pPr>
            <a:r>
              <a:rPr lang="en-US" sz="2400" dirty="0" smtClean="0"/>
              <a:t> Therapy </a:t>
            </a:r>
            <a:r>
              <a:rPr lang="en-US" sz="2400" dirty="0"/>
              <a:t>is directed at the causative organism and is supportive of any airway issues present</a:t>
            </a:r>
            <a:r>
              <a:rPr lang="en-US" sz="2400" dirty="0" smtClean="0"/>
              <a:t>.</a:t>
            </a:r>
          </a:p>
          <a:p>
            <a:pPr>
              <a:buFont typeface="Wingdings" pitchFamily="2" charset="2"/>
              <a:buChar char="q"/>
            </a:pPr>
            <a:r>
              <a:rPr lang="en-US" sz="2400" dirty="0" smtClean="0"/>
              <a:t> Laryngoscopy </a:t>
            </a:r>
            <a:r>
              <a:rPr lang="en-US" sz="2400" dirty="0"/>
              <a:t>with biopsy and/or culture may be necessary as some infections may mimic neoplasms, or require this </a:t>
            </a:r>
            <a:r>
              <a:rPr lang="en-US" sz="2400" dirty="0" smtClean="0"/>
              <a:t>information </a:t>
            </a:r>
            <a:r>
              <a:rPr lang="en-US" sz="2400" dirty="0"/>
              <a:t>for a definitive diagnosis</a:t>
            </a:r>
            <a:r>
              <a:rPr lang="en-US" dirty="0"/>
              <a:t>. </a:t>
            </a:r>
          </a:p>
        </p:txBody>
      </p:sp>
      <p:pic>
        <p:nvPicPr>
          <p:cNvPr id="5"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75" y="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5326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5821363"/>
          </a:xfrm>
        </p:spPr>
        <p:txBody>
          <a:bodyPr/>
          <a:lstStyle/>
          <a:p>
            <a:pPr marL="0" indent="0">
              <a:buNone/>
            </a:pPr>
            <a:r>
              <a:rPr lang="en-US" dirty="0" smtClean="0"/>
              <a:t>  </a:t>
            </a:r>
          </a:p>
          <a:p>
            <a:pPr marL="0" indent="0">
              <a:buNone/>
            </a:pPr>
            <a:r>
              <a:rPr lang="en-US" dirty="0"/>
              <a:t> </a:t>
            </a:r>
            <a:r>
              <a:rPr lang="en-US" dirty="0" smtClean="0"/>
              <a:t>   </a:t>
            </a:r>
          </a:p>
          <a:p>
            <a:pPr marL="0" indent="0">
              <a:buNone/>
            </a:pPr>
            <a:r>
              <a:rPr lang="en-US" b="1" dirty="0">
                <a:solidFill>
                  <a:srgbClr val="7030A0"/>
                </a:solidFill>
              </a:rPr>
              <a:t> </a:t>
            </a:r>
            <a:r>
              <a:rPr lang="en-US" b="1" dirty="0" smtClean="0">
                <a:solidFill>
                  <a:srgbClr val="7030A0"/>
                </a:solidFill>
              </a:rPr>
              <a:t>  ACUTE LARYNGITIS </a:t>
            </a:r>
          </a:p>
          <a:p>
            <a:r>
              <a:rPr lang="en-US" sz="2400" dirty="0" smtClean="0"/>
              <a:t>Acute infective laryngitis is the most common form of infection in the larynx. </a:t>
            </a:r>
          </a:p>
          <a:p>
            <a:r>
              <a:rPr lang="en-US" sz="2400" dirty="0" smtClean="0"/>
              <a:t>The majority of the infection is caused by viruses, including rhinovirus, adenovirus, Para influenza virus and respiratory syncytial virus.</a:t>
            </a:r>
            <a:endParaRPr lang="en-US" sz="2400" dirty="0"/>
          </a:p>
        </p:txBody>
      </p:sp>
      <p:pic>
        <p:nvPicPr>
          <p:cNvPr id="4098"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385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0845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normAutofit/>
          </a:bodyPr>
          <a:lstStyle/>
          <a:p>
            <a:pPr marL="0" indent="0">
              <a:buNone/>
            </a:pPr>
            <a:r>
              <a:rPr lang="en-US" dirty="0" smtClean="0"/>
              <a:t>     </a:t>
            </a:r>
          </a:p>
          <a:p>
            <a:pPr marL="0" indent="0">
              <a:buNone/>
            </a:pPr>
            <a:r>
              <a:rPr lang="en-US" b="1" dirty="0">
                <a:solidFill>
                  <a:srgbClr val="7030A0"/>
                </a:solidFill>
              </a:rPr>
              <a:t> </a:t>
            </a:r>
            <a:r>
              <a:rPr lang="en-US" b="1" dirty="0" smtClean="0">
                <a:solidFill>
                  <a:srgbClr val="7030A0"/>
                </a:solidFill>
              </a:rPr>
              <a:t>   </a:t>
            </a:r>
          </a:p>
          <a:p>
            <a:pPr marL="0" indent="0">
              <a:buNone/>
            </a:pPr>
            <a:endParaRPr lang="en-US" b="1" dirty="0">
              <a:solidFill>
                <a:srgbClr val="7030A0"/>
              </a:solidFill>
            </a:endParaRPr>
          </a:p>
          <a:p>
            <a:pPr marL="0" indent="0">
              <a:buNone/>
            </a:pPr>
            <a:r>
              <a:rPr lang="en-US" b="1" dirty="0" smtClean="0">
                <a:solidFill>
                  <a:srgbClr val="7030A0"/>
                </a:solidFill>
              </a:rPr>
              <a:t>   LARYNGO-TRACHEOBRONCHITIS (CROUP) </a:t>
            </a:r>
          </a:p>
          <a:p>
            <a:r>
              <a:rPr lang="en-US" sz="2400" dirty="0" err="1" smtClean="0"/>
              <a:t>Laryngo-tracheobronchitis</a:t>
            </a:r>
            <a:r>
              <a:rPr lang="en-US" sz="2400" dirty="0" smtClean="0"/>
              <a:t> is a </a:t>
            </a:r>
            <a:r>
              <a:rPr lang="en-US" sz="2400" dirty="0" err="1" smtClean="0"/>
              <a:t>subacute</a:t>
            </a:r>
            <a:r>
              <a:rPr lang="en-US" sz="2400" dirty="0" smtClean="0"/>
              <a:t> upper respiratory tract infection most commonly caused by Para influenza viruses types I, II and III, accounting for 75–80 per cent of cases.</a:t>
            </a:r>
          </a:p>
          <a:p>
            <a:r>
              <a:rPr lang="en-US" sz="2400" dirty="0" smtClean="0"/>
              <a:t>Adenovirus, respiratory syncytial virus and influenza viruses types A and B compose the remaining cases. </a:t>
            </a:r>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439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a:bodyPr>
          <a:lstStyle/>
          <a:p>
            <a:endParaRPr lang="en-US" sz="2400" dirty="0" smtClean="0"/>
          </a:p>
          <a:p>
            <a:endParaRPr lang="en-US" sz="2400" dirty="0"/>
          </a:p>
          <a:p>
            <a:endParaRPr lang="en-US" sz="2400" dirty="0" smtClean="0"/>
          </a:p>
          <a:p>
            <a:endParaRPr lang="en-US" sz="2400" dirty="0" smtClean="0"/>
          </a:p>
          <a:p>
            <a:endParaRPr lang="en-US" sz="2400" dirty="0" smtClean="0"/>
          </a:p>
          <a:p>
            <a:r>
              <a:rPr lang="en-US" sz="2400" dirty="0" smtClean="0"/>
              <a:t>Children between the ages of 6 months and 3 years are more commonly affected, and such cases of croup usually last for 3 to 7 days. </a:t>
            </a:r>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2789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248400"/>
          </a:xfrm>
        </p:spPr>
        <p:txBody>
          <a:bodyPr/>
          <a:lstStyle/>
          <a:p>
            <a:endParaRPr lang="en-US" sz="2400" dirty="0" smtClean="0"/>
          </a:p>
          <a:p>
            <a:endParaRPr lang="en-US" sz="2400" dirty="0"/>
          </a:p>
          <a:p>
            <a:r>
              <a:rPr lang="en-US" sz="2400" dirty="0" smtClean="0"/>
              <a:t>Many cases are self-limiting, and most patients do not need admission to hospital for treatment. </a:t>
            </a:r>
          </a:p>
          <a:p>
            <a:r>
              <a:rPr lang="en-US" sz="2400" dirty="0" smtClean="0"/>
              <a:t>Croup is the most common cause of stridor in children, and approximately 5 per cent of these patients require tracheal intubation. </a:t>
            </a:r>
          </a:p>
          <a:p>
            <a:r>
              <a:rPr lang="en-US" sz="2400" dirty="0" smtClean="0"/>
              <a:t>The infection is more prevalent in autumn and winter months. </a:t>
            </a:r>
          </a:p>
          <a:p>
            <a:r>
              <a:rPr lang="en-US" sz="2400" dirty="0" smtClean="0"/>
              <a:t>The disease is uncommon in adults</a:t>
            </a:r>
          </a:p>
          <a:p>
            <a:endParaRPr lang="en-US" dirty="0" smtClean="0"/>
          </a:p>
          <a:p>
            <a:pPr marL="0" indent="0">
              <a:buNone/>
            </a:pPr>
            <a:endParaRPr lang="en-US" dirty="0"/>
          </a:p>
        </p:txBody>
      </p:sp>
    </p:spTree>
    <p:extLst>
      <p:ext uri="{BB962C8B-B14F-4D97-AF65-F5344CB8AC3E}">
        <p14:creationId xmlns:p14="http://schemas.microsoft.com/office/powerpoint/2010/main" val="42370290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915400" cy="6400800"/>
          </a:xfrm>
        </p:spPr>
        <p:txBody>
          <a:bodyPr>
            <a:normAutofit/>
          </a:bodyPr>
          <a:lstStyle/>
          <a:p>
            <a:endParaRPr lang="en-US" sz="2400" dirty="0" smtClean="0"/>
          </a:p>
          <a:p>
            <a:endParaRPr lang="en-US" sz="2400" dirty="0"/>
          </a:p>
          <a:p>
            <a:r>
              <a:rPr lang="en-US" sz="2400" dirty="0" smtClean="0"/>
              <a:t>The viral infection causes inflammation and edema in the larynx, the trachea and the bronchus. </a:t>
            </a:r>
          </a:p>
          <a:p>
            <a:r>
              <a:rPr lang="en-US" sz="2400" dirty="0" smtClean="0"/>
              <a:t>The </a:t>
            </a:r>
            <a:r>
              <a:rPr lang="en-US" sz="2400" dirty="0" err="1" smtClean="0"/>
              <a:t>subglottis</a:t>
            </a:r>
            <a:r>
              <a:rPr lang="en-US" sz="2400" dirty="0" smtClean="0"/>
              <a:t> is the most affected area. The cricoid cartilage is the only complete cartilaginous ring in the upper respiratory tract that prevents any expansion in acute inflammation</a:t>
            </a:r>
            <a:endParaRPr lang="en-US" sz="2400" dirty="0"/>
          </a:p>
        </p:txBody>
      </p:sp>
    </p:spTree>
    <p:extLst>
      <p:ext uri="{BB962C8B-B14F-4D97-AF65-F5344CB8AC3E}">
        <p14:creationId xmlns:p14="http://schemas.microsoft.com/office/powerpoint/2010/main" val="34749005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lstStyle/>
          <a:p>
            <a:pPr marL="0" indent="0">
              <a:buNone/>
            </a:pPr>
            <a:endParaRPr lang="en-US" u="sng" dirty="0" smtClean="0">
              <a:solidFill>
                <a:srgbClr val="7030A0"/>
              </a:solidFill>
            </a:endParaRPr>
          </a:p>
          <a:p>
            <a:pPr marL="0" indent="0">
              <a:buNone/>
            </a:pPr>
            <a:r>
              <a:rPr lang="en-US" dirty="0">
                <a:solidFill>
                  <a:srgbClr val="7030A0"/>
                </a:solidFill>
              </a:rPr>
              <a:t> </a:t>
            </a:r>
            <a:r>
              <a:rPr lang="en-US" dirty="0" smtClean="0">
                <a:solidFill>
                  <a:srgbClr val="7030A0"/>
                </a:solidFill>
              </a:rPr>
              <a:t>      </a:t>
            </a:r>
          </a:p>
          <a:p>
            <a:pPr marL="0" indent="0">
              <a:buNone/>
            </a:pPr>
            <a:r>
              <a:rPr lang="en-US" dirty="0">
                <a:solidFill>
                  <a:srgbClr val="7030A0"/>
                </a:solidFill>
              </a:rPr>
              <a:t> </a:t>
            </a:r>
            <a:r>
              <a:rPr lang="en-US" dirty="0" smtClean="0">
                <a:solidFill>
                  <a:srgbClr val="7030A0"/>
                </a:solidFill>
              </a:rPr>
              <a:t>    The clinical features of croup </a:t>
            </a:r>
          </a:p>
          <a:p>
            <a:r>
              <a:rPr lang="en-US" sz="2400" dirty="0" smtClean="0"/>
              <a:t>are ‘barking’ cough, hoarse voice and low-grade fever. Barking cough is a highly predictive symptom for croup. </a:t>
            </a:r>
          </a:p>
          <a:p>
            <a:r>
              <a:rPr lang="en-US" sz="2400" dirty="0" smtClean="0"/>
              <a:t>When the patient is drooling saliva, acute epiglottis must be considered. </a:t>
            </a:r>
          </a:p>
          <a:p>
            <a:r>
              <a:rPr lang="en-US" sz="2400" dirty="0" smtClean="0"/>
              <a:t>Stridor and respiratory distress happen when the subglottic airway becomes narrowed</a:t>
            </a:r>
            <a:endParaRPr lang="en-US" sz="2400" dirty="0"/>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3691" y="0"/>
            <a:ext cx="17526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1626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10600" cy="6477000"/>
          </a:xfrm>
        </p:spPr>
        <p:txBody>
          <a:bodyPr>
            <a:normAutofit/>
          </a:bodyPr>
          <a:lstStyle/>
          <a:p>
            <a:endParaRPr lang="en-US" sz="2400" dirty="0" smtClean="0"/>
          </a:p>
          <a:p>
            <a:r>
              <a:rPr lang="en-US" sz="2400" dirty="0" smtClean="0"/>
              <a:t>Patients with bacterial </a:t>
            </a:r>
            <a:r>
              <a:rPr lang="en-US" sz="2400" dirty="0" err="1" smtClean="0"/>
              <a:t>tracheitis</a:t>
            </a:r>
            <a:r>
              <a:rPr lang="en-US" sz="2400" dirty="0" smtClean="0"/>
              <a:t> caused by staphylococcus and streptococcus are more systemically unwell, with high fever and leukocytosis. </a:t>
            </a:r>
          </a:p>
          <a:p>
            <a:r>
              <a:rPr lang="en-US" sz="2400" dirty="0" smtClean="0"/>
              <a:t>Non-infective causes of stridor, including subglottic stenosis due to previous prolonged intubation, foreign body, </a:t>
            </a:r>
            <a:r>
              <a:rPr lang="en-US" sz="2400" dirty="0" err="1" smtClean="0"/>
              <a:t>laryngomalacia</a:t>
            </a:r>
            <a:r>
              <a:rPr lang="en-US" sz="2400" dirty="0" smtClean="0"/>
              <a:t>, </a:t>
            </a:r>
            <a:r>
              <a:rPr lang="en-US" sz="2400" dirty="0" err="1" smtClean="0"/>
              <a:t>tracheomalacia</a:t>
            </a:r>
            <a:r>
              <a:rPr lang="en-US" sz="2400" dirty="0" smtClean="0"/>
              <a:t>, subglottic </a:t>
            </a:r>
            <a:r>
              <a:rPr lang="en-US" sz="2400" dirty="0" err="1" smtClean="0"/>
              <a:t>haemangioma</a:t>
            </a:r>
            <a:r>
              <a:rPr lang="en-US" sz="2400" dirty="0" smtClean="0"/>
              <a:t>, laryngeal web, vocal cord palsy or neoplasm, need to be excluded.</a:t>
            </a:r>
            <a:endParaRPr lang="en-US" sz="2400" dirty="0"/>
          </a:p>
        </p:txBody>
      </p:sp>
    </p:spTree>
    <p:extLst>
      <p:ext uri="{BB962C8B-B14F-4D97-AF65-F5344CB8AC3E}">
        <p14:creationId xmlns:p14="http://schemas.microsoft.com/office/powerpoint/2010/main" val="34263076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normAutofit/>
          </a:bodyPr>
          <a:lstStyle/>
          <a:p>
            <a:r>
              <a:rPr lang="en-US" sz="2400" dirty="0" smtClean="0"/>
              <a:t>Flexible </a:t>
            </a:r>
            <a:r>
              <a:rPr lang="en-US" sz="2400" dirty="0" err="1" smtClean="0"/>
              <a:t>fibre</a:t>
            </a:r>
            <a:r>
              <a:rPr lang="en-US" sz="2400" dirty="0" smtClean="0"/>
              <a:t>-optic laryngoscopy can reveal subglottic inflammation and </a:t>
            </a:r>
            <a:r>
              <a:rPr lang="en-US" sz="2400" dirty="0" err="1" smtClean="0"/>
              <a:t>oedema</a:t>
            </a:r>
            <a:r>
              <a:rPr lang="en-US" sz="2400" dirty="0" smtClean="0"/>
              <a:t> as well as excluding any other pathologic changes in the larynx. </a:t>
            </a:r>
          </a:p>
          <a:p>
            <a:r>
              <a:rPr lang="en-US" sz="2400" dirty="0" smtClean="0"/>
              <a:t>An </a:t>
            </a:r>
            <a:r>
              <a:rPr lang="en-US" sz="2400" dirty="0" err="1" smtClean="0"/>
              <a:t>anteroposterior</a:t>
            </a:r>
            <a:r>
              <a:rPr lang="en-US" sz="2400" dirty="0" smtClean="0"/>
              <a:t> soft tissue x-ray of the neck, performed only if the child’s airway is safe and in a stable condition, may show a symmetrical narrowing of the subglottic known as a ‘</a:t>
            </a:r>
            <a:r>
              <a:rPr lang="en-US" sz="2400" u="sng" dirty="0" smtClean="0">
                <a:solidFill>
                  <a:srgbClr val="7030A0"/>
                </a:solidFill>
              </a:rPr>
              <a:t>steeple sign’.</a:t>
            </a:r>
            <a:endParaRPr lang="en-US" sz="2400" u="sng" dirty="0">
              <a:solidFill>
                <a:srgbClr val="7030A0"/>
              </a:solidFill>
            </a:endParaRPr>
          </a:p>
        </p:txBody>
      </p:sp>
      <p:pic>
        <p:nvPicPr>
          <p:cNvPr id="1026" name="Picture 2" descr="C:\Users\Rozh\Desktop\GRpF-L9XkAAonKY.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895600"/>
            <a:ext cx="361950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550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a:bodyPr>
          <a:lstStyle/>
          <a:p>
            <a:r>
              <a:rPr lang="en-US" sz="2400" dirty="0" smtClean="0"/>
              <a:t>The treatment for croup is air humidification, nebulized adrenaline 1:1000 5 mL and systemic corticosteroids. Oral, intramuscular and inhaled steroids are shown to be effective.</a:t>
            </a:r>
          </a:p>
          <a:p>
            <a:r>
              <a:rPr lang="en-US" sz="2400" dirty="0" smtClean="0"/>
              <a:t> The rapid onset of action of nebulized adrenaline causes mucosal vasoconstriction and reduced vascular permeability, resulting in reduction of mucosal </a:t>
            </a:r>
            <a:r>
              <a:rPr lang="en-US" sz="2400" dirty="0" err="1" smtClean="0"/>
              <a:t>oedema</a:t>
            </a:r>
            <a:r>
              <a:rPr lang="en-US" sz="2400" dirty="0" smtClean="0"/>
              <a:t> and Acute epiglottitis (</a:t>
            </a:r>
            <a:r>
              <a:rPr lang="en-US" sz="2400" dirty="0" err="1" smtClean="0"/>
              <a:t>supraglottitis</a:t>
            </a:r>
            <a:r>
              <a:rPr lang="en-US" sz="2400" dirty="0" smtClean="0"/>
              <a:t>) </a:t>
            </a:r>
          </a:p>
          <a:p>
            <a:r>
              <a:rPr lang="en-US" sz="2400" dirty="0" smtClean="0"/>
              <a:t>Patients treated with nebulized adrenaline need to be reassessed 3 to 4 hours after administration in the event of regression of stridor. The anti-inflammatory action of a systemic corticosteroid may take several hours</a:t>
            </a:r>
            <a:endParaRPr lang="en-US" sz="2400" dirty="0"/>
          </a:p>
        </p:txBody>
      </p:sp>
    </p:spTree>
    <p:extLst>
      <p:ext uri="{BB962C8B-B14F-4D97-AF65-F5344CB8AC3E}">
        <p14:creationId xmlns:p14="http://schemas.microsoft.com/office/powerpoint/2010/main" val="19581559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324600"/>
          </a:xfrm>
        </p:spPr>
        <p:txBody>
          <a:bodyPr/>
          <a:lstStyle/>
          <a:p>
            <a:endParaRPr lang="en-US" sz="2400" dirty="0" smtClean="0"/>
          </a:p>
          <a:p>
            <a:endParaRPr lang="en-US" sz="2400" dirty="0"/>
          </a:p>
          <a:p>
            <a:r>
              <a:rPr lang="en-US" sz="2400" dirty="0" smtClean="0"/>
              <a:t>Tracheal intubation may be necessary in severe cases. </a:t>
            </a:r>
          </a:p>
          <a:p>
            <a:r>
              <a:rPr lang="en-US" sz="2400" dirty="0" smtClean="0"/>
              <a:t>A whole size smaller than the anticipated endotracheal tube for age and size of the child (half a size smaller for infants up to 6 months old) should be used to avoid causing intubation injury to the subglottic mucosa</a:t>
            </a:r>
            <a:r>
              <a:rPr lang="en-US" dirty="0" smtClean="0"/>
              <a:t>.</a:t>
            </a:r>
            <a:endParaRPr lang="en-US" dirty="0"/>
          </a:p>
        </p:txBody>
      </p:sp>
    </p:spTree>
    <p:extLst>
      <p:ext uri="{BB962C8B-B14F-4D97-AF65-F5344CB8AC3E}">
        <p14:creationId xmlns:p14="http://schemas.microsoft.com/office/powerpoint/2010/main" val="27888204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324600"/>
          </a:xfrm>
        </p:spPr>
        <p:txBody>
          <a:bodyPr/>
          <a:lstStyle/>
          <a:p>
            <a:pPr marL="0" indent="0">
              <a:buNone/>
            </a:pPr>
            <a:r>
              <a:rPr lang="en-US" dirty="0" smtClean="0"/>
              <a:t>   </a:t>
            </a:r>
          </a:p>
          <a:p>
            <a:pPr marL="0" indent="0">
              <a:buNone/>
            </a:pPr>
            <a:r>
              <a:rPr lang="en-US" dirty="0"/>
              <a:t> </a:t>
            </a:r>
            <a:r>
              <a:rPr lang="en-US" dirty="0" smtClean="0"/>
              <a:t>   </a:t>
            </a:r>
            <a:r>
              <a:rPr lang="en-US" b="1" dirty="0" smtClean="0">
                <a:solidFill>
                  <a:srgbClr val="7030A0"/>
                </a:solidFill>
              </a:rPr>
              <a:t>ACUTE EPIGLOTTITIS (SUPRAGLOTTITIS)</a:t>
            </a:r>
          </a:p>
          <a:p>
            <a:r>
              <a:rPr lang="en-US" dirty="0" smtClean="0"/>
              <a:t> </a:t>
            </a:r>
            <a:r>
              <a:rPr lang="en-US" sz="2400" dirty="0" smtClean="0"/>
              <a:t>Acute epiglottitis is a potentially life-threatening infection due to acute inflammation and </a:t>
            </a:r>
            <a:r>
              <a:rPr lang="en-US" sz="2400" dirty="0" smtClean="0"/>
              <a:t>edema </a:t>
            </a:r>
            <a:r>
              <a:rPr lang="en-US" sz="2400" dirty="0" smtClean="0"/>
              <a:t>of the </a:t>
            </a:r>
            <a:r>
              <a:rPr lang="en-US" sz="2400" dirty="0" err="1" smtClean="0"/>
              <a:t>supraglottis</a:t>
            </a:r>
            <a:r>
              <a:rPr lang="en-US" sz="2400" dirty="0" smtClean="0"/>
              <a:t>, in particular the epiglottis, causing laryngeal airway obstruction. Therefore, epiglottitis is also known as </a:t>
            </a:r>
            <a:r>
              <a:rPr lang="en-US" sz="2400" dirty="0" err="1" smtClean="0"/>
              <a:t>supraglottitis</a:t>
            </a:r>
            <a:r>
              <a:rPr lang="en-US" sz="2400" dirty="0" smtClean="0"/>
              <a:t>. </a:t>
            </a:r>
          </a:p>
          <a:p>
            <a:r>
              <a:rPr lang="en-US" sz="2400" dirty="0" smtClean="0"/>
              <a:t>The classic causative infectious agent is </a:t>
            </a:r>
            <a:r>
              <a:rPr lang="en-US" sz="2400" dirty="0" err="1" smtClean="0"/>
              <a:t>Haemophilus</a:t>
            </a:r>
            <a:r>
              <a:rPr lang="en-US" sz="2400" dirty="0" smtClean="0"/>
              <a:t> </a:t>
            </a:r>
            <a:r>
              <a:rPr lang="en-US" sz="2400" dirty="0" err="1" smtClean="0"/>
              <a:t>influenzae</a:t>
            </a:r>
            <a:r>
              <a:rPr lang="en-US" sz="2400" dirty="0" smtClean="0"/>
              <a:t> type b.</a:t>
            </a:r>
            <a:endParaRPr lang="en-US" sz="2400" dirty="0"/>
          </a:p>
        </p:txBody>
      </p:sp>
    </p:spTree>
    <p:extLst>
      <p:ext uri="{BB962C8B-B14F-4D97-AF65-F5344CB8AC3E}">
        <p14:creationId xmlns:p14="http://schemas.microsoft.com/office/powerpoint/2010/main" val="17248411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248400"/>
          </a:xfrm>
        </p:spPr>
        <p:txBody>
          <a:bodyPr/>
          <a:lstStyle/>
          <a:p>
            <a:endParaRPr lang="en-US" sz="2400" dirty="0" smtClean="0"/>
          </a:p>
          <a:p>
            <a:endParaRPr lang="en-US" sz="2400" dirty="0" smtClean="0"/>
          </a:p>
          <a:p>
            <a:r>
              <a:rPr lang="en-US" sz="2400" dirty="0" smtClean="0"/>
              <a:t>The infection predominantly affected children between 2 and 4 years old, but the incidence of acute epiglottitis in children has dramatically decreased following the introduction of the </a:t>
            </a:r>
            <a:r>
              <a:rPr lang="en-US" sz="2400" dirty="0" err="1" smtClean="0"/>
              <a:t>Hib</a:t>
            </a:r>
            <a:r>
              <a:rPr lang="en-US" sz="2400" dirty="0" smtClean="0"/>
              <a:t> vaccine.</a:t>
            </a:r>
          </a:p>
          <a:p>
            <a:r>
              <a:rPr lang="en-US" sz="2400" dirty="0" smtClean="0"/>
              <a:t>The infection is now more commonly found in adults</a:t>
            </a:r>
            <a:r>
              <a:rPr lang="en-US" dirty="0" smtClean="0"/>
              <a:t>.</a:t>
            </a:r>
            <a:endParaRPr lang="en-US" dirty="0"/>
          </a:p>
        </p:txBody>
      </p:sp>
    </p:spTree>
    <p:extLst>
      <p:ext uri="{BB962C8B-B14F-4D97-AF65-F5344CB8AC3E}">
        <p14:creationId xmlns:p14="http://schemas.microsoft.com/office/powerpoint/2010/main" val="1152557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00800"/>
          </a:xfrm>
        </p:spPr>
        <p:txBody>
          <a:bodyPr/>
          <a:lstStyle/>
          <a:p>
            <a:endParaRPr lang="en-US" sz="2400" dirty="0" smtClean="0"/>
          </a:p>
          <a:p>
            <a:r>
              <a:rPr lang="en-US" sz="2400" dirty="0" smtClean="0"/>
              <a:t>Group A Streptococcus </a:t>
            </a:r>
            <a:r>
              <a:rPr lang="en-US" sz="2400" dirty="0" err="1" smtClean="0"/>
              <a:t>pneumoniae</a:t>
            </a:r>
            <a:r>
              <a:rPr lang="en-US" sz="2400" dirty="0" smtClean="0"/>
              <a:t>, Staphylococcus </a:t>
            </a:r>
            <a:r>
              <a:rPr lang="en-US" sz="2400" dirty="0" err="1" smtClean="0"/>
              <a:t>aureus</a:t>
            </a:r>
            <a:r>
              <a:rPr lang="en-US" sz="2400" dirty="0" smtClean="0"/>
              <a:t>, </a:t>
            </a:r>
            <a:r>
              <a:rPr lang="en-US" sz="2400" dirty="0" err="1" smtClean="0"/>
              <a:t>Klebsiella</a:t>
            </a:r>
            <a:r>
              <a:rPr lang="en-US" sz="2400" dirty="0" smtClean="0"/>
              <a:t> </a:t>
            </a:r>
            <a:r>
              <a:rPr lang="en-US" sz="2400" dirty="0" err="1" smtClean="0"/>
              <a:t>pneumoniae</a:t>
            </a:r>
            <a:r>
              <a:rPr lang="en-US" sz="2400" dirty="0" smtClean="0"/>
              <a:t>, </a:t>
            </a:r>
            <a:r>
              <a:rPr lang="en-US" sz="2400" dirty="0" err="1" smtClean="0"/>
              <a:t>Haemophilus</a:t>
            </a:r>
            <a:r>
              <a:rPr lang="en-US" sz="2400" dirty="0" smtClean="0"/>
              <a:t> </a:t>
            </a:r>
            <a:r>
              <a:rPr lang="en-US" sz="2400" dirty="0" err="1" smtClean="0"/>
              <a:t>parainfluenzae</a:t>
            </a:r>
            <a:r>
              <a:rPr lang="en-US" sz="2400" dirty="0" smtClean="0"/>
              <a:t> and beta-</a:t>
            </a:r>
            <a:r>
              <a:rPr lang="en-US" sz="2400" dirty="0" err="1" smtClean="0"/>
              <a:t>haemolytic</a:t>
            </a:r>
            <a:r>
              <a:rPr lang="en-US" sz="2400" dirty="0" smtClean="0"/>
              <a:t> streptococci (groups A, B, C and F) are associated with epiglottitis in the post-vaccination era.</a:t>
            </a:r>
            <a:r>
              <a:rPr lang="en-US" dirty="0" smtClean="0"/>
              <a:t> </a:t>
            </a:r>
          </a:p>
          <a:p>
            <a:r>
              <a:rPr lang="en-US" sz="2400" dirty="0" smtClean="0"/>
              <a:t>simplex type 1, varicella-zoster and </a:t>
            </a:r>
            <a:r>
              <a:rPr lang="en-US" sz="2400" dirty="0" err="1" smtClean="0"/>
              <a:t>parainfluenza</a:t>
            </a:r>
            <a:r>
              <a:rPr lang="en-US" sz="2400" dirty="0" smtClean="0"/>
              <a:t>, can cause the infection in </a:t>
            </a:r>
            <a:r>
              <a:rPr lang="en-US" sz="2400" dirty="0" err="1" smtClean="0"/>
              <a:t>immunocompromised</a:t>
            </a:r>
            <a:r>
              <a:rPr lang="en-US" sz="2400" dirty="0" smtClean="0"/>
              <a:t> patients.</a:t>
            </a:r>
            <a:endParaRPr lang="en-US" sz="2400" dirty="0"/>
          </a:p>
        </p:txBody>
      </p:sp>
    </p:spTree>
    <p:extLst>
      <p:ext uri="{BB962C8B-B14F-4D97-AF65-F5344CB8AC3E}">
        <p14:creationId xmlns:p14="http://schemas.microsoft.com/office/powerpoint/2010/main" val="2881563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00800"/>
          </a:xfrm>
        </p:spPr>
        <p:txBody>
          <a:bodyPr>
            <a:normAutofit/>
          </a:bodyPr>
          <a:lstStyle/>
          <a:p>
            <a:endParaRPr lang="en-US" sz="2400" dirty="0" smtClean="0"/>
          </a:p>
          <a:p>
            <a:endParaRPr lang="en-US" sz="2400" dirty="0"/>
          </a:p>
          <a:p>
            <a:r>
              <a:rPr lang="en-US" sz="2400" dirty="0" smtClean="0"/>
              <a:t>Patients often present with a short history of sore throat and fever and then rapidly deteriorate to odynophagia, dysphagia, drooling of saliva, airway obstruction and stridor within a few hours. Cervical lymphadenitis is not uncommon. </a:t>
            </a:r>
          </a:p>
          <a:p>
            <a:r>
              <a:rPr lang="en-US" sz="2400" dirty="0" smtClean="0"/>
              <a:t>In children, acute epiglottitis can be difficult to differentiate from acute </a:t>
            </a:r>
            <a:r>
              <a:rPr lang="en-US" sz="2400" dirty="0" err="1" smtClean="0"/>
              <a:t>laryngo-tracheobronchitis</a:t>
            </a:r>
            <a:r>
              <a:rPr lang="en-US" sz="2400" dirty="0" smtClean="0"/>
              <a:t> (croup). </a:t>
            </a:r>
          </a:p>
        </p:txBody>
      </p:sp>
    </p:spTree>
    <p:extLst>
      <p:ext uri="{BB962C8B-B14F-4D97-AF65-F5344CB8AC3E}">
        <p14:creationId xmlns:p14="http://schemas.microsoft.com/office/powerpoint/2010/main" val="3934523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324600"/>
          </a:xfrm>
        </p:spPr>
        <p:txBody>
          <a:bodyPr/>
          <a:lstStyle/>
          <a:p>
            <a:endParaRPr lang="en-US" sz="2400" dirty="0" smtClean="0"/>
          </a:p>
          <a:p>
            <a:endParaRPr lang="en-US" sz="2400" dirty="0"/>
          </a:p>
          <a:p>
            <a:r>
              <a:rPr lang="en-US" sz="2400" dirty="0" smtClean="0"/>
              <a:t>Drooling of saliva is commonly seen in children with acute epiglottis, while coughing is often a sign in croup. </a:t>
            </a:r>
          </a:p>
          <a:p>
            <a:r>
              <a:rPr lang="en-US" sz="2400" dirty="0" smtClean="0"/>
              <a:t>In adults, an acutely severe sore throat and odynophagia with no obvious sign of inflammation in the oropharynx should raise the suspicion of acute epiglottitis</a:t>
            </a:r>
          </a:p>
          <a:p>
            <a:endParaRPr lang="en-US" dirty="0"/>
          </a:p>
        </p:txBody>
      </p:sp>
    </p:spTree>
    <p:extLst>
      <p:ext uri="{BB962C8B-B14F-4D97-AF65-F5344CB8AC3E}">
        <p14:creationId xmlns:p14="http://schemas.microsoft.com/office/powerpoint/2010/main" val="2752663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248400"/>
          </a:xfrm>
        </p:spPr>
        <p:txBody>
          <a:bodyPr>
            <a:normAutofit/>
          </a:bodyPr>
          <a:lstStyle/>
          <a:p>
            <a:endParaRPr lang="en-US" sz="2400" dirty="0" smtClean="0"/>
          </a:p>
          <a:p>
            <a:endParaRPr lang="en-US" sz="2400" dirty="0"/>
          </a:p>
          <a:p>
            <a:r>
              <a:rPr lang="en-US" sz="2400" dirty="0" smtClean="0"/>
              <a:t>The diagnosis is made on visualization of the larynx either by using a rigid laryngoscope under general </a:t>
            </a:r>
            <a:r>
              <a:rPr lang="en-US" sz="2400" dirty="0" err="1" smtClean="0"/>
              <a:t>anaesthesia</a:t>
            </a:r>
            <a:r>
              <a:rPr lang="en-US" sz="2400" dirty="0" smtClean="0"/>
              <a:t> after securing of the airway in children or</a:t>
            </a:r>
          </a:p>
          <a:p>
            <a:r>
              <a:rPr lang="en-US" sz="2400" dirty="0" smtClean="0"/>
              <a:t> by using a </a:t>
            </a:r>
            <a:r>
              <a:rPr lang="en-US" sz="2400" dirty="0" err="1" smtClean="0"/>
              <a:t>fibre</a:t>
            </a:r>
            <a:r>
              <a:rPr lang="en-US" sz="2400" dirty="0" smtClean="0"/>
              <a:t>-optic </a:t>
            </a:r>
            <a:r>
              <a:rPr lang="en-US" sz="2400" dirty="0" err="1" smtClean="0"/>
              <a:t>nasendoscope</a:t>
            </a:r>
            <a:r>
              <a:rPr lang="en-US" sz="2400" dirty="0" smtClean="0"/>
              <a:t> in awake adults</a:t>
            </a:r>
            <a:endParaRPr lang="en-US" sz="2400" dirty="0"/>
          </a:p>
        </p:txBody>
      </p:sp>
      <p:pic>
        <p:nvPicPr>
          <p:cNvPr id="1026" name="Picture 2" descr="Clinical and Endoscopic Examination of the Head and Neck | SpringerLi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203820"/>
            <a:ext cx="3739145" cy="25873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igid Micro Laryngoscope with Endoscope at Rs 98000/piece in Chennai | ID:  21578243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398714"/>
            <a:ext cx="3441596" cy="2392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186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400800"/>
          </a:xfrm>
        </p:spPr>
        <p:txBody>
          <a:bodyPr>
            <a:normAutofit/>
          </a:bodyPr>
          <a:lstStyle/>
          <a:p>
            <a:endParaRPr lang="en-US" sz="2400" dirty="0" smtClean="0"/>
          </a:p>
          <a:p>
            <a:r>
              <a:rPr lang="en-US" sz="2400" dirty="0" smtClean="0"/>
              <a:t>The lateral view on radiography of the soft tissue of the neck can show a swollen epiglottis, often known as a ‘thumbprint sign’.</a:t>
            </a:r>
            <a:endParaRPr lang="en-US" sz="2400" dirty="0"/>
          </a:p>
        </p:txBody>
      </p:sp>
      <p:pic>
        <p:nvPicPr>
          <p:cNvPr id="2050" name="Picture 2" descr="C:\Users\Rozh\Desktop\download.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057400"/>
            <a:ext cx="4176712" cy="430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7704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458200" cy="5897563"/>
          </a:xfrm>
        </p:spPr>
        <p:txBody>
          <a:bodyPr>
            <a:normAutofit/>
          </a:bodyPr>
          <a:lstStyle/>
          <a:p>
            <a:endParaRPr lang="en-US" sz="2400" dirty="0" smtClean="0"/>
          </a:p>
          <a:p>
            <a:endParaRPr lang="en-US" sz="2400" dirty="0"/>
          </a:p>
          <a:p>
            <a:endParaRPr lang="en-US" sz="2400" dirty="0" smtClean="0"/>
          </a:p>
          <a:p>
            <a:endParaRPr lang="en-US" sz="2400" dirty="0"/>
          </a:p>
          <a:p>
            <a:r>
              <a:rPr lang="en-US" sz="2400" dirty="0" smtClean="0"/>
              <a:t>Radiography is also useful to exclude retropharyngeal abscess, which is more common in children than in adults. </a:t>
            </a:r>
            <a:endParaRPr lang="en-US" sz="2400" dirty="0"/>
          </a:p>
        </p:txBody>
      </p:sp>
      <p:pic>
        <p:nvPicPr>
          <p:cNvPr id="5122"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09" y="27709"/>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705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rmAutofit/>
          </a:bodyPr>
          <a:lstStyle/>
          <a:p>
            <a:endParaRPr lang="en-US" sz="2400" dirty="0" smtClean="0"/>
          </a:p>
          <a:p>
            <a:r>
              <a:rPr lang="en-US" sz="2400" dirty="0" smtClean="0"/>
              <a:t>The differential diagnoses of acute epiglottitis include retropharyngeal abscess, </a:t>
            </a:r>
            <a:r>
              <a:rPr lang="en-US" sz="2400" dirty="0" err="1" smtClean="0"/>
              <a:t>laryngotracheobronchitis</a:t>
            </a:r>
            <a:r>
              <a:rPr lang="en-US" sz="2400" dirty="0" smtClean="0"/>
              <a:t>, foreign body, inhalation burns, corrosive ingestion, angioedema, </a:t>
            </a:r>
            <a:r>
              <a:rPr lang="en-US" sz="2400" dirty="0" err="1" smtClean="0"/>
              <a:t>parapharyngeal</a:t>
            </a:r>
            <a:r>
              <a:rPr lang="en-US" sz="2400" dirty="0" smtClean="0"/>
              <a:t> abscess, tonsillitis, pharyngitis and laryngeal carcinoma in adults.</a:t>
            </a:r>
            <a:endParaRPr lang="en-US" sz="2400" dirty="0"/>
          </a:p>
        </p:txBody>
      </p:sp>
    </p:spTree>
    <p:extLst>
      <p:ext uri="{BB962C8B-B14F-4D97-AF65-F5344CB8AC3E}">
        <p14:creationId xmlns:p14="http://schemas.microsoft.com/office/powerpoint/2010/main" val="1813365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458200" cy="5973763"/>
          </a:xfrm>
        </p:spPr>
        <p:txBody>
          <a:bodyPr/>
          <a:lstStyle/>
          <a:p>
            <a:pPr marL="0" indent="0">
              <a:buNone/>
            </a:pPr>
            <a:r>
              <a:rPr lang="en-US" dirty="0" smtClean="0">
                <a:solidFill>
                  <a:schemeClr val="accent1">
                    <a:lumMod val="60000"/>
                    <a:lumOff val="40000"/>
                  </a:schemeClr>
                </a:solidFill>
              </a:rPr>
              <a:t>  </a:t>
            </a:r>
            <a:r>
              <a:rPr lang="en-US" b="1" dirty="0" smtClean="0">
                <a:solidFill>
                  <a:srgbClr val="00B0F0"/>
                </a:solidFill>
              </a:rPr>
              <a:t> Treatment  </a:t>
            </a:r>
          </a:p>
          <a:p>
            <a:endParaRPr lang="en-US" dirty="0"/>
          </a:p>
        </p:txBody>
      </p:sp>
      <p:sp>
        <p:nvSpPr>
          <p:cNvPr id="2" name="Rectangle 1"/>
          <p:cNvSpPr/>
          <p:nvPr/>
        </p:nvSpPr>
        <p:spPr>
          <a:xfrm>
            <a:off x="304800" y="1166843"/>
            <a:ext cx="8534400" cy="3416320"/>
          </a:xfrm>
          <a:prstGeom prst="rect">
            <a:avLst/>
          </a:prstGeom>
        </p:spPr>
        <p:txBody>
          <a:bodyPr wrap="square">
            <a:spAutoFit/>
          </a:bodyPr>
          <a:lstStyle/>
          <a:p>
            <a:pPr marL="342900" indent="-342900">
              <a:buAutoNum type="arabicPeriod"/>
            </a:pPr>
            <a:r>
              <a:rPr lang="en-US" sz="2400" dirty="0" smtClean="0">
                <a:latin typeface="+mj-lt"/>
                <a:cs typeface="Times New Roman" pitchFamily="18" charset="0"/>
              </a:rPr>
              <a:t>Hospitalization</a:t>
            </a:r>
            <a:r>
              <a:rPr lang="en-US" sz="2400" dirty="0">
                <a:latin typeface="+mj-lt"/>
                <a:cs typeface="Times New Roman" pitchFamily="18" charset="0"/>
              </a:rPr>
              <a:t>. Essential because of the danger of </a:t>
            </a:r>
            <a:r>
              <a:rPr lang="en-US" sz="2400" dirty="0" smtClean="0">
                <a:latin typeface="+mj-lt"/>
                <a:cs typeface="Times New Roman" pitchFamily="18" charset="0"/>
              </a:rPr>
              <a:t>respiratory </a:t>
            </a:r>
            <a:r>
              <a:rPr lang="en-US" sz="2400" dirty="0">
                <a:latin typeface="+mj-lt"/>
                <a:cs typeface="Times New Roman" pitchFamily="18" charset="0"/>
              </a:rPr>
              <a:t>obstruction. </a:t>
            </a:r>
            <a:endParaRPr lang="en-US" sz="2400" dirty="0" smtClean="0">
              <a:latin typeface="+mj-lt"/>
              <a:cs typeface="Times New Roman" pitchFamily="18" charset="0"/>
            </a:endParaRPr>
          </a:p>
          <a:p>
            <a:pPr marL="342900" indent="-342900">
              <a:buAutoNum type="arabicPeriod"/>
            </a:pPr>
            <a:r>
              <a:rPr lang="en-US" sz="2400" dirty="0" smtClean="0">
                <a:latin typeface="+mj-lt"/>
                <a:cs typeface="Times New Roman" pitchFamily="18" charset="0"/>
              </a:rPr>
              <a:t>Antibiotics</a:t>
            </a:r>
            <a:r>
              <a:rPr lang="en-US" sz="2400" dirty="0">
                <a:latin typeface="+mj-lt"/>
                <a:cs typeface="Times New Roman" pitchFamily="18" charset="0"/>
              </a:rPr>
              <a:t>. Ampicillin or third generation </a:t>
            </a:r>
            <a:r>
              <a:rPr lang="en-US" sz="2400" dirty="0" smtClean="0">
                <a:latin typeface="+mj-lt"/>
                <a:cs typeface="Times New Roman" pitchFamily="18" charset="0"/>
              </a:rPr>
              <a:t>cephalosporin </a:t>
            </a:r>
            <a:r>
              <a:rPr lang="en-US" sz="2400" dirty="0">
                <a:latin typeface="+mj-lt"/>
                <a:cs typeface="Times New Roman" pitchFamily="18" charset="0"/>
              </a:rPr>
              <a:t>are effective against H. </a:t>
            </a:r>
            <a:r>
              <a:rPr lang="en-US" sz="2400" dirty="0" err="1">
                <a:latin typeface="+mj-lt"/>
                <a:cs typeface="Times New Roman" pitchFamily="18" charset="0"/>
              </a:rPr>
              <a:t>influenzae</a:t>
            </a:r>
            <a:r>
              <a:rPr lang="en-US" sz="2400" dirty="0">
                <a:latin typeface="+mj-lt"/>
                <a:cs typeface="Times New Roman" pitchFamily="18" charset="0"/>
              </a:rPr>
              <a:t> and are given by parenteral route (</a:t>
            </a:r>
            <a:r>
              <a:rPr lang="en-US" sz="2400" dirty="0" err="1">
                <a:latin typeface="+mj-lt"/>
                <a:cs typeface="Times New Roman" pitchFamily="18" charset="0"/>
              </a:rPr>
              <a:t>i.m</a:t>
            </a:r>
            <a:r>
              <a:rPr lang="en-US" sz="2400" dirty="0">
                <a:latin typeface="+mj-lt"/>
                <a:cs typeface="Times New Roman" pitchFamily="18" charset="0"/>
              </a:rPr>
              <a:t>. or </a:t>
            </a:r>
            <a:r>
              <a:rPr lang="en-US" sz="2400" dirty="0" err="1">
                <a:latin typeface="+mj-lt"/>
                <a:cs typeface="Times New Roman" pitchFamily="18" charset="0"/>
              </a:rPr>
              <a:t>i.v.</a:t>
            </a:r>
            <a:r>
              <a:rPr lang="en-US" sz="2400" dirty="0">
                <a:latin typeface="+mj-lt"/>
                <a:cs typeface="Times New Roman" pitchFamily="18" charset="0"/>
              </a:rPr>
              <a:t>) without waiting for results of throat swab and blood culture. </a:t>
            </a:r>
            <a:endParaRPr lang="en-US" sz="2400" dirty="0" smtClean="0">
              <a:latin typeface="+mj-lt"/>
              <a:cs typeface="Times New Roman" pitchFamily="18" charset="0"/>
            </a:endParaRPr>
          </a:p>
          <a:p>
            <a:pPr marL="342900" indent="-342900">
              <a:buAutoNum type="arabicPeriod"/>
            </a:pPr>
            <a:r>
              <a:rPr lang="en-US" sz="2400" dirty="0" smtClean="0">
                <a:latin typeface="+mj-lt"/>
                <a:cs typeface="Times New Roman" pitchFamily="18" charset="0"/>
              </a:rPr>
              <a:t> </a:t>
            </a:r>
            <a:r>
              <a:rPr lang="en-US" sz="2400" dirty="0">
                <a:latin typeface="+mj-lt"/>
                <a:cs typeface="Times New Roman" pitchFamily="18" charset="0"/>
              </a:rPr>
              <a:t>Steroids. Hydrocortisone or dexamethasone is given in appropriate doses </a:t>
            </a:r>
            <a:r>
              <a:rPr lang="en-US" sz="2400" dirty="0" err="1">
                <a:latin typeface="+mj-lt"/>
                <a:cs typeface="Times New Roman" pitchFamily="18" charset="0"/>
              </a:rPr>
              <a:t>i.m</a:t>
            </a:r>
            <a:r>
              <a:rPr lang="en-US" sz="2400" dirty="0">
                <a:latin typeface="+mj-lt"/>
                <a:cs typeface="Times New Roman" pitchFamily="18" charset="0"/>
              </a:rPr>
              <a:t>. or </a:t>
            </a:r>
            <a:r>
              <a:rPr lang="en-US" sz="2400" dirty="0" err="1">
                <a:latin typeface="+mj-lt"/>
                <a:cs typeface="Times New Roman" pitchFamily="18" charset="0"/>
              </a:rPr>
              <a:t>i.v.</a:t>
            </a:r>
            <a:r>
              <a:rPr lang="en-US" sz="2400" dirty="0">
                <a:latin typeface="+mj-lt"/>
                <a:cs typeface="Times New Roman" pitchFamily="18" charset="0"/>
              </a:rPr>
              <a:t> They relieve </a:t>
            </a:r>
            <a:r>
              <a:rPr lang="en-US" sz="2400" dirty="0" err="1">
                <a:latin typeface="+mj-lt"/>
                <a:cs typeface="Times New Roman" pitchFamily="18" charset="0"/>
              </a:rPr>
              <a:t>oedema</a:t>
            </a:r>
            <a:r>
              <a:rPr lang="en-US" sz="2400" dirty="0">
                <a:latin typeface="+mj-lt"/>
                <a:cs typeface="Times New Roman" pitchFamily="18" charset="0"/>
              </a:rPr>
              <a:t> and may obviate need for tracheostomy. </a:t>
            </a:r>
            <a:endParaRPr lang="en-US" sz="2400" dirty="0" smtClean="0">
              <a:latin typeface="+mj-lt"/>
              <a:cs typeface="Times New Roman" pitchFamily="18" charset="0"/>
            </a:endParaRPr>
          </a:p>
        </p:txBody>
      </p:sp>
    </p:spTree>
    <p:extLst>
      <p:ext uri="{BB962C8B-B14F-4D97-AF65-F5344CB8AC3E}">
        <p14:creationId xmlns:p14="http://schemas.microsoft.com/office/powerpoint/2010/main" val="2220837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normAutofit/>
          </a:bodyPr>
          <a:lstStyle/>
          <a:p>
            <a:pPr marL="514350" indent="-514350">
              <a:buAutoNum type="arabicPeriod" startAt="4"/>
            </a:pPr>
            <a:endParaRPr lang="en-US" sz="2400" dirty="0" smtClean="0"/>
          </a:p>
          <a:p>
            <a:pPr marL="514350" indent="-514350">
              <a:buAutoNum type="arabicPeriod" startAt="4"/>
            </a:pPr>
            <a:endParaRPr lang="en-US" sz="2400" dirty="0" smtClean="0"/>
          </a:p>
          <a:p>
            <a:pPr marL="514350" indent="-514350">
              <a:buAutoNum type="arabicPeriod" startAt="4"/>
            </a:pPr>
            <a:endParaRPr lang="en-US" sz="2400" dirty="0" smtClean="0"/>
          </a:p>
          <a:p>
            <a:pPr marL="514350" indent="-514350">
              <a:buAutoNum type="arabicPeriod" startAt="4"/>
            </a:pPr>
            <a:r>
              <a:rPr lang="en-US" sz="2400" dirty="0" smtClean="0"/>
              <a:t>Adequate </a:t>
            </a:r>
            <a:r>
              <a:rPr lang="en-US" sz="2400" dirty="0"/>
              <a:t>hydration. Patient may require parenteral fluids</a:t>
            </a:r>
            <a:r>
              <a:rPr lang="en-US" sz="2400" dirty="0" smtClean="0"/>
              <a:t>.</a:t>
            </a:r>
          </a:p>
          <a:p>
            <a:pPr marL="514350" indent="-514350">
              <a:buAutoNum type="arabicPeriod" startAt="4"/>
            </a:pPr>
            <a:r>
              <a:rPr lang="en-US" sz="2400" dirty="0"/>
              <a:t>Humidification and oxygen. Patient may require mist </a:t>
            </a:r>
            <a:r>
              <a:rPr lang="en-US" sz="2400" dirty="0" smtClean="0"/>
              <a:t>tent.</a:t>
            </a:r>
          </a:p>
          <a:p>
            <a:pPr marL="514350" indent="-514350">
              <a:buAutoNum type="arabicPeriod" startAt="4"/>
            </a:pPr>
            <a:r>
              <a:rPr lang="en-US" sz="2400" dirty="0" smtClean="0"/>
              <a:t>Intubation </a:t>
            </a:r>
            <a:r>
              <a:rPr lang="en-US" sz="2400" dirty="0"/>
              <a:t>or tracheostomy. It may be required for </a:t>
            </a:r>
            <a:r>
              <a:rPr lang="en-US" sz="2400" dirty="0" smtClean="0"/>
              <a:t>respiratory </a:t>
            </a:r>
            <a:r>
              <a:rPr lang="en-US" sz="2400" dirty="0"/>
              <a:t>obstruction.</a:t>
            </a:r>
          </a:p>
        </p:txBody>
      </p:sp>
      <p:pic>
        <p:nvPicPr>
          <p:cNvPr id="6146"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399"/>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0887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839200" cy="6324600"/>
          </a:xfrm>
        </p:spPr>
        <p:txBody>
          <a:bodyPr/>
          <a:lstStyle/>
          <a:p>
            <a:pPr marL="0" indent="0">
              <a:buNone/>
            </a:pPr>
            <a:r>
              <a:rPr lang="en-US" b="1" dirty="0" smtClean="0">
                <a:solidFill>
                  <a:schemeClr val="accent1">
                    <a:lumMod val="60000"/>
                    <a:lumOff val="40000"/>
                  </a:schemeClr>
                </a:solidFill>
              </a:rPr>
              <a:t>    </a:t>
            </a:r>
          </a:p>
          <a:p>
            <a:pPr marL="0" indent="0">
              <a:buNone/>
            </a:pPr>
            <a:r>
              <a:rPr lang="en-US" b="1" dirty="0">
                <a:solidFill>
                  <a:schemeClr val="accent1">
                    <a:lumMod val="60000"/>
                    <a:lumOff val="40000"/>
                  </a:schemeClr>
                </a:solidFill>
              </a:rPr>
              <a:t> </a:t>
            </a:r>
            <a:r>
              <a:rPr lang="en-US" b="1" dirty="0" smtClean="0">
                <a:solidFill>
                  <a:schemeClr val="accent1">
                    <a:lumMod val="60000"/>
                    <a:lumOff val="40000"/>
                  </a:schemeClr>
                </a:solidFill>
              </a:rPr>
              <a:t>   </a:t>
            </a:r>
            <a:r>
              <a:rPr lang="en-US" b="1" dirty="0" smtClean="0">
                <a:solidFill>
                  <a:srgbClr val="00B0F0"/>
                </a:solidFill>
              </a:rPr>
              <a:t>LARYNGEAL </a:t>
            </a:r>
            <a:r>
              <a:rPr lang="en-US" b="1" dirty="0">
                <a:solidFill>
                  <a:srgbClr val="00B0F0"/>
                </a:solidFill>
              </a:rPr>
              <a:t>DIPHTHERIA </a:t>
            </a:r>
            <a:endParaRPr lang="en-US" b="1" dirty="0" smtClean="0">
              <a:solidFill>
                <a:srgbClr val="00B0F0"/>
              </a:solidFill>
            </a:endParaRPr>
          </a:p>
          <a:p>
            <a:pPr marL="0" indent="0">
              <a:buNone/>
            </a:pPr>
            <a:r>
              <a:rPr lang="en-US" dirty="0" smtClean="0">
                <a:solidFill>
                  <a:srgbClr val="00B0F0"/>
                </a:solidFill>
              </a:rPr>
              <a:t>    </a:t>
            </a:r>
            <a:r>
              <a:rPr lang="en-US" b="1" dirty="0" smtClean="0">
                <a:solidFill>
                  <a:srgbClr val="00B0F0"/>
                </a:solidFill>
              </a:rPr>
              <a:t>AETIOLOGY</a:t>
            </a:r>
            <a:r>
              <a:rPr lang="en-US" dirty="0" smtClean="0">
                <a:solidFill>
                  <a:srgbClr val="00B0F0"/>
                </a:solidFill>
              </a:rPr>
              <a:t> </a:t>
            </a:r>
          </a:p>
          <a:p>
            <a:r>
              <a:rPr lang="en-US" sz="2400" dirty="0" smtClean="0"/>
              <a:t>Mostly</a:t>
            </a:r>
            <a:r>
              <a:rPr lang="en-US" sz="2400" dirty="0"/>
              <a:t>, it is secondary to </a:t>
            </a:r>
            <a:r>
              <a:rPr lang="en-US" sz="2400" dirty="0" err="1"/>
              <a:t>faucial</a:t>
            </a:r>
            <a:r>
              <a:rPr lang="en-US" sz="2400" dirty="0"/>
              <a:t> diphtheria affecting </a:t>
            </a:r>
            <a:r>
              <a:rPr lang="en-US" sz="2400" dirty="0" smtClean="0"/>
              <a:t>children </a:t>
            </a:r>
            <a:r>
              <a:rPr lang="en-US" sz="2400" dirty="0"/>
              <a:t>below 10 years of age. Incidence of diphtheria in </a:t>
            </a:r>
            <a:r>
              <a:rPr lang="en-US" sz="2400" dirty="0" smtClean="0"/>
              <a:t>general </a:t>
            </a:r>
            <a:r>
              <a:rPr lang="en-US" sz="2400" dirty="0"/>
              <a:t>is declining due to widespread use of immunization. </a:t>
            </a:r>
            <a:endParaRPr lang="en-US" sz="2400" dirty="0" smtClean="0"/>
          </a:p>
          <a:p>
            <a:pPr marL="0" indent="0">
              <a:buNone/>
            </a:pPr>
            <a:r>
              <a:rPr lang="en-US" sz="2400" b="1" dirty="0" smtClean="0">
                <a:solidFill>
                  <a:schemeClr val="accent1">
                    <a:lumMod val="60000"/>
                    <a:lumOff val="40000"/>
                  </a:schemeClr>
                </a:solidFill>
              </a:rPr>
              <a:t>     </a:t>
            </a:r>
            <a:endParaRPr lang="en-US" sz="2400" dirty="0"/>
          </a:p>
        </p:txBody>
      </p:sp>
    </p:spTree>
    <p:extLst>
      <p:ext uri="{BB962C8B-B14F-4D97-AF65-F5344CB8AC3E}">
        <p14:creationId xmlns:p14="http://schemas.microsoft.com/office/powerpoint/2010/main" val="222652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324600"/>
          </a:xfrm>
        </p:spPr>
        <p:txBody>
          <a:bodyPr/>
          <a:lstStyle/>
          <a:p>
            <a:pPr marL="0" indent="0">
              <a:buNone/>
            </a:pPr>
            <a:r>
              <a:rPr lang="en-US" b="1" dirty="0" smtClean="0">
                <a:solidFill>
                  <a:schemeClr val="accent1">
                    <a:lumMod val="60000"/>
                    <a:lumOff val="40000"/>
                  </a:schemeClr>
                </a:solidFill>
              </a:rPr>
              <a:t>  </a:t>
            </a:r>
          </a:p>
          <a:p>
            <a:pPr marL="0" indent="0">
              <a:buNone/>
            </a:pPr>
            <a:r>
              <a:rPr lang="en-US" b="1" dirty="0" smtClean="0">
                <a:solidFill>
                  <a:srgbClr val="00B0F0"/>
                </a:solidFill>
              </a:rPr>
              <a:t>   PATHOLOGY</a:t>
            </a:r>
            <a:r>
              <a:rPr lang="en-US" dirty="0" smtClean="0">
                <a:solidFill>
                  <a:srgbClr val="00B0F0"/>
                </a:solidFill>
              </a:rPr>
              <a:t> </a:t>
            </a:r>
            <a:endParaRPr lang="en-US" dirty="0">
              <a:solidFill>
                <a:srgbClr val="00B0F0"/>
              </a:solidFill>
            </a:endParaRPr>
          </a:p>
          <a:p>
            <a:pPr marL="0" indent="0">
              <a:buNone/>
            </a:pPr>
            <a:r>
              <a:rPr lang="en-US" dirty="0"/>
              <a:t>     </a:t>
            </a:r>
            <a:r>
              <a:rPr lang="en-US" sz="2400" dirty="0"/>
              <a:t>Effects of laryngeal diphtheria are due to: </a:t>
            </a:r>
          </a:p>
          <a:p>
            <a:pPr marL="0" indent="0">
              <a:buNone/>
            </a:pPr>
            <a:r>
              <a:rPr lang="en-US" sz="2400" dirty="0"/>
              <a:t>    1. Formation of a tough pseudo membrane over the larynx and </a:t>
            </a:r>
            <a:r>
              <a:rPr lang="en-US" sz="2400" dirty="0" smtClean="0"/>
              <a:t>trachea </a:t>
            </a:r>
            <a:r>
              <a:rPr lang="en-US" sz="2400" dirty="0"/>
              <a:t>which may completely obstruct the airway.</a:t>
            </a:r>
          </a:p>
          <a:p>
            <a:pPr marL="0" indent="0">
              <a:buNone/>
            </a:pPr>
            <a:r>
              <a:rPr lang="en-US" sz="2400" dirty="0"/>
              <a:t>2. Exotoxin liberated by bacteria leading to myocarditis and various </a:t>
            </a:r>
            <a:r>
              <a:rPr lang="en-US" sz="2400" dirty="0" smtClean="0"/>
              <a:t>   neurological </a:t>
            </a:r>
            <a:r>
              <a:rPr lang="en-US" sz="2400" dirty="0"/>
              <a:t>complications</a:t>
            </a:r>
          </a:p>
          <a:p>
            <a:pPr marL="0" indent="0">
              <a:buNone/>
            </a:pPr>
            <a:r>
              <a:rPr lang="en-US" dirty="0" smtClean="0"/>
              <a:t> </a:t>
            </a:r>
            <a:endParaRPr lang="en-US" dirty="0"/>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0"/>
            <a:ext cx="1762125" cy="176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827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a:bodyPr>
          <a:lstStyle/>
          <a:p>
            <a:pPr marL="0" indent="0">
              <a:buNone/>
            </a:pPr>
            <a:r>
              <a:rPr lang="en-US" b="1" dirty="0" smtClean="0">
                <a:solidFill>
                  <a:schemeClr val="accent1">
                    <a:lumMod val="60000"/>
                    <a:lumOff val="40000"/>
                  </a:schemeClr>
                </a:solidFill>
              </a:rPr>
              <a:t>     </a:t>
            </a:r>
            <a:endParaRPr lang="en-US" b="1" dirty="0" smtClean="0">
              <a:solidFill>
                <a:srgbClr val="00B0F0"/>
              </a:solidFill>
            </a:endParaRPr>
          </a:p>
          <a:p>
            <a:pPr marL="0" indent="0">
              <a:buNone/>
            </a:pPr>
            <a:r>
              <a:rPr lang="en-US" b="1" dirty="0" smtClean="0">
                <a:solidFill>
                  <a:srgbClr val="00B0F0"/>
                </a:solidFill>
              </a:rPr>
              <a:t>CLINICAL </a:t>
            </a:r>
            <a:r>
              <a:rPr lang="en-US" b="1" dirty="0">
                <a:solidFill>
                  <a:srgbClr val="00B0F0"/>
                </a:solidFill>
              </a:rPr>
              <a:t>FEATURES </a:t>
            </a:r>
            <a:endParaRPr lang="en-US" b="1" dirty="0" smtClean="0">
              <a:solidFill>
                <a:srgbClr val="00B0F0"/>
              </a:solidFill>
            </a:endParaRPr>
          </a:p>
          <a:p>
            <a:pPr marL="0" indent="0">
              <a:buNone/>
            </a:pPr>
            <a:r>
              <a:rPr lang="en-US" dirty="0" smtClean="0"/>
              <a:t>  </a:t>
            </a:r>
            <a:r>
              <a:rPr lang="en-US" sz="2400" dirty="0" smtClean="0"/>
              <a:t>• </a:t>
            </a:r>
            <a:r>
              <a:rPr lang="en-US" sz="2400" dirty="0"/>
              <a:t>General symptoms. Onset is insidious with low-grade fever (100–101°F), sore throat and malaise but patient is very </a:t>
            </a:r>
            <a:r>
              <a:rPr lang="en-US" sz="2400" dirty="0" err="1"/>
              <a:t>toxaemic</a:t>
            </a:r>
            <a:r>
              <a:rPr lang="en-US" sz="2400" dirty="0"/>
              <a:t> with tachycardia and </a:t>
            </a:r>
            <a:r>
              <a:rPr lang="en-US" sz="2400" dirty="0" err="1" smtClean="0"/>
              <a:t>thready</a:t>
            </a:r>
            <a:r>
              <a:rPr lang="en-US" sz="2400" dirty="0" smtClean="0"/>
              <a:t> plus .</a:t>
            </a:r>
            <a:endParaRPr lang="en-US" sz="2400" dirty="0" smtClean="0"/>
          </a:p>
          <a:p>
            <a:pPr marL="0" indent="0">
              <a:buNone/>
            </a:pPr>
            <a:r>
              <a:rPr lang="en-US" sz="2400" dirty="0" smtClean="0"/>
              <a:t> • </a:t>
            </a:r>
            <a:r>
              <a:rPr lang="en-US" sz="2400" dirty="0"/>
              <a:t>Laryngeal symptoms. Hoarse voice, croupy cough, </a:t>
            </a:r>
            <a:r>
              <a:rPr lang="en-US" sz="2400" dirty="0" smtClean="0"/>
              <a:t>inspiratory </a:t>
            </a:r>
            <a:r>
              <a:rPr lang="en-US" sz="2400" dirty="0"/>
              <a:t>stridor, increasing </a:t>
            </a:r>
            <a:r>
              <a:rPr lang="en-US" sz="2400" dirty="0" err="1"/>
              <a:t>dyspnoea</a:t>
            </a:r>
            <a:r>
              <a:rPr lang="en-US" sz="2400" dirty="0"/>
              <a:t> with marked upper airway obstruction. </a:t>
            </a:r>
            <a:endParaRPr lang="en-US" sz="2400" dirty="0" smtClean="0"/>
          </a:p>
          <a:p>
            <a:pPr marL="0" indent="0">
              <a:buNone/>
            </a:pPr>
            <a:r>
              <a:rPr lang="en-US" sz="2400" dirty="0" smtClean="0"/>
              <a:t>.</a:t>
            </a:r>
            <a:endParaRPr lang="en-US" sz="2400" dirty="0"/>
          </a:p>
        </p:txBody>
      </p:sp>
      <p:pic>
        <p:nvPicPr>
          <p:cNvPr id="14338"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152400"/>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1917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172200"/>
          </a:xfrm>
        </p:spPr>
        <p:txBody>
          <a:bodyPr/>
          <a:lstStyle/>
          <a:p>
            <a:pPr marL="0" indent="0">
              <a:buNone/>
            </a:pPr>
            <a:endParaRPr lang="en-US" dirty="0" smtClean="0"/>
          </a:p>
          <a:p>
            <a:pPr marL="0" indent="0">
              <a:buNone/>
            </a:pPr>
            <a:r>
              <a:rPr lang="en-US" dirty="0" smtClean="0"/>
              <a:t>• </a:t>
            </a:r>
            <a:r>
              <a:rPr lang="en-US" sz="2400" dirty="0"/>
              <a:t>Membrane. Greyish white membrane is seen on the tonsil, pharynx and soft palate. It is adherent and its removal leaves a bleeding surface. Similar membrane is seen over the larynx and trachea. </a:t>
            </a:r>
          </a:p>
          <a:p>
            <a:pPr marL="0" indent="0">
              <a:buNone/>
            </a:pPr>
            <a:r>
              <a:rPr lang="en-US" sz="2400" dirty="0"/>
              <a:t>• Cervical lymphadenopathy. Characteristic “bull-neck” may be seen</a:t>
            </a:r>
          </a:p>
        </p:txBody>
      </p:sp>
      <p:pic>
        <p:nvPicPr>
          <p:cNvPr id="2050" name="Picture 2" descr="Diptheria Final.ppt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3143250"/>
            <a:ext cx="4038600" cy="3028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988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lstStyle/>
          <a:p>
            <a:pPr marL="0" indent="0">
              <a:buNone/>
            </a:pPr>
            <a:r>
              <a:rPr lang="en-US" b="1" dirty="0" smtClean="0">
                <a:solidFill>
                  <a:schemeClr val="accent1">
                    <a:lumMod val="60000"/>
                    <a:lumOff val="40000"/>
                  </a:schemeClr>
                </a:solidFill>
              </a:rPr>
              <a:t>    </a:t>
            </a:r>
            <a:endParaRPr lang="en-US" b="1" dirty="0" smtClean="0">
              <a:solidFill>
                <a:srgbClr val="00B0F0"/>
              </a:solidFill>
            </a:endParaRPr>
          </a:p>
          <a:p>
            <a:pPr marL="0" indent="0">
              <a:buNone/>
            </a:pPr>
            <a:r>
              <a:rPr lang="en-US" b="1" dirty="0">
                <a:solidFill>
                  <a:srgbClr val="00B0F0"/>
                </a:solidFill>
              </a:rPr>
              <a:t> </a:t>
            </a:r>
            <a:r>
              <a:rPr lang="en-US" b="1" dirty="0" smtClean="0">
                <a:solidFill>
                  <a:srgbClr val="00B0F0"/>
                </a:solidFill>
              </a:rPr>
              <a:t>   DIAGNOSIS </a:t>
            </a:r>
          </a:p>
          <a:p>
            <a:r>
              <a:rPr lang="en-US" sz="2400" dirty="0" smtClean="0"/>
              <a:t>Laryngeal </a:t>
            </a:r>
            <a:r>
              <a:rPr lang="en-US" sz="2400" dirty="0"/>
              <a:t>diphtheria is mostly secondary to </a:t>
            </a:r>
            <a:r>
              <a:rPr lang="en-US" sz="2400" dirty="0" err="1"/>
              <a:t>faucial</a:t>
            </a:r>
            <a:r>
              <a:rPr lang="en-US" sz="2400" dirty="0"/>
              <a:t> </a:t>
            </a:r>
            <a:r>
              <a:rPr lang="en-US" sz="2400" dirty="0" smtClean="0"/>
              <a:t>diphtheria</a:t>
            </a:r>
            <a:r>
              <a:rPr lang="en-US" sz="2400" dirty="0"/>
              <a:t>. Diagnosis is always clinical but confirmed by smear and culture of </a:t>
            </a:r>
            <a:r>
              <a:rPr lang="en-US" sz="2400" dirty="0" err="1"/>
              <a:t>Corynebacterium</a:t>
            </a:r>
            <a:r>
              <a:rPr lang="en-US" sz="2400" dirty="0"/>
              <a:t> </a:t>
            </a:r>
            <a:r>
              <a:rPr lang="en-US" sz="2400" dirty="0" err="1"/>
              <a:t>diphtheriae</a:t>
            </a:r>
            <a:r>
              <a:rPr lang="en-US" sz="2400" dirty="0"/>
              <a:t>. </a:t>
            </a:r>
            <a:endParaRPr lang="en-US" sz="2400" dirty="0" smtClean="0"/>
          </a:p>
        </p:txBody>
      </p:sp>
      <p:pic>
        <p:nvPicPr>
          <p:cNvPr id="13314"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76200"/>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579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304800"/>
            <a:ext cx="8915400" cy="6248400"/>
          </a:xfrm>
        </p:spPr>
        <p:txBody>
          <a:bodyPr>
            <a:normAutofit/>
          </a:bodyPr>
          <a:lstStyle/>
          <a:p>
            <a:pPr marL="0" indent="0">
              <a:buNone/>
            </a:pPr>
            <a:r>
              <a:rPr lang="en-US" b="1" dirty="0" smtClean="0">
                <a:solidFill>
                  <a:schemeClr val="accent1">
                    <a:lumMod val="60000"/>
                    <a:lumOff val="40000"/>
                  </a:schemeClr>
                </a:solidFill>
              </a:rPr>
              <a:t>    </a:t>
            </a:r>
            <a:r>
              <a:rPr lang="en-US" b="1" dirty="0" smtClean="0">
                <a:solidFill>
                  <a:srgbClr val="00B0F0"/>
                </a:solidFill>
              </a:rPr>
              <a:t>TREATMENT</a:t>
            </a:r>
          </a:p>
          <a:p>
            <a:r>
              <a:rPr lang="en-US" dirty="0" smtClean="0"/>
              <a:t> </a:t>
            </a:r>
            <a:r>
              <a:rPr lang="en-US" dirty="0"/>
              <a:t>1</a:t>
            </a:r>
            <a:r>
              <a:rPr lang="en-US" sz="2600" dirty="0"/>
              <a:t>. Diphtheria antitoxin. Dose depends on clinical severity and duration of illness, and varies from 20,000 to 100,000 units </a:t>
            </a:r>
            <a:r>
              <a:rPr lang="en-US" sz="2600" dirty="0" err="1"/>
              <a:t>i.v.</a:t>
            </a:r>
            <a:r>
              <a:rPr lang="en-US" sz="2600" dirty="0"/>
              <a:t> route as saline infusion after a test dose. It </a:t>
            </a:r>
            <a:r>
              <a:rPr lang="en-US" sz="2600" dirty="0" smtClean="0"/>
              <a:t>neutralizes </a:t>
            </a:r>
            <a:r>
              <a:rPr lang="en-US" sz="2600" dirty="0"/>
              <a:t>free toxin circulating in the blood. </a:t>
            </a:r>
            <a:endParaRPr lang="en-US" sz="2600" dirty="0" smtClean="0"/>
          </a:p>
          <a:p>
            <a:r>
              <a:rPr lang="en-US" sz="2600" dirty="0" smtClean="0"/>
              <a:t>2</a:t>
            </a:r>
            <a:r>
              <a:rPr lang="en-US" sz="2600" dirty="0"/>
              <a:t>. </a:t>
            </a:r>
            <a:r>
              <a:rPr lang="en-US" sz="2600" dirty="0" err="1"/>
              <a:t>Antibacterials</a:t>
            </a:r>
            <a:r>
              <a:rPr lang="en-US" sz="2600" dirty="0"/>
              <a:t>. </a:t>
            </a:r>
            <a:r>
              <a:rPr lang="en-US" sz="2600" dirty="0" err="1"/>
              <a:t>Benzylpenicillin</a:t>
            </a:r>
            <a:r>
              <a:rPr lang="en-US" sz="2600" dirty="0"/>
              <a:t>, 500,000 units </a:t>
            </a:r>
            <a:r>
              <a:rPr lang="en-US" sz="2600" dirty="0" err="1"/>
              <a:t>i.m</a:t>
            </a:r>
            <a:r>
              <a:rPr lang="en-US" sz="2600" dirty="0"/>
              <a:t>. every 6 h for 6 days, is effective against diphtheria bacilli. </a:t>
            </a:r>
            <a:r>
              <a:rPr lang="en-US" sz="2600" dirty="0" err="1"/>
              <a:t>Erythromycin</a:t>
            </a:r>
            <a:r>
              <a:rPr lang="en-US" sz="2600" dirty="0"/>
              <a:t> can be given to those who are allergic to penicillin. </a:t>
            </a:r>
            <a:endParaRPr lang="en-US" sz="2600" dirty="0" smtClean="0"/>
          </a:p>
        </p:txBody>
      </p:sp>
    </p:spTree>
    <p:extLst>
      <p:ext uri="{BB962C8B-B14F-4D97-AF65-F5344CB8AC3E}">
        <p14:creationId xmlns:p14="http://schemas.microsoft.com/office/powerpoint/2010/main" val="35959384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6248400"/>
          </a:xfrm>
        </p:spPr>
        <p:txBody>
          <a:bodyPr/>
          <a:lstStyle/>
          <a:p>
            <a:pPr marL="457200" indent="-457200">
              <a:buAutoNum type="arabicPeriod" startAt="3"/>
            </a:pPr>
            <a:endParaRPr lang="en-US" sz="2400" dirty="0" smtClean="0"/>
          </a:p>
          <a:p>
            <a:pPr marL="457200" indent="-457200">
              <a:buAutoNum type="arabicPeriod" startAt="3"/>
            </a:pPr>
            <a:r>
              <a:rPr lang="en-US" sz="2400" dirty="0" smtClean="0"/>
              <a:t>Maintenance </a:t>
            </a:r>
            <a:r>
              <a:rPr lang="en-US" sz="2400" dirty="0"/>
              <a:t>of airway. </a:t>
            </a:r>
            <a:r>
              <a:rPr lang="en-US" sz="2400" dirty="0" smtClean="0"/>
              <a:t>Tracheostomy </a:t>
            </a:r>
            <a:r>
              <a:rPr lang="en-US" sz="2400" dirty="0"/>
              <a:t>may become essential. Direct laryngoscopy, removal of diphtheritic membrane and intubation can be done. Intubation relieves respiratory obstruction and can make subsequent tracheostomy easy. </a:t>
            </a:r>
          </a:p>
          <a:p>
            <a:pPr marL="0" indent="0">
              <a:buNone/>
            </a:pPr>
            <a:r>
              <a:rPr lang="en-US" sz="2400" dirty="0" smtClean="0"/>
              <a:t>  4</a:t>
            </a:r>
            <a:r>
              <a:rPr lang="en-US" sz="2400" dirty="0"/>
              <a:t>. </a:t>
            </a:r>
            <a:r>
              <a:rPr lang="en-US" sz="2400" dirty="0" smtClean="0"/>
              <a:t> </a:t>
            </a:r>
            <a:r>
              <a:rPr lang="en-US" sz="2400" dirty="0"/>
              <a:t>Complete bed rest for 2–4 weeks is essential </a:t>
            </a:r>
            <a:r>
              <a:rPr lang="en-US" sz="2400" dirty="0" smtClean="0"/>
              <a:t> to </a:t>
            </a:r>
            <a:r>
              <a:rPr lang="en-US" sz="2400" dirty="0"/>
              <a:t>guard against effects of myocarditis</a:t>
            </a:r>
          </a:p>
          <a:p>
            <a:endParaRPr lang="en-US" dirty="0"/>
          </a:p>
        </p:txBody>
      </p:sp>
    </p:spTree>
    <p:extLst>
      <p:ext uri="{BB962C8B-B14F-4D97-AF65-F5344CB8AC3E}">
        <p14:creationId xmlns:p14="http://schemas.microsoft.com/office/powerpoint/2010/main" val="3684097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324600"/>
          </a:xfrm>
        </p:spPr>
        <p:txBody>
          <a:bodyPr/>
          <a:lstStyle/>
          <a:p>
            <a:pPr marL="0" indent="0">
              <a:buNone/>
            </a:pPr>
            <a:r>
              <a:rPr lang="en-US" dirty="0" smtClean="0"/>
              <a:t>    </a:t>
            </a:r>
          </a:p>
          <a:p>
            <a:pPr marL="0" indent="0">
              <a:buNone/>
            </a:pPr>
            <a:r>
              <a:rPr lang="en-US" b="1" dirty="0">
                <a:solidFill>
                  <a:srgbClr val="002060"/>
                </a:solidFill>
              </a:rPr>
              <a:t> </a:t>
            </a:r>
            <a:r>
              <a:rPr lang="en-US" b="1" dirty="0" smtClean="0">
                <a:solidFill>
                  <a:srgbClr val="002060"/>
                </a:solidFill>
              </a:rPr>
              <a:t>     </a:t>
            </a:r>
            <a:r>
              <a:rPr lang="en-US" b="1" dirty="0" smtClean="0">
                <a:solidFill>
                  <a:srgbClr val="00B0F0"/>
                </a:solidFill>
              </a:rPr>
              <a:t>COMPLICATIONS</a:t>
            </a:r>
            <a:r>
              <a:rPr lang="en-US" dirty="0" smtClean="0">
                <a:solidFill>
                  <a:srgbClr val="00B0F0"/>
                </a:solidFill>
              </a:rPr>
              <a:t> </a:t>
            </a:r>
          </a:p>
          <a:p>
            <a:pPr marL="0" indent="0">
              <a:buNone/>
            </a:pPr>
            <a:r>
              <a:rPr lang="en-US" dirty="0" smtClean="0"/>
              <a:t>    </a:t>
            </a:r>
            <a:r>
              <a:rPr lang="en-US" sz="2400" dirty="0" smtClean="0"/>
              <a:t>1</a:t>
            </a:r>
            <a:r>
              <a:rPr lang="en-US" sz="2400" dirty="0"/>
              <a:t>. Asphyxia and death due to airway obstruction. </a:t>
            </a:r>
            <a:r>
              <a:rPr lang="en-US" sz="2400" dirty="0" smtClean="0"/>
              <a:t>    </a:t>
            </a:r>
            <a:r>
              <a:rPr lang="en-US" sz="2400" dirty="0"/>
              <a:t> </a:t>
            </a:r>
            <a:r>
              <a:rPr lang="en-US" sz="2400" dirty="0" smtClean="0"/>
              <a:t>           </a:t>
            </a:r>
          </a:p>
          <a:p>
            <a:pPr marL="0" indent="0">
              <a:buNone/>
            </a:pPr>
            <a:r>
              <a:rPr lang="en-US" sz="2400" dirty="0"/>
              <a:t> </a:t>
            </a:r>
            <a:r>
              <a:rPr lang="en-US" sz="2400" dirty="0" smtClean="0"/>
              <a:t>    2. Toxic </a:t>
            </a:r>
            <a:r>
              <a:rPr lang="en-US" sz="2400" dirty="0"/>
              <a:t>myocarditis and circulatory failure</a:t>
            </a:r>
            <a:r>
              <a:rPr lang="en-US" sz="2400" dirty="0" smtClean="0"/>
              <a:t>.</a:t>
            </a:r>
          </a:p>
          <a:p>
            <a:pPr marL="0" indent="0">
              <a:buNone/>
            </a:pPr>
            <a:r>
              <a:rPr lang="en-US" sz="2400" dirty="0" smtClean="0"/>
              <a:t>      3</a:t>
            </a:r>
            <a:r>
              <a:rPr lang="en-US" sz="2400" dirty="0"/>
              <a:t>. Palatal paralysis with nasal regurgitation. </a:t>
            </a:r>
            <a:endParaRPr lang="en-US" sz="2400" dirty="0" smtClean="0"/>
          </a:p>
          <a:p>
            <a:pPr marL="0" indent="0">
              <a:buNone/>
            </a:pPr>
            <a:r>
              <a:rPr lang="en-US" sz="2400" dirty="0" smtClean="0"/>
              <a:t>     4</a:t>
            </a:r>
            <a:r>
              <a:rPr lang="en-US" sz="2400" dirty="0"/>
              <a:t>. Laryngeal and pharyngeal paralysis</a:t>
            </a:r>
            <a:r>
              <a:rPr lang="en-US" dirty="0"/>
              <a:t>.</a:t>
            </a:r>
          </a:p>
        </p:txBody>
      </p:sp>
      <p:pic>
        <p:nvPicPr>
          <p:cNvPr id="7170"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2793" y="152400"/>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4706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248400"/>
          </a:xfrm>
        </p:spPr>
        <p:txBody>
          <a:bodyPr>
            <a:normAutofit/>
          </a:bodyPr>
          <a:lstStyle/>
          <a:p>
            <a:pPr marL="0" indent="0">
              <a:buNone/>
            </a:pPr>
            <a:r>
              <a:rPr lang="en-US" dirty="0" smtClean="0"/>
              <a:t>     </a:t>
            </a:r>
            <a:r>
              <a:rPr lang="en-US" b="1" dirty="0" smtClean="0">
                <a:solidFill>
                  <a:schemeClr val="accent5">
                    <a:lumMod val="60000"/>
                    <a:lumOff val="40000"/>
                  </a:schemeClr>
                </a:solidFill>
              </a:rPr>
              <a:t>chronic laryngitis </a:t>
            </a:r>
          </a:p>
          <a:p>
            <a:pPr marL="0" indent="0">
              <a:buNone/>
            </a:pPr>
            <a:r>
              <a:rPr lang="en-US" sz="2800" b="1" dirty="0">
                <a:solidFill>
                  <a:schemeClr val="accent5">
                    <a:lumMod val="60000"/>
                    <a:lumOff val="40000"/>
                  </a:schemeClr>
                </a:solidFill>
              </a:rPr>
              <a:t> </a:t>
            </a:r>
            <a:r>
              <a:rPr lang="en-US" sz="2800" b="1" dirty="0" smtClean="0">
                <a:solidFill>
                  <a:schemeClr val="accent5">
                    <a:lumMod val="60000"/>
                    <a:lumOff val="40000"/>
                  </a:schemeClr>
                </a:solidFill>
              </a:rPr>
              <a:t>   TUBERCULOSIS </a:t>
            </a:r>
            <a:r>
              <a:rPr lang="en-US" sz="2800" b="1" dirty="0">
                <a:solidFill>
                  <a:schemeClr val="accent5">
                    <a:lumMod val="60000"/>
                    <a:lumOff val="40000"/>
                  </a:schemeClr>
                </a:solidFill>
              </a:rPr>
              <a:t>OF LARYNX </a:t>
            </a:r>
            <a:endParaRPr lang="en-US" sz="2800" b="1" dirty="0" smtClean="0">
              <a:solidFill>
                <a:schemeClr val="accent5">
                  <a:lumMod val="60000"/>
                  <a:lumOff val="40000"/>
                </a:schemeClr>
              </a:solidFill>
            </a:endParaRPr>
          </a:p>
          <a:p>
            <a:pPr marL="0" indent="0">
              <a:buNone/>
            </a:pPr>
            <a:r>
              <a:rPr lang="en-US" sz="2800" b="1" dirty="0" smtClean="0">
                <a:solidFill>
                  <a:schemeClr val="accent5">
                    <a:lumMod val="60000"/>
                    <a:lumOff val="40000"/>
                  </a:schemeClr>
                </a:solidFill>
              </a:rPr>
              <a:t>      AETIOLOGY </a:t>
            </a:r>
          </a:p>
          <a:p>
            <a:r>
              <a:rPr lang="en-US" sz="2400" dirty="0" smtClean="0"/>
              <a:t>It </a:t>
            </a:r>
            <a:r>
              <a:rPr lang="en-US" sz="2400" dirty="0"/>
              <a:t>is almost always secondary to pulmonary tuberculosis, mostly affecting males in middle age group. Tubercle bacilli reach the larynx by bronchogenic or </a:t>
            </a:r>
            <a:r>
              <a:rPr lang="en-US" sz="2400" dirty="0" err="1"/>
              <a:t>haematogenous</a:t>
            </a:r>
            <a:r>
              <a:rPr lang="en-US" sz="2400" dirty="0"/>
              <a:t> routes. </a:t>
            </a:r>
            <a:endParaRPr lang="en-US" sz="2400" dirty="0" smtClean="0"/>
          </a:p>
          <a:p>
            <a:pPr marL="0" indent="0">
              <a:buNone/>
            </a:pPr>
            <a:r>
              <a:rPr lang="en-US" dirty="0" smtClean="0"/>
              <a:t>     </a:t>
            </a:r>
            <a:endParaRPr lang="en-US" dirty="0"/>
          </a:p>
        </p:txBody>
      </p:sp>
      <p:pic>
        <p:nvPicPr>
          <p:cNvPr id="8194"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866" y="152400"/>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46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324600"/>
          </a:xfrm>
        </p:spPr>
        <p:txBody>
          <a:bodyPr>
            <a:normAutofit/>
          </a:bodyPr>
          <a:lstStyle/>
          <a:p>
            <a:pPr marL="0" indent="0">
              <a:buNone/>
            </a:pPr>
            <a:r>
              <a:rPr lang="en-US" dirty="0" smtClean="0"/>
              <a:t>  </a:t>
            </a:r>
          </a:p>
          <a:p>
            <a:pPr marL="0" indent="0">
              <a:buNone/>
            </a:pPr>
            <a:r>
              <a:rPr lang="en-US" dirty="0"/>
              <a:t> </a:t>
            </a:r>
            <a:r>
              <a:rPr lang="en-US" dirty="0" smtClean="0"/>
              <a:t>   </a:t>
            </a:r>
            <a:r>
              <a:rPr lang="en-US" b="1" dirty="0" smtClean="0">
                <a:solidFill>
                  <a:schemeClr val="tx2">
                    <a:lumMod val="60000"/>
                    <a:lumOff val="40000"/>
                  </a:schemeClr>
                </a:solidFill>
              </a:rPr>
              <a:t>PATHOLOGY</a:t>
            </a:r>
            <a:r>
              <a:rPr lang="en-US" dirty="0" smtClean="0">
                <a:solidFill>
                  <a:schemeClr val="tx2">
                    <a:lumMod val="60000"/>
                    <a:lumOff val="40000"/>
                  </a:schemeClr>
                </a:solidFill>
              </a:rPr>
              <a:t> </a:t>
            </a:r>
            <a:endParaRPr lang="en-US" dirty="0">
              <a:solidFill>
                <a:schemeClr val="tx2">
                  <a:lumMod val="60000"/>
                  <a:lumOff val="40000"/>
                </a:schemeClr>
              </a:solidFill>
            </a:endParaRPr>
          </a:p>
          <a:p>
            <a:r>
              <a:rPr lang="en-US" sz="2400" dirty="0"/>
              <a:t>Disease affects posterior part of larynx more than anterior. </a:t>
            </a:r>
            <a:endParaRPr lang="en-US" sz="2400" dirty="0" smtClean="0"/>
          </a:p>
          <a:p>
            <a:r>
              <a:rPr lang="en-US" sz="2400" dirty="0" smtClean="0"/>
              <a:t>Parts </a:t>
            </a:r>
            <a:r>
              <a:rPr lang="en-US" sz="2400" dirty="0"/>
              <a:t>affected are: (i) </a:t>
            </a:r>
            <a:r>
              <a:rPr lang="en-US" sz="2400" dirty="0" err="1"/>
              <a:t>interarytenoid</a:t>
            </a:r>
            <a:r>
              <a:rPr lang="en-US" sz="2400" dirty="0"/>
              <a:t> fold, (ii) ventricular bands, (iii) vocal cords and (iv) epiglottis, in that order. Tubercle bacilli, carried by sputum from the bronchi, settle and penetrate the intact laryngeal mucosa particularly in the </a:t>
            </a:r>
            <a:r>
              <a:rPr lang="en-US" sz="2400" dirty="0" err="1"/>
              <a:t>interarytenoid</a:t>
            </a:r>
            <a:r>
              <a:rPr lang="en-US" sz="2400" dirty="0"/>
              <a:t> region (bronchogenic spread). </a:t>
            </a:r>
            <a:endParaRPr lang="en-US" sz="2400" dirty="0" smtClean="0"/>
          </a:p>
          <a:p>
            <a:r>
              <a:rPr lang="en-US" sz="2400" dirty="0" smtClean="0"/>
              <a:t>This </a:t>
            </a:r>
            <a:r>
              <a:rPr lang="en-US" sz="2400" dirty="0"/>
              <a:t>leads to formation of </a:t>
            </a:r>
            <a:r>
              <a:rPr lang="en-US" sz="2400" dirty="0" err="1"/>
              <a:t>submucosal</a:t>
            </a:r>
            <a:r>
              <a:rPr lang="en-US" sz="2400" dirty="0"/>
              <a:t> tubercles which may later </a:t>
            </a:r>
            <a:r>
              <a:rPr lang="en-US" sz="2400" dirty="0" err="1"/>
              <a:t>caseate</a:t>
            </a:r>
            <a:r>
              <a:rPr lang="en-US" sz="2400" dirty="0"/>
              <a:t> and ulcerate</a:t>
            </a:r>
            <a:r>
              <a:rPr lang="en-US" sz="2400" dirty="0" smtClean="0"/>
              <a:t>.. </a:t>
            </a:r>
            <a:endParaRPr lang="en-US" sz="2400" dirty="0"/>
          </a:p>
          <a:p>
            <a:endParaRPr lang="en-US" dirty="0"/>
          </a:p>
        </p:txBody>
      </p:sp>
    </p:spTree>
    <p:extLst>
      <p:ext uri="{BB962C8B-B14F-4D97-AF65-F5344CB8AC3E}">
        <p14:creationId xmlns:p14="http://schemas.microsoft.com/office/powerpoint/2010/main" val="2351877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6019800"/>
          </a:xfrm>
        </p:spPr>
        <p:txBody>
          <a:bodyPr>
            <a:normAutofit/>
          </a:bodyPr>
          <a:lstStyle/>
          <a:p>
            <a:pPr marL="0" indent="0">
              <a:buNone/>
            </a:pPr>
            <a:r>
              <a:rPr lang="en-US" sz="2400" b="1" dirty="0" smtClean="0">
                <a:solidFill>
                  <a:schemeClr val="accent1">
                    <a:lumMod val="60000"/>
                    <a:lumOff val="40000"/>
                  </a:schemeClr>
                </a:solidFill>
              </a:rPr>
              <a:t>    </a:t>
            </a:r>
          </a:p>
          <a:p>
            <a:pPr marL="0" indent="0">
              <a:buNone/>
            </a:pPr>
            <a:endParaRPr lang="en-US" sz="2400" b="1" dirty="0">
              <a:solidFill>
                <a:schemeClr val="accent1">
                  <a:lumMod val="60000"/>
                  <a:lumOff val="40000"/>
                </a:schemeClr>
              </a:solidFill>
            </a:endParaRPr>
          </a:p>
          <a:p>
            <a:pPr marL="0" indent="0">
              <a:buNone/>
            </a:pPr>
            <a:r>
              <a:rPr lang="en-US" sz="2400" b="1" dirty="0" smtClean="0">
                <a:solidFill>
                  <a:schemeClr val="accent1">
                    <a:lumMod val="60000"/>
                    <a:lumOff val="40000"/>
                  </a:schemeClr>
                </a:solidFill>
              </a:rPr>
              <a:t>    </a:t>
            </a:r>
            <a:r>
              <a:rPr lang="en-US" sz="2400" b="1" dirty="0" smtClean="0">
                <a:solidFill>
                  <a:srgbClr val="7030A0"/>
                </a:solidFill>
              </a:rPr>
              <a:t>SYMPTOMS </a:t>
            </a:r>
            <a:r>
              <a:rPr lang="en-US" sz="2400" b="1" dirty="0">
                <a:solidFill>
                  <a:srgbClr val="7030A0"/>
                </a:solidFill>
              </a:rPr>
              <a:t>AND SIGNS </a:t>
            </a:r>
            <a:endParaRPr lang="en-US" sz="2400" b="1" dirty="0" smtClean="0">
              <a:solidFill>
                <a:srgbClr val="7030A0"/>
              </a:solidFill>
            </a:endParaRPr>
          </a:p>
          <a:p>
            <a:r>
              <a:rPr lang="en-US" sz="2400" dirty="0" smtClean="0"/>
              <a:t>They </a:t>
            </a:r>
            <a:r>
              <a:rPr lang="en-US" sz="2400" dirty="0"/>
              <a:t>would greatly depend on the stage of tuberculosis. Weakness of voice is the earliest symptom followed by hoarseness. Ulceration in the larynx gives rise to severe pain which may radiate to the ears. Swallowing is painful with marked dysphagia in later stages.</a:t>
            </a:r>
          </a:p>
        </p:txBody>
      </p:sp>
      <p:pic>
        <p:nvPicPr>
          <p:cNvPr id="9218"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3575" y="0"/>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775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dirty="0" smtClean="0"/>
              <a:t>    </a:t>
            </a:r>
            <a:r>
              <a:rPr lang="en-US" b="1" dirty="0" smtClean="0">
                <a:solidFill>
                  <a:srgbClr val="7030A0"/>
                </a:solidFill>
              </a:rPr>
              <a:t>LARYNGEAL </a:t>
            </a:r>
            <a:r>
              <a:rPr lang="en-US" b="1" dirty="0">
                <a:solidFill>
                  <a:srgbClr val="7030A0"/>
                </a:solidFill>
              </a:rPr>
              <a:t>EXAMINATION </a:t>
            </a:r>
            <a:endParaRPr lang="en-US" b="1" dirty="0" smtClean="0">
              <a:solidFill>
                <a:srgbClr val="7030A0"/>
              </a:solidFill>
            </a:endParaRPr>
          </a:p>
          <a:p>
            <a:pPr marL="0" indent="0">
              <a:buNone/>
            </a:pPr>
            <a:r>
              <a:rPr lang="en-US" sz="2800" dirty="0" smtClean="0"/>
              <a:t>    </a:t>
            </a:r>
            <a:r>
              <a:rPr lang="en-US" sz="2400" dirty="0" smtClean="0"/>
              <a:t>1</a:t>
            </a:r>
            <a:r>
              <a:rPr lang="en-US" sz="2400" dirty="0"/>
              <a:t>. </a:t>
            </a:r>
            <a:r>
              <a:rPr lang="en-US" sz="2400" dirty="0" err="1"/>
              <a:t>Hyperaemia</a:t>
            </a:r>
            <a:r>
              <a:rPr lang="en-US" sz="2400" dirty="0"/>
              <a:t> of the vocal cord in its whole extent or </a:t>
            </a:r>
            <a:r>
              <a:rPr lang="en-US" sz="2400" dirty="0" smtClean="0"/>
              <a:t>confined </a:t>
            </a:r>
            <a:r>
              <a:rPr lang="en-US" sz="2400" dirty="0"/>
              <a:t>to posterior part with impairment of adduction is the first sign. </a:t>
            </a:r>
            <a:endParaRPr lang="en-US" sz="2400" dirty="0" smtClean="0"/>
          </a:p>
          <a:p>
            <a:pPr marL="0" indent="0">
              <a:buNone/>
            </a:pPr>
            <a:r>
              <a:rPr lang="en-US" sz="2400" dirty="0" smtClean="0"/>
              <a:t>    2</a:t>
            </a:r>
            <a:r>
              <a:rPr lang="en-US" sz="2400" dirty="0"/>
              <a:t>. Swelling in the </a:t>
            </a:r>
            <a:r>
              <a:rPr lang="en-US" sz="2400" dirty="0" err="1"/>
              <a:t>interarytenoid</a:t>
            </a:r>
            <a:r>
              <a:rPr lang="en-US" sz="2400" dirty="0"/>
              <a:t> </a:t>
            </a:r>
            <a:r>
              <a:rPr lang="en-US" sz="2400" dirty="0" smtClean="0"/>
              <a:t>region.</a:t>
            </a:r>
            <a:endParaRPr lang="en-US" sz="2400" dirty="0" smtClean="0"/>
          </a:p>
          <a:p>
            <a:pPr marL="0" indent="0">
              <a:buNone/>
            </a:pPr>
            <a:r>
              <a:rPr lang="en-US" sz="2400" dirty="0" smtClean="0"/>
              <a:t>     3</a:t>
            </a:r>
            <a:r>
              <a:rPr lang="en-US" sz="2400" dirty="0"/>
              <a:t>. Ulceration of vocal cord giving mouse-nibbled appearance. </a:t>
            </a:r>
            <a:endParaRPr lang="en-US" sz="2400" dirty="0" smtClean="0"/>
          </a:p>
          <a:p>
            <a:pPr marL="0" indent="0">
              <a:buNone/>
            </a:pPr>
            <a:r>
              <a:rPr lang="en-US" sz="2400" dirty="0" smtClean="0"/>
              <a:t>    4</a:t>
            </a:r>
            <a:r>
              <a:rPr lang="en-US" sz="2400" dirty="0"/>
              <a:t>. Superficial ragged ulceration on the arytenoids and </a:t>
            </a:r>
            <a:r>
              <a:rPr lang="en-US" sz="2400" dirty="0" err="1"/>
              <a:t>interarytenoid</a:t>
            </a:r>
            <a:r>
              <a:rPr lang="en-US" sz="2400" dirty="0"/>
              <a:t> region. </a:t>
            </a:r>
            <a:endParaRPr lang="en-US" sz="2400" dirty="0" smtClean="0"/>
          </a:p>
          <a:p>
            <a:pPr marL="0" indent="0">
              <a:buNone/>
            </a:pPr>
            <a:r>
              <a:rPr lang="en-US" sz="2800" dirty="0" smtClean="0"/>
              <a:t>     </a:t>
            </a:r>
            <a:endParaRPr lang="en-US" sz="2800" dirty="0"/>
          </a:p>
        </p:txBody>
      </p:sp>
    </p:spTree>
    <p:extLst>
      <p:ext uri="{BB962C8B-B14F-4D97-AF65-F5344CB8AC3E}">
        <p14:creationId xmlns:p14="http://schemas.microsoft.com/office/powerpoint/2010/main" val="287581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6172200"/>
          </a:xfrm>
        </p:spPr>
        <p:txBody>
          <a:bodyPr/>
          <a:lstStyle/>
          <a:p>
            <a:pPr marL="0" indent="0">
              <a:buNone/>
            </a:pPr>
            <a:endParaRPr lang="en-US" sz="2400" dirty="0" smtClean="0"/>
          </a:p>
          <a:p>
            <a:pPr marL="0" indent="0">
              <a:buNone/>
            </a:pPr>
            <a:endParaRPr lang="en-US" sz="2400" dirty="0"/>
          </a:p>
          <a:p>
            <a:pPr marL="0" indent="0">
              <a:buNone/>
            </a:pPr>
            <a:r>
              <a:rPr lang="en-US" sz="2400" dirty="0" smtClean="0"/>
              <a:t>    </a:t>
            </a:r>
          </a:p>
          <a:p>
            <a:pPr marL="0" indent="0">
              <a:buNone/>
            </a:pPr>
            <a:r>
              <a:rPr lang="en-US" sz="2400" dirty="0" smtClean="0"/>
              <a:t> 6. </a:t>
            </a:r>
            <a:r>
              <a:rPr lang="en-US" sz="2400" dirty="0"/>
              <a:t>Granulation tissue in </a:t>
            </a:r>
            <a:r>
              <a:rPr lang="en-US" sz="2400" dirty="0" err="1"/>
              <a:t>interarytenoid</a:t>
            </a:r>
            <a:r>
              <a:rPr lang="en-US" sz="2400" dirty="0"/>
              <a:t> region or vocal process of arytenoid. </a:t>
            </a:r>
          </a:p>
          <a:p>
            <a:pPr marL="0" indent="0">
              <a:buNone/>
            </a:pPr>
            <a:r>
              <a:rPr lang="en-US" sz="2400" dirty="0"/>
              <a:t>   6. </a:t>
            </a:r>
            <a:r>
              <a:rPr lang="en-US" sz="2400" dirty="0" err="1"/>
              <a:t>Pseudoedema</a:t>
            </a:r>
            <a:r>
              <a:rPr lang="en-US" sz="2400" dirty="0"/>
              <a:t> of the epiglottis “turban epiglottis.”</a:t>
            </a:r>
          </a:p>
          <a:p>
            <a:pPr marL="0" indent="0">
              <a:buNone/>
            </a:pPr>
            <a:r>
              <a:rPr lang="en-US" sz="2400" dirty="0"/>
              <a:t>   7. Swelling of ventricular bands and </a:t>
            </a:r>
            <a:r>
              <a:rPr lang="en-US" sz="2400" dirty="0" err="1"/>
              <a:t>aryepiglottic</a:t>
            </a:r>
            <a:r>
              <a:rPr lang="en-US" sz="2400" dirty="0"/>
              <a:t> folds</a:t>
            </a:r>
          </a:p>
          <a:p>
            <a:pPr marL="0" indent="0">
              <a:buNone/>
            </a:pPr>
            <a:r>
              <a:rPr lang="en-US" sz="2400" dirty="0"/>
              <a:t>    8. Marked pallor of surrounding mucosa</a:t>
            </a:r>
          </a:p>
          <a:p>
            <a:endParaRPr lang="en-US" dirty="0"/>
          </a:p>
        </p:txBody>
      </p:sp>
      <p:pic>
        <p:nvPicPr>
          <p:cNvPr id="10242"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249382"/>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2676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172200"/>
          </a:xfrm>
        </p:spPr>
        <p:txBody>
          <a:bodyPr/>
          <a:lstStyle/>
          <a:p>
            <a:pPr marL="0" indent="0">
              <a:buNone/>
            </a:pPr>
            <a:r>
              <a:rPr lang="en-US" b="1" dirty="0" smtClean="0"/>
              <a:t>   </a:t>
            </a:r>
          </a:p>
          <a:p>
            <a:pPr marL="0" indent="0">
              <a:buNone/>
            </a:pPr>
            <a:r>
              <a:rPr lang="en-US" b="1" dirty="0">
                <a:solidFill>
                  <a:srgbClr val="7030A0"/>
                </a:solidFill>
              </a:rPr>
              <a:t> </a:t>
            </a:r>
            <a:r>
              <a:rPr lang="en-US" b="1" dirty="0" smtClean="0">
                <a:solidFill>
                  <a:srgbClr val="7030A0"/>
                </a:solidFill>
              </a:rPr>
              <a:t>   DIAGNOSIS </a:t>
            </a:r>
          </a:p>
          <a:p>
            <a:r>
              <a:rPr lang="en-US" sz="2400" dirty="0" smtClean="0"/>
              <a:t>In </a:t>
            </a:r>
            <a:r>
              <a:rPr lang="en-US" sz="2400" dirty="0"/>
              <a:t>addition to X-ray chest and sputum examination, biopsy of laryngeal lesion is essential to exclude carcinoma and </a:t>
            </a:r>
            <a:r>
              <a:rPr lang="en-US" sz="2400" dirty="0" smtClean="0"/>
              <a:t>differentiate </a:t>
            </a:r>
            <a:r>
              <a:rPr lang="en-US" sz="2400" dirty="0"/>
              <a:t>it from other </a:t>
            </a:r>
            <a:r>
              <a:rPr lang="en-US" sz="2400" dirty="0" smtClean="0"/>
              <a:t>condition</a:t>
            </a:r>
            <a:endParaRPr lang="en-US" sz="2400" dirty="0"/>
          </a:p>
        </p:txBody>
      </p:sp>
      <p:pic>
        <p:nvPicPr>
          <p:cNvPr id="12290"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0448" y="0"/>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48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lstStyle/>
          <a:p>
            <a:pPr marL="0" indent="0">
              <a:buNone/>
            </a:pPr>
            <a:r>
              <a:rPr lang="en-US" dirty="0" smtClean="0"/>
              <a:t>  </a:t>
            </a:r>
          </a:p>
          <a:p>
            <a:pPr marL="0" indent="0">
              <a:buNone/>
            </a:pPr>
            <a:r>
              <a:rPr lang="en-US" dirty="0"/>
              <a:t> </a:t>
            </a:r>
            <a:r>
              <a:rPr lang="en-US" dirty="0" smtClean="0"/>
              <a:t> </a:t>
            </a:r>
          </a:p>
          <a:p>
            <a:pPr marL="0" indent="0">
              <a:buNone/>
            </a:pPr>
            <a:r>
              <a:rPr lang="en-US" dirty="0"/>
              <a:t> </a:t>
            </a:r>
            <a:r>
              <a:rPr lang="en-US" dirty="0" smtClean="0"/>
              <a:t>  </a:t>
            </a:r>
            <a:r>
              <a:rPr lang="en-US" b="1" dirty="0" smtClean="0">
                <a:solidFill>
                  <a:srgbClr val="7030A0"/>
                </a:solidFill>
              </a:rPr>
              <a:t>TREATMENT</a:t>
            </a:r>
            <a:r>
              <a:rPr lang="en-US" dirty="0" smtClean="0"/>
              <a:t> </a:t>
            </a:r>
          </a:p>
          <a:p>
            <a:r>
              <a:rPr lang="en-US" sz="2400" dirty="0" smtClean="0"/>
              <a:t>Treatment </a:t>
            </a:r>
            <a:r>
              <a:rPr lang="en-US" sz="2400" dirty="0"/>
              <a:t>is the same as for pulmonary tuberculosis. Voice rest is important</a:t>
            </a:r>
          </a:p>
        </p:txBody>
      </p:sp>
      <p:pic>
        <p:nvPicPr>
          <p:cNvPr id="11266" name="Picture 2" descr="C:\Users\Rozh\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228600"/>
            <a:ext cx="34004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033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172200"/>
          </a:xfrm>
        </p:spPr>
        <p:txBody>
          <a:bodyPr>
            <a:normAutofit/>
          </a:bodyPr>
          <a:lstStyle/>
          <a:p>
            <a:pPr marL="0" indent="0">
              <a:buNone/>
            </a:pPr>
            <a:r>
              <a:rPr lang="en-US" sz="3500" b="1" dirty="0">
                <a:solidFill>
                  <a:srgbClr val="7030A0"/>
                </a:solidFill>
              </a:rPr>
              <a:t> </a:t>
            </a:r>
            <a:r>
              <a:rPr lang="en-US" sz="3500" b="1" dirty="0" smtClean="0">
                <a:solidFill>
                  <a:srgbClr val="7030A0"/>
                </a:solidFill>
              </a:rPr>
              <a:t>  </a:t>
            </a:r>
          </a:p>
          <a:p>
            <a:pPr marL="0" indent="0">
              <a:buNone/>
            </a:pPr>
            <a:r>
              <a:rPr lang="en-US" sz="3500" b="1" dirty="0">
                <a:solidFill>
                  <a:srgbClr val="7030A0"/>
                </a:solidFill>
              </a:rPr>
              <a:t> </a:t>
            </a:r>
            <a:r>
              <a:rPr lang="en-US" sz="3500" b="1" dirty="0" smtClean="0">
                <a:solidFill>
                  <a:srgbClr val="7030A0"/>
                </a:solidFill>
              </a:rPr>
              <a:t>   LUPUS </a:t>
            </a:r>
            <a:r>
              <a:rPr lang="en-US" sz="3500" b="1" dirty="0">
                <a:solidFill>
                  <a:srgbClr val="7030A0"/>
                </a:solidFill>
              </a:rPr>
              <a:t>OF THE LARYNX </a:t>
            </a:r>
            <a:endParaRPr lang="en-US" sz="3500" b="1" dirty="0" smtClean="0">
              <a:solidFill>
                <a:srgbClr val="7030A0"/>
              </a:solidFill>
            </a:endParaRPr>
          </a:p>
          <a:p>
            <a:r>
              <a:rPr lang="en-US" sz="2400" dirty="0" smtClean="0"/>
              <a:t>Unlike </a:t>
            </a:r>
            <a:r>
              <a:rPr lang="en-US" sz="2400" dirty="0"/>
              <a:t>tuberculosis of larynx which mostly affects posterior parts, lupus involves the anterior part of larynx. </a:t>
            </a:r>
            <a:endParaRPr lang="en-US" sz="2400" dirty="0" smtClean="0"/>
          </a:p>
          <a:p>
            <a:r>
              <a:rPr lang="en-US" sz="2400" dirty="0" smtClean="0"/>
              <a:t>Epiglottis </a:t>
            </a:r>
            <a:r>
              <a:rPr lang="en-US" sz="2400" dirty="0"/>
              <a:t>is involved first and may be </a:t>
            </a:r>
            <a:r>
              <a:rPr lang="en-US" sz="2400" dirty="0" smtClean="0"/>
              <a:t>completely </a:t>
            </a:r>
            <a:r>
              <a:rPr lang="en-US" sz="2400" dirty="0"/>
              <a:t>destroyed by the disease. </a:t>
            </a:r>
            <a:endParaRPr lang="en-US" sz="2400" dirty="0" smtClean="0"/>
          </a:p>
          <a:p>
            <a:r>
              <a:rPr lang="en-US" sz="2400" dirty="0" smtClean="0"/>
              <a:t>The </a:t>
            </a:r>
            <a:r>
              <a:rPr lang="en-US" sz="2400" dirty="0"/>
              <a:t>lesion spreads to </a:t>
            </a:r>
            <a:r>
              <a:rPr lang="en-US" sz="2400" dirty="0" err="1" smtClean="0"/>
              <a:t>aryepiglottic</a:t>
            </a:r>
            <a:r>
              <a:rPr lang="en-US" sz="2400" dirty="0" smtClean="0"/>
              <a:t> </a:t>
            </a:r>
            <a:r>
              <a:rPr lang="en-US" sz="2400" dirty="0"/>
              <a:t>folds and sometimes to ventricular bands. </a:t>
            </a:r>
            <a:endParaRPr lang="en-US" sz="2400" dirty="0" smtClean="0"/>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228600"/>
            <a:ext cx="1304492" cy="1304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78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915400" cy="6324600"/>
          </a:xfrm>
        </p:spPr>
        <p:txBody>
          <a:bodyPr/>
          <a:lstStyle/>
          <a:p>
            <a:endParaRPr lang="en-US" sz="2400" dirty="0" smtClean="0"/>
          </a:p>
          <a:p>
            <a:endParaRPr lang="en-US" sz="2400" dirty="0"/>
          </a:p>
          <a:p>
            <a:r>
              <a:rPr lang="en-US" sz="2400" dirty="0" smtClean="0"/>
              <a:t>Lupus </a:t>
            </a:r>
            <a:r>
              <a:rPr lang="en-US" sz="2400" dirty="0"/>
              <a:t>of larynx is a painless and often an asymptomatic condition and may be discovered on routine laryngeal examination in cases of lupus of nose. </a:t>
            </a:r>
          </a:p>
          <a:p>
            <a:r>
              <a:rPr lang="en-US" sz="2400" dirty="0"/>
              <a:t>There is no pulmonary tuberculosis. </a:t>
            </a:r>
          </a:p>
          <a:p>
            <a:r>
              <a:rPr lang="en-US" sz="2400" dirty="0"/>
              <a:t>Treatment is ant tubercular drugs. </a:t>
            </a:r>
          </a:p>
          <a:p>
            <a:r>
              <a:rPr lang="en-US" sz="2400" dirty="0"/>
              <a:t>Prognosis is good</a:t>
            </a:r>
          </a:p>
          <a:p>
            <a:endParaRPr lang="en-US" dirty="0"/>
          </a:p>
        </p:txBody>
      </p:sp>
    </p:spTree>
    <p:extLst>
      <p:ext uri="{BB962C8B-B14F-4D97-AF65-F5344CB8AC3E}">
        <p14:creationId xmlns:p14="http://schemas.microsoft.com/office/powerpoint/2010/main" val="19807251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324600"/>
          </a:xfrm>
        </p:spPr>
        <p:txBody>
          <a:bodyPr/>
          <a:lstStyle/>
          <a:p>
            <a:pPr marL="0" indent="0">
              <a:buNone/>
            </a:pPr>
            <a:r>
              <a:rPr lang="en-US" dirty="0" smtClean="0"/>
              <a:t>   </a:t>
            </a:r>
          </a:p>
          <a:p>
            <a:pPr marL="0" indent="0">
              <a:buNone/>
            </a:pPr>
            <a:r>
              <a:rPr lang="en-US" dirty="0"/>
              <a:t> </a:t>
            </a:r>
            <a:r>
              <a:rPr lang="en-US" dirty="0" smtClean="0"/>
              <a:t>    </a:t>
            </a:r>
            <a:r>
              <a:rPr lang="en-US" b="1" dirty="0" smtClean="0">
                <a:solidFill>
                  <a:srgbClr val="7030A0"/>
                </a:solidFill>
              </a:rPr>
              <a:t>SYPHILIS </a:t>
            </a:r>
            <a:r>
              <a:rPr lang="en-US" b="1" dirty="0">
                <a:solidFill>
                  <a:srgbClr val="7030A0"/>
                </a:solidFill>
              </a:rPr>
              <a:t>OF THE LARYNX </a:t>
            </a:r>
            <a:endParaRPr lang="en-US" b="1" dirty="0" smtClean="0">
              <a:solidFill>
                <a:srgbClr val="7030A0"/>
              </a:solidFill>
            </a:endParaRPr>
          </a:p>
          <a:p>
            <a:r>
              <a:rPr lang="en-US" sz="2400" dirty="0" smtClean="0"/>
              <a:t>It </a:t>
            </a:r>
            <a:r>
              <a:rPr lang="en-US" sz="2400" dirty="0"/>
              <a:t>is a rare condition now. </a:t>
            </a:r>
            <a:endParaRPr lang="en-US" sz="2400" dirty="0" smtClean="0"/>
          </a:p>
          <a:p>
            <a:r>
              <a:rPr lang="en-US" sz="2400" dirty="0" smtClean="0"/>
              <a:t>Only </a:t>
            </a:r>
            <a:r>
              <a:rPr lang="en-US" sz="2400" dirty="0" err="1"/>
              <a:t>gumma</a:t>
            </a:r>
            <a:r>
              <a:rPr lang="en-US" sz="2400" dirty="0"/>
              <a:t> of tertiary stage is sometimes seen. </a:t>
            </a:r>
            <a:endParaRPr lang="en-US" sz="2400" dirty="0" smtClean="0"/>
          </a:p>
          <a:p>
            <a:r>
              <a:rPr lang="en-US" sz="2400" dirty="0" smtClean="0"/>
              <a:t>It </a:t>
            </a:r>
            <a:r>
              <a:rPr lang="en-US" sz="2400" dirty="0"/>
              <a:t>may occur in any part of the larynx and present as a smooth swelling which may later ulcerate. </a:t>
            </a:r>
            <a:r>
              <a:rPr lang="en-US" sz="2400" dirty="0" smtClean="0"/>
              <a:t>Diagnosis </a:t>
            </a:r>
            <a:r>
              <a:rPr lang="en-US" sz="2400" dirty="0"/>
              <a:t>is only on biopsy and serological tests. Laryngeal </a:t>
            </a:r>
            <a:r>
              <a:rPr lang="en-US" sz="2400" dirty="0" smtClean="0"/>
              <a:t>stenosis </a:t>
            </a:r>
            <a:r>
              <a:rPr lang="en-US" sz="2400" dirty="0"/>
              <a:t>is a frequent </a:t>
            </a:r>
            <a:r>
              <a:rPr lang="en-US" sz="2400" dirty="0" smtClean="0"/>
              <a:t>complication</a:t>
            </a:r>
            <a:endParaRPr lang="en-US" sz="2400" dirty="0"/>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1344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324600"/>
          </a:xfrm>
        </p:spPr>
        <p:txBody>
          <a:bodyPr/>
          <a:lstStyle/>
          <a:p>
            <a:pPr marL="0" indent="0">
              <a:buNone/>
            </a:pPr>
            <a:r>
              <a:rPr lang="en-US" b="1" dirty="0" smtClean="0">
                <a:solidFill>
                  <a:srgbClr val="7030A0"/>
                </a:solidFill>
              </a:rPr>
              <a:t>    </a:t>
            </a:r>
          </a:p>
          <a:p>
            <a:pPr marL="0" indent="0">
              <a:buNone/>
            </a:pPr>
            <a:r>
              <a:rPr lang="en-US" b="1" dirty="0">
                <a:solidFill>
                  <a:srgbClr val="7030A0"/>
                </a:solidFill>
              </a:rPr>
              <a:t> </a:t>
            </a:r>
            <a:r>
              <a:rPr lang="en-US" b="1" dirty="0" smtClean="0">
                <a:solidFill>
                  <a:srgbClr val="7030A0"/>
                </a:solidFill>
              </a:rPr>
              <a:t> </a:t>
            </a:r>
          </a:p>
          <a:p>
            <a:pPr marL="0" indent="0">
              <a:buNone/>
            </a:pPr>
            <a:r>
              <a:rPr lang="en-US" b="1" dirty="0">
                <a:solidFill>
                  <a:srgbClr val="7030A0"/>
                </a:solidFill>
              </a:rPr>
              <a:t> </a:t>
            </a:r>
            <a:r>
              <a:rPr lang="en-US" b="1" dirty="0" smtClean="0">
                <a:solidFill>
                  <a:srgbClr val="7030A0"/>
                </a:solidFill>
              </a:rPr>
              <a:t>     LEPROSY </a:t>
            </a:r>
            <a:r>
              <a:rPr lang="en-US" b="1" dirty="0">
                <a:solidFill>
                  <a:srgbClr val="7030A0"/>
                </a:solidFill>
              </a:rPr>
              <a:t>OF THE LARYNX</a:t>
            </a:r>
            <a:r>
              <a:rPr lang="en-US" dirty="0"/>
              <a:t> </a:t>
            </a:r>
            <a:endParaRPr lang="en-US" dirty="0" smtClean="0"/>
          </a:p>
          <a:p>
            <a:r>
              <a:rPr lang="en-US" sz="2400" dirty="0" smtClean="0"/>
              <a:t>It </a:t>
            </a:r>
            <a:r>
              <a:rPr lang="en-US" sz="2400" dirty="0"/>
              <a:t>is a rare condition and is often associated with leprosy of the skin and nose. </a:t>
            </a:r>
            <a:endParaRPr lang="en-US" sz="2400" dirty="0" smtClean="0"/>
          </a:p>
          <a:p>
            <a:r>
              <a:rPr lang="en-US" sz="2400" dirty="0" smtClean="0"/>
              <a:t>It </a:t>
            </a:r>
            <a:r>
              <a:rPr lang="en-US" sz="2400" dirty="0"/>
              <a:t>presents as diffuse nodular </a:t>
            </a:r>
            <a:r>
              <a:rPr lang="en-US" sz="2400" dirty="0" smtClean="0"/>
              <a:t>infiltration </a:t>
            </a:r>
            <a:r>
              <a:rPr lang="en-US" sz="2400" dirty="0"/>
              <a:t>of epiglottis, </a:t>
            </a:r>
            <a:r>
              <a:rPr lang="en-US" sz="2400" dirty="0" err="1"/>
              <a:t>aryepiglottic</a:t>
            </a:r>
            <a:r>
              <a:rPr lang="en-US" sz="2400" dirty="0"/>
              <a:t> folds and arytenoids</a:t>
            </a:r>
            <a:r>
              <a:rPr lang="en-US" dirty="0" smtClean="0"/>
              <a:t>.</a:t>
            </a:r>
          </a:p>
          <a:p>
            <a:endParaRPr lang="en-US" dirty="0"/>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51089"/>
            <a:ext cx="1944398" cy="1944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512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477000"/>
          </a:xfrm>
        </p:spPr>
        <p:txBody>
          <a:bodyPr/>
          <a:lstStyle/>
          <a:p>
            <a:endParaRPr lang="en-US" sz="2400" dirty="0" smtClean="0"/>
          </a:p>
          <a:p>
            <a:endParaRPr lang="en-US" sz="2400" dirty="0"/>
          </a:p>
          <a:p>
            <a:r>
              <a:rPr lang="en-US" sz="2400" dirty="0" smtClean="0"/>
              <a:t>Lesions </a:t>
            </a:r>
            <a:r>
              <a:rPr lang="en-US" sz="2400" dirty="0"/>
              <a:t>may ulcerate. </a:t>
            </a:r>
          </a:p>
          <a:p>
            <a:r>
              <a:rPr lang="en-US" sz="2400" dirty="0"/>
              <a:t>It is associated with nasal leprosy. </a:t>
            </a:r>
          </a:p>
          <a:p>
            <a:r>
              <a:rPr lang="en-US" sz="2400" dirty="0"/>
              <a:t>Diagnosis is made on biopsy from the lesion. </a:t>
            </a:r>
            <a:endParaRPr lang="en-US" sz="2400" dirty="0" smtClean="0"/>
          </a:p>
          <a:p>
            <a:r>
              <a:rPr lang="en-US" sz="2400" dirty="0" smtClean="0"/>
              <a:t>Deformity </a:t>
            </a:r>
            <a:r>
              <a:rPr lang="en-US" sz="2400" dirty="0"/>
              <a:t>of the laryngeal inlet and stenosis are the end results of this disease after healing.</a:t>
            </a:r>
          </a:p>
          <a:p>
            <a:endParaRPr lang="en-US" dirty="0"/>
          </a:p>
        </p:txBody>
      </p:sp>
      <p:pic>
        <p:nvPicPr>
          <p:cNvPr id="4" name="Picture 2" descr="Directorate of International Academic Relations &amp; Media – University of  Sulaima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9265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721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b="1" dirty="0" smtClean="0">
                <a:solidFill>
                  <a:srgbClr val="7030A0"/>
                </a:solidFill>
              </a:rPr>
              <a:t>  SCLEROMA </a:t>
            </a:r>
            <a:r>
              <a:rPr lang="en-US" b="1" dirty="0">
                <a:solidFill>
                  <a:srgbClr val="7030A0"/>
                </a:solidFill>
              </a:rPr>
              <a:t>OF THE LARYNX </a:t>
            </a:r>
            <a:endParaRPr lang="en-US" b="1" dirty="0" smtClean="0">
              <a:solidFill>
                <a:srgbClr val="7030A0"/>
              </a:solidFill>
            </a:endParaRPr>
          </a:p>
          <a:p>
            <a:r>
              <a:rPr lang="en-US" sz="2400" dirty="0" smtClean="0"/>
              <a:t>It </a:t>
            </a:r>
            <a:r>
              <a:rPr lang="en-US" sz="2400" dirty="0"/>
              <a:t>is a chronic inflammatory condition caused by </a:t>
            </a:r>
            <a:r>
              <a:rPr lang="en-US" sz="2400" dirty="0" err="1" smtClean="0"/>
              <a:t>Klebsiella</a:t>
            </a:r>
            <a:r>
              <a:rPr lang="en-US" sz="2400" dirty="0" smtClean="0"/>
              <a:t> </a:t>
            </a:r>
            <a:r>
              <a:rPr lang="en-US" sz="2400" dirty="0" err="1"/>
              <a:t>rhinoscleromatis</a:t>
            </a:r>
            <a:r>
              <a:rPr lang="en-US" sz="2400" dirty="0"/>
              <a:t>. </a:t>
            </a:r>
            <a:endParaRPr lang="en-US" sz="2400" dirty="0" smtClean="0"/>
          </a:p>
          <a:p>
            <a:r>
              <a:rPr lang="en-US" sz="2400" dirty="0" smtClean="0"/>
              <a:t>Nasal </a:t>
            </a:r>
            <a:r>
              <a:rPr lang="en-US" sz="2400" dirty="0"/>
              <a:t>involvement is very common in India. </a:t>
            </a:r>
            <a:endParaRPr lang="en-US" sz="2400" dirty="0" smtClean="0"/>
          </a:p>
          <a:p>
            <a:r>
              <a:rPr lang="en-US" sz="2400" dirty="0" smtClean="0"/>
              <a:t>Laryngeal </a:t>
            </a:r>
            <a:r>
              <a:rPr lang="en-US" sz="2400" dirty="0"/>
              <a:t>involvement may be seen occasionally with or without a nasal lesion. </a:t>
            </a:r>
            <a:endParaRPr lang="en-US" sz="2400" dirty="0" smtClean="0"/>
          </a:p>
          <a:p>
            <a:r>
              <a:rPr lang="en-US" sz="2400" dirty="0" smtClean="0"/>
              <a:t>Typically</a:t>
            </a:r>
            <a:r>
              <a:rPr lang="en-US" sz="2400" dirty="0"/>
              <a:t>, it presents as a smooth red swelling in the subglottic region. </a:t>
            </a:r>
            <a:endParaRPr lang="en-US" sz="2400" dirty="0" smtClean="0"/>
          </a:p>
          <a:p>
            <a:r>
              <a:rPr lang="en-US" sz="2400" dirty="0" smtClean="0"/>
              <a:t>Hoarseness </a:t>
            </a:r>
            <a:r>
              <a:rPr lang="en-US" sz="2400" dirty="0"/>
              <a:t>of voice, wheezing and </a:t>
            </a:r>
            <a:r>
              <a:rPr lang="en-US" sz="2400" dirty="0" err="1"/>
              <a:t>dyspnoea</a:t>
            </a:r>
            <a:r>
              <a:rPr lang="en-US" sz="2400" dirty="0"/>
              <a:t> may be the presenting </a:t>
            </a:r>
            <a:r>
              <a:rPr lang="en-US" sz="2400" dirty="0" smtClean="0"/>
              <a:t>symptoms </a:t>
            </a:r>
            <a:r>
              <a:rPr lang="en-US" sz="2400" dirty="0"/>
              <a:t>in addition to the nasal lesion. </a:t>
            </a:r>
            <a:endParaRPr lang="en-US" sz="2400" dirty="0" smtClean="0"/>
          </a:p>
        </p:txBody>
      </p:sp>
    </p:spTree>
    <p:extLst>
      <p:ext uri="{BB962C8B-B14F-4D97-AF65-F5344CB8AC3E}">
        <p14:creationId xmlns:p14="http://schemas.microsoft.com/office/powerpoint/2010/main" val="986587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248400"/>
          </a:xfrm>
        </p:spPr>
        <p:txBody>
          <a:bodyPr/>
          <a:lstStyle/>
          <a:p>
            <a:endParaRPr lang="en-US" sz="2400" dirty="0" smtClean="0"/>
          </a:p>
          <a:p>
            <a:r>
              <a:rPr lang="en-US" sz="2400" dirty="0" smtClean="0"/>
              <a:t>Diagnosis </a:t>
            </a:r>
            <a:r>
              <a:rPr lang="en-US" sz="2400" dirty="0"/>
              <a:t>is made on biopsy. </a:t>
            </a:r>
          </a:p>
          <a:p>
            <a:r>
              <a:rPr lang="en-US" sz="2400" dirty="0"/>
              <a:t>Treatment is by streptomycin or tetracycline, </a:t>
            </a:r>
            <a:r>
              <a:rPr lang="en-US" sz="2400" dirty="0" smtClean="0"/>
              <a:t>often </a:t>
            </a:r>
            <a:r>
              <a:rPr lang="en-US" sz="2400" dirty="0"/>
              <a:t>c</a:t>
            </a:r>
            <a:r>
              <a:rPr lang="en-US" sz="2400" dirty="0" smtClean="0"/>
              <a:t>ombined </a:t>
            </a:r>
            <a:r>
              <a:rPr lang="en-US" sz="2400" dirty="0"/>
              <a:t>with steroids to prevent fibrosis. </a:t>
            </a:r>
          </a:p>
          <a:p>
            <a:r>
              <a:rPr lang="en-US" sz="2400" dirty="0"/>
              <a:t>Subglottic stenosis is a frequent complication requiring subsequent reconstructive surgery </a:t>
            </a:r>
          </a:p>
          <a:p>
            <a:endParaRPr lang="en-US" dirty="0"/>
          </a:p>
        </p:txBody>
      </p:sp>
    </p:spTree>
    <p:extLst>
      <p:ext uri="{BB962C8B-B14F-4D97-AF65-F5344CB8AC3E}">
        <p14:creationId xmlns:p14="http://schemas.microsoft.com/office/powerpoint/2010/main" val="338992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6324600"/>
          </a:xfrm>
        </p:spPr>
        <p:txBody>
          <a:bodyPr/>
          <a:lstStyle/>
          <a:p>
            <a:pPr marL="0" indent="0">
              <a:buNone/>
            </a:pPr>
            <a:r>
              <a:rPr lang="en-US" b="1" dirty="0" smtClean="0">
                <a:solidFill>
                  <a:srgbClr val="7030A0"/>
                </a:solidFill>
              </a:rPr>
              <a:t>     </a:t>
            </a:r>
          </a:p>
          <a:p>
            <a:pPr marL="0" indent="0">
              <a:buNone/>
            </a:pPr>
            <a:r>
              <a:rPr lang="en-US" b="1" dirty="0">
                <a:solidFill>
                  <a:srgbClr val="7030A0"/>
                </a:solidFill>
              </a:rPr>
              <a:t> </a:t>
            </a:r>
            <a:r>
              <a:rPr lang="en-US" b="1" dirty="0" smtClean="0">
                <a:solidFill>
                  <a:srgbClr val="7030A0"/>
                </a:solidFill>
              </a:rPr>
              <a:t>    LARYNGEAL </a:t>
            </a:r>
            <a:r>
              <a:rPr lang="en-US" b="1" dirty="0">
                <a:solidFill>
                  <a:srgbClr val="7030A0"/>
                </a:solidFill>
              </a:rPr>
              <a:t>MYCOSIS </a:t>
            </a:r>
            <a:endParaRPr lang="en-US" b="1" dirty="0" smtClean="0">
              <a:solidFill>
                <a:srgbClr val="7030A0"/>
              </a:solidFill>
            </a:endParaRPr>
          </a:p>
          <a:p>
            <a:r>
              <a:rPr lang="en-US" sz="2400" dirty="0" smtClean="0"/>
              <a:t>Fungal </a:t>
            </a:r>
            <a:r>
              <a:rPr lang="en-US" sz="2400" dirty="0"/>
              <a:t>infections such as candidiasis, </a:t>
            </a:r>
            <a:r>
              <a:rPr lang="en-US" sz="2400" dirty="0" err="1"/>
              <a:t>histoplasmosis</a:t>
            </a:r>
            <a:r>
              <a:rPr lang="en-US" sz="2400" dirty="0"/>
              <a:t> and </a:t>
            </a:r>
            <a:r>
              <a:rPr lang="en-US" sz="2400" dirty="0" err="1"/>
              <a:t>blastomycosis</a:t>
            </a:r>
            <a:r>
              <a:rPr lang="en-US" sz="2400" dirty="0"/>
              <a:t> may rarely affect the larynx. </a:t>
            </a:r>
            <a:endParaRPr lang="en-US" sz="2400" dirty="0" smtClean="0"/>
          </a:p>
          <a:p>
            <a:r>
              <a:rPr lang="en-US" sz="2400" dirty="0" smtClean="0"/>
              <a:t>Diagnosis </a:t>
            </a:r>
            <a:r>
              <a:rPr lang="en-US" sz="2400" dirty="0"/>
              <a:t>is </a:t>
            </a:r>
            <a:r>
              <a:rPr lang="en-US" sz="2400" dirty="0" smtClean="0"/>
              <a:t>usually </a:t>
            </a:r>
            <a:r>
              <a:rPr lang="en-US" sz="2400" dirty="0"/>
              <a:t>made on biopsy and on finding a similar lesion in other parts of the </a:t>
            </a:r>
            <a:r>
              <a:rPr lang="en-US" sz="2400" dirty="0" smtClean="0"/>
              <a:t>body.</a:t>
            </a:r>
            <a:endParaRPr lang="en-US" sz="2400" dirty="0"/>
          </a:p>
        </p:txBody>
      </p:sp>
    </p:spTree>
    <p:extLst>
      <p:ext uri="{BB962C8B-B14F-4D97-AF65-F5344CB8AC3E}">
        <p14:creationId xmlns:p14="http://schemas.microsoft.com/office/powerpoint/2010/main" val="28310648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8839200" cy="6172200"/>
          </a:xfrm>
        </p:spPr>
        <p:txBody>
          <a:bodyPr/>
          <a:lstStyle/>
          <a:p>
            <a:pPr marL="0" indent="0">
              <a:buNone/>
            </a:pPr>
            <a:r>
              <a:rPr lang="en-US" sz="3600" dirty="0" smtClean="0"/>
              <a:t>    </a:t>
            </a:r>
            <a:r>
              <a:rPr lang="en-US" sz="3600" b="1" dirty="0" smtClean="0">
                <a:solidFill>
                  <a:srgbClr val="002060"/>
                </a:solidFill>
              </a:rPr>
              <a:t>Reference </a:t>
            </a:r>
          </a:p>
          <a:p>
            <a:pPr marL="0" indent="0">
              <a:buNone/>
            </a:pPr>
            <a:r>
              <a:rPr lang="en-US" dirty="0" smtClean="0"/>
              <a:t>  1.synopsis of otolaryngology</a:t>
            </a:r>
          </a:p>
          <a:p>
            <a:pPr marL="0" indent="0">
              <a:buNone/>
            </a:pPr>
            <a:r>
              <a:rPr lang="en-US" dirty="0" smtClean="0"/>
              <a:t>  2. diseases of the ear , nose and throat.</a:t>
            </a:r>
          </a:p>
          <a:p>
            <a:pPr marL="0" indent="0">
              <a:buNone/>
            </a:pPr>
            <a:r>
              <a:rPr lang="en-US" dirty="0" smtClean="0"/>
              <a:t>  3.  handbook of otolaryngology </a:t>
            </a:r>
          </a:p>
          <a:p>
            <a:pPr marL="0" indent="0">
              <a:buNone/>
            </a:pPr>
            <a:endParaRPr lang="en-US" dirty="0"/>
          </a:p>
        </p:txBody>
      </p:sp>
    </p:spTree>
    <p:extLst>
      <p:ext uri="{BB962C8B-B14F-4D97-AF65-F5344CB8AC3E}">
        <p14:creationId xmlns:p14="http://schemas.microsoft.com/office/powerpoint/2010/main" val="2354387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763000" cy="6248400"/>
          </a:xfrm>
        </p:spPr>
        <p:txBody>
          <a:bodyPr/>
          <a:lstStyle/>
          <a:p>
            <a:pPr marL="0" indent="0">
              <a:buNone/>
            </a:pPr>
            <a:r>
              <a:rPr lang="en-US" dirty="0" smtClean="0"/>
              <a:t>             </a:t>
            </a:r>
          </a:p>
          <a:p>
            <a:pPr marL="0" indent="0">
              <a:buNone/>
            </a:pPr>
            <a:r>
              <a:rPr lang="en-US" sz="7200" dirty="0" smtClean="0"/>
              <a:t>    </a:t>
            </a:r>
          </a:p>
          <a:p>
            <a:pPr marL="0" indent="0">
              <a:buNone/>
            </a:pPr>
            <a:r>
              <a:rPr lang="en-US" sz="7200" dirty="0"/>
              <a:t> </a:t>
            </a:r>
            <a:r>
              <a:rPr lang="en-US" sz="7200" dirty="0" smtClean="0"/>
              <a:t>           Thanks </a:t>
            </a:r>
            <a:endParaRPr lang="en-US" sz="7200" dirty="0"/>
          </a:p>
        </p:txBody>
      </p:sp>
    </p:spTree>
    <p:extLst>
      <p:ext uri="{BB962C8B-B14F-4D97-AF65-F5344CB8AC3E}">
        <p14:creationId xmlns:p14="http://schemas.microsoft.com/office/powerpoint/2010/main" val="3262230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655</TotalTime>
  <Words>2208</Words>
  <Application>Microsoft Office PowerPoint</Application>
  <PresentationFormat>On-screen Show (4:3)</PresentationFormat>
  <Paragraphs>216</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Rozh</dc:creator>
  <cp:lastModifiedBy>Rozh</cp:lastModifiedBy>
  <cp:revision>124</cp:revision>
  <dcterms:created xsi:type="dcterms:W3CDTF">2024-11-20T17:40:24Z</dcterms:created>
  <dcterms:modified xsi:type="dcterms:W3CDTF">2025-10-20T19:39:39Z</dcterms:modified>
</cp:coreProperties>
</file>