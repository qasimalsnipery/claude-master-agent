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57" r:id="rId4"/>
    <p:sldId id="269" r:id="rId5"/>
    <p:sldId id="284" r:id="rId6"/>
    <p:sldId id="285" r:id="rId7"/>
    <p:sldId id="286" r:id="rId8"/>
    <p:sldId id="287" r:id="rId9"/>
    <p:sldId id="288" r:id="rId10"/>
    <p:sldId id="271" r:id="rId11"/>
    <p:sldId id="272" r:id="rId12"/>
    <p:sldId id="273" r:id="rId13"/>
    <p:sldId id="263" r:id="rId14"/>
    <p:sldId id="275" r:id="rId15"/>
    <p:sldId id="276" r:id="rId16"/>
    <p:sldId id="277" r:id="rId17"/>
    <p:sldId id="278" r:id="rId18"/>
    <p:sldId id="279" r:id="rId19"/>
    <p:sldId id="280" r:id="rId20"/>
    <p:sldId id="283" r:id="rId21"/>
    <p:sldId id="290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C446-06FE-474A-9C84-D2D011ED5EF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82789-E527-404D-B3D9-16D47DC2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E77DC-9A97-4C8E-BF98-253E742343D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2489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C2D7-9FE5-48C7-BB25-65D15D48728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251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AE27-E81F-4F76-931F-6397BBE9CF9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1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61CE5-CA9A-43AA-9BEA-BA541DBB3CD5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5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78EF-3502-4288-ABBD-0B44A87B268A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3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5097-9651-428C-96E4-8C4C7C139D85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16970-53AE-4D46-99E6-B292131653E1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FBB7-F0E4-48A7-8273-F20CAF75DB61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1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5179-304D-4FDB-BB02-043CF5BA6FC0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5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E49-3D12-4DD6-9F60-74D11E94B05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9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9FC9-305F-4CAF-882F-E64F22DA1CE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56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E32-7511-4C5C-B8D1-723890EFFAA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64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69B7-E1EE-4BC7-8D85-252A79D835FF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85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3F4D2-57E8-4B2D-9232-DEFAEF5609C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71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49398-DD26-41CC-AC83-72F8856AA33F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04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FEFE-15D9-4626-B389-AA981AAD12F2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1A20-8E9A-4E63-B15F-66F07AD5A354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55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5C291-1315-41DE-AFA9-FC5516FA29C3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07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A881-C570-459E-8DC1-239E1BF56C77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3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C0486-50E1-41A7-97FA-F52F1D4BE183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6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9CD0-8343-4A6F-BCF4-CED3F5281D3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18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397E-2F8D-429F-9BE7-E0EBE622430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58BD1-0D27-416A-8D49-AF23AB6B1EE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0FAB0-4C65-4A57-8CB1-08E0168A5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05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D371E-514E-4ADA-AE4A-31267A87436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5F588-5C23-49DD-B29E-1F31B61F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CHRONIC RHINOSINUSITIS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1900" b="1" dirty="0" err="1" smtClean="0">
                <a:solidFill>
                  <a:prstClr val="black"/>
                </a:solidFill>
                <a:latin typeface="Calibri" panose="020F0502020204030204"/>
              </a:rPr>
              <a:t>Dr.Haval</a:t>
            </a:r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 Ahmed Hama</a:t>
            </a:r>
          </a:p>
          <a:p>
            <a:pPr lvl="0"/>
            <a:r>
              <a:rPr lang="en-US" sz="1900" b="1" dirty="0" err="1" smtClean="0">
                <a:solidFill>
                  <a:prstClr val="black"/>
                </a:solidFill>
                <a:latin typeface="Calibri" panose="020F0502020204030204"/>
              </a:rPr>
              <a:t>MBChB</a:t>
            </a:r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, F.K.B.M.S </a:t>
            </a:r>
          </a:p>
          <a:p>
            <a:pPr lvl="0"/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(Otolaryngology, Head and Neck Surgeon)</a:t>
            </a:r>
          </a:p>
          <a:p>
            <a:pPr lvl="0"/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University of </a:t>
            </a:r>
            <a:r>
              <a:rPr lang="en-US" sz="1900" b="1" dirty="0" err="1" smtClean="0">
                <a:solidFill>
                  <a:prstClr val="black"/>
                </a:solidFill>
                <a:latin typeface="Calibri" panose="020F0502020204030204"/>
              </a:rPr>
              <a:t>Sulaimani</a:t>
            </a:r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, College of Medicine.</a:t>
            </a:r>
          </a:p>
          <a:p>
            <a:pPr lvl="0"/>
            <a:r>
              <a:rPr lang="en-US" sz="1900" b="1" dirty="0" smtClean="0">
                <a:solidFill>
                  <a:prstClr val="black"/>
                </a:solidFill>
                <a:latin typeface="Calibri" panose="020F0502020204030204"/>
              </a:rPr>
              <a:t>Branch of clinical science.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96A6-EC23-45E1-AAF7-11714112CB5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4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 smtClean="0"/>
              <a:t>Learning outcome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Chronic </a:t>
            </a:r>
            <a:r>
              <a:rPr lang="en-US" dirty="0" err="1"/>
              <a:t>Rhinosinusitis</a:t>
            </a:r>
            <a:r>
              <a:rPr lang="en-US" dirty="0"/>
              <a:t> (CRS) and identify its diagnostic criteria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Differentiate between </a:t>
            </a:r>
            <a:r>
              <a:rPr lang="en-US" dirty="0" err="1"/>
              <a:t>CRSsNP</a:t>
            </a:r>
            <a:r>
              <a:rPr lang="en-US" dirty="0"/>
              <a:t> (without polyps) and </a:t>
            </a:r>
            <a:r>
              <a:rPr lang="en-US" dirty="0" err="1"/>
              <a:t>CRSwNP</a:t>
            </a:r>
            <a:r>
              <a:rPr lang="en-US" dirty="0"/>
              <a:t> (with polyps) subtypes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Recognize the causative factors and pathophysiology of CRS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Discuss the medical and surgical management options for CRS, including FESS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Understand the complications and principles of endoscopic sinus surgery.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E600E-0322-4F24-84B0-89B65323553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0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082" y="207392"/>
            <a:ext cx="6907834" cy="61555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      </a:t>
            </a:r>
            <a:r>
              <a:rPr lang="en-US" sz="3600" b="1" dirty="0" smtClean="0"/>
              <a:t>Chronic </a:t>
            </a:r>
            <a:r>
              <a:rPr lang="en-US" sz="3600" b="1" dirty="0" err="1"/>
              <a:t>R</a:t>
            </a:r>
            <a:r>
              <a:rPr lang="en-US" sz="3600" b="1" dirty="0" err="1" smtClean="0"/>
              <a:t>hinosinusitis</a:t>
            </a:r>
            <a:endParaRPr lang="en-US" sz="3600" b="1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58669" y="1397632"/>
            <a:ext cx="8074660" cy="4774569"/>
          </a:xfrm>
        </p:spPr>
        <p:txBody>
          <a:bodyPr>
            <a:noAutofit/>
          </a:bodyPr>
          <a:lstStyle/>
          <a:p>
            <a:r>
              <a:rPr lang="en-US" sz="2400" dirty="0"/>
              <a:t> inflammation of the nose and paranasal sinuses for &gt; or 12 weeks associated with two or more symptoms.</a:t>
            </a:r>
          </a:p>
          <a:p>
            <a:r>
              <a:rPr lang="en-US" sz="2400" dirty="0"/>
              <a:t> one of which should be nasal blockage/obstruction/congestion or nasal discharge:</a:t>
            </a:r>
          </a:p>
          <a:p>
            <a:r>
              <a:rPr lang="en-US" sz="2400" dirty="0"/>
              <a:t>  +/− facial pain/pressure , reduction or loss of smell </a:t>
            </a:r>
          </a:p>
          <a:p>
            <a:pPr marL="0" indent="0">
              <a:buNone/>
            </a:pPr>
            <a:r>
              <a:rPr lang="en-US" sz="2400" dirty="0"/>
              <a:t>and either</a:t>
            </a:r>
          </a:p>
          <a:p>
            <a:r>
              <a:rPr lang="en-US" sz="2400" dirty="0"/>
              <a:t>  endoscopic evidence of polyps and/or  mucopurulent discharge from the middle meatus or edema, mucosal obstruction primarily in the middle meatus </a:t>
            </a:r>
          </a:p>
          <a:p>
            <a:pPr marL="0" indent="0">
              <a:buNone/>
            </a:pPr>
            <a:r>
              <a:rPr lang="en-US" sz="2400" dirty="0"/>
              <a:t>and/or</a:t>
            </a:r>
          </a:p>
          <a:p>
            <a:r>
              <a:rPr lang="en-US" sz="2400" dirty="0"/>
              <a:t>  CT changes:  mucosal changes within the </a:t>
            </a:r>
            <a:r>
              <a:rPr lang="en-US" sz="2400" dirty="0" err="1"/>
              <a:t>osteomeatal</a:t>
            </a:r>
            <a:r>
              <a:rPr lang="en-US" sz="2400" dirty="0"/>
              <a:t> complex and/or sinuses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FE1D-5B26-47C7-B4BF-9C4ABD606B8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7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580" y="1387129"/>
            <a:ext cx="6356188" cy="486856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CD45-E0AB-4D9E-AA44-DBE18EF7A61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2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231" y="2112264"/>
            <a:ext cx="10068693" cy="354114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C2D7-9FE5-48C7-BB25-65D15D48728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500" y="756833"/>
            <a:ext cx="5879100" cy="53469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C2D7-9FE5-48C7-BB25-65D15D48728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3" y="1069848"/>
            <a:ext cx="4877784" cy="487778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C2D7-9FE5-48C7-BB25-65D15D48728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38" y="1207008"/>
            <a:ext cx="5942079" cy="47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4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130" y="358597"/>
            <a:ext cx="7952238" cy="599775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C2D7-9FE5-48C7-BB25-65D15D48728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6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8840" y="405251"/>
            <a:ext cx="7717537" cy="112146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 b="1" spc="-10" dirty="0" smtClean="0">
                <a:solidFill>
                  <a:srgbClr val="002060"/>
                </a:solidFill>
                <a:latin typeface="+mn-lt"/>
                <a:cs typeface="Carlito"/>
              </a:rPr>
              <a:t/>
            </a:r>
            <a:br>
              <a:rPr lang="en-US" sz="3600" b="1" spc="-10" dirty="0" smtClean="0">
                <a:solidFill>
                  <a:srgbClr val="002060"/>
                </a:solidFill>
                <a:latin typeface="+mn-lt"/>
                <a:cs typeface="Carlito"/>
              </a:rPr>
            </a:br>
            <a:r>
              <a:rPr sz="3600" b="1" spc="-10" dirty="0" smtClean="0">
                <a:latin typeface="+mn-lt"/>
                <a:cs typeface="Carlito"/>
              </a:rPr>
              <a:t>CHRONIC</a:t>
            </a:r>
            <a:r>
              <a:rPr lang="en-US" sz="3600" b="1" spc="-70" dirty="0">
                <a:latin typeface="+mn-lt"/>
                <a:cs typeface="Carlito"/>
              </a:rPr>
              <a:t> </a:t>
            </a:r>
            <a:r>
              <a:rPr sz="3600" b="1" spc="-5" dirty="0" smtClean="0">
                <a:latin typeface="+mn-lt"/>
                <a:cs typeface="Carlito"/>
              </a:rPr>
              <a:t>RHINOSINUSITIS</a:t>
            </a:r>
            <a:endParaRPr sz="3600" b="1" dirty="0">
              <a:latin typeface="+mn-lt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0120" y="1537462"/>
            <a:ext cx="9201150" cy="38360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marR="658495" indent="-354965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cs typeface="Carlito"/>
            </a:endParaRPr>
          </a:p>
          <a:p>
            <a:pPr marL="354965" marR="658495" indent="-354965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cs typeface="Carlito"/>
              </a:rPr>
              <a:t>It </a:t>
            </a:r>
            <a:r>
              <a:rPr sz="2800" spc="-5" dirty="0">
                <a:cs typeface="Carlito"/>
              </a:rPr>
              <a:t>usually </a:t>
            </a:r>
            <a:r>
              <a:rPr sz="2800" spc="-15" dirty="0">
                <a:cs typeface="Carlito"/>
              </a:rPr>
              <a:t>follows </a:t>
            </a:r>
            <a:r>
              <a:rPr sz="2800" spc="-10" dirty="0">
                <a:cs typeface="Carlito"/>
              </a:rPr>
              <a:t>acute </a:t>
            </a:r>
            <a:r>
              <a:rPr sz="2800" spc="-5" dirty="0" smtClean="0">
                <a:cs typeface="Carlito"/>
              </a:rPr>
              <a:t>sinusitis</a:t>
            </a:r>
            <a:r>
              <a:rPr lang="en-US" sz="2800" spc="-5" dirty="0" smtClean="0">
                <a:cs typeface="Carlito"/>
              </a:rPr>
              <a:t> that has not been adequately treated</a:t>
            </a:r>
            <a:r>
              <a:rPr lang="en-US" sz="2800" spc="-10" dirty="0" smtClean="0">
                <a:cs typeface="Carlito"/>
              </a:rPr>
              <a:t>,</a:t>
            </a:r>
            <a:r>
              <a:rPr sz="2800" spc="-10" dirty="0" smtClean="0">
                <a:cs typeface="Carlito"/>
              </a:rPr>
              <a:t> </a:t>
            </a:r>
            <a:r>
              <a:rPr sz="2800" spc="-5" dirty="0">
                <a:cs typeface="Carlito"/>
              </a:rPr>
              <a:t>or </a:t>
            </a:r>
            <a:r>
              <a:rPr sz="2800" dirty="0">
                <a:cs typeface="Carlito"/>
              </a:rPr>
              <a:t>it </a:t>
            </a:r>
            <a:r>
              <a:rPr sz="2800" spc="-20" dirty="0">
                <a:cs typeface="Carlito"/>
              </a:rPr>
              <a:t>may </a:t>
            </a:r>
            <a:r>
              <a:rPr sz="2800" dirty="0">
                <a:cs typeface="Carlito"/>
              </a:rPr>
              <a:t>also </a:t>
            </a:r>
            <a:r>
              <a:rPr sz="2800" spc="-15" dirty="0">
                <a:cs typeface="Carlito"/>
              </a:rPr>
              <a:t>follow </a:t>
            </a:r>
            <a:r>
              <a:rPr sz="2800" dirty="0">
                <a:cs typeface="Carlito"/>
              </a:rPr>
              <a:t>a </a:t>
            </a:r>
            <a:r>
              <a:rPr sz="2800" spc="-10" dirty="0">
                <a:cs typeface="Carlito"/>
              </a:rPr>
              <a:t>cold </a:t>
            </a:r>
            <a:r>
              <a:rPr sz="2800" spc="-5" dirty="0">
                <a:cs typeface="Carlito"/>
              </a:rPr>
              <a:t>or</a:t>
            </a:r>
            <a:r>
              <a:rPr lang="en-US" sz="2800" spc="-5" dirty="0">
                <a:cs typeface="Carlito"/>
              </a:rPr>
              <a:t> </a:t>
            </a:r>
            <a:r>
              <a:rPr sz="2800" spc="-10" dirty="0">
                <a:cs typeface="Carlito"/>
              </a:rPr>
              <a:t>tooth</a:t>
            </a:r>
            <a:r>
              <a:rPr sz="2800" spc="-25" dirty="0">
                <a:cs typeface="Carlito"/>
              </a:rPr>
              <a:t> </a:t>
            </a:r>
            <a:r>
              <a:rPr sz="2800" spc="-10" dirty="0">
                <a:cs typeface="Carlito"/>
              </a:rPr>
              <a:t>infection.</a:t>
            </a:r>
            <a:endParaRPr sz="2800" dirty="0">
              <a:cs typeface="Carlito"/>
            </a:endParaRPr>
          </a:p>
          <a:p>
            <a:pPr marL="354965" marR="760095" indent="-354965">
              <a:lnSpc>
                <a:spcPct val="8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cs typeface="Carlito"/>
              </a:rPr>
              <a:t>It </a:t>
            </a:r>
            <a:r>
              <a:rPr sz="2800" spc="-15" dirty="0">
                <a:cs typeface="Carlito"/>
              </a:rPr>
              <a:t>occurs </a:t>
            </a:r>
            <a:r>
              <a:rPr sz="2800" dirty="0">
                <a:cs typeface="Carlito"/>
              </a:rPr>
              <a:t>when the </a:t>
            </a:r>
            <a:r>
              <a:rPr lang="en-US" sz="2800" spc="-5" dirty="0">
                <a:cs typeface="Carlito"/>
              </a:rPr>
              <a:t>self-cleansing</a:t>
            </a:r>
            <a:r>
              <a:rPr sz="2800" dirty="0">
                <a:cs typeface="Carlito"/>
              </a:rPr>
              <a:t> mechanism </a:t>
            </a:r>
            <a:r>
              <a:rPr sz="2800" spc="-5" dirty="0">
                <a:cs typeface="Carlito"/>
              </a:rPr>
              <a:t>of</a:t>
            </a:r>
            <a:r>
              <a:rPr sz="2800" spc="-175" dirty="0">
                <a:cs typeface="Carlito"/>
              </a:rPr>
              <a:t> </a:t>
            </a:r>
            <a:r>
              <a:rPr lang="en-US" sz="2800" spc="-175" dirty="0">
                <a:cs typeface="Carlito"/>
              </a:rPr>
              <a:t>the </a:t>
            </a:r>
            <a:r>
              <a:rPr sz="2800" spc="-5" dirty="0">
                <a:cs typeface="Carlito"/>
              </a:rPr>
              <a:t>nose</a:t>
            </a:r>
            <a:r>
              <a:rPr lang="en-US" sz="2800" spc="-5" dirty="0">
                <a:cs typeface="Carlito"/>
              </a:rPr>
              <a:t> </a:t>
            </a:r>
            <a:r>
              <a:rPr sz="2800" dirty="0">
                <a:cs typeface="Carlito"/>
              </a:rPr>
              <a:t>and </a:t>
            </a:r>
            <a:r>
              <a:rPr sz="2800" spc="-10" dirty="0">
                <a:cs typeface="Carlito"/>
              </a:rPr>
              <a:t>paranasal </a:t>
            </a:r>
            <a:r>
              <a:rPr sz="2800" spc="-5" dirty="0">
                <a:cs typeface="Carlito"/>
              </a:rPr>
              <a:t>sinuses </a:t>
            </a:r>
            <a:r>
              <a:rPr sz="2800" spc="-10" dirty="0">
                <a:cs typeface="Carlito"/>
              </a:rPr>
              <a:t>gets</a:t>
            </a:r>
            <a:r>
              <a:rPr sz="2800" spc="-90" dirty="0">
                <a:cs typeface="Carlito"/>
              </a:rPr>
              <a:t> </a:t>
            </a:r>
            <a:r>
              <a:rPr sz="2800" spc="-5" dirty="0">
                <a:cs typeface="Carlito"/>
              </a:rPr>
              <a:t>impaired.</a:t>
            </a:r>
            <a:endParaRPr sz="2800" dirty="0">
              <a:cs typeface="Carlito"/>
            </a:endParaRPr>
          </a:p>
          <a:p>
            <a:pPr marL="433070" indent="-421005">
              <a:buFont typeface="Arial"/>
              <a:buChar char="•"/>
              <a:tabLst>
                <a:tab pos="433070" algn="l"/>
                <a:tab pos="433705" algn="l"/>
              </a:tabLst>
            </a:pPr>
            <a:r>
              <a:rPr lang="en-US" sz="2800" spc="-5" dirty="0">
                <a:cs typeface="Carlito"/>
              </a:rPr>
              <a:t>The maxillary</a:t>
            </a:r>
            <a:r>
              <a:rPr sz="2800" spc="-5" dirty="0">
                <a:cs typeface="Carlito"/>
              </a:rPr>
              <a:t> sinus </a:t>
            </a:r>
            <a:r>
              <a:rPr sz="2800" dirty="0">
                <a:cs typeface="Carlito"/>
              </a:rPr>
              <a:t>is </a:t>
            </a:r>
            <a:r>
              <a:rPr sz="2800" spc="-10" dirty="0">
                <a:cs typeface="Carlito"/>
              </a:rPr>
              <a:t>most commonly</a:t>
            </a:r>
            <a:r>
              <a:rPr sz="2800" dirty="0">
                <a:cs typeface="Carlito"/>
              </a:rPr>
              <a:t> </a:t>
            </a:r>
            <a:r>
              <a:rPr sz="2800" spc="-15" dirty="0">
                <a:cs typeface="Carlito"/>
              </a:rPr>
              <a:t>involved.</a:t>
            </a:r>
            <a:endParaRPr sz="2800" dirty="0">
              <a:cs typeface="Carlito"/>
            </a:endParaRPr>
          </a:p>
          <a:p>
            <a:pPr marL="354965" marR="5080" indent="-354965">
              <a:lnSpc>
                <a:spcPct val="8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 smtClean="0">
                <a:cs typeface="Carlito"/>
              </a:rPr>
              <a:t>Organisms</a:t>
            </a:r>
            <a:r>
              <a:rPr lang="en-US" sz="2800" spc="-15" dirty="0" smtClean="0">
                <a:cs typeface="Carlito"/>
              </a:rPr>
              <a:t> isolated i</a:t>
            </a:r>
            <a:r>
              <a:rPr lang="en-US" sz="2800" spc="-10" dirty="0" smtClean="0">
                <a:cs typeface="Carlito"/>
              </a:rPr>
              <a:t>n CRS include</a:t>
            </a:r>
            <a:r>
              <a:rPr lang="en-US" sz="2800" spc="-15" dirty="0" smtClean="0">
                <a:cs typeface="Carlito"/>
              </a:rPr>
              <a:t> </a:t>
            </a:r>
            <a:r>
              <a:rPr lang="en-US" sz="2800" spc="-15" dirty="0">
                <a:cs typeface="Carlito"/>
              </a:rPr>
              <a:t>Staphylococcus aureus, Pseudomonas aeruginosa, </a:t>
            </a:r>
            <a:r>
              <a:rPr lang="en-US" sz="2800" spc="-15" dirty="0" err="1">
                <a:cs typeface="Carlito"/>
              </a:rPr>
              <a:t>Klebsiella</a:t>
            </a:r>
            <a:r>
              <a:rPr lang="en-US" sz="2800" spc="-15" dirty="0">
                <a:cs typeface="Carlito"/>
              </a:rPr>
              <a:t> </a:t>
            </a:r>
            <a:r>
              <a:rPr lang="en-US" sz="2800" spc="-15" dirty="0" err="1">
                <a:cs typeface="Carlito"/>
              </a:rPr>
              <a:t>pneumoniae</a:t>
            </a:r>
            <a:r>
              <a:rPr lang="en-US" sz="2800" spc="-15" dirty="0">
                <a:cs typeface="Carlito"/>
              </a:rPr>
              <a:t>, and </a:t>
            </a:r>
            <a:r>
              <a:rPr sz="2800" dirty="0" smtClean="0">
                <a:cs typeface="Carlito"/>
              </a:rPr>
              <a:t> </a:t>
            </a:r>
            <a:r>
              <a:rPr sz="2800" spc="-5" dirty="0">
                <a:cs typeface="Carlito"/>
              </a:rPr>
              <a:t>Escherichia </a:t>
            </a:r>
            <a:r>
              <a:rPr sz="2800" spc="-10" dirty="0">
                <a:cs typeface="Carlito"/>
              </a:rPr>
              <a:t>coli. Anaerobic </a:t>
            </a:r>
            <a:r>
              <a:rPr sz="2800" spc="-15" dirty="0">
                <a:cs typeface="Carlito"/>
              </a:rPr>
              <a:t>organisms are </a:t>
            </a:r>
            <a:r>
              <a:rPr sz="2800" dirty="0">
                <a:cs typeface="Carlito"/>
              </a:rPr>
              <a:t>also</a:t>
            </a:r>
            <a:r>
              <a:rPr sz="2800" spc="-25" dirty="0">
                <a:cs typeface="Carlito"/>
              </a:rPr>
              <a:t> </a:t>
            </a:r>
            <a:r>
              <a:rPr sz="2800" spc="-15" dirty="0">
                <a:cs typeface="Carlito"/>
              </a:rPr>
              <a:t>found.</a:t>
            </a:r>
            <a:endParaRPr sz="2800" dirty="0">
              <a:cs typeface="Carlito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4CDE-E502-49A0-8756-B30970581636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48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669" y="76200"/>
            <a:ext cx="8594091" cy="154228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Carlito"/>
                <a:cs typeface="Carlito"/>
              </a:rPr>
              <a:t/>
            </a:r>
            <a:br>
              <a:rPr lang="en-US" sz="3600" b="1" dirty="0" smtClean="0">
                <a:latin typeface="Carlito"/>
                <a:cs typeface="Carlito"/>
              </a:rPr>
            </a:br>
            <a:r>
              <a:rPr lang="en-US" sz="3600" b="1" dirty="0" smtClean="0">
                <a:latin typeface="Carlito"/>
                <a:cs typeface="Carlito"/>
              </a:rPr>
              <a:t>Classification(Sub-types </a:t>
            </a:r>
            <a:r>
              <a:rPr lang="en-US" sz="3600" b="1" dirty="0">
                <a:latin typeface="Carlito"/>
                <a:cs typeface="Carlito"/>
              </a:rPr>
              <a:t>of CRS)</a:t>
            </a:r>
            <a:endParaRPr lang="en-US" sz="3600" b="1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58669" y="1397631"/>
            <a:ext cx="8074660" cy="4688463"/>
          </a:xfrm>
        </p:spPr>
        <p:txBody>
          <a:bodyPr>
            <a:normAutofit fontScale="92500" lnSpcReduction="10000"/>
          </a:bodyPr>
          <a:lstStyle/>
          <a:p>
            <a:pPr marL="486409">
              <a:lnSpc>
                <a:spcPct val="100000"/>
              </a:lnSpc>
              <a:spcBef>
                <a:spcPts val="385"/>
              </a:spcBef>
              <a:tabLst>
                <a:tab pos="771525" algn="l"/>
              </a:tabLst>
            </a:pPr>
            <a:endParaRPr lang="en-US" b="1" u="sng" spc="10" dirty="0" smtClean="0">
              <a:solidFill>
                <a:srgbClr val="C00000"/>
              </a:solidFill>
              <a:latin typeface="Verdana"/>
              <a:cs typeface="Verdana"/>
            </a:endParaRPr>
          </a:p>
          <a:p>
            <a:pPr marL="257809" indent="0">
              <a:lnSpc>
                <a:spcPct val="100000"/>
              </a:lnSpc>
              <a:spcBef>
                <a:spcPts val="385"/>
              </a:spcBef>
              <a:buNone/>
              <a:tabLst>
                <a:tab pos="771525" algn="l"/>
              </a:tabLst>
            </a:pPr>
            <a:r>
              <a:rPr lang="en-US" b="1" u="sng" spc="10" dirty="0" err="1" smtClean="0">
                <a:solidFill>
                  <a:srgbClr val="C00000"/>
                </a:solidFill>
                <a:latin typeface="Verdana"/>
                <a:cs typeface="Verdana"/>
              </a:rPr>
              <a:t>CRSsNP</a:t>
            </a:r>
            <a:r>
              <a:rPr lang="en-US" b="1" u="sng" spc="10" dirty="0" smtClean="0">
                <a:solidFill>
                  <a:srgbClr val="C00000"/>
                </a:solidFill>
                <a:latin typeface="Verdana"/>
                <a:cs typeface="Verdana"/>
              </a:rPr>
              <a:t>-without </a:t>
            </a:r>
            <a:r>
              <a:rPr lang="en-US" b="1" u="sng" spc="10" dirty="0">
                <a:solidFill>
                  <a:srgbClr val="C00000"/>
                </a:solidFill>
                <a:latin typeface="Verdana"/>
                <a:cs typeface="Verdana"/>
              </a:rPr>
              <a:t>polyp</a:t>
            </a:r>
          </a:p>
          <a:p>
            <a:pPr marL="314959" indent="0">
              <a:lnSpc>
                <a:spcPct val="100000"/>
              </a:lnSpc>
              <a:spcBef>
                <a:spcPts val="385"/>
              </a:spcBef>
              <a:buNone/>
              <a:tabLst>
                <a:tab pos="771525" algn="l"/>
              </a:tabLst>
            </a:pPr>
            <a:r>
              <a:rPr lang="en-US" sz="2250" spc="10" dirty="0">
                <a:latin typeface="Verdana"/>
                <a:cs typeface="Verdana"/>
              </a:rPr>
              <a:t>-</a:t>
            </a:r>
            <a:r>
              <a:rPr lang="en-US" spc="30" dirty="0">
                <a:latin typeface="Verdana"/>
                <a:cs typeface="Verdana"/>
              </a:rPr>
              <a:t>Faci</a:t>
            </a:r>
            <a:r>
              <a:rPr lang="en-US" spc="5" dirty="0">
                <a:latin typeface="Verdana"/>
                <a:cs typeface="Verdana"/>
              </a:rPr>
              <a:t>al</a:t>
            </a:r>
            <a:r>
              <a:rPr lang="en-US" spc="-240" dirty="0">
                <a:latin typeface="Verdana"/>
                <a:cs typeface="Verdana"/>
              </a:rPr>
              <a:t> </a:t>
            </a:r>
            <a:r>
              <a:rPr lang="en-US" spc="60" dirty="0">
                <a:latin typeface="Verdana"/>
                <a:cs typeface="Verdana"/>
              </a:rPr>
              <a:t>pa</a:t>
            </a:r>
            <a:r>
              <a:rPr lang="en-US" spc="45" dirty="0">
                <a:latin typeface="Verdana"/>
                <a:cs typeface="Verdana"/>
              </a:rPr>
              <a:t>i</a:t>
            </a:r>
            <a:r>
              <a:rPr lang="en-US" spc="-135" dirty="0">
                <a:latin typeface="Verdana"/>
                <a:cs typeface="Verdana"/>
              </a:rPr>
              <a:t>n,</a:t>
            </a:r>
            <a:r>
              <a:rPr lang="en-US" spc="-210" dirty="0">
                <a:latin typeface="Verdana"/>
                <a:cs typeface="Verdana"/>
              </a:rPr>
              <a:t> </a:t>
            </a:r>
            <a:r>
              <a:rPr lang="en-US" spc="130" dirty="0">
                <a:latin typeface="Verdana"/>
                <a:cs typeface="Verdana"/>
              </a:rPr>
              <a:t>p</a:t>
            </a:r>
            <a:r>
              <a:rPr lang="en-US" spc="-170" dirty="0">
                <a:latin typeface="Verdana"/>
                <a:cs typeface="Verdana"/>
              </a:rPr>
              <a:t>ress</a:t>
            </a:r>
            <a:r>
              <a:rPr lang="en-US" spc="-195" dirty="0">
                <a:latin typeface="Verdana"/>
                <a:cs typeface="Verdana"/>
              </a:rPr>
              <a:t>u</a:t>
            </a:r>
            <a:r>
              <a:rPr lang="en-US" spc="-130" dirty="0">
                <a:latin typeface="Verdana"/>
                <a:cs typeface="Verdana"/>
              </a:rPr>
              <a:t>re,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5" dirty="0">
                <a:latin typeface="Verdana"/>
                <a:cs typeface="Verdana"/>
              </a:rPr>
              <a:t>and/or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-75" dirty="0">
                <a:latin typeface="Verdana"/>
                <a:cs typeface="Verdana"/>
              </a:rPr>
              <a:t>fu</a:t>
            </a:r>
            <a:r>
              <a:rPr lang="en-US" spc="-160" dirty="0">
                <a:latin typeface="Verdana"/>
                <a:cs typeface="Verdana"/>
              </a:rPr>
              <a:t>llness</a:t>
            </a:r>
            <a:endParaRPr lang="en-US" dirty="0">
              <a:latin typeface="Verdana"/>
              <a:cs typeface="Verdana"/>
            </a:endParaRPr>
          </a:p>
          <a:p>
            <a:pPr marL="486410" marR="233679" indent="0">
              <a:lnSpc>
                <a:spcPts val="2590"/>
              </a:lnSpc>
              <a:spcBef>
                <a:spcPts val="615"/>
              </a:spcBef>
              <a:buNone/>
              <a:tabLst>
                <a:tab pos="771525" algn="l"/>
              </a:tabLst>
            </a:pPr>
            <a:r>
              <a:rPr lang="en-US" sz="2250" spc="10" dirty="0">
                <a:latin typeface="Verdana"/>
                <a:cs typeface="Verdana"/>
              </a:rPr>
              <a:t>	</a:t>
            </a:r>
            <a:r>
              <a:rPr lang="en-US" spc="45" dirty="0">
                <a:latin typeface="Verdana"/>
                <a:cs typeface="Verdana"/>
              </a:rPr>
              <a:t>Org</a:t>
            </a:r>
            <a:r>
              <a:rPr lang="en-US" spc="55" dirty="0">
                <a:latin typeface="Verdana"/>
                <a:cs typeface="Verdana"/>
              </a:rPr>
              <a:t>a</a:t>
            </a:r>
            <a:r>
              <a:rPr lang="en-US" spc="-165" dirty="0">
                <a:latin typeface="Verdana"/>
                <a:cs typeface="Verdana"/>
              </a:rPr>
              <a:t>n</a:t>
            </a:r>
            <a:r>
              <a:rPr lang="en-US" spc="-55" dirty="0">
                <a:latin typeface="Verdana"/>
                <a:cs typeface="Verdana"/>
              </a:rPr>
              <a:t>i</a:t>
            </a:r>
            <a:r>
              <a:rPr lang="en-US" spc="-150" dirty="0">
                <a:latin typeface="Verdana"/>
                <a:cs typeface="Verdana"/>
              </a:rPr>
              <a:t>s</a:t>
            </a:r>
            <a:r>
              <a:rPr lang="en-US" spc="-265" dirty="0">
                <a:latin typeface="Verdana"/>
                <a:cs typeface="Verdana"/>
              </a:rPr>
              <a:t>m</a:t>
            </a:r>
            <a:r>
              <a:rPr lang="en-US" spc="-235" dirty="0">
                <a:latin typeface="Verdana"/>
                <a:cs typeface="Verdana"/>
              </a:rPr>
              <a:t> </a:t>
            </a:r>
            <a:r>
              <a:rPr lang="en-US" spc="-430" dirty="0">
                <a:latin typeface="Verdana"/>
                <a:cs typeface="Verdana"/>
              </a:rPr>
              <a:t>: 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-434" dirty="0">
                <a:latin typeface="Verdana"/>
                <a:cs typeface="Verdana"/>
              </a:rPr>
              <a:t>S</a:t>
            </a:r>
            <a:r>
              <a:rPr lang="en-US" spc="-245" dirty="0">
                <a:latin typeface="Verdana"/>
                <a:cs typeface="Verdana"/>
              </a:rPr>
              <a:t>.</a:t>
            </a:r>
            <a:r>
              <a:rPr lang="en-US" spc="-15" dirty="0">
                <a:latin typeface="Verdana"/>
                <a:cs typeface="Verdana"/>
              </a:rPr>
              <a:t>pneumon</a:t>
            </a:r>
            <a:r>
              <a:rPr lang="en-US" spc="20" dirty="0">
                <a:latin typeface="Verdana"/>
                <a:cs typeface="Verdana"/>
              </a:rPr>
              <a:t>i</a:t>
            </a:r>
            <a:r>
              <a:rPr lang="en-US" spc="155" dirty="0">
                <a:latin typeface="Verdana"/>
                <a:cs typeface="Verdana"/>
              </a:rPr>
              <a:t>a</a:t>
            </a:r>
            <a:r>
              <a:rPr lang="en-US" spc="175" dirty="0">
                <a:latin typeface="Verdana"/>
                <a:cs typeface="Verdana"/>
              </a:rPr>
              <a:t>e</a:t>
            </a:r>
            <a:r>
              <a:rPr lang="en-US" spc="-210" dirty="0">
                <a:latin typeface="Verdana"/>
                <a:cs typeface="Verdana"/>
              </a:rPr>
              <a:t>,</a:t>
            </a:r>
            <a:r>
              <a:rPr lang="en-US" spc="-204" dirty="0">
                <a:latin typeface="Verdana"/>
                <a:cs typeface="Verdana"/>
              </a:rPr>
              <a:t> </a:t>
            </a:r>
            <a:r>
              <a:rPr lang="en-US" spc="-260" dirty="0">
                <a:latin typeface="Verdana"/>
                <a:cs typeface="Verdana"/>
              </a:rPr>
              <a:t>H</a:t>
            </a:r>
            <a:r>
              <a:rPr lang="en-US" spc="-140" dirty="0">
                <a:latin typeface="Verdana"/>
                <a:cs typeface="Verdana"/>
              </a:rPr>
              <a:t>.</a:t>
            </a:r>
            <a:r>
              <a:rPr lang="en-US" spc="-160" dirty="0">
                <a:latin typeface="Verdana"/>
                <a:cs typeface="Verdana"/>
              </a:rPr>
              <a:t>i</a:t>
            </a:r>
            <a:r>
              <a:rPr lang="en-US" spc="-50" dirty="0">
                <a:latin typeface="Verdana"/>
                <a:cs typeface="Verdana"/>
              </a:rPr>
              <a:t>nflu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5" dirty="0">
                <a:latin typeface="Verdana"/>
                <a:cs typeface="Verdana"/>
              </a:rPr>
              <a:t>nza</a:t>
            </a:r>
            <a:r>
              <a:rPr lang="en-US" spc="10" dirty="0">
                <a:latin typeface="Verdana"/>
                <a:cs typeface="Verdana"/>
              </a:rPr>
              <a:t>e</a:t>
            </a:r>
            <a:r>
              <a:rPr lang="en-US" spc="-204" dirty="0">
                <a:latin typeface="Verdana"/>
                <a:cs typeface="Verdana"/>
              </a:rPr>
              <a:t>,  </a:t>
            </a:r>
            <a:r>
              <a:rPr lang="en-US" spc="-60" dirty="0">
                <a:latin typeface="Verdana"/>
                <a:cs typeface="Verdana"/>
              </a:rPr>
              <a:t>M.catarrhalis,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-60" dirty="0">
                <a:latin typeface="Verdana"/>
                <a:cs typeface="Verdana"/>
              </a:rPr>
              <a:t>S.aureus, </a:t>
            </a:r>
            <a:r>
              <a:rPr lang="en-US" spc="-60" dirty="0" err="1">
                <a:latin typeface="Verdana"/>
                <a:cs typeface="Verdana"/>
              </a:rPr>
              <a:t>S.coagulase</a:t>
            </a:r>
            <a:r>
              <a:rPr lang="en-US" spc="-60" dirty="0">
                <a:latin typeface="Verdana"/>
                <a:cs typeface="Verdana"/>
              </a:rPr>
              <a:t>-negative</a:t>
            </a:r>
            <a:endParaRPr lang="en-US" dirty="0" smtClean="0">
              <a:latin typeface="Verdana"/>
              <a:cs typeface="Verdana"/>
            </a:endParaRPr>
          </a:p>
          <a:p>
            <a:pPr marL="314959" indent="0">
              <a:lnSpc>
                <a:spcPct val="100000"/>
              </a:lnSpc>
              <a:spcBef>
                <a:spcPts val="254"/>
              </a:spcBef>
              <a:buNone/>
              <a:tabLst>
                <a:tab pos="771525" algn="l"/>
              </a:tabLst>
            </a:pPr>
            <a:r>
              <a:rPr lang="en-US" sz="2250" spc="10" dirty="0">
                <a:latin typeface="Verdana"/>
                <a:cs typeface="Verdana"/>
              </a:rPr>
              <a:t>-</a:t>
            </a:r>
            <a:r>
              <a:rPr lang="en-US" spc="35" dirty="0">
                <a:latin typeface="Verdana"/>
                <a:cs typeface="Verdana"/>
              </a:rPr>
              <a:t>G</a:t>
            </a:r>
            <a:r>
              <a:rPr lang="en-US" dirty="0" smtClean="0">
                <a:latin typeface="Verdana"/>
                <a:cs typeface="Verdana"/>
              </a:rPr>
              <a:t>l</a:t>
            </a:r>
            <a:r>
              <a:rPr lang="en-US" spc="-15" dirty="0">
                <a:latin typeface="Verdana"/>
                <a:cs typeface="Verdana"/>
              </a:rPr>
              <a:t>andula</a:t>
            </a:r>
            <a:r>
              <a:rPr lang="en-US" spc="-5" dirty="0">
                <a:latin typeface="Verdana"/>
                <a:cs typeface="Verdana"/>
              </a:rPr>
              <a:t>r</a:t>
            </a:r>
            <a:r>
              <a:rPr lang="en-US" spc="-21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hy</a:t>
            </a:r>
            <a:r>
              <a:rPr lang="en-US" spc="-30" dirty="0">
                <a:latin typeface="Verdana"/>
                <a:cs typeface="Verdana"/>
              </a:rPr>
              <a:t>p</a:t>
            </a:r>
            <a:r>
              <a:rPr lang="en-US" spc="-10" dirty="0">
                <a:latin typeface="Verdana"/>
                <a:cs typeface="Verdana"/>
              </a:rPr>
              <a:t>er</a:t>
            </a:r>
            <a:r>
              <a:rPr lang="en-US" spc="-25" dirty="0">
                <a:latin typeface="Verdana"/>
                <a:cs typeface="Verdana"/>
              </a:rPr>
              <a:t>p</a:t>
            </a:r>
            <a:r>
              <a:rPr lang="en-US" spc="-140" dirty="0">
                <a:latin typeface="Verdana"/>
                <a:cs typeface="Verdana"/>
              </a:rPr>
              <a:t>las</a:t>
            </a:r>
            <a:r>
              <a:rPr lang="en-US" spc="-55" dirty="0">
                <a:latin typeface="Verdana"/>
                <a:cs typeface="Verdana"/>
              </a:rPr>
              <a:t>i</a:t>
            </a:r>
            <a:r>
              <a:rPr lang="en-US" spc="195" dirty="0">
                <a:latin typeface="Verdana"/>
                <a:cs typeface="Verdana"/>
              </a:rPr>
              <a:t>a</a:t>
            </a:r>
            <a:r>
              <a:rPr lang="en-US" spc="-210" dirty="0">
                <a:latin typeface="Verdana"/>
                <a:cs typeface="Verdana"/>
              </a:rPr>
              <a:t> </a:t>
            </a:r>
            <a:r>
              <a:rPr lang="en-US" spc="90" dirty="0">
                <a:latin typeface="Verdana"/>
                <a:cs typeface="Verdana"/>
              </a:rPr>
              <a:t>an</a:t>
            </a:r>
            <a:r>
              <a:rPr lang="en-US" spc="95" dirty="0">
                <a:latin typeface="Verdana"/>
                <a:cs typeface="Verdana"/>
              </a:rPr>
              <a:t>d</a:t>
            </a:r>
            <a:r>
              <a:rPr lang="en-US" spc="-175" dirty="0">
                <a:latin typeface="Verdana"/>
                <a:cs typeface="Verdana"/>
              </a:rPr>
              <a:t> s</a:t>
            </a:r>
            <a:r>
              <a:rPr lang="en-US" spc="-210" dirty="0">
                <a:latin typeface="Verdana"/>
                <a:cs typeface="Verdana"/>
              </a:rPr>
              <a:t>u</a:t>
            </a:r>
            <a:r>
              <a:rPr lang="en-US" spc="80" dirty="0">
                <a:latin typeface="Verdana"/>
                <a:cs typeface="Verdana"/>
              </a:rPr>
              <a:t>bmuc</a:t>
            </a:r>
            <a:r>
              <a:rPr lang="en-US" spc="65" dirty="0">
                <a:latin typeface="Verdana"/>
                <a:cs typeface="Verdana"/>
              </a:rPr>
              <a:t>o</a:t>
            </a:r>
            <a:r>
              <a:rPr lang="en-US" spc="-125" dirty="0">
                <a:latin typeface="Verdana"/>
                <a:cs typeface="Verdana"/>
              </a:rPr>
              <a:t>sa</a:t>
            </a:r>
            <a:r>
              <a:rPr lang="en-US" spc="-60" dirty="0">
                <a:latin typeface="Verdana"/>
                <a:cs typeface="Verdana"/>
              </a:rPr>
              <a:t>l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-150" dirty="0">
                <a:latin typeface="Verdana"/>
                <a:cs typeface="Verdana"/>
              </a:rPr>
              <a:t>f</a:t>
            </a:r>
            <a:r>
              <a:rPr lang="en-US" spc="-100" dirty="0">
                <a:latin typeface="Verdana"/>
                <a:cs typeface="Verdana"/>
              </a:rPr>
              <a:t>ib</a:t>
            </a:r>
            <a:r>
              <a:rPr lang="en-US" spc="-75" dirty="0">
                <a:latin typeface="Verdana"/>
                <a:cs typeface="Verdana"/>
              </a:rPr>
              <a:t>r</a:t>
            </a:r>
            <a:r>
              <a:rPr lang="en-US" spc="-155" dirty="0">
                <a:latin typeface="Verdana"/>
                <a:cs typeface="Verdana"/>
              </a:rPr>
              <a:t>os</a:t>
            </a:r>
            <a:r>
              <a:rPr lang="en-US" spc="-55" dirty="0">
                <a:latin typeface="Verdana"/>
                <a:cs typeface="Verdana"/>
              </a:rPr>
              <a:t>i</a:t>
            </a:r>
            <a:r>
              <a:rPr lang="en-US" spc="-320" dirty="0">
                <a:latin typeface="Verdana"/>
                <a:cs typeface="Verdana"/>
              </a:rPr>
              <a:t>s</a:t>
            </a:r>
            <a:endParaRPr lang="en-US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b="1" u="sng" spc="30" dirty="0" err="1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lang="en-US" b="1" u="sng" spc="15" dirty="0" err="1">
                <a:solidFill>
                  <a:srgbClr val="C00000"/>
                </a:solidFill>
                <a:latin typeface="Verdana"/>
                <a:cs typeface="Verdana"/>
              </a:rPr>
              <a:t>R</a:t>
            </a:r>
            <a:r>
              <a:rPr lang="en-US" b="1" u="sng" spc="-65" dirty="0" err="1">
                <a:solidFill>
                  <a:srgbClr val="C00000"/>
                </a:solidFill>
                <a:latin typeface="Verdana"/>
                <a:cs typeface="Verdana"/>
              </a:rPr>
              <a:t>SwN</a:t>
            </a:r>
            <a:r>
              <a:rPr lang="en-US" b="1" u="sng" spc="-55" dirty="0" err="1">
                <a:solidFill>
                  <a:srgbClr val="C00000"/>
                </a:solidFill>
                <a:latin typeface="Verdana"/>
                <a:cs typeface="Verdana"/>
              </a:rPr>
              <a:t>P</a:t>
            </a:r>
            <a:r>
              <a:rPr lang="en-US" b="1" u="sng" spc="-180" dirty="0">
                <a:solidFill>
                  <a:srgbClr val="C00000"/>
                </a:solidFill>
                <a:latin typeface="Verdana"/>
                <a:cs typeface="Verdana"/>
              </a:rPr>
              <a:t>-with polyp</a:t>
            </a: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050" spc="15" dirty="0">
                <a:latin typeface="Verdana"/>
                <a:cs typeface="Verdana"/>
              </a:rPr>
              <a:t>       - </a:t>
            </a:r>
            <a:r>
              <a:rPr lang="en-US" sz="2200" spc="-40" dirty="0" err="1">
                <a:latin typeface="Verdana"/>
                <a:cs typeface="Verdana"/>
              </a:rPr>
              <a:t>Hyposmia</a:t>
            </a:r>
            <a:r>
              <a:rPr lang="en-US" sz="2200" spc="-40" dirty="0">
                <a:latin typeface="Verdana"/>
                <a:cs typeface="Verdana"/>
              </a:rPr>
              <a:t>/anosmia</a:t>
            </a:r>
            <a:endParaRPr lang="en-US" sz="22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200" spc="-25" dirty="0">
                <a:latin typeface="Verdana"/>
                <a:cs typeface="Verdana"/>
              </a:rPr>
              <a:t>       -Nasal</a:t>
            </a:r>
            <a:r>
              <a:rPr lang="en-US" sz="2200" spc="-175" dirty="0">
                <a:latin typeface="Verdana"/>
                <a:cs typeface="Verdana"/>
              </a:rPr>
              <a:t> </a:t>
            </a:r>
            <a:r>
              <a:rPr lang="en-US" sz="2200" spc="20" dirty="0">
                <a:latin typeface="Verdana"/>
                <a:cs typeface="Verdana"/>
              </a:rPr>
              <a:t>po</a:t>
            </a:r>
            <a:r>
              <a:rPr lang="en-US" sz="2200" spc="15" dirty="0">
                <a:latin typeface="Verdana"/>
                <a:cs typeface="Verdana"/>
              </a:rPr>
              <a:t>l</a:t>
            </a:r>
            <a:r>
              <a:rPr lang="en-US" sz="2200" spc="-140" dirty="0">
                <a:latin typeface="Verdana"/>
                <a:cs typeface="Verdana"/>
              </a:rPr>
              <a:t>y</a:t>
            </a:r>
            <a:r>
              <a:rPr lang="en-US" sz="2200" spc="-100" dirty="0">
                <a:latin typeface="Verdana"/>
                <a:cs typeface="Verdana"/>
              </a:rPr>
              <a:t>p</a:t>
            </a:r>
            <a:r>
              <a:rPr lang="en-US" sz="2200" spc="-80" dirty="0">
                <a:latin typeface="Verdana"/>
                <a:cs typeface="Verdana"/>
              </a:rPr>
              <a:t>s</a:t>
            </a:r>
            <a:r>
              <a:rPr lang="en-US" sz="2200" spc="-170" dirty="0">
                <a:latin typeface="Verdana"/>
                <a:cs typeface="Verdana"/>
              </a:rPr>
              <a:t> </a:t>
            </a:r>
            <a:r>
              <a:rPr lang="en-US" sz="2200" dirty="0">
                <a:latin typeface="Verdana"/>
                <a:cs typeface="Verdana"/>
              </a:rPr>
              <a:t>ar</a:t>
            </a:r>
            <a:r>
              <a:rPr lang="en-US" sz="2200" spc="5" dirty="0">
                <a:latin typeface="Verdana"/>
                <a:cs typeface="Verdana"/>
              </a:rPr>
              <a:t>e</a:t>
            </a:r>
            <a:r>
              <a:rPr lang="en-US" sz="2200" spc="-160" dirty="0">
                <a:latin typeface="Verdana"/>
                <a:cs typeface="Verdana"/>
              </a:rPr>
              <a:t> </a:t>
            </a:r>
            <a:r>
              <a:rPr lang="en-US" sz="2200" spc="-120" dirty="0">
                <a:latin typeface="Verdana"/>
                <a:cs typeface="Verdana"/>
              </a:rPr>
              <a:t>t</a:t>
            </a:r>
            <a:r>
              <a:rPr lang="en-US" sz="2200" spc="-140" dirty="0">
                <a:latin typeface="Verdana"/>
                <a:cs typeface="Verdana"/>
              </a:rPr>
              <a:t>y</a:t>
            </a:r>
            <a:r>
              <a:rPr lang="en-US" sz="2200" spc="-35" dirty="0">
                <a:latin typeface="Verdana"/>
                <a:cs typeface="Verdana"/>
              </a:rPr>
              <a:t>p</a:t>
            </a:r>
            <a:r>
              <a:rPr lang="en-US" sz="2200" dirty="0">
                <a:latin typeface="Verdana"/>
                <a:cs typeface="Verdana"/>
              </a:rPr>
              <a:t>ically</a:t>
            </a:r>
            <a:r>
              <a:rPr lang="en-US" sz="2200" spc="-185" dirty="0">
                <a:latin typeface="Verdana"/>
                <a:cs typeface="Verdana"/>
              </a:rPr>
              <a:t> </a:t>
            </a:r>
            <a:r>
              <a:rPr lang="en-US" sz="2200" spc="-35" dirty="0">
                <a:latin typeface="Verdana"/>
                <a:cs typeface="Verdana"/>
              </a:rPr>
              <a:t>b</a:t>
            </a:r>
            <a:r>
              <a:rPr lang="en-US" sz="2200" dirty="0">
                <a:latin typeface="Verdana"/>
                <a:cs typeface="Verdana"/>
              </a:rPr>
              <a:t>i</a:t>
            </a:r>
            <a:r>
              <a:rPr lang="en-US" sz="2200" spc="-45" dirty="0">
                <a:latin typeface="Verdana"/>
                <a:cs typeface="Verdana"/>
              </a:rPr>
              <a:t>la</a:t>
            </a:r>
            <a:r>
              <a:rPr lang="en-US" sz="2200" spc="-25" dirty="0">
                <a:latin typeface="Verdana"/>
                <a:cs typeface="Verdana"/>
              </a:rPr>
              <a:t>t</a:t>
            </a:r>
            <a:r>
              <a:rPr lang="en-US" sz="2200" spc="-40" dirty="0">
                <a:latin typeface="Verdana"/>
                <a:cs typeface="Verdana"/>
              </a:rPr>
              <a:t>eral</a:t>
            </a:r>
            <a:endParaRPr lang="en-US" sz="22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200" spc="-10" dirty="0">
                <a:latin typeface="Verdana"/>
                <a:cs typeface="Verdana"/>
              </a:rPr>
              <a:t>asso</a:t>
            </a:r>
            <a:r>
              <a:rPr lang="en-US" sz="2200" spc="-15" dirty="0">
                <a:latin typeface="Verdana"/>
                <a:cs typeface="Verdana"/>
              </a:rPr>
              <a:t>c</a:t>
            </a:r>
            <a:r>
              <a:rPr lang="en-US" sz="2200" spc="-155" dirty="0">
                <a:latin typeface="Verdana"/>
                <a:cs typeface="Verdana"/>
              </a:rPr>
              <a:t>i</a:t>
            </a:r>
            <a:r>
              <a:rPr lang="en-US" sz="2200" spc="30" dirty="0">
                <a:latin typeface="Verdana"/>
                <a:cs typeface="Verdana"/>
              </a:rPr>
              <a:t>a</a:t>
            </a:r>
            <a:r>
              <a:rPr lang="en-US" sz="2200" spc="25" dirty="0">
                <a:latin typeface="Verdana"/>
                <a:cs typeface="Verdana"/>
              </a:rPr>
              <a:t>t</a:t>
            </a:r>
            <a:r>
              <a:rPr lang="en-US" sz="2200" spc="125" dirty="0">
                <a:latin typeface="Verdana"/>
                <a:cs typeface="Verdana"/>
              </a:rPr>
              <a:t>ed</a:t>
            </a:r>
            <a:r>
              <a:rPr lang="en-US" sz="2200" spc="-195" dirty="0">
                <a:latin typeface="Verdana"/>
                <a:cs typeface="Verdana"/>
              </a:rPr>
              <a:t> </a:t>
            </a:r>
            <a:r>
              <a:rPr lang="en-US" sz="2200" spc="-110" dirty="0">
                <a:latin typeface="Verdana"/>
                <a:cs typeface="Verdana"/>
              </a:rPr>
              <a:t>w</a:t>
            </a:r>
            <a:r>
              <a:rPr lang="en-US" sz="2200" spc="-25" dirty="0">
                <a:latin typeface="Verdana"/>
                <a:cs typeface="Verdana"/>
              </a:rPr>
              <a:t>i</a:t>
            </a:r>
            <a:r>
              <a:rPr lang="en-US" sz="2200" spc="-120" dirty="0">
                <a:latin typeface="Verdana"/>
                <a:cs typeface="Verdana"/>
              </a:rPr>
              <a:t>t</a:t>
            </a:r>
            <a:r>
              <a:rPr lang="en-US" sz="2200" spc="-55" dirty="0">
                <a:latin typeface="Verdana"/>
                <a:cs typeface="Verdana"/>
              </a:rPr>
              <a:t>h</a:t>
            </a:r>
            <a:r>
              <a:rPr lang="en-US" sz="2200" spc="-185" dirty="0">
                <a:latin typeface="Verdana"/>
                <a:cs typeface="Verdana"/>
              </a:rPr>
              <a:t> </a:t>
            </a:r>
            <a:r>
              <a:rPr lang="en-US" sz="2200" spc="85" dirty="0">
                <a:latin typeface="Verdana"/>
                <a:cs typeface="Verdana"/>
              </a:rPr>
              <a:t>A</a:t>
            </a:r>
            <a:r>
              <a:rPr lang="en-US" sz="2200" spc="-165" dirty="0">
                <a:latin typeface="Verdana"/>
                <a:cs typeface="Verdana"/>
              </a:rPr>
              <a:t>ERD</a:t>
            </a:r>
            <a:endParaRPr lang="en-US" sz="2200" dirty="0">
              <a:latin typeface="Verdana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200" spc="30" dirty="0">
                <a:latin typeface="Verdana"/>
                <a:cs typeface="Verdana"/>
              </a:rPr>
              <a:t>      -The predominance</a:t>
            </a:r>
            <a:r>
              <a:rPr lang="en-US" sz="2200" spc="-185" dirty="0">
                <a:latin typeface="Verdana"/>
                <a:cs typeface="Verdana"/>
              </a:rPr>
              <a:t> </a:t>
            </a:r>
            <a:r>
              <a:rPr lang="en-US" sz="2200" spc="5" dirty="0">
                <a:latin typeface="Verdana"/>
                <a:cs typeface="Verdana"/>
              </a:rPr>
              <a:t>of</a:t>
            </a:r>
            <a:r>
              <a:rPr lang="en-US" sz="2200" spc="-150" dirty="0">
                <a:latin typeface="Verdana"/>
                <a:cs typeface="Verdana"/>
              </a:rPr>
              <a:t> </a:t>
            </a:r>
            <a:r>
              <a:rPr lang="en-US" sz="2200" spc="-80" dirty="0">
                <a:latin typeface="Verdana"/>
                <a:cs typeface="Verdana"/>
              </a:rPr>
              <a:t>eosinophils,</a:t>
            </a:r>
            <a:r>
              <a:rPr lang="en-US" sz="2200" spc="-200" dirty="0">
                <a:latin typeface="Verdana"/>
                <a:cs typeface="Verdana"/>
              </a:rPr>
              <a:t> </a:t>
            </a:r>
            <a:r>
              <a:rPr lang="en-US" sz="2200" spc="-40" dirty="0">
                <a:latin typeface="Verdana"/>
                <a:cs typeface="Verdana"/>
              </a:rPr>
              <a:t>high</a:t>
            </a:r>
            <a:r>
              <a:rPr lang="en-US" sz="2200" spc="-190" dirty="0">
                <a:latin typeface="Verdana"/>
                <a:cs typeface="Verdana"/>
              </a:rPr>
              <a:t> </a:t>
            </a:r>
            <a:r>
              <a:rPr lang="en-US" sz="2200" spc="-80" dirty="0">
                <a:latin typeface="Verdana"/>
                <a:cs typeface="Verdana"/>
              </a:rPr>
              <a:t>levels</a:t>
            </a:r>
            <a:r>
              <a:rPr lang="en-US" sz="2200" spc="-175" dirty="0">
                <a:latin typeface="Verdana"/>
                <a:cs typeface="Verdana"/>
              </a:rPr>
              <a:t> </a:t>
            </a:r>
            <a:r>
              <a:rPr lang="en-US" sz="2200" spc="5" dirty="0">
                <a:latin typeface="Verdana"/>
                <a:cs typeface="Verdana"/>
              </a:rPr>
              <a:t>of </a:t>
            </a:r>
            <a:r>
              <a:rPr lang="en-US" sz="2200" spc="-760" dirty="0">
                <a:latin typeface="Verdana"/>
                <a:cs typeface="Verdana"/>
              </a:rPr>
              <a:t> </a:t>
            </a:r>
            <a:r>
              <a:rPr lang="en-US" sz="2200" spc="-155" dirty="0">
                <a:latin typeface="Verdana"/>
                <a:cs typeface="Verdana"/>
              </a:rPr>
              <a:t>h</a:t>
            </a:r>
            <a:r>
              <a:rPr lang="en-US" sz="2200" spc="-50" dirty="0">
                <a:latin typeface="Verdana"/>
                <a:cs typeface="Verdana"/>
              </a:rPr>
              <a:t>i</a:t>
            </a:r>
            <a:r>
              <a:rPr lang="en-US" sz="2200" spc="-245" dirty="0">
                <a:latin typeface="Verdana"/>
                <a:cs typeface="Verdana"/>
              </a:rPr>
              <a:t>s</a:t>
            </a:r>
            <a:r>
              <a:rPr lang="en-US" sz="2200" spc="-175" dirty="0">
                <a:latin typeface="Verdana"/>
                <a:cs typeface="Verdana"/>
              </a:rPr>
              <a:t>t</a:t>
            </a:r>
            <a:r>
              <a:rPr lang="en-US" sz="2200" spc="-35" dirty="0">
                <a:latin typeface="Verdana"/>
                <a:cs typeface="Verdana"/>
              </a:rPr>
              <a:t>am</a:t>
            </a:r>
            <a:r>
              <a:rPr lang="en-US" sz="2200" spc="-5" dirty="0">
                <a:latin typeface="Verdana"/>
                <a:cs typeface="Verdana"/>
              </a:rPr>
              <a:t>i</a:t>
            </a:r>
            <a:r>
              <a:rPr lang="en-US" sz="2200" spc="-65" dirty="0">
                <a:latin typeface="Verdana"/>
                <a:cs typeface="Verdana"/>
              </a:rPr>
              <a:t>n</a:t>
            </a:r>
            <a:r>
              <a:rPr lang="en-US" sz="2200" spc="-40" dirty="0">
                <a:latin typeface="Verdana"/>
                <a:cs typeface="Verdana"/>
              </a:rPr>
              <a:t>e,</a:t>
            </a:r>
            <a:r>
              <a:rPr lang="en-US" sz="2200" spc="-204" dirty="0">
                <a:latin typeface="Verdana"/>
                <a:cs typeface="Verdana"/>
              </a:rPr>
              <a:t>   </a:t>
            </a:r>
            <a:r>
              <a:rPr lang="en-US" sz="2200" spc="80" dirty="0">
                <a:latin typeface="Verdana"/>
                <a:cs typeface="Verdana"/>
              </a:rPr>
              <a:t>an</a:t>
            </a:r>
            <a:r>
              <a:rPr lang="en-US" sz="2200" spc="85" dirty="0">
                <a:latin typeface="Verdana"/>
                <a:cs typeface="Verdana"/>
              </a:rPr>
              <a:t>d</a:t>
            </a:r>
            <a:r>
              <a:rPr lang="en-US" sz="2200" spc="-170" dirty="0">
                <a:latin typeface="Verdana"/>
                <a:cs typeface="Verdana"/>
              </a:rPr>
              <a:t> </a:t>
            </a:r>
            <a:r>
              <a:rPr lang="en-US" sz="2200" spc="-434" dirty="0">
                <a:latin typeface="Verdana"/>
                <a:cs typeface="Verdana"/>
              </a:rPr>
              <a:t>T</a:t>
            </a:r>
            <a:r>
              <a:rPr lang="en-US" sz="2200" spc="-45" dirty="0">
                <a:latin typeface="Verdana"/>
                <a:cs typeface="Verdana"/>
              </a:rPr>
              <a:t>h</a:t>
            </a:r>
            <a:r>
              <a:rPr lang="en-US" sz="2200" spc="-185" dirty="0">
                <a:latin typeface="Verdana"/>
                <a:cs typeface="Verdana"/>
              </a:rPr>
              <a:t>2</a:t>
            </a:r>
            <a:r>
              <a:rPr lang="en-US" sz="2200" spc="-145" dirty="0">
                <a:latin typeface="Verdana"/>
                <a:cs typeface="Verdana"/>
              </a:rPr>
              <a:t> </a:t>
            </a:r>
            <a:r>
              <a:rPr lang="en-US" sz="2200" spc="70" dirty="0">
                <a:latin typeface="Verdana"/>
                <a:cs typeface="Verdana"/>
              </a:rPr>
              <a:t>c</a:t>
            </a:r>
            <a:r>
              <a:rPr lang="en-US" sz="2200" spc="55" dirty="0">
                <a:latin typeface="Verdana"/>
                <a:cs typeface="Verdana"/>
              </a:rPr>
              <a:t>y</a:t>
            </a:r>
            <a:r>
              <a:rPr lang="en-US" sz="2200" spc="-120" dirty="0">
                <a:latin typeface="Verdana"/>
                <a:cs typeface="Verdana"/>
              </a:rPr>
              <a:t>t</a:t>
            </a:r>
            <a:r>
              <a:rPr lang="en-US" sz="2200" spc="-110" dirty="0">
                <a:latin typeface="Verdana"/>
                <a:cs typeface="Verdana"/>
              </a:rPr>
              <a:t>ok</a:t>
            </a:r>
            <a:r>
              <a:rPr lang="en-US" sz="2200" spc="-35" dirty="0">
                <a:latin typeface="Verdana"/>
                <a:cs typeface="Verdana"/>
              </a:rPr>
              <a:t>i</a:t>
            </a:r>
            <a:r>
              <a:rPr lang="en-US" sz="2200" spc="-80" dirty="0">
                <a:latin typeface="Verdana"/>
                <a:cs typeface="Verdana"/>
              </a:rPr>
              <a:t>nes</a:t>
            </a:r>
            <a:endParaRPr lang="en-US" sz="2200" dirty="0">
              <a:latin typeface="Verdana"/>
              <a:cs typeface="Verdana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F08A9-B965-4CC9-BE17-A1C3A2EAC9E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71525" marR="5080" lvl="0" indent="-285115">
              <a:lnSpc>
                <a:spcPts val="2590"/>
              </a:lnSpc>
              <a:spcBef>
                <a:spcPts val="425"/>
              </a:spcBef>
              <a:tabLst>
                <a:tab pos="771525" algn="l"/>
                <a:tab pos="7176134" algn="l"/>
              </a:tabLst>
            </a:pPr>
            <a:r>
              <a:rPr lang="en-US" sz="2400" b="1" spc="10" dirty="0" smtClean="0">
                <a:solidFill>
                  <a:srgbClr val="C00000"/>
                </a:solidFill>
                <a:latin typeface="Verdana"/>
                <a:ea typeface="+mn-ea"/>
                <a:cs typeface="Verdana"/>
              </a:rPr>
              <a:t/>
            </a:r>
            <a:br>
              <a:rPr lang="en-US" sz="2400" b="1" spc="10" dirty="0" smtClean="0">
                <a:solidFill>
                  <a:srgbClr val="C00000"/>
                </a:solidFill>
                <a:latin typeface="Verdana"/>
                <a:ea typeface="+mn-ea"/>
                <a:cs typeface="Verdana"/>
              </a:rPr>
            </a:br>
            <a:r>
              <a:rPr lang="en-US" sz="2400" b="1" spc="10" dirty="0" smtClean="0">
                <a:solidFill>
                  <a:srgbClr val="C00000"/>
                </a:solidFill>
                <a:latin typeface="Verdana"/>
                <a:ea typeface="+mn-ea"/>
                <a:cs typeface="Verdana"/>
              </a:rPr>
              <a:t>AFRS(allergic </a:t>
            </a:r>
            <a:r>
              <a:rPr lang="en-US" sz="2400" b="1" spc="10" dirty="0">
                <a:solidFill>
                  <a:srgbClr val="C00000"/>
                </a:solidFill>
                <a:latin typeface="Verdana"/>
                <a:ea typeface="+mn-ea"/>
                <a:cs typeface="Verdana"/>
              </a:rPr>
              <a:t>fungal </a:t>
            </a:r>
            <a:r>
              <a:rPr lang="en-US" sz="2400" b="1" spc="10" dirty="0" err="1">
                <a:solidFill>
                  <a:srgbClr val="C00000"/>
                </a:solidFill>
                <a:latin typeface="Verdana"/>
                <a:ea typeface="+mn-ea"/>
                <a:cs typeface="Verdana"/>
              </a:rPr>
              <a:t>rhinosinusitis</a:t>
            </a:r>
            <a:r>
              <a:rPr lang="en-US" sz="2400" b="1" spc="10" dirty="0">
                <a:solidFill>
                  <a:srgbClr val="C00000"/>
                </a:solidFill>
                <a:latin typeface="Verdana"/>
                <a:ea typeface="+mn-ea"/>
                <a:cs typeface="Verdana"/>
              </a:rPr>
              <a:t>)</a:t>
            </a:r>
            <a:br>
              <a:rPr lang="en-US" sz="2400" b="1" spc="10" dirty="0">
                <a:solidFill>
                  <a:srgbClr val="C00000"/>
                </a:solidFill>
                <a:latin typeface="Verdana"/>
                <a:ea typeface="+mn-ea"/>
                <a:cs typeface="Verdana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14984" y="1397632"/>
            <a:ext cx="10241279" cy="4578689"/>
          </a:xfrm>
        </p:spPr>
        <p:txBody>
          <a:bodyPr>
            <a:normAutofit/>
          </a:bodyPr>
          <a:lstStyle/>
          <a:p>
            <a:pPr marL="486410" marR="5080" indent="0">
              <a:lnSpc>
                <a:spcPts val="2590"/>
              </a:lnSpc>
              <a:spcBef>
                <a:spcPts val="425"/>
              </a:spcBef>
              <a:buNone/>
              <a:tabLst>
                <a:tab pos="771525" algn="l"/>
                <a:tab pos="7176134" algn="l"/>
              </a:tabLst>
            </a:pPr>
            <a:r>
              <a:rPr lang="en-US" spc="-5" dirty="0" smtClean="0">
                <a:cs typeface="Verdana"/>
              </a:rPr>
              <a:t>-Presence </a:t>
            </a:r>
            <a:r>
              <a:rPr lang="en-US" spc="10" dirty="0" smtClean="0">
                <a:cs typeface="Verdana"/>
              </a:rPr>
              <a:t>of </a:t>
            </a:r>
            <a:r>
              <a:rPr lang="en-US" spc="-15" dirty="0" smtClean="0">
                <a:cs typeface="Verdana"/>
              </a:rPr>
              <a:t>allergic mucin </a:t>
            </a:r>
            <a:r>
              <a:rPr lang="en-US" spc="-80" dirty="0" smtClean="0">
                <a:cs typeface="Verdana"/>
              </a:rPr>
              <a:t>(thick </a:t>
            </a:r>
            <a:r>
              <a:rPr lang="en-US" spc="-45" dirty="0" smtClean="0">
                <a:cs typeface="Verdana"/>
              </a:rPr>
              <a:t>mucus</a:t>
            </a:r>
            <a:r>
              <a:rPr lang="en-US" spc="-110" dirty="0" smtClean="0">
                <a:cs typeface="Verdana"/>
              </a:rPr>
              <a:t>, light </a:t>
            </a:r>
            <a:r>
              <a:rPr lang="en-US" spc="-830" dirty="0" smtClean="0">
                <a:cs typeface="Verdana"/>
              </a:rPr>
              <a:t> </a:t>
            </a:r>
            <a:r>
              <a:rPr lang="en-US" dirty="0" smtClean="0">
                <a:cs typeface="Verdana"/>
              </a:rPr>
              <a:t>tan</a:t>
            </a:r>
            <a:r>
              <a:rPr lang="en-US" spc="-190" dirty="0" smtClean="0">
                <a:cs typeface="Verdana"/>
              </a:rPr>
              <a:t> </a:t>
            </a:r>
            <a:r>
              <a:rPr lang="en-US" spc="-10" dirty="0" smtClean="0">
                <a:cs typeface="Verdana"/>
              </a:rPr>
              <a:t>to</a:t>
            </a:r>
            <a:r>
              <a:rPr lang="en-US" spc="-170" dirty="0" smtClean="0">
                <a:cs typeface="Verdana"/>
              </a:rPr>
              <a:t> </a:t>
            </a:r>
            <a:r>
              <a:rPr lang="en-US" spc="-20" dirty="0" smtClean="0">
                <a:cs typeface="Verdana"/>
              </a:rPr>
              <a:t>brown</a:t>
            </a:r>
            <a:r>
              <a:rPr lang="en-US" spc="-155" dirty="0" smtClean="0">
                <a:cs typeface="Verdana"/>
              </a:rPr>
              <a:t> </a:t>
            </a:r>
            <a:r>
              <a:rPr lang="en-US" spc="-10" dirty="0" smtClean="0">
                <a:cs typeface="Verdana"/>
              </a:rPr>
              <a:t>to</a:t>
            </a:r>
            <a:r>
              <a:rPr lang="en-US" spc="-170" dirty="0" smtClean="0">
                <a:cs typeface="Verdana"/>
              </a:rPr>
              <a:t> </a:t>
            </a:r>
            <a:r>
              <a:rPr lang="en-US" spc="-50" dirty="0" smtClean="0">
                <a:cs typeface="Verdana"/>
              </a:rPr>
              <a:t>dark</a:t>
            </a:r>
            <a:r>
              <a:rPr lang="en-US" spc="-170" dirty="0" smtClean="0">
                <a:cs typeface="Verdana"/>
              </a:rPr>
              <a:t> </a:t>
            </a:r>
            <a:r>
              <a:rPr lang="en-US" spc="-35" dirty="0" smtClean="0">
                <a:cs typeface="Verdana"/>
              </a:rPr>
              <a:t>green,</a:t>
            </a:r>
            <a:r>
              <a:rPr lang="en-US" spc="-165" dirty="0" smtClean="0">
                <a:cs typeface="Verdana"/>
              </a:rPr>
              <a:t> </a:t>
            </a:r>
            <a:r>
              <a:rPr lang="en-US" spc="25" dirty="0" err="1" smtClean="0">
                <a:cs typeface="Verdana"/>
              </a:rPr>
              <a:t>degranulated</a:t>
            </a:r>
            <a:r>
              <a:rPr lang="en-US" spc="25" dirty="0" smtClean="0">
                <a:cs typeface="Verdana"/>
              </a:rPr>
              <a:t> eosinophil</a:t>
            </a:r>
            <a:r>
              <a:rPr lang="en-US" spc="-204" dirty="0" smtClean="0">
                <a:cs typeface="Verdana"/>
              </a:rPr>
              <a:t>)</a:t>
            </a:r>
            <a:endParaRPr lang="en-US" dirty="0" smtClean="0">
              <a:cs typeface="Verdana"/>
            </a:endParaRPr>
          </a:p>
          <a:p>
            <a:pPr marL="314959" indent="0">
              <a:lnSpc>
                <a:spcPct val="100000"/>
              </a:lnSpc>
              <a:spcBef>
                <a:spcPts val="254"/>
              </a:spcBef>
              <a:buNone/>
              <a:tabLst>
                <a:tab pos="771525" algn="l"/>
              </a:tabLst>
            </a:pPr>
            <a:r>
              <a:rPr lang="en-US" spc="10" dirty="0" smtClean="0">
                <a:cs typeface="Verdana"/>
              </a:rPr>
              <a:t>  </a:t>
            </a:r>
            <a:r>
              <a:rPr lang="en-US" spc="10" dirty="0">
                <a:cs typeface="Verdana"/>
              </a:rPr>
              <a:t>-</a:t>
            </a:r>
            <a:r>
              <a:rPr lang="en-US" spc="-75" dirty="0">
                <a:cs typeface="Verdana"/>
              </a:rPr>
              <a:t>fu</a:t>
            </a:r>
            <a:r>
              <a:rPr lang="en-US" spc="85" dirty="0">
                <a:cs typeface="Verdana"/>
              </a:rPr>
              <a:t>nga</a:t>
            </a:r>
            <a:r>
              <a:rPr lang="en-US" spc="-180" dirty="0">
                <a:cs typeface="Verdana"/>
              </a:rPr>
              <a:t>l</a:t>
            </a:r>
            <a:r>
              <a:rPr lang="en-US" spc="-220" dirty="0">
                <a:cs typeface="Verdana"/>
              </a:rPr>
              <a:t> </a:t>
            </a:r>
            <a:r>
              <a:rPr lang="en-US" spc="-20" dirty="0">
                <a:cs typeface="Verdana"/>
              </a:rPr>
              <a:t>hy</a:t>
            </a:r>
            <a:r>
              <a:rPr lang="en-US" spc="-30" dirty="0">
                <a:cs typeface="Verdana"/>
              </a:rPr>
              <a:t>p</a:t>
            </a:r>
            <a:r>
              <a:rPr lang="en-US" spc="90" dirty="0">
                <a:cs typeface="Verdana"/>
              </a:rPr>
              <a:t>hae</a:t>
            </a:r>
            <a:r>
              <a:rPr lang="en-US" spc="-180" dirty="0">
                <a:cs typeface="Verdana"/>
              </a:rPr>
              <a:t> </a:t>
            </a:r>
            <a:r>
              <a:rPr lang="en-US" spc="-160" dirty="0">
                <a:cs typeface="Verdana"/>
              </a:rPr>
              <a:t>i</a:t>
            </a:r>
            <a:r>
              <a:rPr lang="en-US" spc="-60" dirty="0">
                <a:cs typeface="Verdana"/>
              </a:rPr>
              <a:t>n</a:t>
            </a:r>
            <a:r>
              <a:rPr lang="en-US" spc="-204" dirty="0">
                <a:cs typeface="Verdana"/>
              </a:rPr>
              <a:t> </a:t>
            </a:r>
            <a:r>
              <a:rPr lang="en-US" spc="-90" dirty="0">
                <a:cs typeface="Verdana"/>
              </a:rPr>
              <a:t>m</a:t>
            </a:r>
            <a:r>
              <a:rPr lang="en-US" spc="-55" dirty="0">
                <a:cs typeface="Verdana"/>
              </a:rPr>
              <a:t>u</a:t>
            </a:r>
            <a:r>
              <a:rPr lang="en-US" spc="80" dirty="0">
                <a:cs typeface="Verdana"/>
              </a:rPr>
              <a:t>c</a:t>
            </a:r>
            <a:r>
              <a:rPr lang="en-US" spc="55" dirty="0">
                <a:cs typeface="Verdana"/>
              </a:rPr>
              <a:t>i</a:t>
            </a:r>
            <a:r>
              <a:rPr lang="en-US" spc="-60" dirty="0">
                <a:cs typeface="Verdana"/>
              </a:rPr>
              <a:t>n</a:t>
            </a:r>
            <a:endParaRPr lang="en-US" dirty="0">
              <a:cs typeface="Verdana"/>
            </a:endParaRPr>
          </a:p>
          <a:p>
            <a:pPr marL="314959" indent="0">
              <a:lnSpc>
                <a:spcPct val="100000"/>
              </a:lnSpc>
              <a:spcBef>
                <a:spcPts val="290"/>
              </a:spcBef>
              <a:buNone/>
              <a:tabLst>
                <a:tab pos="771525" algn="l"/>
              </a:tabLst>
            </a:pPr>
            <a:r>
              <a:rPr lang="en-US" spc="10" dirty="0">
                <a:cs typeface="Verdana"/>
              </a:rPr>
              <a:t>  -</a:t>
            </a:r>
            <a:r>
              <a:rPr lang="en-US" spc="20" dirty="0">
                <a:cs typeface="Verdana"/>
              </a:rPr>
              <a:t>e</a:t>
            </a:r>
            <a:r>
              <a:rPr lang="en-US" spc="25" dirty="0">
                <a:cs typeface="Verdana"/>
              </a:rPr>
              <a:t>v</a:t>
            </a:r>
            <a:r>
              <a:rPr lang="en-US" spc="-175" dirty="0">
                <a:cs typeface="Verdana"/>
              </a:rPr>
              <a:t>i</a:t>
            </a:r>
            <a:r>
              <a:rPr lang="en-US" spc="130" dirty="0">
                <a:cs typeface="Verdana"/>
              </a:rPr>
              <a:t>den</a:t>
            </a:r>
            <a:r>
              <a:rPr lang="en-US" spc="100" dirty="0">
                <a:cs typeface="Verdana"/>
              </a:rPr>
              <a:t>c</a:t>
            </a:r>
            <a:r>
              <a:rPr lang="en-US" spc="130" dirty="0">
                <a:cs typeface="Verdana"/>
              </a:rPr>
              <a:t>e</a:t>
            </a:r>
            <a:r>
              <a:rPr lang="en-US" spc="-225" dirty="0">
                <a:cs typeface="Verdana"/>
              </a:rPr>
              <a:t> </a:t>
            </a:r>
            <a:r>
              <a:rPr lang="en-US" spc="10" dirty="0">
                <a:cs typeface="Verdana"/>
              </a:rPr>
              <a:t>of</a:t>
            </a:r>
            <a:r>
              <a:rPr lang="en-US" spc="-180" dirty="0">
                <a:cs typeface="Verdana"/>
              </a:rPr>
              <a:t> </a:t>
            </a:r>
            <a:r>
              <a:rPr lang="en-US" spc="-484" dirty="0" err="1">
                <a:cs typeface="Verdana"/>
              </a:rPr>
              <a:t>I</a:t>
            </a:r>
            <a:r>
              <a:rPr lang="en-US" spc="-55" dirty="0" err="1">
                <a:cs typeface="Verdana"/>
              </a:rPr>
              <a:t>g</a:t>
            </a:r>
            <a:r>
              <a:rPr lang="en-US" spc="-60" dirty="0" err="1">
                <a:cs typeface="Verdana"/>
              </a:rPr>
              <a:t>E</a:t>
            </a:r>
            <a:r>
              <a:rPr lang="en-US" spc="-305" dirty="0">
                <a:cs typeface="Verdana"/>
              </a:rPr>
              <a:t>-</a:t>
            </a:r>
            <a:r>
              <a:rPr lang="en-US" spc="5" dirty="0">
                <a:cs typeface="Verdana"/>
              </a:rPr>
              <a:t>med</a:t>
            </a:r>
            <a:r>
              <a:rPr lang="en-US" spc="20" dirty="0">
                <a:cs typeface="Verdana"/>
              </a:rPr>
              <a:t>i</a:t>
            </a:r>
            <a:r>
              <a:rPr lang="en-US" spc="75" dirty="0">
                <a:cs typeface="Verdana"/>
              </a:rPr>
              <a:t>ate</a:t>
            </a:r>
            <a:r>
              <a:rPr lang="en-US" spc="95" dirty="0">
                <a:cs typeface="Verdana"/>
              </a:rPr>
              <a:t>d</a:t>
            </a:r>
            <a:r>
              <a:rPr lang="en-US" spc="-200" dirty="0">
                <a:cs typeface="Verdana"/>
              </a:rPr>
              <a:t> </a:t>
            </a:r>
            <a:r>
              <a:rPr lang="en-US" spc="20" dirty="0">
                <a:cs typeface="Verdana"/>
              </a:rPr>
              <a:t>fung</a:t>
            </a:r>
            <a:r>
              <a:rPr lang="en-US" spc="30" dirty="0">
                <a:cs typeface="Verdana"/>
              </a:rPr>
              <a:t>a</a:t>
            </a:r>
            <a:r>
              <a:rPr lang="en-US" spc="-180" dirty="0">
                <a:cs typeface="Verdana"/>
              </a:rPr>
              <a:t>l</a:t>
            </a:r>
            <a:r>
              <a:rPr lang="en-US" spc="-210" dirty="0">
                <a:cs typeface="Verdana"/>
              </a:rPr>
              <a:t> </a:t>
            </a:r>
            <a:r>
              <a:rPr lang="en-US" spc="-55" dirty="0">
                <a:cs typeface="Verdana"/>
              </a:rPr>
              <a:t>allergy</a:t>
            </a:r>
            <a:endParaRPr lang="en-US" dirty="0"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b="1" spc="-530" dirty="0" smtClean="0">
                <a:cs typeface="Verdana"/>
              </a:rPr>
              <a:t>S</a:t>
            </a:r>
            <a:r>
              <a:rPr lang="en-US" b="1" spc="-200" dirty="0" smtClean="0">
                <a:cs typeface="Verdana"/>
              </a:rPr>
              <a:t>i</a:t>
            </a:r>
            <a:r>
              <a:rPr lang="en-US" b="1" spc="-175" dirty="0" smtClean="0">
                <a:cs typeface="Verdana"/>
              </a:rPr>
              <a:t>nus</a:t>
            </a:r>
            <a:r>
              <a:rPr lang="en-US" b="1" spc="-220" dirty="0" smtClean="0">
                <a:cs typeface="Verdana"/>
              </a:rPr>
              <a:t> </a:t>
            </a:r>
            <a:r>
              <a:rPr lang="en-US" b="1" spc="-150" dirty="0">
                <a:cs typeface="Verdana"/>
              </a:rPr>
              <a:t>surger</a:t>
            </a:r>
            <a:r>
              <a:rPr lang="en-US" b="1" spc="-160" dirty="0">
                <a:cs typeface="Verdana"/>
              </a:rPr>
              <a:t>y</a:t>
            </a:r>
            <a:r>
              <a:rPr lang="en-US" b="1" spc="-204" dirty="0">
                <a:cs typeface="Verdana"/>
              </a:rPr>
              <a:t> is </a:t>
            </a:r>
            <a:r>
              <a:rPr lang="en-US" b="1" spc="-130" dirty="0">
                <a:cs typeface="Verdana"/>
              </a:rPr>
              <a:t>usual</a:t>
            </a:r>
            <a:r>
              <a:rPr lang="en-US" b="1" spc="-65" dirty="0">
                <a:cs typeface="Verdana"/>
              </a:rPr>
              <a:t>l</a:t>
            </a:r>
            <a:r>
              <a:rPr lang="en-US" b="1" spc="-160" dirty="0">
                <a:cs typeface="Verdana"/>
              </a:rPr>
              <a:t>y</a:t>
            </a:r>
            <a:r>
              <a:rPr lang="en-US" b="1" spc="-215" dirty="0">
                <a:cs typeface="Verdana"/>
              </a:rPr>
              <a:t> </a:t>
            </a:r>
            <a:r>
              <a:rPr lang="en-US" b="1" spc="-75" dirty="0">
                <a:cs typeface="Verdana"/>
              </a:rPr>
              <a:t>requ</a:t>
            </a:r>
            <a:r>
              <a:rPr lang="en-US" b="1" spc="-15" dirty="0">
                <a:cs typeface="Verdana"/>
              </a:rPr>
              <a:t>ired</a:t>
            </a:r>
            <a:endParaRPr lang="en-US" b="1" dirty="0">
              <a:cs typeface="Verdana"/>
            </a:endParaRPr>
          </a:p>
          <a:p>
            <a:pPr marL="12065" marR="2058035" indent="0">
              <a:lnSpc>
                <a:spcPts val="3020"/>
              </a:lnSpc>
              <a:spcBef>
                <a:spcPts val="720"/>
              </a:spcBef>
              <a:buNone/>
              <a:tabLst>
                <a:tab pos="396240" algn="l"/>
              </a:tabLst>
            </a:pPr>
            <a:r>
              <a:rPr lang="en-US" b="1" spc="-130" dirty="0">
                <a:cs typeface="Verdana"/>
              </a:rPr>
              <a:t>U</a:t>
            </a:r>
            <a:r>
              <a:rPr lang="en-US" b="1" spc="-130" dirty="0" smtClean="0">
                <a:cs typeface="Verdana"/>
              </a:rPr>
              <a:t>sual</a:t>
            </a:r>
            <a:r>
              <a:rPr lang="en-US" b="1" spc="-65" dirty="0" smtClean="0">
                <a:cs typeface="Verdana"/>
              </a:rPr>
              <a:t>l</a:t>
            </a:r>
            <a:r>
              <a:rPr lang="en-US" b="1" spc="-160" dirty="0" smtClean="0">
                <a:cs typeface="Verdana"/>
              </a:rPr>
              <a:t>y</a:t>
            </a:r>
            <a:r>
              <a:rPr lang="en-US" b="1" spc="-215" dirty="0" smtClean="0">
                <a:cs typeface="Verdana"/>
              </a:rPr>
              <a:t> </a:t>
            </a:r>
            <a:r>
              <a:rPr lang="en-US" b="1" spc="15" dirty="0">
                <a:cs typeface="Verdana"/>
              </a:rPr>
              <a:t>ha</a:t>
            </a:r>
            <a:r>
              <a:rPr lang="en-US" b="1" spc="5" dirty="0">
                <a:cs typeface="Verdana"/>
              </a:rPr>
              <a:t>v</a:t>
            </a:r>
            <a:r>
              <a:rPr lang="en-US" b="1" spc="145" dirty="0">
                <a:cs typeface="Verdana"/>
              </a:rPr>
              <a:t>e</a:t>
            </a:r>
            <a:r>
              <a:rPr lang="en-US" b="1" spc="-190" dirty="0">
                <a:cs typeface="Verdana"/>
              </a:rPr>
              <a:t> </a:t>
            </a:r>
            <a:r>
              <a:rPr lang="en-US" b="1" dirty="0">
                <a:cs typeface="Verdana"/>
              </a:rPr>
              <a:t>nas</a:t>
            </a:r>
            <a:r>
              <a:rPr lang="en-US" b="1" spc="-10" dirty="0">
                <a:cs typeface="Verdana"/>
              </a:rPr>
              <a:t>a</a:t>
            </a:r>
            <a:r>
              <a:rPr lang="en-US" b="1" spc="-210" dirty="0">
                <a:cs typeface="Verdana"/>
              </a:rPr>
              <a:t>l</a:t>
            </a:r>
            <a:r>
              <a:rPr lang="en-US" b="1" spc="-195" dirty="0">
                <a:cs typeface="Verdana"/>
              </a:rPr>
              <a:t> </a:t>
            </a:r>
            <a:r>
              <a:rPr lang="en-US" b="1" spc="25" dirty="0">
                <a:cs typeface="Verdana"/>
              </a:rPr>
              <a:t>po</a:t>
            </a:r>
            <a:r>
              <a:rPr lang="en-US" b="1" spc="20" dirty="0">
                <a:cs typeface="Verdana"/>
              </a:rPr>
              <a:t>l</a:t>
            </a:r>
            <a:r>
              <a:rPr lang="en-US" b="1" spc="-135" dirty="0">
                <a:cs typeface="Verdana"/>
              </a:rPr>
              <a:t>yp</a:t>
            </a:r>
            <a:r>
              <a:rPr lang="en-US" b="1" spc="-114" dirty="0">
                <a:cs typeface="Verdana"/>
              </a:rPr>
              <a:t>s</a:t>
            </a:r>
            <a:r>
              <a:rPr lang="en-US" b="1" spc="-200" dirty="0">
                <a:cs typeface="Verdana"/>
              </a:rPr>
              <a:t> </a:t>
            </a:r>
            <a:r>
              <a:rPr lang="en-US" b="1" spc="85" dirty="0">
                <a:cs typeface="Verdana"/>
              </a:rPr>
              <a:t>and </a:t>
            </a:r>
            <a:r>
              <a:rPr lang="en-US" b="1" dirty="0" smtClean="0">
                <a:cs typeface="Verdana"/>
              </a:rPr>
              <a:t>immunocompetent </a:t>
            </a:r>
            <a:r>
              <a:rPr lang="en-US" b="1" dirty="0" smtClean="0">
                <a:cs typeface="Verdana"/>
              </a:rPr>
              <a:t>patient</a:t>
            </a:r>
            <a:endParaRPr lang="en-US" b="1" dirty="0">
              <a:cs typeface="Verdana"/>
            </a:endParaRPr>
          </a:p>
          <a:p>
            <a:pPr marL="12065" marR="172720" indent="0">
              <a:lnSpc>
                <a:spcPct val="89800"/>
              </a:lnSpc>
              <a:spcBef>
                <a:spcPts val="640"/>
              </a:spcBef>
              <a:buNone/>
              <a:tabLst>
                <a:tab pos="396240" algn="l"/>
              </a:tabLst>
            </a:pPr>
            <a:r>
              <a:rPr lang="en-US" spc="-250" dirty="0">
                <a:cs typeface="Verdana"/>
              </a:rPr>
              <a:t> </a:t>
            </a:r>
            <a:r>
              <a:rPr lang="en-US" b="1" spc="-60" dirty="0" smtClean="0">
                <a:solidFill>
                  <a:srgbClr val="C00000"/>
                </a:solidFill>
                <a:cs typeface="Verdana"/>
              </a:rPr>
              <a:t>Pathophys</a:t>
            </a:r>
            <a:r>
              <a:rPr lang="en-US" b="1" spc="-20" dirty="0" smtClean="0">
                <a:solidFill>
                  <a:srgbClr val="C00000"/>
                </a:solidFill>
                <a:cs typeface="Verdana"/>
              </a:rPr>
              <a:t>i</a:t>
            </a:r>
            <a:r>
              <a:rPr lang="en-US" b="1" spc="-55" dirty="0" smtClean="0">
                <a:solidFill>
                  <a:srgbClr val="C00000"/>
                </a:solidFill>
                <a:cs typeface="Verdana"/>
              </a:rPr>
              <a:t>o</a:t>
            </a:r>
            <a:r>
              <a:rPr lang="en-US" b="1" spc="-20" dirty="0" smtClean="0">
                <a:solidFill>
                  <a:srgbClr val="C00000"/>
                </a:solidFill>
                <a:cs typeface="Verdana"/>
              </a:rPr>
              <a:t>l</a:t>
            </a:r>
            <a:r>
              <a:rPr lang="en-US" b="1" spc="35" dirty="0" smtClean="0">
                <a:solidFill>
                  <a:srgbClr val="C00000"/>
                </a:solidFill>
                <a:cs typeface="Verdana"/>
              </a:rPr>
              <a:t>ogy</a:t>
            </a:r>
            <a:r>
              <a:rPr lang="en-US" b="1" spc="-520" dirty="0">
                <a:solidFill>
                  <a:srgbClr val="C00000"/>
                </a:solidFill>
                <a:cs typeface="Verdana"/>
              </a:rPr>
              <a:t>: </a:t>
            </a:r>
            <a:r>
              <a:rPr lang="en-US" b="1" spc="-520" dirty="0" smtClean="0">
                <a:solidFill>
                  <a:srgbClr val="C00000"/>
                </a:solidFill>
                <a:cs typeface="Verdana"/>
              </a:rPr>
              <a:t>   </a:t>
            </a:r>
            <a:r>
              <a:rPr lang="en-US" spc="-40" dirty="0" smtClean="0">
                <a:cs typeface="Verdana"/>
              </a:rPr>
              <a:t>chron</a:t>
            </a:r>
            <a:r>
              <a:rPr lang="en-US" spc="-5" dirty="0" smtClean="0">
                <a:cs typeface="Verdana"/>
              </a:rPr>
              <a:t>i</a:t>
            </a:r>
            <a:r>
              <a:rPr lang="en-US" spc="50" dirty="0" smtClean="0">
                <a:cs typeface="Verdana"/>
              </a:rPr>
              <a:t>c</a:t>
            </a:r>
            <a:r>
              <a:rPr lang="en-US" spc="50" dirty="0">
                <a:cs typeface="Verdana"/>
              </a:rPr>
              <a:t>,</a:t>
            </a:r>
            <a:r>
              <a:rPr lang="en-US" spc="-195" dirty="0">
                <a:cs typeface="Verdana"/>
              </a:rPr>
              <a:t> </a:t>
            </a:r>
            <a:r>
              <a:rPr lang="en-US" spc="-80" dirty="0">
                <a:cs typeface="Verdana"/>
              </a:rPr>
              <a:t>allerg</a:t>
            </a:r>
            <a:r>
              <a:rPr lang="en-US" spc="-30" dirty="0">
                <a:cs typeface="Verdana"/>
              </a:rPr>
              <a:t>i</a:t>
            </a:r>
            <a:r>
              <a:rPr lang="en-US" spc="270" dirty="0">
                <a:cs typeface="Verdana"/>
              </a:rPr>
              <a:t>c </a:t>
            </a:r>
            <a:r>
              <a:rPr lang="en-US" spc="-55" dirty="0">
                <a:cs typeface="Verdana"/>
              </a:rPr>
              <a:t>inflammation</a:t>
            </a:r>
            <a:r>
              <a:rPr lang="en-US" spc="-220" dirty="0">
                <a:cs typeface="Verdana"/>
              </a:rPr>
              <a:t> </a:t>
            </a:r>
            <a:r>
              <a:rPr lang="en-US" spc="30" dirty="0">
                <a:cs typeface="Verdana"/>
              </a:rPr>
              <a:t>directed</a:t>
            </a:r>
            <a:r>
              <a:rPr lang="en-US" spc="-204" dirty="0">
                <a:cs typeface="Verdana"/>
              </a:rPr>
              <a:t> </a:t>
            </a:r>
            <a:r>
              <a:rPr lang="en-US" spc="-35" dirty="0">
                <a:cs typeface="Verdana"/>
              </a:rPr>
              <a:t>against</a:t>
            </a:r>
            <a:r>
              <a:rPr lang="en-US" spc="-190" dirty="0">
                <a:cs typeface="Verdana"/>
              </a:rPr>
              <a:t> </a:t>
            </a:r>
            <a:r>
              <a:rPr lang="en-US" spc="-30" dirty="0">
                <a:cs typeface="Verdana"/>
              </a:rPr>
              <a:t>colonizing </a:t>
            </a:r>
            <a:r>
              <a:rPr lang="en-US" spc="-969" dirty="0">
                <a:cs typeface="Verdana"/>
              </a:rPr>
              <a:t> </a:t>
            </a:r>
            <a:r>
              <a:rPr lang="en-US" spc="-65" dirty="0">
                <a:cs typeface="Verdana"/>
              </a:rPr>
              <a:t>fungi</a:t>
            </a:r>
            <a:endParaRPr lang="en-US" dirty="0">
              <a:cs typeface="Verdana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43D0-534B-4F01-B12C-42B7A81F2A5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spc="-60" dirty="0" smtClean="0">
                <a:solidFill>
                  <a:prstClr val="black"/>
                </a:solidFill>
                <a:latin typeface="Times New Roman" panose="02020603050405020304"/>
              </a:rPr>
              <a:t/>
            </a:r>
            <a:br>
              <a:rPr lang="en-US" sz="3600" b="1" spc="-60" dirty="0" smtClean="0">
                <a:solidFill>
                  <a:prstClr val="black"/>
                </a:solidFill>
                <a:latin typeface="Times New Roman" panose="02020603050405020304"/>
              </a:rPr>
            </a:br>
            <a:r>
              <a:rPr lang="en-US" sz="3600" b="1" spc="-60" dirty="0" smtClean="0">
                <a:solidFill>
                  <a:prstClr val="black"/>
                </a:solidFill>
                <a:latin typeface="Times New Roman" panose="02020603050405020304"/>
              </a:rPr>
              <a:t>FACTORS </a:t>
            </a:r>
            <a:r>
              <a:rPr lang="en-US" sz="3600" b="1" spc="-50" dirty="0">
                <a:solidFill>
                  <a:prstClr val="black"/>
                </a:solidFill>
                <a:latin typeface="Times New Roman" panose="02020603050405020304"/>
              </a:rPr>
              <a:t>ASSOCIATED</a:t>
            </a:r>
            <a:r>
              <a:rPr lang="en-US" sz="3600" b="1" spc="-265" dirty="0">
                <a:solidFill>
                  <a:prstClr val="black"/>
                </a:solidFill>
                <a:latin typeface="Times New Roman" panose="02020603050405020304"/>
              </a:rPr>
              <a:t> </a:t>
            </a:r>
            <a:r>
              <a:rPr lang="en-US" sz="3600" b="1" spc="-5" dirty="0">
                <a:solidFill>
                  <a:prstClr val="black"/>
                </a:solidFill>
                <a:latin typeface="Times New Roman" panose="02020603050405020304"/>
              </a:rPr>
              <a:t>WITH  CHRONIC RHINOSINUSITIS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/>
          <a:srcRect l="12304" t="23628" r="25893" b="21029"/>
          <a:stretch/>
        </p:blipFill>
        <p:spPr>
          <a:xfrm>
            <a:off x="338236" y="2221163"/>
            <a:ext cx="9643964" cy="4090737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A991-D05A-4551-B88A-1FD70B3A51F6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61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7817" y="461900"/>
            <a:ext cx="5974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50414" y="1508005"/>
            <a:ext cx="7014497" cy="5031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28494" y="1464310"/>
            <a:ext cx="29362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905" algn="ctr"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Causative </a:t>
            </a:r>
            <a:r>
              <a:rPr sz="2000" b="1" spc="-15" dirty="0">
                <a:solidFill>
                  <a:srgbClr val="C00000"/>
                </a:solidFill>
                <a:latin typeface="Carlito"/>
                <a:cs typeface="Carlito"/>
              </a:rPr>
              <a:t>Factors </a:t>
            </a: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And  </a:t>
            </a:r>
            <a:r>
              <a:rPr sz="2000" b="1" spc="-10" dirty="0">
                <a:solidFill>
                  <a:srgbClr val="C00000"/>
                </a:solidFill>
                <a:latin typeface="Carlito"/>
                <a:cs typeface="Carlito"/>
              </a:rPr>
              <a:t>Pathophysiology </a:t>
            </a: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Of</a:t>
            </a:r>
            <a:r>
              <a:rPr sz="2000" b="1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rlito"/>
                <a:cs typeface="Carlito"/>
              </a:rPr>
              <a:t>Chronic  </a:t>
            </a:r>
            <a:r>
              <a:rPr sz="2000" b="1" dirty="0">
                <a:solidFill>
                  <a:srgbClr val="C00000"/>
                </a:solidFill>
                <a:latin typeface="Carlito"/>
                <a:cs typeface="Carlito"/>
              </a:rPr>
              <a:t>Sinusitis.</a:t>
            </a:r>
            <a:endParaRPr sz="2000" dirty="0">
              <a:solidFill>
                <a:srgbClr val="C00000"/>
              </a:solidFill>
              <a:latin typeface="Carlito"/>
              <a:cs typeface="Carlito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D13A-319B-4F64-BB6A-411D3DDCC3AE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082" y="207392"/>
            <a:ext cx="6907834" cy="615553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4000" b="1" dirty="0" smtClean="0"/>
              <a:t>Management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58669" y="1397632"/>
            <a:ext cx="8074660" cy="45473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A-Medical treatment:-</a:t>
            </a:r>
          </a:p>
          <a:p>
            <a:pPr marL="0" indent="0">
              <a:buNone/>
            </a:pPr>
            <a:r>
              <a:rPr lang="en-US" sz="2400" dirty="0"/>
              <a:t>1-corticosteroid:</a:t>
            </a:r>
          </a:p>
          <a:p>
            <a:pPr marL="0" indent="0">
              <a:buNone/>
            </a:pPr>
            <a:r>
              <a:rPr lang="en-US" sz="2400" dirty="0"/>
              <a:t>-topical nasal steroid sprays like fluticasone, and mometasone, are recommended for all forms of CRS</a:t>
            </a:r>
          </a:p>
          <a:p>
            <a:pPr marL="0" indent="0">
              <a:buNone/>
            </a:pPr>
            <a:r>
              <a:rPr lang="en-US" sz="2400" dirty="0"/>
              <a:t>-systemic steroid: prednisolone tablet 0.5-1mg/kg   in tapering dose</a:t>
            </a:r>
          </a:p>
          <a:p>
            <a:r>
              <a:rPr lang="en-US" sz="2400" dirty="0"/>
              <a:t>for refractory cases or unfit for surgery</a:t>
            </a:r>
          </a:p>
          <a:p>
            <a:r>
              <a:rPr lang="en-US" sz="2400" dirty="0"/>
              <a:t>before surgery to reduce polyp size</a:t>
            </a:r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400" dirty="0"/>
              <a:t>2-</a:t>
            </a:r>
            <a:r>
              <a:rPr lang="en-US" sz="2400" spc="-105" dirty="0"/>
              <a:t>Antihistamines</a:t>
            </a:r>
            <a:r>
              <a:rPr lang="en-US" sz="2400" dirty="0"/>
              <a:t>: </a:t>
            </a:r>
            <a:r>
              <a:rPr lang="en-US" sz="2400" spc="-45" dirty="0"/>
              <a:t>helpful </a:t>
            </a:r>
            <a:r>
              <a:rPr lang="en-US" sz="2400" spc="-165" dirty="0"/>
              <a:t>i</a:t>
            </a:r>
            <a:r>
              <a:rPr lang="en-US" sz="2400" spc="-60" dirty="0"/>
              <a:t>n</a:t>
            </a:r>
            <a:r>
              <a:rPr lang="en-US" sz="2400" spc="-210" dirty="0"/>
              <a:t> </a:t>
            </a:r>
            <a:r>
              <a:rPr lang="en-US" sz="2400" spc="-40" dirty="0"/>
              <a:t>aller</a:t>
            </a:r>
            <a:r>
              <a:rPr lang="en-US" sz="2400" spc="-50" dirty="0"/>
              <a:t>g</a:t>
            </a:r>
            <a:r>
              <a:rPr lang="en-US" sz="2400" spc="-160" dirty="0"/>
              <a:t>i</a:t>
            </a:r>
            <a:r>
              <a:rPr lang="en-US" sz="2400" spc="300" dirty="0"/>
              <a:t>c</a:t>
            </a:r>
            <a:r>
              <a:rPr lang="en-US" sz="2400" spc="-225" dirty="0"/>
              <a:t> </a:t>
            </a:r>
            <a:r>
              <a:rPr lang="en-US" sz="2400" spc="-215" dirty="0"/>
              <a:t>rh</a:t>
            </a:r>
            <a:r>
              <a:rPr lang="en-US" sz="2400" spc="-100" dirty="0"/>
              <a:t>i</a:t>
            </a:r>
            <a:r>
              <a:rPr lang="en-US" sz="2400" spc="-165" dirty="0"/>
              <a:t>n</a:t>
            </a:r>
            <a:r>
              <a:rPr lang="en-US" sz="2400" spc="-70" dirty="0"/>
              <a:t>i</a:t>
            </a:r>
            <a:r>
              <a:rPr lang="en-US" sz="2400" spc="-145" dirty="0"/>
              <a:t>t</a:t>
            </a:r>
            <a:r>
              <a:rPr lang="en-US" sz="2400" spc="-254" dirty="0"/>
              <a:t>is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320"/>
              </a:spcBef>
              <a:buNone/>
              <a:tabLst>
                <a:tab pos="396240" algn="l"/>
              </a:tabLst>
            </a:pPr>
            <a:r>
              <a:rPr lang="en-US" sz="2400" spc="-250" dirty="0"/>
              <a:t>3-</a:t>
            </a:r>
            <a:r>
              <a:rPr lang="en-US" sz="2400" spc="-50" dirty="0"/>
              <a:t>Antibiotics</a:t>
            </a:r>
            <a:r>
              <a:rPr lang="en-US" sz="2400" dirty="0"/>
              <a:t>: </a:t>
            </a:r>
            <a:r>
              <a:rPr lang="en-US" sz="2400" spc="-25" dirty="0"/>
              <a:t>used</a:t>
            </a:r>
            <a:r>
              <a:rPr lang="en-US" sz="2400" spc="-180" dirty="0"/>
              <a:t> </a:t>
            </a:r>
            <a:r>
              <a:rPr lang="en-US" sz="2400" spc="-10" dirty="0"/>
              <a:t>to</a:t>
            </a:r>
            <a:r>
              <a:rPr lang="en-US" sz="2400" spc="-180" dirty="0"/>
              <a:t> </a:t>
            </a:r>
            <a:r>
              <a:rPr lang="en-US" sz="2400" spc="-50" dirty="0"/>
              <a:t>treat</a:t>
            </a:r>
            <a:r>
              <a:rPr lang="en-US" sz="2400" spc="-180" dirty="0"/>
              <a:t> the </a:t>
            </a:r>
            <a:r>
              <a:rPr lang="en-US" sz="2400" spc="-20" dirty="0"/>
              <a:t>infection</a:t>
            </a:r>
            <a:r>
              <a:rPr lang="en-US" sz="2400" spc="-220" dirty="0"/>
              <a:t> </a:t>
            </a:r>
            <a:r>
              <a:rPr lang="en-US" sz="2400" spc="-125" dirty="0"/>
              <a:t>if</a:t>
            </a:r>
            <a:r>
              <a:rPr lang="en-US" sz="2400" spc="-220" dirty="0"/>
              <a:t> </a:t>
            </a:r>
            <a:r>
              <a:rPr lang="en-US" sz="2400" spc="-35" dirty="0"/>
              <a:t>nasal</a:t>
            </a:r>
            <a:r>
              <a:rPr lang="en-US" sz="2400" spc="-195" dirty="0"/>
              <a:t> </a:t>
            </a:r>
            <a:r>
              <a:rPr lang="en-US" sz="2400" dirty="0"/>
              <a:t>purulence</a:t>
            </a:r>
            <a:r>
              <a:rPr lang="en-US" sz="2400" spc="-175" dirty="0"/>
              <a:t> is </a:t>
            </a:r>
            <a:r>
              <a:rPr lang="en-US" sz="2400" spc="-65" dirty="0"/>
              <a:t>present </a:t>
            </a:r>
            <a:r>
              <a:rPr lang="en-US" sz="2400" spc="-830" dirty="0"/>
              <a:t> </a:t>
            </a:r>
            <a:r>
              <a:rPr lang="en-US" sz="2400" spc="-204" dirty="0"/>
              <a:t>(</a:t>
            </a:r>
            <a:r>
              <a:rPr lang="en-US" sz="2400" spc="-200" dirty="0"/>
              <a:t> </a:t>
            </a:r>
            <a:r>
              <a:rPr lang="en-US" sz="2400" spc="80" dirty="0"/>
              <a:t>acut</a:t>
            </a:r>
            <a:r>
              <a:rPr lang="en-US" sz="2400" spc="95" dirty="0"/>
              <a:t>e</a:t>
            </a:r>
            <a:r>
              <a:rPr lang="en-US" sz="2400" spc="-180" dirty="0"/>
              <a:t> </a:t>
            </a:r>
            <a:r>
              <a:rPr lang="en-US" sz="2400" spc="-70" dirty="0"/>
              <a:t>e</a:t>
            </a:r>
            <a:r>
              <a:rPr lang="en-US" sz="2400" spc="-80" dirty="0"/>
              <a:t>x</a:t>
            </a:r>
            <a:r>
              <a:rPr lang="en-US" sz="2400" spc="80" dirty="0"/>
              <a:t>ace</a:t>
            </a:r>
            <a:r>
              <a:rPr lang="en-US" sz="2400" spc="55" dirty="0"/>
              <a:t>r</a:t>
            </a:r>
            <a:r>
              <a:rPr lang="en-US" sz="2400" dirty="0"/>
              <a:t>bat</a:t>
            </a:r>
            <a:r>
              <a:rPr lang="en-US" sz="2400" spc="15" dirty="0"/>
              <a:t>i</a:t>
            </a:r>
            <a:r>
              <a:rPr lang="en-US" sz="2400" spc="30" dirty="0"/>
              <a:t>on</a:t>
            </a:r>
            <a:r>
              <a:rPr lang="en-US" sz="2400" spc="-215" dirty="0"/>
              <a:t> </a:t>
            </a:r>
            <a:r>
              <a:rPr lang="en-US" sz="2400" spc="-204" dirty="0"/>
              <a:t>) or  to </a:t>
            </a:r>
            <a:r>
              <a:rPr lang="en-US" sz="2400" b="1" spc="-204" dirty="0"/>
              <a:t>modulate immunity like macrolides and doxycycline</a:t>
            </a:r>
            <a:endParaRPr lang="en-US" sz="2400" b="1" dirty="0"/>
          </a:p>
          <a:p>
            <a:pPr marL="0" indent="0">
              <a:lnSpc>
                <a:spcPct val="100000"/>
              </a:lnSpc>
              <a:spcBef>
                <a:spcPts val="290"/>
              </a:spcBef>
              <a:buNone/>
              <a:tabLst>
                <a:tab pos="396240" algn="l"/>
              </a:tabLst>
            </a:pPr>
            <a:r>
              <a:rPr lang="en-US" sz="2400" spc="-250" dirty="0"/>
              <a:t>4-</a:t>
            </a:r>
            <a:r>
              <a:rPr lang="en-US" sz="2400" spc="-70" dirty="0"/>
              <a:t>Antifungals: </a:t>
            </a:r>
            <a:r>
              <a:rPr lang="en-US" sz="2400" spc="-10" dirty="0"/>
              <a:t>Indicate</a:t>
            </a:r>
            <a:r>
              <a:rPr lang="en-US" sz="2400" spc="-220" dirty="0"/>
              <a:t> </a:t>
            </a:r>
            <a:r>
              <a:rPr lang="en-US" sz="2400" spc="-65" dirty="0"/>
              <a:t>only</a:t>
            </a:r>
            <a:r>
              <a:rPr lang="en-US" sz="2400" spc="-180" dirty="0"/>
              <a:t> </a:t>
            </a:r>
            <a:r>
              <a:rPr lang="en-US" sz="2400" spc="-105" dirty="0"/>
              <a:t>in</a:t>
            </a:r>
            <a:r>
              <a:rPr lang="en-US" sz="2400" spc="-220" dirty="0"/>
              <a:t> </a:t>
            </a:r>
            <a:r>
              <a:rPr lang="en-US" sz="2400" spc="-75" dirty="0"/>
              <a:t>invasive</a:t>
            </a:r>
            <a:r>
              <a:rPr lang="en-US" sz="2400" spc="-229" dirty="0"/>
              <a:t> </a:t>
            </a:r>
            <a:r>
              <a:rPr lang="en-US" sz="2400" spc="-140" dirty="0"/>
              <a:t>forms</a:t>
            </a:r>
            <a:r>
              <a:rPr lang="en-US" sz="2400" spc="-175" dirty="0"/>
              <a:t> </a:t>
            </a:r>
            <a:r>
              <a:rPr lang="en-US" sz="2400" spc="10" dirty="0"/>
              <a:t>of</a:t>
            </a:r>
            <a:r>
              <a:rPr lang="en-US" sz="2400" spc="-190" dirty="0"/>
              <a:t> </a:t>
            </a:r>
            <a:r>
              <a:rPr lang="en-US" sz="2400" spc="-185" dirty="0"/>
              <a:t>sinus</a:t>
            </a:r>
            <a:r>
              <a:rPr lang="en-US" sz="2400" spc="-204" dirty="0"/>
              <a:t> </a:t>
            </a:r>
            <a:r>
              <a:rPr lang="en-US" sz="2400" spc="-85" dirty="0"/>
              <a:t>mycosis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501F-59BD-4F6C-9A7A-0580F61A63A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9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58669" y="1397632"/>
            <a:ext cx="8074660" cy="4783361"/>
          </a:xfrm>
        </p:spPr>
        <p:txBody>
          <a:bodyPr>
            <a:normAutofit/>
          </a:bodyPr>
          <a:lstStyle/>
          <a:p>
            <a:pPr marL="314959" indent="0">
              <a:lnSpc>
                <a:spcPct val="100000"/>
              </a:lnSpc>
              <a:spcBef>
                <a:spcPts val="95"/>
              </a:spcBef>
              <a:buNone/>
              <a:tabLst>
                <a:tab pos="771525" algn="l"/>
              </a:tabLst>
            </a:pPr>
            <a:endParaRPr lang="en-US" sz="2400" spc="-5" dirty="0">
              <a:cs typeface="Verdana"/>
            </a:endParaRPr>
          </a:p>
          <a:p>
            <a:pPr marL="314959" indent="0">
              <a:lnSpc>
                <a:spcPct val="100000"/>
              </a:lnSpc>
              <a:spcBef>
                <a:spcPts val="95"/>
              </a:spcBef>
              <a:buNone/>
              <a:tabLst>
                <a:tab pos="771525" algn="l"/>
              </a:tabLst>
            </a:pPr>
            <a:r>
              <a:rPr lang="en-US" sz="2400" spc="-5" dirty="0">
                <a:cs typeface="Verdana"/>
              </a:rPr>
              <a:t>5-Nasal saline irrigation:</a:t>
            </a:r>
          </a:p>
          <a:p>
            <a:pPr marL="486409">
              <a:lnSpc>
                <a:spcPct val="100000"/>
              </a:lnSpc>
              <a:spcBef>
                <a:spcPts val="95"/>
              </a:spcBef>
              <a:tabLst>
                <a:tab pos="771525" algn="l"/>
              </a:tabLst>
            </a:pPr>
            <a:r>
              <a:rPr lang="en-US" sz="2400" spc="-5" dirty="0">
                <a:cs typeface="Verdana"/>
              </a:rPr>
              <a:t>it improves symptom scores and control	</a:t>
            </a:r>
          </a:p>
          <a:p>
            <a:pPr marL="314959" indent="0">
              <a:lnSpc>
                <a:spcPct val="100000"/>
              </a:lnSpc>
              <a:spcBef>
                <a:spcPts val="95"/>
              </a:spcBef>
              <a:buNone/>
              <a:tabLst>
                <a:tab pos="771525" algn="l"/>
              </a:tabLst>
            </a:pPr>
            <a:r>
              <a:rPr lang="en-US" sz="2400" spc="-155" dirty="0">
                <a:cs typeface="Verdana"/>
              </a:rPr>
              <a:t>6-</a:t>
            </a:r>
            <a:r>
              <a:rPr lang="en-US" sz="2400" spc="60" dirty="0">
                <a:cs typeface="Verdana"/>
              </a:rPr>
              <a:t>M</a:t>
            </a:r>
            <a:r>
              <a:rPr lang="en-US" sz="2400" spc="35" dirty="0">
                <a:cs typeface="Verdana"/>
              </a:rPr>
              <a:t>u</a:t>
            </a:r>
            <a:r>
              <a:rPr lang="en-US" sz="2400" spc="95" dirty="0">
                <a:cs typeface="Verdana"/>
              </a:rPr>
              <a:t>c</a:t>
            </a:r>
            <a:r>
              <a:rPr lang="en-US" sz="2400" spc="100" dirty="0">
                <a:cs typeface="Verdana"/>
              </a:rPr>
              <a:t>u</a:t>
            </a:r>
            <a:r>
              <a:rPr lang="en-US" sz="2400" spc="-280" dirty="0">
                <a:cs typeface="Verdana"/>
              </a:rPr>
              <a:t>s</a:t>
            </a:r>
            <a:r>
              <a:rPr lang="en-US" sz="2400" spc="-160" dirty="0">
                <a:cs typeface="Verdana"/>
              </a:rPr>
              <a:t> </a:t>
            </a:r>
            <a:r>
              <a:rPr lang="en-US" sz="2400" spc="-90" dirty="0">
                <a:cs typeface="Verdana"/>
              </a:rPr>
              <a:t>m</a:t>
            </a:r>
            <a:r>
              <a:rPr lang="en-US" sz="2400" spc="-75" dirty="0">
                <a:cs typeface="Verdana"/>
              </a:rPr>
              <a:t>odifiers</a:t>
            </a:r>
            <a:endParaRPr lang="en-US" sz="2400" dirty="0">
              <a:cs typeface="Verdana"/>
            </a:endParaRPr>
          </a:p>
          <a:p>
            <a:pPr marL="486409">
              <a:lnSpc>
                <a:spcPct val="100000"/>
              </a:lnSpc>
              <a:spcBef>
                <a:spcPts val="5"/>
              </a:spcBef>
              <a:tabLst>
                <a:tab pos="771525" algn="l"/>
              </a:tabLst>
            </a:pPr>
            <a:r>
              <a:rPr lang="en-US" sz="2400" spc="-100" dirty="0">
                <a:cs typeface="Verdana"/>
              </a:rPr>
              <a:t>t</a:t>
            </a:r>
            <a:r>
              <a:rPr lang="en-US" sz="2400" spc="30" dirty="0">
                <a:cs typeface="Verdana"/>
              </a:rPr>
              <a:t>he</a:t>
            </a:r>
            <a:r>
              <a:rPr lang="en-US" sz="2400" spc="-90" dirty="0">
                <a:cs typeface="Verdana"/>
              </a:rPr>
              <a:t>o</a:t>
            </a:r>
            <a:r>
              <a:rPr lang="en-US" sz="2400" spc="-75" dirty="0">
                <a:cs typeface="Verdana"/>
              </a:rPr>
              <a:t>r</a:t>
            </a:r>
            <a:r>
              <a:rPr lang="en-US" sz="2400" dirty="0">
                <a:cs typeface="Verdana"/>
              </a:rPr>
              <a:t>e</a:t>
            </a:r>
            <a:r>
              <a:rPr lang="en-US" sz="2400" spc="5" dirty="0">
                <a:cs typeface="Verdana"/>
              </a:rPr>
              <a:t>t</a:t>
            </a:r>
            <a:r>
              <a:rPr lang="en-US" sz="2400" spc="70" dirty="0">
                <a:cs typeface="Verdana"/>
              </a:rPr>
              <a:t>ic</a:t>
            </a:r>
            <a:r>
              <a:rPr lang="en-US" sz="2400" spc="105" dirty="0">
                <a:cs typeface="Verdana"/>
              </a:rPr>
              <a:t>a</a:t>
            </a:r>
            <a:r>
              <a:rPr lang="en-US" sz="2400" spc="-155" dirty="0">
                <a:cs typeface="Verdana"/>
              </a:rPr>
              <a:t>l</a:t>
            </a:r>
            <a:r>
              <a:rPr lang="en-US" sz="2400" spc="-165" dirty="0">
                <a:cs typeface="Verdana"/>
              </a:rPr>
              <a:t>l</a:t>
            </a:r>
            <a:r>
              <a:rPr lang="en-US" sz="2400" spc="-110" dirty="0">
                <a:cs typeface="Verdana"/>
              </a:rPr>
              <a:t>y</a:t>
            </a:r>
            <a:r>
              <a:rPr lang="en-US" sz="2400" spc="-195" dirty="0">
                <a:cs typeface="Verdana"/>
              </a:rPr>
              <a:t> </a:t>
            </a:r>
            <a:r>
              <a:rPr lang="en-US" sz="2400" spc="-55" dirty="0">
                <a:cs typeface="Verdana"/>
              </a:rPr>
              <a:t>impr</a:t>
            </a:r>
            <a:r>
              <a:rPr lang="en-US" sz="2400" spc="-65" dirty="0">
                <a:cs typeface="Verdana"/>
              </a:rPr>
              <a:t>o</a:t>
            </a:r>
            <a:r>
              <a:rPr lang="en-US" sz="2400" spc="-60" dirty="0">
                <a:cs typeface="Verdana"/>
              </a:rPr>
              <a:t>v</a:t>
            </a:r>
            <a:r>
              <a:rPr lang="en-US" sz="2400" spc="-35" dirty="0">
                <a:cs typeface="Verdana"/>
              </a:rPr>
              <a:t>in</a:t>
            </a:r>
            <a:r>
              <a:rPr lang="en-US" sz="2400" spc="-40" dirty="0">
                <a:cs typeface="Verdana"/>
              </a:rPr>
              <a:t>g</a:t>
            </a:r>
            <a:r>
              <a:rPr lang="en-US" sz="2400" spc="-155" dirty="0">
                <a:cs typeface="Verdana"/>
              </a:rPr>
              <a:t> </a:t>
            </a:r>
            <a:r>
              <a:rPr lang="en-US" sz="2400" spc="-70" dirty="0">
                <a:cs typeface="Verdana"/>
              </a:rPr>
              <a:t>m</a:t>
            </a:r>
            <a:r>
              <a:rPr lang="en-US" sz="2400" spc="-40" dirty="0">
                <a:cs typeface="Verdana"/>
              </a:rPr>
              <a:t>u</a:t>
            </a:r>
            <a:r>
              <a:rPr lang="en-US" sz="2400" spc="130" dirty="0">
                <a:cs typeface="Verdana"/>
              </a:rPr>
              <a:t>coc</a:t>
            </a:r>
            <a:r>
              <a:rPr lang="en-US" sz="2400" spc="55" dirty="0">
                <a:cs typeface="Verdana"/>
              </a:rPr>
              <a:t>i</a:t>
            </a:r>
            <a:r>
              <a:rPr lang="en-US" sz="2400" spc="-145" dirty="0">
                <a:cs typeface="Verdana"/>
              </a:rPr>
              <a:t>l</a:t>
            </a:r>
            <a:r>
              <a:rPr lang="en-US" sz="2400" spc="-85" dirty="0">
                <a:cs typeface="Verdana"/>
              </a:rPr>
              <a:t>ia</a:t>
            </a:r>
            <a:r>
              <a:rPr lang="en-US" sz="2400" spc="-90" dirty="0">
                <a:cs typeface="Verdana"/>
              </a:rPr>
              <a:t>r</a:t>
            </a:r>
            <a:r>
              <a:rPr lang="en-US" sz="2400" spc="-110" dirty="0">
                <a:cs typeface="Verdana"/>
              </a:rPr>
              <a:t>y</a:t>
            </a:r>
            <a:r>
              <a:rPr lang="en-US" sz="2400" spc="-165" dirty="0">
                <a:cs typeface="Verdana"/>
              </a:rPr>
              <a:t> </a:t>
            </a:r>
            <a:r>
              <a:rPr lang="en-US" sz="2400" spc="-100" dirty="0">
                <a:cs typeface="Verdana"/>
              </a:rPr>
              <a:t>t</a:t>
            </a:r>
            <a:r>
              <a:rPr lang="en-US" sz="2400" spc="-65" dirty="0">
                <a:cs typeface="Verdana"/>
              </a:rPr>
              <a:t>ranspo</a:t>
            </a:r>
            <a:r>
              <a:rPr lang="en-US" sz="2400" spc="-60" dirty="0">
                <a:cs typeface="Verdana"/>
              </a:rPr>
              <a:t>r</a:t>
            </a:r>
            <a:r>
              <a:rPr lang="en-US" sz="2400" spc="-110" dirty="0">
                <a:cs typeface="Verdana"/>
              </a:rPr>
              <a:t>t</a:t>
            </a:r>
            <a:endParaRPr lang="en-US" sz="2400" dirty="0">
              <a:cs typeface="Verdana"/>
            </a:endParaRPr>
          </a:p>
          <a:p>
            <a:pPr marL="486409">
              <a:lnSpc>
                <a:spcPts val="2160"/>
              </a:lnSpc>
              <a:tabLst>
                <a:tab pos="771525" algn="l"/>
              </a:tabLst>
            </a:pPr>
            <a:r>
              <a:rPr lang="en-US" sz="2400" spc="-20" dirty="0">
                <a:cs typeface="Verdana"/>
              </a:rPr>
              <a:t>Guaifenesin</a:t>
            </a:r>
            <a:r>
              <a:rPr lang="en-US" sz="2400" spc="-200" dirty="0">
                <a:cs typeface="Verdana"/>
              </a:rPr>
              <a:t> </a:t>
            </a:r>
            <a:r>
              <a:rPr lang="en-US" sz="2400" spc="-160" dirty="0">
                <a:cs typeface="Verdana"/>
              </a:rPr>
              <a:t>1200</a:t>
            </a:r>
            <a:r>
              <a:rPr lang="en-US" sz="2400" spc="-150" dirty="0">
                <a:cs typeface="Verdana"/>
              </a:rPr>
              <a:t> </a:t>
            </a:r>
            <a:r>
              <a:rPr lang="en-US" sz="2400" spc="15" dirty="0">
                <a:cs typeface="Verdana"/>
              </a:rPr>
              <a:t>mg</a:t>
            </a:r>
            <a:r>
              <a:rPr lang="en-US" sz="2400" spc="-150" dirty="0">
                <a:cs typeface="Verdana"/>
              </a:rPr>
              <a:t> </a:t>
            </a:r>
            <a:r>
              <a:rPr lang="en-US" sz="2400" spc="25" dirty="0">
                <a:cs typeface="Verdana"/>
              </a:rPr>
              <a:t>twice</a:t>
            </a:r>
            <a:r>
              <a:rPr lang="en-US" sz="2400" spc="-180" dirty="0">
                <a:cs typeface="Verdana"/>
              </a:rPr>
              <a:t> </a:t>
            </a:r>
            <a:r>
              <a:rPr lang="en-US" sz="2400" spc="-30" dirty="0">
                <a:cs typeface="Verdana"/>
              </a:rPr>
              <a:t>daily</a:t>
            </a:r>
            <a:r>
              <a:rPr lang="en-US" sz="2400" spc="-150" dirty="0">
                <a:cs typeface="Verdana"/>
              </a:rPr>
              <a:t> </a:t>
            </a:r>
            <a:r>
              <a:rPr lang="en-US" sz="2400" spc="60" dirty="0">
                <a:cs typeface="Verdana"/>
              </a:rPr>
              <a:t>reduced</a:t>
            </a:r>
            <a:r>
              <a:rPr lang="en-US" sz="2400" spc="-165" dirty="0">
                <a:cs typeface="Verdana"/>
              </a:rPr>
              <a:t> </a:t>
            </a:r>
            <a:r>
              <a:rPr lang="en-US" sz="2400" dirty="0">
                <a:cs typeface="Verdana"/>
              </a:rPr>
              <a:t>congestion</a:t>
            </a:r>
          </a:p>
          <a:p>
            <a:pPr marL="600075" indent="0">
              <a:lnSpc>
                <a:spcPts val="2160"/>
              </a:lnSpc>
              <a:buNone/>
            </a:pPr>
            <a:r>
              <a:rPr lang="en-US" sz="2400" spc="-204" dirty="0">
                <a:cs typeface="Verdana"/>
              </a:rPr>
              <a:t>, </a:t>
            </a:r>
            <a:r>
              <a:rPr lang="en-US" sz="2400" spc="-50" dirty="0">
                <a:cs typeface="Verdana"/>
              </a:rPr>
              <a:t>pos</a:t>
            </a:r>
            <a:r>
              <a:rPr lang="en-US" sz="2400" spc="-20" dirty="0">
                <a:cs typeface="Verdana"/>
              </a:rPr>
              <a:t>t</a:t>
            </a:r>
            <a:r>
              <a:rPr lang="en-US" sz="2400" spc="-25" dirty="0">
                <a:cs typeface="Verdana"/>
              </a:rPr>
              <a:t>nasal</a:t>
            </a:r>
            <a:r>
              <a:rPr lang="en-US" sz="2400" spc="-195" dirty="0">
                <a:cs typeface="Verdana"/>
              </a:rPr>
              <a:t> </a:t>
            </a:r>
            <a:r>
              <a:rPr lang="en-US" sz="2400" spc="-80" dirty="0">
                <a:cs typeface="Verdana"/>
              </a:rPr>
              <a:t>d</a:t>
            </a:r>
            <a:r>
              <a:rPr lang="en-US" sz="2400" spc="-65" dirty="0">
                <a:cs typeface="Verdana"/>
              </a:rPr>
              <a:t>r</a:t>
            </a:r>
            <a:r>
              <a:rPr lang="en-US" sz="2400" spc="40" dirty="0">
                <a:cs typeface="Verdana"/>
              </a:rPr>
              <a:t>ainag</a:t>
            </a:r>
            <a:r>
              <a:rPr lang="en-US" sz="2400" spc="110" dirty="0">
                <a:cs typeface="Verdana"/>
              </a:rPr>
              <a:t>e</a:t>
            </a:r>
            <a:endParaRPr lang="en-US" sz="2400" dirty="0">
              <a:cs typeface="Verdana"/>
            </a:endParaRPr>
          </a:p>
          <a:p>
            <a:pPr marL="314959" indent="0">
              <a:lnSpc>
                <a:spcPct val="100000"/>
              </a:lnSpc>
              <a:buNone/>
              <a:tabLst>
                <a:tab pos="771525" algn="l"/>
              </a:tabLst>
            </a:pPr>
            <a:r>
              <a:rPr lang="en-US" sz="2400" spc="-5" dirty="0">
                <a:cs typeface="Verdana"/>
              </a:rPr>
              <a:t>7-</a:t>
            </a:r>
            <a:r>
              <a:rPr lang="en-US" sz="2400" spc="-30" dirty="0">
                <a:cs typeface="Verdana"/>
              </a:rPr>
              <a:t>Anticholinergics</a:t>
            </a:r>
            <a:endParaRPr lang="en-US" sz="2400" dirty="0">
              <a:cs typeface="Verdana"/>
            </a:endParaRPr>
          </a:p>
          <a:p>
            <a:pPr marL="771525" marR="523240" indent="-285115">
              <a:lnSpc>
                <a:spcPts val="1920"/>
              </a:lnSpc>
              <a:spcBef>
                <a:spcPts val="465"/>
              </a:spcBef>
              <a:tabLst>
                <a:tab pos="771525" algn="l"/>
                <a:tab pos="3883660" algn="l"/>
              </a:tabLst>
            </a:pPr>
            <a:r>
              <a:rPr lang="en-US" sz="2400" spc="-25" dirty="0">
                <a:cs typeface="Verdana"/>
              </a:rPr>
              <a:t>b</a:t>
            </a:r>
            <a:r>
              <a:rPr lang="en-US" sz="2400" spc="-5" dirty="0">
                <a:cs typeface="Verdana"/>
              </a:rPr>
              <a:t>l</a:t>
            </a:r>
            <a:r>
              <a:rPr lang="en-US" sz="2400" spc="-25" dirty="0">
                <a:cs typeface="Verdana"/>
              </a:rPr>
              <a:t>ocks</a:t>
            </a:r>
            <a:r>
              <a:rPr lang="en-US" sz="2400" spc="-190" dirty="0">
                <a:cs typeface="Verdana"/>
              </a:rPr>
              <a:t> </a:t>
            </a:r>
            <a:r>
              <a:rPr lang="en-US" sz="2400" spc="-35" dirty="0">
                <a:cs typeface="Verdana"/>
              </a:rPr>
              <a:t>paras</a:t>
            </a:r>
            <a:r>
              <a:rPr lang="en-US" sz="2400" spc="-40" dirty="0">
                <a:cs typeface="Verdana"/>
              </a:rPr>
              <a:t>y</a:t>
            </a:r>
            <a:r>
              <a:rPr lang="en-US" sz="2400" spc="30" dirty="0">
                <a:cs typeface="Verdana"/>
              </a:rPr>
              <a:t>mpa</a:t>
            </a:r>
            <a:r>
              <a:rPr lang="en-US" sz="2400" spc="35" dirty="0">
                <a:cs typeface="Verdana"/>
              </a:rPr>
              <a:t>t</a:t>
            </a:r>
            <a:r>
              <a:rPr lang="en-US" sz="2400" spc="-20" dirty="0">
                <a:cs typeface="Verdana"/>
              </a:rPr>
              <a:t>he</a:t>
            </a:r>
            <a:r>
              <a:rPr lang="en-US" sz="2400" spc="-30" dirty="0">
                <a:cs typeface="Verdana"/>
              </a:rPr>
              <a:t>t</a:t>
            </a:r>
            <a:r>
              <a:rPr lang="en-US" sz="2400" spc="30" dirty="0">
                <a:cs typeface="Verdana"/>
              </a:rPr>
              <a:t>i</a:t>
            </a:r>
            <a:r>
              <a:rPr lang="en-US" sz="2400" spc="70" dirty="0">
                <a:cs typeface="Verdana"/>
              </a:rPr>
              <a:t>c</a:t>
            </a:r>
            <a:r>
              <a:rPr lang="en-US" sz="2400" dirty="0">
                <a:cs typeface="Verdana"/>
              </a:rPr>
              <a:t> </a:t>
            </a:r>
            <a:r>
              <a:rPr lang="en-US" sz="2400" spc="-160" dirty="0">
                <a:cs typeface="Verdana"/>
              </a:rPr>
              <a:t>i</a:t>
            </a:r>
            <a:r>
              <a:rPr lang="en-US" sz="2400" spc="10" dirty="0">
                <a:cs typeface="Verdana"/>
              </a:rPr>
              <a:t>np</a:t>
            </a:r>
            <a:r>
              <a:rPr lang="en-US" sz="2400" spc="15" dirty="0">
                <a:cs typeface="Verdana"/>
              </a:rPr>
              <a:t>u</a:t>
            </a:r>
            <a:r>
              <a:rPr lang="en-US" sz="2400" spc="-110" dirty="0">
                <a:cs typeface="Verdana"/>
              </a:rPr>
              <a:t>t</a:t>
            </a:r>
            <a:r>
              <a:rPr lang="en-US" sz="2400" spc="-175" dirty="0">
                <a:cs typeface="Verdana"/>
              </a:rPr>
              <a:t> </a:t>
            </a:r>
            <a:r>
              <a:rPr lang="en-US" sz="2400" spc="-100" dirty="0">
                <a:cs typeface="Verdana"/>
              </a:rPr>
              <a:t>t</a:t>
            </a:r>
            <a:r>
              <a:rPr lang="en-US" sz="2400" spc="95" dirty="0">
                <a:cs typeface="Verdana"/>
              </a:rPr>
              <a:t>o</a:t>
            </a:r>
            <a:r>
              <a:rPr lang="en-US" sz="2400" spc="-180" dirty="0">
                <a:cs typeface="Verdana"/>
              </a:rPr>
              <a:t> </a:t>
            </a:r>
            <a:r>
              <a:rPr lang="en-US" sz="2400" spc="-70" dirty="0">
                <a:cs typeface="Verdana"/>
              </a:rPr>
              <a:t>m</a:t>
            </a:r>
            <a:r>
              <a:rPr lang="en-US" sz="2400" spc="-40" dirty="0">
                <a:cs typeface="Verdana"/>
              </a:rPr>
              <a:t>u</a:t>
            </a:r>
            <a:r>
              <a:rPr lang="en-US" sz="2400" spc="-20" dirty="0">
                <a:cs typeface="Verdana"/>
              </a:rPr>
              <a:t>cus</a:t>
            </a:r>
            <a:r>
              <a:rPr lang="en-US" sz="2400" spc="-185" dirty="0">
                <a:cs typeface="Verdana"/>
              </a:rPr>
              <a:t> </a:t>
            </a:r>
            <a:r>
              <a:rPr lang="en-US" sz="2400" spc="-10" dirty="0">
                <a:cs typeface="Verdana"/>
              </a:rPr>
              <a:t>glands</a:t>
            </a:r>
            <a:r>
              <a:rPr lang="en-US" sz="2400" spc="-150" dirty="0">
                <a:cs typeface="Verdana"/>
              </a:rPr>
              <a:t> </a:t>
            </a:r>
            <a:r>
              <a:rPr lang="en-US" sz="2400" spc="60" dirty="0">
                <a:cs typeface="Verdana"/>
              </a:rPr>
              <a:t>and  </a:t>
            </a:r>
            <a:r>
              <a:rPr lang="en-US" sz="2400" spc="50" dirty="0">
                <a:cs typeface="Verdana"/>
              </a:rPr>
              <a:t>reduc</a:t>
            </a:r>
            <a:r>
              <a:rPr lang="en-US" sz="2400" spc="55" dirty="0">
                <a:cs typeface="Verdana"/>
              </a:rPr>
              <a:t>e</a:t>
            </a:r>
            <a:r>
              <a:rPr lang="en-US" sz="2400" spc="-265" dirty="0">
                <a:cs typeface="Verdana"/>
              </a:rPr>
              <a:t>s</a:t>
            </a:r>
            <a:r>
              <a:rPr lang="en-US" sz="2400" spc="-185" dirty="0">
                <a:cs typeface="Verdana"/>
              </a:rPr>
              <a:t> </a:t>
            </a:r>
            <a:r>
              <a:rPr lang="en-US" sz="2400" spc="-180" dirty="0">
                <a:cs typeface="Verdana"/>
              </a:rPr>
              <a:t>rh</a:t>
            </a:r>
            <a:r>
              <a:rPr lang="en-US" sz="2400" spc="-105" dirty="0">
                <a:cs typeface="Verdana"/>
              </a:rPr>
              <a:t>i</a:t>
            </a:r>
            <a:r>
              <a:rPr lang="en-US" sz="2400" spc="-75" dirty="0">
                <a:cs typeface="Verdana"/>
              </a:rPr>
              <a:t>no</a:t>
            </a:r>
            <a:r>
              <a:rPr lang="en-US" sz="2400" spc="-65" dirty="0">
                <a:cs typeface="Verdana"/>
              </a:rPr>
              <a:t>r</a:t>
            </a:r>
            <a:r>
              <a:rPr lang="en-US" sz="2400" spc="-5" dirty="0">
                <a:cs typeface="Verdana"/>
              </a:rPr>
              <a:t>rhea</a:t>
            </a:r>
            <a:endParaRPr lang="en-US" sz="2400" dirty="0">
              <a:cs typeface="Verdana"/>
            </a:endParaRPr>
          </a:p>
          <a:p>
            <a:pPr marL="771525" marR="770890" indent="-285115">
              <a:lnSpc>
                <a:spcPts val="1920"/>
              </a:lnSpc>
              <a:spcBef>
                <a:spcPts val="480"/>
              </a:spcBef>
              <a:tabLst>
                <a:tab pos="771525" algn="l"/>
                <a:tab pos="3538854" algn="l"/>
              </a:tabLst>
            </a:pPr>
            <a:r>
              <a:rPr lang="en-US" sz="2400" spc="-5" dirty="0">
                <a:cs typeface="Verdana"/>
              </a:rPr>
              <a:t>may</a:t>
            </a:r>
            <a:r>
              <a:rPr lang="en-US" sz="2400" spc="-180" dirty="0">
                <a:cs typeface="Verdana"/>
              </a:rPr>
              <a:t> </a:t>
            </a:r>
            <a:r>
              <a:rPr lang="en-US" sz="2400" spc="-145" dirty="0">
                <a:cs typeface="Verdana"/>
              </a:rPr>
              <a:t>l</a:t>
            </a:r>
            <a:r>
              <a:rPr lang="en-US" sz="2400" spc="135" dirty="0">
                <a:cs typeface="Verdana"/>
              </a:rPr>
              <a:t>ead</a:t>
            </a:r>
            <a:r>
              <a:rPr lang="en-US" sz="2400" spc="-165" dirty="0">
                <a:cs typeface="Verdana"/>
              </a:rPr>
              <a:t> </a:t>
            </a:r>
            <a:r>
              <a:rPr lang="en-US" sz="2400" spc="-100" dirty="0">
                <a:cs typeface="Verdana"/>
              </a:rPr>
              <a:t>t</a:t>
            </a:r>
            <a:r>
              <a:rPr lang="en-US" sz="2400" spc="95" dirty="0">
                <a:cs typeface="Verdana"/>
              </a:rPr>
              <a:t>o</a:t>
            </a:r>
            <a:r>
              <a:rPr lang="en-US" sz="2400" spc="-180" dirty="0">
                <a:cs typeface="Verdana"/>
              </a:rPr>
              <a:t> the </a:t>
            </a:r>
            <a:r>
              <a:rPr lang="en-US" sz="2400" spc="-55" dirty="0">
                <a:cs typeface="Verdana"/>
              </a:rPr>
              <a:t>incr</a:t>
            </a:r>
            <a:r>
              <a:rPr lang="en-US" sz="2400" spc="5" dirty="0">
                <a:cs typeface="Verdana"/>
              </a:rPr>
              <a:t>eas</a:t>
            </a:r>
            <a:r>
              <a:rPr lang="en-US" sz="2400" spc="114" dirty="0">
                <a:cs typeface="Verdana"/>
              </a:rPr>
              <a:t>ed</a:t>
            </a:r>
            <a:r>
              <a:rPr lang="en-US" sz="2400" spc="-165" dirty="0">
                <a:cs typeface="Verdana"/>
              </a:rPr>
              <a:t> </a:t>
            </a:r>
            <a:r>
              <a:rPr lang="en-US" sz="2400" spc="-100" dirty="0">
                <a:cs typeface="Verdana"/>
              </a:rPr>
              <a:t>t</a:t>
            </a:r>
            <a:r>
              <a:rPr lang="en-US" sz="2400" spc="-45" dirty="0">
                <a:cs typeface="Verdana"/>
              </a:rPr>
              <a:t>hickne</a:t>
            </a:r>
            <a:r>
              <a:rPr lang="en-US" sz="2400" spc="-40" dirty="0">
                <a:cs typeface="Verdana"/>
              </a:rPr>
              <a:t>s</a:t>
            </a:r>
            <a:r>
              <a:rPr lang="en-US" sz="2400" spc="-265" dirty="0">
                <a:cs typeface="Verdana"/>
              </a:rPr>
              <a:t>s</a:t>
            </a:r>
            <a:r>
              <a:rPr lang="en-US" sz="2400" spc="-185" dirty="0">
                <a:cs typeface="Verdana"/>
              </a:rPr>
              <a:t> </a:t>
            </a:r>
            <a:r>
              <a:rPr lang="en-US" sz="2400" spc="10" dirty="0">
                <a:cs typeface="Verdana"/>
              </a:rPr>
              <a:t>of</a:t>
            </a:r>
            <a:r>
              <a:rPr lang="en-US" sz="2400" spc="-160" dirty="0">
                <a:cs typeface="Verdana"/>
              </a:rPr>
              <a:t> </a:t>
            </a:r>
            <a:r>
              <a:rPr lang="en-US" sz="2400" spc="-15" dirty="0">
                <a:cs typeface="Verdana"/>
              </a:rPr>
              <a:t>secr</a:t>
            </a:r>
            <a:r>
              <a:rPr lang="en-US" sz="2400" spc="-10" dirty="0">
                <a:cs typeface="Verdana"/>
              </a:rPr>
              <a:t>e</a:t>
            </a:r>
            <a:r>
              <a:rPr lang="en-US" sz="2400" spc="-100" dirty="0">
                <a:cs typeface="Verdana"/>
              </a:rPr>
              <a:t>t</a:t>
            </a:r>
            <a:r>
              <a:rPr lang="en-US" sz="2400" spc="-25" dirty="0">
                <a:cs typeface="Verdana"/>
              </a:rPr>
              <a:t>i</a:t>
            </a:r>
            <a:r>
              <a:rPr lang="en-US" sz="2400" spc="-50" dirty="0">
                <a:cs typeface="Verdana"/>
              </a:rPr>
              <a:t>o</a:t>
            </a:r>
            <a:r>
              <a:rPr lang="en-US" sz="2400" spc="-155" dirty="0">
                <a:cs typeface="Verdana"/>
              </a:rPr>
              <a:t>ns</a:t>
            </a:r>
            <a:r>
              <a:rPr lang="en-US" sz="2400" spc="-185" dirty="0">
                <a:cs typeface="Verdana"/>
              </a:rPr>
              <a:t> </a:t>
            </a:r>
            <a:r>
              <a:rPr lang="en-US" sz="2400" spc="60" dirty="0">
                <a:cs typeface="Verdana"/>
              </a:rPr>
              <a:t>and  parad</a:t>
            </a:r>
            <a:r>
              <a:rPr lang="en-US" sz="2400" spc="-65" dirty="0">
                <a:cs typeface="Verdana"/>
              </a:rPr>
              <a:t>o</a:t>
            </a:r>
            <a:r>
              <a:rPr lang="en-US" sz="2400" spc="-75" dirty="0">
                <a:cs typeface="Verdana"/>
              </a:rPr>
              <a:t>x</a:t>
            </a:r>
            <a:r>
              <a:rPr lang="en-US" sz="2400" spc="70" dirty="0">
                <a:cs typeface="Verdana"/>
              </a:rPr>
              <a:t>ic</a:t>
            </a:r>
            <a:r>
              <a:rPr lang="en-US" sz="2400" spc="105" dirty="0">
                <a:cs typeface="Verdana"/>
              </a:rPr>
              <a:t>a</a:t>
            </a:r>
            <a:r>
              <a:rPr lang="en-US" sz="2400" spc="-145" dirty="0">
                <a:cs typeface="Verdana"/>
              </a:rPr>
              <a:t>ll</a:t>
            </a:r>
            <a:r>
              <a:rPr lang="en-US" sz="2400" spc="-110" dirty="0">
                <a:cs typeface="Verdana"/>
              </a:rPr>
              <a:t>y</a:t>
            </a:r>
            <a:r>
              <a:rPr lang="en-US" sz="2400" spc="-185" dirty="0">
                <a:cs typeface="Verdana"/>
              </a:rPr>
              <a:t> </a:t>
            </a:r>
            <a:r>
              <a:rPr lang="en-US" sz="2400" spc="-60" dirty="0">
                <a:cs typeface="Verdana"/>
              </a:rPr>
              <a:t>worsen</a:t>
            </a:r>
            <a:r>
              <a:rPr lang="en-US" sz="2400" dirty="0">
                <a:cs typeface="Verdana"/>
              </a:rPr>
              <a:t> </a:t>
            </a:r>
            <a:r>
              <a:rPr lang="en-US" sz="2400" spc="105" dirty="0">
                <a:cs typeface="Verdana"/>
              </a:rPr>
              <a:t>p</a:t>
            </a:r>
            <a:r>
              <a:rPr lang="en-US" sz="2400" spc="95" dirty="0">
                <a:cs typeface="Verdana"/>
              </a:rPr>
              <a:t>o</a:t>
            </a:r>
            <a:r>
              <a:rPr lang="en-US" sz="2400" spc="-220" dirty="0">
                <a:cs typeface="Verdana"/>
              </a:rPr>
              <a:t>s</a:t>
            </a:r>
            <a:r>
              <a:rPr lang="en-US" sz="2400" spc="-150" dirty="0">
                <a:cs typeface="Verdana"/>
              </a:rPr>
              <a:t>t</a:t>
            </a:r>
            <a:r>
              <a:rPr lang="en-US" sz="2400" spc="-25" dirty="0">
                <a:cs typeface="Verdana"/>
              </a:rPr>
              <a:t>nasal</a:t>
            </a:r>
            <a:r>
              <a:rPr lang="en-US" sz="2400" spc="-204" dirty="0">
                <a:cs typeface="Verdana"/>
              </a:rPr>
              <a:t> </a:t>
            </a:r>
            <a:r>
              <a:rPr lang="en-US" sz="2400" spc="-80" dirty="0">
                <a:cs typeface="Verdana"/>
              </a:rPr>
              <a:t>d</a:t>
            </a:r>
            <a:r>
              <a:rPr lang="en-US" sz="2400" spc="-65" dirty="0">
                <a:cs typeface="Verdana"/>
              </a:rPr>
              <a:t>r</a:t>
            </a:r>
            <a:r>
              <a:rPr lang="en-US" sz="2400" spc="40" dirty="0">
                <a:cs typeface="Verdana"/>
              </a:rPr>
              <a:t>ainag</a:t>
            </a:r>
            <a:r>
              <a:rPr lang="en-US" sz="2400" spc="110" dirty="0">
                <a:cs typeface="Verdana"/>
              </a:rPr>
              <a:t>e</a:t>
            </a:r>
            <a:endParaRPr lang="en-US" sz="2400" dirty="0">
              <a:cs typeface="Verdana"/>
            </a:endParaRP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9EF4-92C9-4ECE-ABAA-7E1AC7756D1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90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828801" y="1397632"/>
            <a:ext cx="8304529" cy="45459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    </a:t>
            </a:r>
          </a:p>
          <a:p>
            <a:pPr marL="0" indent="0">
              <a:buNone/>
            </a:pPr>
            <a:r>
              <a:rPr lang="en-US" dirty="0"/>
              <a:t>          8-leukotrienes inhibitors: </a:t>
            </a:r>
          </a:p>
          <a:p>
            <a:pPr marL="486409">
              <a:lnSpc>
                <a:spcPts val="2395"/>
              </a:lnSpc>
              <a:spcBef>
                <a:spcPts val="105"/>
              </a:spcBef>
              <a:tabLst>
                <a:tab pos="771525" algn="l"/>
              </a:tabLst>
            </a:pPr>
            <a:r>
              <a:rPr lang="en-US" spc="-40" dirty="0">
                <a:cs typeface="Verdana"/>
              </a:rPr>
              <a:t>Leu</a:t>
            </a:r>
            <a:r>
              <a:rPr lang="en-US" spc="-55" dirty="0">
                <a:cs typeface="Verdana"/>
              </a:rPr>
              <a:t>kotriene </a:t>
            </a:r>
            <a:r>
              <a:rPr lang="en-US" spc="55" dirty="0">
                <a:cs typeface="Verdana"/>
              </a:rPr>
              <a:t>rece</a:t>
            </a:r>
            <a:r>
              <a:rPr lang="en-US" dirty="0">
                <a:cs typeface="Verdana"/>
              </a:rPr>
              <a:t>p</a:t>
            </a:r>
            <a:r>
              <a:rPr lang="en-US" spc="15" dirty="0">
                <a:cs typeface="Verdana"/>
              </a:rPr>
              <a:t>t</a:t>
            </a:r>
            <a:r>
              <a:rPr lang="en-US" spc="-80" dirty="0">
                <a:cs typeface="Verdana"/>
              </a:rPr>
              <a:t>or</a:t>
            </a:r>
            <a:r>
              <a:rPr lang="en-US" spc="-200" dirty="0">
                <a:cs typeface="Verdana"/>
              </a:rPr>
              <a:t> </a:t>
            </a:r>
            <a:r>
              <a:rPr lang="en-US" dirty="0">
                <a:cs typeface="Verdana"/>
              </a:rPr>
              <a:t>an</a:t>
            </a:r>
            <a:r>
              <a:rPr lang="en-US" spc="15" dirty="0">
                <a:cs typeface="Verdana"/>
              </a:rPr>
              <a:t>t</a:t>
            </a:r>
            <a:r>
              <a:rPr lang="en-US" spc="114" dirty="0">
                <a:cs typeface="Verdana"/>
              </a:rPr>
              <a:t>ag</a:t>
            </a:r>
            <a:r>
              <a:rPr lang="en-US" spc="105" dirty="0">
                <a:cs typeface="Verdana"/>
              </a:rPr>
              <a:t>o</a:t>
            </a:r>
            <a:r>
              <a:rPr lang="en-US" spc="-145" dirty="0">
                <a:cs typeface="Verdana"/>
              </a:rPr>
              <a:t>nist </a:t>
            </a:r>
            <a:r>
              <a:rPr lang="en-US" spc="-160" dirty="0">
                <a:cs typeface="Verdana"/>
              </a:rPr>
              <a:t> </a:t>
            </a:r>
            <a:r>
              <a:rPr lang="en-US" spc="-215" dirty="0">
                <a:cs typeface="Verdana"/>
              </a:rPr>
              <a:t>(</a:t>
            </a:r>
            <a:r>
              <a:rPr lang="en-US" spc="-35" dirty="0" err="1">
                <a:cs typeface="Verdana"/>
              </a:rPr>
              <a:t>mon</a:t>
            </a:r>
            <a:r>
              <a:rPr lang="en-US" spc="-5" dirty="0" err="1">
                <a:cs typeface="Verdana"/>
              </a:rPr>
              <a:t>t</a:t>
            </a:r>
            <a:r>
              <a:rPr lang="en-US" spc="-30" dirty="0" err="1">
                <a:cs typeface="Verdana"/>
              </a:rPr>
              <a:t>e</a:t>
            </a:r>
            <a:r>
              <a:rPr lang="en-US" spc="-5" dirty="0" err="1">
                <a:cs typeface="Verdana"/>
              </a:rPr>
              <a:t>l</a:t>
            </a:r>
            <a:r>
              <a:rPr lang="en-US" spc="-120" dirty="0" err="1">
                <a:cs typeface="Verdana"/>
              </a:rPr>
              <a:t>u</a:t>
            </a:r>
            <a:r>
              <a:rPr lang="en-US" spc="-105" dirty="0" err="1">
                <a:cs typeface="Verdana"/>
              </a:rPr>
              <a:t>k</a:t>
            </a:r>
            <a:r>
              <a:rPr lang="en-US" spc="-85" dirty="0" err="1">
                <a:cs typeface="Verdana"/>
              </a:rPr>
              <a:t>as</a:t>
            </a:r>
            <a:r>
              <a:rPr lang="en-US" spc="-35" dirty="0" err="1">
                <a:cs typeface="Verdana"/>
              </a:rPr>
              <a:t>t</a:t>
            </a:r>
            <a:r>
              <a:rPr lang="en-US" spc="-170" dirty="0">
                <a:cs typeface="Verdana"/>
              </a:rPr>
              <a:t>)</a:t>
            </a:r>
            <a:r>
              <a:rPr lang="en-US" dirty="0">
                <a:cs typeface="Verdana"/>
              </a:rPr>
              <a:t> </a:t>
            </a:r>
            <a:r>
              <a:rPr lang="en-US" spc="130" dirty="0">
                <a:cs typeface="Verdana"/>
              </a:rPr>
              <a:t>can</a:t>
            </a:r>
            <a:r>
              <a:rPr lang="en-US" spc="-165" dirty="0">
                <a:cs typeface="Verdana"/>
              </a:rPr>
              <a:t> </a:t>
            </a:r>
            <a:r>
              <a:rPr lang="en-US" spc="-150" dirty="0">
                <a:cs typeface="Verdana"/>
              </a:rPr>
              <a:t>i</a:t>
            </a:r>
            <a:r>
              <a:rPr lang="en-US" spc="-35" dirty="0">
                <a:cs typeface="Verdana"/>
              </a:rPr>
              <a:t>mpro</a:t>
            </a:r>
            <a:r>
              <a:rPr lang="en-US" spc="-70" dirty="0">
                <a:cs typeface="Verdana"/>
              </a:rPr>
              <a:t>v</a:t>
            </a:r>
            <a:r>
              <a:rPr lang="en-US" spc="114" dirty="0">
                <a:cs typeface="Verdana"/>
              </a:rPr>
              <a:t>e</a:t>
            </a:r>
            <a:r>
              <a:rPr lang="en-US" spc="-200" dirty="0">
                <a:cs typeface="Verdana"/>
              </a:rPr>
              <a:t> </a:t>
            </a:r>
            <a:r>
              <a:rPr lang="en-US" spc="-204" dirty="0">
                <a:cs typeface="Verdana"/>
              </a:rPr>
              <a:t>s</a:t>
            </a:r>
            <a:r>
              <a:rPr lang="en-US" spc="-240" dirty="0">
                <a:cs typeface="Verdana"/>
              </a:rPr>
              <a:t>y</a:t>
            </a:r>
            <a:r>
              <a:rPr lang="en-US" spc="-35" dirty="0">
                <a:cs typeface="Verdana"/>
              </a:rPr>
              <a:t>mp</a:t>
            </a:r>
            <a:r>
              <a:rPr lang="en-US" dirty="0">
                <a:cs typeface="Verdana"/>
              </a:rPr>
              <a:t>t</a:t>
            </a:r>
            <a:r>
              <a:rPr lang="en-US" spc="10" dirty="0">
                <a:cs typeface="Verdana"/>
              </a:rPr>
              <a:t>om</a:t>
            </a:r>
            <a:r>
              <a:rPr lang="en-US" spc="-160" dirty="0">
                <a:cs typeface="Verdana"/>
              </a:rPr>
              <a:t> </a:t>
            </a:r>
            <a:r>
              <a:rPr lang="en-US" spc="-70" dirty="0">
                <a:cs typeface="Verdana"/>
              </a:rPr>
              <a:t>score</a:t>
            </a:r>
            <a:r>
              <a:rPr lang="en-US" spc="-65" dirty="0">
                <a:cs typeface="Verdana"/>
              </a:rPr>
              <a:t>s</a:t>
            </a:r>
            <a:r>
              <a:rPr lang="en-US" spc="-160" dirty="0">
                <a:cs typeface="Verdana"/>
              </a:rPr>
              <a:t> </a:t>
            </a:r>
            <a:r>
              <a:rPr lang="en-US" spc="-155" dirty="0">
                <a:cs typeface="Verdana"/>
              </a:rPr>
              <a:t>i</a:t>
            </a:r>
            <a:r>
              <a:rPr lang="en-US" spc="-55" dirty="0">
                <a:cs typeface="Verdana"/>
              </a:rPr>
              <a:t>n</a:t>
            </a:r>
            <a:r>
              <a:rPr lang="en-US" spc="-195" dirty="0">
                <a:cs typeface="Verdana"/>
              </a:rPr>
              <a:t> </a:t>
            </a:r>
            <a:r>
              <a:rPr lang="en-US" spc="-100" dirty="0">
                <a:cs typeface="Verdana"/>
              </a:rPr>
              <a:t>CRS  </a:t>
            </a:r>
            <a:r>
              <a:rPr lang="en-US" spc="-40" dirty="0">
                <a:cs typeface="Verdana"/>
              </a:rPr>
              <a:t>patients.</a:t>
            </a:r>
            <a:endParaRPr lang="en-US" dirty="0">
              <a:cs typeface="Verdana"/>
            </a:endParaRPr>
          </a:p>
          <a:p>
            <a:pPr marL="486409">
              <a:lnSpc>
                <a:spcPts val="2395"/>
              </a:lnSpc>
              <a:spcBef>
                <a:spcPts val="10"/>
              </a:spcBef>
              <a:tabLst>
                <a:tab pos="771525" algn="l"/>
              </a:tabLst>
            </a:pPr>
            <a:r>
              <a:rPr lang="en-US" spc="-160" dirty="0">
                <a:cs typeface="Verdana"/>
              </a:rPr>
              <a:t>5</a:t>
            </a:r>
            <a:r>
              <a:rPr lang="en-US" spc="-254" dirty="0">
                <a:cs typeface="Verdana"/>
              </a:rPr>
              <a:t>-</a:t>
            </a:r>
            <a:r>
              <a:rPr lang="en-US" spc="-225" dirty="0">
                <a:cs typeface="Verdana"/>
              </a:rPr>
              <a:t>L</a:t>
            </a:r>
            <a:r>
              <a:rPr lang="en-US" spc="-125" dirty="0">
                <a:cs typeface="Verdana"/>
              </a:rPr>
              <a:t>i</a:t>
            </a:r>
            <a:r>
              <a:rPr lang="en-US" spc="-35" dirty="0">
                <a:cs typeface="Verdana"/>
              </a:rPr>
              <a:t>pox</a:t>
            </a:r>
            <a:r>
              <a:rPr lang="en-US" spc="-45" dirty="0">
                <a:cs typeface="Verdana"/>
              </a:rPr>
              <a:t>y</a:t>
            </a:r>
            <a:r>
              <a:rPr lang="en-US" spc="30" dirty="0">
                <a:cs typeface="Verdana"/>
              </a:rPr>
              <a:t>genase</a:t>
            </a:r>
            <a:r>
              <a:rPr lang="en-US" spc="-170" dirty="0">
                <a:cs typeface="Verdana"/>
              </a:rPr>
              <a:t> </a:t>
            </a:r>
            <a:r>
              <a:rPr lang="en-US" spc="-114" dirty="0">
                <a:cs typeface="Verdana"/>
              </a:rPr>
              <a:t>inh</a:t>
            </a:r>
            <a:r>
              <a:rPr lang="en-US" spc="-70" dirty="0">
                <a:cs typeface="Verdana"/>
              </a:rPr>
              <a:t>i</a:t>
            </a:r>
            <a:r>
              <a:rPr lang="en-US" spc="-55" dirty="0">
                <a:cs typeface="Verdana"/>
              </a:rPr>
              <a:t>bi</a:t>
            </a:r>
            <a:r>
              <a:rPr lang="en-US" spc="-35" dirty="0">
                <a:cs typeface="Verdana"/>
              </a:rPr>
              <a:t>t</a:t>
            </a:r>
            <a:r>
              <a:rPr lang="en-US" spc="-80" dirty="0">
                <a:cs typeface="Verdana"/>
              </a:rPr>
              <a:t>or</a:t>
            </a:r>
            <a:r>
              <a:rPr lang="en-US" spc="-165" dirty="0">
                <a:cs typeface="Verdana"/>
              </a:rPr>
              <a:t> </a:t>
            </a:r>
            <a:r>
              <a:rPr lang="en-US" spc="-215" dirty="0">
                <a:cs typeface="Verdana"/>
              </a:rPr>
              <a:t>(</a:t>
            </a:r>
            <a:r>
              <a:rPr lang="en-US" spc="-85" dirty="0" err="1">
                <a:cs typeface="Verdana"/>
              </a:rPr>
              <a:t>zil</a:t>
            </a:r>
            <a:r>
              <a:rPr lang="en-US" spc="-135" dirty="0" err="1">
                <a:cs typeface="Verdana"/>
              </a:rPr>
              <a:t>e</a:t>
            </a:r>
            <a:r>
              <a:rPr lang="en-US" spc="-100" dirty="0" err="1">
                <a:cs typeface="Verdana"/>
              </a:rPr>
              <a:t>u</a:t>
            </a:r>
            <a:r>
              <a:rPr lang="en-US" spc="-40" dirty="0" err="1">
                <a:cs typeface="Verdana"/>
              </a:rPr>
              <a:t>t</a:t>
            </a:r>
            <a:r>
              <a:rPr lang="en-US" spc="25" dirty="0" err="1">
                <a:cs typeface="Verdana"/>
              </a:rPr>
              <a:t>on</a:t>
            </a:r>
            <a:r>
              <a:rPr lang="en-US" spc="-170" dirty="0">
                <a:cs typeface="Verdana"/>
              </a:rPr>
              <a:t>)</a:t>
            </a:r>
            <a:r>
              <a:rPr lang="en-US" dirty="0">
                <a:cs typeface="Verdana"/>
              </a:rPr>
              <a:t> </a:t>
            </a:r>
            <a:r>
              <a:rPr lang="en-US" spc="-55" dirty="0">
                <a:cs typeface="Verdana"/>
              </a:rPr>
              <a:t>significant</a:t>
            </a:r>
            <a:r>
              <a:rPr lang="en-US" spc="-195" dirty="0">
                <a:cs typeface="Verdana"/>
              </a:rPr>
              <a:t> </a:t>
            </a:r>
            <a:r>
              <a:rPr lang="en-US" spc="-35" dirty="0">
                <a:cs typeface="Verdana"/>
              </a:rPr>
              <a:t>improvement</a:t>
            </a:r>
            <a:r>
              <a:rPr lang="en-US" spc="-195" dirty="0">
                <a:cs typeface="Verdana"/>
              </a:rPr>
              <a:t> </a:t>
            </a:r>
            <a:r>
              <a:rPr lang="en-US" spc="-105" dirty="0">
                <a:cs typeface="Verdana"/>
              </a:rPr>
              <a:t>in</a:t>
            </a:r>
            <a:r>
              <a:rPr lang="en-US" spc="-175" dirty="0">
                <a:cs typeface="Verdana"/>
              </a:rPr>
              <a:t> </a:t>
            </a:r>
            <a:r>
              <a:rPr lang="en-US" spc="5" dirty="0">
                <a:cs typeface="Verdana"/>
              </a:rPr>
              <a:t>olfaction</a:t>
            </a:r>
            <a:r>
              <a:rPr lang="en-US" spc="-180" dirty="0">
                <a:cs typeface="Verdana"/>
              </a:rPr>
              <a:t> </a:t>
            </a:r>
            <a:r>
              <a:rPr lang="en-US" spc="-105" dirty="0">
                <a:cs typeface="Verdana"/>
              </a:rPr>
              <a:t>in</a:t>
            </a:r>
            <a:r>
              <a:rPr lang="en-US" spc="-175" dirty="0">
                <a:cs typeface="Verdana"/>
              </a:rPr>
              <a:t> </a:t>
            </a:r>
            <a:r>
              <a:rPr lang="en-US" spc="-40" dirty="0">
                <a:cs typeface="Verdana"/>
              </a:rPr>
              <a:t>patients </a:t>
            </a:r>
            <a:r>
              <a:rPr lang="en-US" spc="-110" dirty="0">
                <a:cs typeface="Verdana"/>
              </a:rPr>
              <a:t>w</a:t>
            </a:r>
            <a:r>
              <a:rPr lang="en-US" spc="-25" dirty="0">
                <a:cs typeface="Verdana"/>
              </a:rPr>
              <a:t>i</a:t>
            </a:r>
            <a:r>
              <a:rPr lang="en-US" spc="-120" dirty="0">
                <a:cs typeface="Verdana"/>
              </a:rPr>
              <a:t>t</a:t>
            </a:r>
            <a:r>
              <a:rPr lang="en-US" spc="-55" dirty="0">
                <a:cs typeface="Verdana"/>
              </a:rPr>
              <a:t>h</a:t>
            </a:r>
            <a:r>
              <a:rPr lang="en-US" spc="-195" dirty="0">
                <a:cs typeface="Verdana"/>
              </a:rPr>
              <a:t> </a:t>
            </a:r>
            <a:r>
              <a:rPr lang="en-US" spc="-120" dirty="0">
                <a:cs typeface="Verdana"/>
              </a:rPr>
              <a:t>CRS</a:t>
            </a:r>
            <a:r>
              <a:rPr lang="en-US" spc="-155" dirty="0">
                <a:cs typeface="Verdana"/>
              </a:rPr>
              <a:t> </a:t>
            </a:r>
            <a:r>
              <a:rPr lang="en-US" spc="80" dirty="0">
                <a:cs typeface="Verdana"/>
              </a:rPr>
              <a:t>an</a:t>
            </a:r>
            <a:r>
              <a:rPr lang="en-US" spc="85" dirty="0">
                <a:cs typeface="Verdana"/>
              </a:rPr>
              <a:t>d</a:t>
            </a:r>
            <a:r>
              <a:rPr lang="en-US" spc="-170" dirty="0">
                <a:cs typeface="Verdana"/>
              </a:rPr>
              <a:t> </a:t>
            </a:r>
            <a:r>
              <a:rPr lang="en-US" spc="70" dirty="0">
                <a:cs typeface="Verdana"/>
              </a:rPr>
              <a:t>concom</a:t>
            </a:r>
            <a:r>
              <a:rPr lang="en-US" spc="45" dirty="0">
                <a:cs typeface="Verdana"/>
              </a:rPr>
              <a:t>i</a:t>
            </a:r>
            <a:r>
              <a:rPr lang="en-US" spc="-120" dirty="0">
                <a:cs typeface="Verdana"/>
              </a:rPr>
              <a:t>t</a:t>
            </a:r>
            <a:r>
              <a:rPr lang="en-US" spc="-5" dirty="0">
                <a:cs typeface="Verdana"/>
              </a:rPr>
              <a:t>an</a:t>
            </a:r>
            <a:r>
              <a:rPr lang="en-US" dirty="0">
                <a:cs typeface="Verdana"/>
              </a:rPr>
              <a:t>t</a:t>
            </a:r>
            <a:r>
              <a:rPr lang="en-US" spc="-175" dirty="0">
                <a:cs typeface="Verdana"/>
              </a:rPr>
              <a:t> </a:t>
            </a:r>
            <a:r>
              <a:rPr lang="en-US" spc="-50" dirty="0">
                <a:cs typeface="Verdana"/>
              </a:rPr>
              <a:t>aspirin-sensitive</a:t>
            </a:r>
            <a:r>
              <a:rPr lang="en-US" spc="-210" dirty="0">
                <a:cs typeface="Verdana"/>
              </a:rPr>
              <a:t> </a:t>
            </a:r>
            <a:r>
              <a:rPr lang="en-US" spc="-95" dirty="0">
                <a:cs typeface="Verdana"/>
              </a:rPr>
              <a:t>as</a:t>
            </a:r>
            <a:r>
              <a:rPr lang="en-US" spc="-60" dirty="0">
                <a:cs typeface="Verdana"/>
              </a:rPr>
              <a:t>t</a:t>
            </a:r>
            <a:r>
              <a:rPr lang="en-US" spc="-55" dirty="0">
                <a:cs typeface="Verdana"/>
              </a:rPr>
              <a:t>h</a:t>
            </a:r>
            <a:r>
              <a:rPr lang="en-US" spc="-80" dirty="0">
                <a:cs typeface="Verdana"/>
              </a:rPr>
              <a:t>m</a:t>
            </a:r>
            <a:r>
              <a:rPr lang="en-US" spc="175" dirty="0">
                <a:cs typeface="Verdana"/>
              </a:rPr>
              <a:t>a</a:t>
            </a:r>
          </a:p>
          <a:p>
            <a:pPr marL="0" indent="0">
              <a:lnSpc>
                <a:spcPct val="100000"/>
              </a:lnSpc>
              <a:spcBef>
                <a:spcPts val="10"/>
              </a:spcBef>
              <a:buNone/>
              <a:tabLst>
                <a:tab pos="396240" algn="l"/>
              </a:tabLst>
            </a:pPr>
            <a:r>
              <a:rPr lang="en-US" spc="40" dirty="0">
                <a:cs typeface="Verdana"/>
              </a:rPr>
              <a:t>       9-Deconges</a:t>
            </a:r>
            <a:r>
              <a:rPr lang="en-US" spc="-85" dirty="0">
                <a:cs typeface="Verdana"/>
              </a:rPr>
              <a:t>tants</a:t>
            </a:r>
            <a:r>
              <a:rPr lang="en-US" spc="-225" dirty="0">
                <a:cs typeface="Verdana"/>
              </a:rPr>
              <a:t> </a:t>
            </a:r>
            <a:r>
              <a:rPr lang="en-US" spc="-195" dirty="0">
                <a:cs typeface="Verdana"/>
              </a:rPr>
              <a:t>(</a:t>
            </a:r>
            <a:r>
              <a:rPr lang="en-US" spc="-175" dirty="0">
                <a:cs typeface="Verdana"/>
              </a:rPr>
              <a:t> </a:t>
            </a:r>
            <a:r>
              <a:rPr lang="en-US" spc="-170" dirty="0">
                <a:cs typeface="Verdana"/>
              </a:rPr>
              <a:t>li</a:t>
            </a:r>
            <a:r>
              <a:rPr lang="en-US" spc="-75" dirty="0">
                <a:cs typeface="Verdana"/>
              </a:rPr>
              <a:t>ttle</a:t>
            </a:r>
            <a:r>
              <a:rPr lang="en-US" spc="-195" dirty="0">
                <a:cs typeface="Verdana"/>
              </a:rPr>
              <a:t> </a:t>
            </a:r>
            <a:r>
              <a:rPr lang="en-US" spc="-140" dirty="0">
                <a:cs typeface="Verdana"/>
              </a:rPr>
              <a:t>ro</a:t>
            </a:r>
            <a:r>
              <a:rPr lang="en-US" spc="-70" dirty="0">
                <a:cs typeface="Verdana"/>
              </a:rPr>
              <a:t>l</a:t>
            </a:r>
            <a:r>
              <a:rPr lang="en-US" spc="125" dirty="0">
                <a:cs typeface="Verdana"/>
              </a:rPr>
              <a:t>e</a:t>
            </a:r>
            <a:r>
              <a:rPr lang="en-US" spc="-210" dirty="0">
                <a:cs typeface="Verdana"/>
              </a:rPr>
              <a:t> </a:t>
            </a:r>
            <a:r>
              <a:rPr lang="en-US" spc="-170" dirty="0">
                <a:cs typeface="Verdana"/>
              </a:rPr>
              <a:t>i</a:t>
            </a:r>
            <a:r>
              <a:rPr lang="en-US" spc="-55" dirty="0">
                <a:cs typeface="Verdana"/>
              </a:rPr>
              <a:t>n</a:t>
            </a:r>
            <a:r>
              <a:rPr lang="en-US" spc="-170" dirty="0">
                <a:cs typeface="Verdana"/>
              </a:rPr>
              <a:t> </a:t>
            </a:r>
            <a:r>
              <a:rPr lang="en-US" spc="-120" dirty="0">
                <a:cs typeface="Verdana"/>
              </a:rPr>
              <a:t>CRS</a:t>
            </a:r>
            <a:r>
              <a:rPr lang="en-US" spc="-175" dirty="0">
                <a:cs typeface="Verdana"/>
              </a:rPr>
              <a:t> </a:t>
            </a:r>
            <a:r>
              <a:rPr lang="en-US" spc="-195" dirty="0">
                <a:cs typeface="Verdana"/>
              </a:rPr>
              <a:t>)</a:t>
            </a:r>
            <a:endParaRPr lang="en-US" dirty="0">
              <a:cs typeface="Verdana"/>
            </a:endParaRPr>
          </a:p>
          <a:p>
            <a:pPr marL="486409">
              <a:lnSpc>
                <a:spcPct val="100000"/>
              </a:lnSpc>
              <a:tabLst>
                <a:tab pos="771525" algn="l"/>
              </a:tabLst>
            </a:pPr>
            <a:r>
              <a:rPr lang="en-US" spc="-10" dirty="0">
                <a:cs typeface="Verdana"/>
              </a:rPr>
              <a:t>Topical</a:t>
            </a:r>
            <a:endParaRPr lang="en-US" dirty="0">
              <a:cs typeface="Verdana"/>
            </a:endParaRPr>
          </a:p>
          <a:p>
            <a:pPr marL="486409">
              <a:lnSpc>
                <a:spcPct val="100000"/>
              </a:lnSpc>
              <a:tabLst>
                <a:tab pos="771525" algn="l"/>
              </a:tabLst>
            </a:pPr>
            <a:r>
              <a:rPr lang="en-US" spc="-90" dirty="0">
                <a:cs typeface="Verdana"/>
              </a:rPr>
              <a:t>Systemic</a:t>
            </a:r>
            <a:endParaRPr lang="en-US" dirty="0">
              <a:cs typeface="Verdana"/>
            </a:endParaRPr>
          </a:p>
          <a:p>
            <a:pPr marL="0" indent="0">
              <a:lnSpc>
                <a:spcPct val="100000"/>
              </a:lnSpc>
              <a:buNone/>
              <a:tabLst>
                <a:tab pos="396240" algn="l"/>
              </a:tabLst>
            </a:pPr>
            <a:r>
              <a:rPr lang="en-US" spc="-165" dirty="0">
                <a:cs typeface="Cambria"/>
              </a:rPr>
              <a:t>	10-</a:t>
            </a:r>
            <a:r>
              <a:rPr lang="en-US" spc="-260" dirty="0">
                <a:cs typeface="Verdana"/>
              </a:rPr>
              <a:t>L</a:t>
            </a:r>
            <a:r>
              <a:rPr lang="en-US" spc="-125" dirty="0">
                <a:cs typeface="Verdana"/>
              </a:rPr>
              <a:t>i</a:t>
            </a:r>
            <a:r>
              <a:rPr lang="en-US" spc="-80" dirty="0">
                <a:cs typeface="Verdana"/>
              </a:rPr>
              <a:t>festyle</a:t>
            </a:r>
            <a:r>
              <a:rPr lang="en-US" spc="-204" dirty="0">
                <a:cs typeface="Verdana"/>
              </a:rPr>
              <a:t> </a:t>
            </a:r>
            <a:r>
              <a:rPr lang="en-US" spc="5" dirty="0">
                <a:cs typeface="Verdana"/>
              </a:rPr>
              <a:t>modi</a:t>
            </a:r>
            <a:r>
              <a:rPr lang="en-US" dirty="0">
                <a:cs typeface="Verdana"/>
              </a:rPr>
              <a:t>fication</a:t>
            </a:r>
          </a:p>
          <a:p>
            <a:pPr marL="771525" marR="401955" indent="-285115">
              <a:lnSpc>
                <a:spcPct val="79500"/>
              </a:lnSpc>
              <a:spcBef>
                <a:spcPts val="490"/>
              </a:spcBef>
              <a:tabLst>
                <a:tab pos="771525" algn="l"/>
              </a:tabLst>
            </a:pPr>
            <a:r>
              <a:rPr lang="en-US" spc="-65" dirty="0">
                <a:cs typeface="Verdana"/>
              </a:rPr>
              <a:t>Stop</a:t>
            </a:r>
            <a:r>
              <a:rPr lang="en-US" spc="-180" dirty="0">
                <a:cs typeface="Verdana"/>
              </a:rPr>
              <a:t> </a:t>
            </a:r>
            <a:r>
              <a:rPr lang="en-US" spc="-90" dirty="0">
                <a:cs typeface="Verdana"/>
              </a:rPr>
              <a:t>smoking,</a:t>
            </a:r>
            <a:r>
              <a:rPr lang="en-US" spc="-165" dirty="0">
                <a:cs typeface="Verdana"/>
              </a:rPr>
              <a:t> </a:t>
            </a:r>
            <a:r>
              <a:rPr lang="en-US" spc="30" dirty="0">
                <a:cs typeface="Verdana"/>
              </a:rPr>
              <a:t>get</a:t>
            </a:r>
            <a:r>
              <a:rPr lang="en-US" spc="-150" dirty="0">
                <a:cs typeface="Verdana"/>
              </a:rPr>
              <a:t> </a:t>
            </a:r>
            <a:r>
              <a:rPr lang="en-US" spc="75" dirty="0">
                <a:cs typeface="Verdana"/>
              </a:rPr>
              <a:t>adequate</a:t>
            </a:r>
            <a:r>
              <a:rPr lang="en-US" spc="-200" dirty="0">
                <a:cs typeface="Verdana"/>
              </a:rPr>
              <a:t> </a:t>
            </a:r>
            <a:r>
              <a:rPr lang="en-US" spc="-45" dirty="0">
                <a:cs typeface="Verdana"/>
              </a:rPr>
              <a:t>sleep,</a:t>
            </a:r>
            <a:r>
              <a:rPr lang="en-US" spc="-185" dirty="0">
                <a:cs typeface="Verdana"/>
              </a:rPr>
              <a:t> </a:t>
            </a:r>
            <a:r>
              <a:rPr lang="en-US" spc="-40" dirty="0">
                <a:cs typeface="Verdana"/>
              </a:rPr>
              <a:t>exercise</a:t>
            </a:r>
            <a:r>
              <a:rPr lang="en-US" spc="-165" dirty="0">
                <a:cs typeface="Verdana"/>
              </a:rPr>
              <a:t> </a:t>
            </a:r>
            <a:r>
              <a:rPr lang="en-US" spc="-80" dirty="0">
                <a:cs typeface="Verdana"/>
              </a:rPr>
              <a:t>regularly, </a:t>
            </a:r>
            <a:r>
              <a:rPr lang="en-US" spc="-690" dirty="0">
                <a:cs typeface="Verdana"/>
              </a:rPr>
              <a:t> </a:t>
            </a:r>
            <a:r>
              <a:rPr lang="en-US" spc="40" dirty="0">
                <a:cs typeface="Verdana"/>
              </a:rPr>
              <a:t>a</a:t>
            </a:r>
            <a:r>
              <a:rPr lang="en-US" spc="60" dirty="0">
                <a:cs typeface="Verdana"/>
              </a:rPr>
              <a:t>v</a:t>
            </a:r>
            <a:r>
              <a:rPr lang="en-US" spc="-35" dirty="0">
                <a:cs typeface="Verdana"/>
              </a:rPr>
              <a:t>o</a:t>
            </a:r>
            <a:r>
              <a:rPr lang="en-US" spc="-30" dirty="0">
                <a:cs typeface="Verdana"/>
              </a:rPr>
              <a:t>i</a:t>
            </a:r>
            <a:r>
              <a:rPr lang="en-US" spc="125" dirty="0">
                <a:cs typeface="Verdana"/>
              </a:rPr>
              <a:t>d</a:t>
            </a:r>
            <a:r>
              <a:rPr lang="en-US" spc="-185" dirty="0">
                <a:cs typeface="Verdana"/>
              </a:rPr>
              <a:t> </a:t>
            </a:r>
            <a:r>
              <a:rPr lang="en-US" spc="-30" dirty="0">
                <a:cs typeface="Verdana"/>
              </a:rPr>
              <a:t>pol</a:t>
            </a:r>
            <a:r>
              <a:rPr lang="en-US" spc="-10" dirty="0">
                <a:cs typeface="Verdana"/>
              </a:rPr>
              <a:t>l</a:t>
            </a:r>
            <a:r>
              <a:rPr lang="en-US" spc="-100" dirty="0">
                <a:cs typeface="Verdana"/>
              </a:rPr>
              <a:t>u</a:t>
            </a:r>
            <a:r>
              <a:rPr lang="en-US" spc="-40" dirty="0">
                <a:cs typeface="Verdana"/>
              </a:rPr>
              <a:t>t</a:t>
            </a:r>
            <a:r>
              <a:rPr lang="en-US" spc="-25" dirty="0">
                <a:cs typeface="Verdana"/>
              </a:rPr>
              <a:t>i</a:t>
            </a:r>
            <a:r>
              <a:rPr lang="en-US" spc="-50" dirty="0">
                <a:cs typeface="Verdana"/>
              </a:rPr>
              <a:t>o</a:t>
            </a:r>
            <a:r>
              <a:rPr lang="en-US" spc="-45" dirty="0">
                <a:cs typeface="Verdana"/>
              </a:rPr>
              <a:t>n, plenty of fluid</a:t>
            </a:r>
            <a:endParaRPr lang="en-US" dirty="0">
              <a:cs typeface="Verdana"/>
            </a:endParaRPr>
          </a:p>
          <a:p>
            <a:pPr marL="771525">
              <a:lnSpc>
                <a:spcPts val="2375"/>
              </a:lnSpc>
            </a:pP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0F2A-290E-454E-949B-B025A3F3897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78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058669" y="1397632"/>
            <a:ext cx="8074660" cy="49269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B</a:t>
            </a:r>
            <a:r>
              <a:rPr lang="en-US" sz="3200" b="1" dirty="0" smtClean="0">
                <a:solidFill>
                  <a:srgbClr val="C00000"/>
                </a:solidFill>
              </a:rPr>
              <a:t>-Surgery </a:t>
            </a:r>
            <a:r>
              <a:rPr lang="en-US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 smtClean="0"/>
              <a:t>-</a:t>
            </a:r>
            <a:r>
              <a:rPr lang="en-US" sz="2400" dirty="0"/>
              <a:t>Conventional surgery especially for nasal polyp, </a:t>
            </a:r>
            <a:r>
              <a:rPr lang="en-US" sz="2400" dirty="0" err="1"/>
              <a:t>septoplasty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-</a:t>
            </a:r>
            <a:r>
              <a:rPr lang="en-US" sz="2400" dirty="0"/>
              <a:t>Functional endoscopic sinus surgery(FESS):procedure of choice for refractory CRS.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FF0000"/>
                </a:solidFill>
              </a:rPr>
              <a:t>Indications </a:t>
            </a:r>
          </a:p>
          <a:p>
            <a:pPr marL="0" indent="0">
              <a:buNone/>
            </a:pPr>
            <a:endParaRPr lang="en-US" sz="2400" dirty="0"/>
          </a:p>
          <a:p>
            <a:pPr marL="13970" indent="0">
              <a:lnSpc>
                <a:spcPct val="100000"/>
              </a:lnSpc>
              <a:spcBef>
                <a:spcPts val="580"/>
              </a:spcBef>
              <a:buNone/>
              <a:tabLst>
                <a:tab pos="356235" algn="l"/>
                <a:tab pos="356870" algn="l"/>
                <a:tab pos="1784985" algn="l"/>
                <a:tab pos="4448810" algn="l"/>
                <a:tab pos="5631815" algn="l"/>
                <a:tab pos="6904990" algn="l"/>
              </a:tabLst>
            </a:pPr>
            <a:r>
              <a:rPr lang="en-US" sz="2400" dirty="0" smtClean="0"/>
              <a:t>-Anato</a:t>
            </a:r>
            <a:r>
              <a:rPr lang="en-US" sz="2400" spc="-15" dirty="0" smtClean="0"/>
              <a:t>m</a:t>
            </a:r>
            <a:r>
              <a:rPr lang="en-US" sz="2400" dirty="0" smtClean="0"/>
              <a:t>ic</a:t>
            </a:r>
            <a:r>
              <a:rPr lang="en-US" sz="2400" dirty="0"/>
              <a:t>	bloc</a:t>
            </a:r>
            <a:r>
              <a:rPr lang="en-US" sz="2400" spc="-10" dirty="0"/>
              <a:t>k</a:t>
            </a:r>
            <a:r>
              <a:rPr lang="en-US" sz="2400" dirty="0"/>
              <a:t>ag</a:t>
            </a:r>
            <a:r>
              <a:rPr lang="en-US" sz="2400" spc="5" dirty="0"/>
              <a:t>e</a:t>
            </a:r>
            <a:r>
              <a:rPr lang="en-US" sz="2400" spc="-5" dirty="0"/>
              <a:t>—</a:t>
            </a:r>
            <a:r>
              <a:rPr lang="en-US" sz="2400" spc="-15" dirty="0"/>
              <a:t>d</a:t>
            </a:r>
            <a:r>
              <a:rPr lang="en-US" sz="2400" dirty="0"/>
              <a:t>ev</a:t>
            </a:r>
            <a:r>
              <a:rPr lang="en-US" sz="2400" spc="-10" dirty="0"/>
              <a:t>ia</a:t>
            </a:r>
            <a:r>
              <a:rPr lang="en-US" sz="2400" dirty="0"/>
              <a:t>ted septu</a:t>
            </a:r>
            <a:r>
              <a:rPr lang="en-US" sz="2400" spc="-20" dirty="0"/>
              <a:t>m</a:t>
            </a:r>
            <a:r>
              <a:rPr lang="en-US" sz="2400" dirty="0"/>
              <a:t>, enla</a:t>
            </a:r>
            <a:r>
              <a:rPr lang="en-US" sz="2400" spc="-40" dirty="0"/>
              <a:t>r</a:t>
            </a:r>
            <a:r>
              <a:rPr lang="en-US" sz="2400" spc="-15" dirty="0"/>
              <a:t>g</a:t>
            </a:r>
            <a:r>
              <a:rPr lang="en-US" sz="2400" dirty="0"/>
              <a:t>ed t</a:t>
            </a:r>
            <a:r>
              <a:rPr lang="en-US" sz="2400" spc="-10" dirty="0"/>
              <a:t>u</a:t>
            </a:r>
            <a:r>
              <a:rPr lang="en-US" sz="2400" dirty="0"/>
              <a:t>r</a:t>
            </a:r>
            <a:r>
              <a:rPr lang="en-US" sz="2400" spc="-10" dirty="0"/>
              <a:t>b</a:t>
            </a:r>
            <a:r>
              <a:rPr lang="en-US" sz="2400" dirty="0"/>
              <a:t>in</a:t>
            </a:r>
            <a:r>
              <a:rPr lang="en-US" sz="2400" spc="-10" dirty="0"/>
              <a:t>at</a:t>
            </a:r>
            <a:r>
              <a:rPr lang="en-US" sz="2400" dirty="0"/>
              <a:t>e, concha</a:t>
            </a:r>
            <a:r>
              <a:rPr lang="en-US" sz="2400" spc="-15" dirty="0"/>
              <a:t> </a:t>
            </a:r>
            <a:r>
              <a:rPr lang="en-US" sz="2400" dirty="0"/>
              <a:t>bullosa</a:t>
            </a:r>
          </a:p>
          <a:p>
            <a:pPr marL="13970" indent="0">
              <a:lnSpc>
                <a:spcPct val="100000"/>
              </a:lnSpc>
              <a:spcBef>
                <a:spcPts val="575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</a:t>
            </a:r>
            <a:r>
              <a:rPr lang="en-US" sz="2400" dirty="0" err="1" smtClean="0"/>
              <a:t>Mucocele</a:t>
            </a:r>
            <a:endParaRPr lang="en-US" sz="2400" dirty="0"/>
          </a:p>
          <a:p>
            <a:pPr marL="13970" indent="0">
              <a:lnSpc>
                <a:spcPct val="100000"/>
              </a:lnSpc>
              <a:spcBef>
                <a:spcPts val="580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-Orbital</a:t>
            </a:r>
            <a:r>
              <a:rPr lang="en-US" sz="2400" spc="-25" dirty="0" smtClean="0"/>
              <a:t> </a:t>
            </a:r>
            <a:r>
              <a:rPr lang="en-US" sz="2400" dirty="0"/>
              <a:t>abscess</a:t>
            </a:r>
          </a:p>
          <a:p>
            <a:pPr marL="13970" indent="0">
              <a:lnSpc>
                <a:spcPct val="100000"/>
              </a:lnSpc>
              <a:spcBef>
                <a:spcPts val="575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-Fungal </a:t>
            </a:r>
            <a:r>
              <a:rPr lang="en-US" sz="2400" spc="-5" dirty="0"/>
              <a:t>sinusitis—allergic vs. </a:t>
            </a:r>
            <a:r>
              <a:rPr lang="en-US" sz="2400" dirty="0"/>
              <a:t>invasive</a:t>
            </a:r>
            <a:r>
              <a:rPr lang="en-US" sz="2400" spc="-70" dirty="0"/>
              <a:t> </a:t>
            </a:r>
            <a:r>
              <a:rPr lang="en-US" sz="2400" spc="-5" dirty="0"/>
              <a:t>(</a:t>
            </a:r>
            <a:r>
              <a:rPr lang="en-US" sz="2400" spc="-5" dirty="0" err="1"/>
              <a:t>mucor</a:t>
            </a:r>
            <a:r>
              <a:rPr lang="en-US" sz="2400" spc="-5" dirty="0"/>
              <a:t>)</a:t>
            </a:r>
          </a:p>
          <a:p>
            <a:pPr marL="13970" indent="0">
              <a:lnSpc>
                <a:spcPct val="100000"/>
              </a:lnSpc>
              <a:spcBef>
                <a:spcPts val="575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spc="-20" dirty="0" smtClean="0"/>
              <a:t>-Tumor </a:t>
            </a:r>
            <a:r>
              <a:rPr lang="en-US" sz="2400" dirty="0"/>
              <a:t>of nasal cavity or</a:t>
            </a:r>
            <a:r>
              <a:rPr lang="en-US" sz="2400" spc="-20" dirty="0"/>
              <a:t> </a:t>
            </a:r>
            <a:r>
              <a:rPr lang="en-US" sz="2400" spc="-5" dirty="0"/>
              <a:t>sinus</a:t>
            </a:r>
          </a:p>
          <a:p>
            <a:pPr marL="13970" indent="0">
              <a:lnSpc>
                <a:spcPct val="100000"/>
              </a:lnSpc>
              <a:spcBef>
                <a:spcPts val="580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-Chronic</a:t>
            </a:r>
            <a:r>
              <a:rPr lang="en-US" sz="2400" dirty="0"/>
              <a:t>, recurrent</a:t>
            </a:r>
            <a:r>
              <a:rPr lang="en-US" sz="2400" spc="-40" dirty="0"/>
              <a:t> </a:t>
            </a:r>
            <a:r>
              <a:rPr lang="en-US" sz="2400" dirty="0"/>
              <a:t>sinusitis</a:t>
            </a:r>
          </a:p>
          <a:p>
            <a:pPr marL="13970" indent="0">
              <a:lnSpc>
                <a:spcPct val="100000"/>
              </a:lnSpc>
              <a:spcBef>
                <a:spcPts val="575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-Failure </a:t>
            </a:r>
            <a:r>
              <a:rPr lang="en-US" sz="2400" dirty="0"/>
              <a:t>to respond to </a:t>
            </a:r>
            <a:r>
              <a:rPr lang="en-US" sz="2400" spc="-10" dirty="0"/>
              <a:t>maximal </a:t>
            </a:r>
            <a:r>
              <a:rPr lang="en-US" sz="2400" spc="-5" dirty="0"/>
              <a:t>medical</a:t>
            </a:r>
            <a:r>
              <a:rPr lang="en-US" sz="2400" spc="-50" dirty="0"/>
              <a:t> </a:t>
            </a:r>
            <a:r>
              <a:rPr lang="en-US" sz="2400" dirty="0"/>
              <a:t>therapy</a:t>
            </a:r>
          </a:p>
          <a:p>
            <a:pPr marL="13970" indent="0">
              <a:lnSpc>
                <a:spcPct val="100000"/>
              </a:lnSpc>
              <a:spcBef>
                <a:spcPts val="575"/>
              </a:spcBef>
              <a:buNone/>
              <a:tabLst>
                <a:tab pos="356235" algn="l"/>
                <a:tab pos="356870" algn="l"/>
              </a:tabLst>
            </a:pPr>
            <a:r>
              <a:rPr lang="en-US" sz="2400" dirty="0" smtClean="0"/>
              <a:t>-Obtain</a:t>
            </a:r>
            <a:r>
              <a:rPr lang="en-US" sz="2400" spc="-15" dirty="0" smtClean="0"/>
              <a:t> </a:t>
            </a:r>
            <a:r>
              <a:rPr lang="en-US" sz="2400" dirty="0"/>
              <a:t>cultures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79B-09B7-4186-AFE8-010CF48E3E7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1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 </a:t>
            </a:r>
            <a:r>
              <a:rPr lang="en-US" sz="3600" b="1" dirty="0">
                <a:solidFill>
                  <a:srgbClr val="C00000"/>
                </a:solidFill>
              </a:rPr>
              <a:t>Principal goal of FESS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	</a:t>
            </a:r>
          </a:p>
          <a:p>
            <a:r>
              <a:rPr lang="en-US" sz="2400" dirty="0"/>
              <a:t>Restore patency to the </a:t>
            </a:r>
            <a:r>
              <a:rPr lang="en-US" sz="2400" dirty="0" err="1"/>
              <a:t>ostiomeatal</a:t>
            </a:r>
            <a:r>
              <a:rPr lang="en-US" sz="2400" dirty="0"/>
              <a:t> unit</a:t>
            </a:r>
          </a:p>
          <a:p>
            <a:r>
              <a:rPr lang="en-US" sz="2400" dirty="0"/>
              <a:t>Correction of septal deformities</a:t>
            </a:r>
          </a:p>
          <a:p>
            <a:r>
              <a:rPr lang="en-US" sz="2400" dirty="0"/>
              <a:t>Removal of severe concha bullosa deformity</a:t>
            </a:r>
          </a:p>
          <a:p>
            <a:r>
              <a:rPr lang="en-US" sz="2400" dirty="0"/>
              <a:t>Restoration of patency to </a:t>
            </a:r>
            <a:r>
              <a:rPr lang="en-US" sz="2400" dirty="0" smtClean="0"/>
              <a:t>the frontal sinus</a:t>
            </a:r>
          </a:p>
          <a:p>
            <a:r>
              <a:rPr lang="en-US" sz="2400" dirty="0" smtClean="0"/>
              <a:t>Delivery of the drug into the sinus</a:t>
            </a:r>
          </a:p>
          <a:p>
            <a:r>
              <a:rPr lang="en-US" sz="2400" dirty="0" smtClean="0"/>
              <a:t>Restoring </a:t>
            </a:r>
            <a:r>
              <a:rPr lang="en-US" sz="2400" dirty="0" err="1" smtClean="0"/>
              <a:t>mucocilliary</a:t>
            </a:r>
            <a:r>
              <a:rPr lang="en-US" sz="2400" dirty="0" smtClean="0"/>
              <a:t> clearance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ABBA2-A9D5-49CC-9070-A3BCB6A6F77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76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Complication of FESS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C00000"/>
                </a:solidFill>
              </a:rPr>
              <a:t>Minor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2700" indent="0">
              <a:lnSpc>
                <a:spcPct val="100000"/>
              </a:lnSpc>
              <a:spcBef>
                <a:spcPts val="580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-Orbital-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927100" marR="75120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orbital</a:t>
            </a:r>
            <a:r>
              <a:rPr lang="en-US" sz="2000" spc="-9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emphysema </a:t>
            </a:r>
            <a:r>
              <a:rPr lang="en-US" sz="2000" spc="-434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orbital</a:t>
            </a:r>
            <a:r>
              <a:rPr lang="en-US" sz="2000" spc="-45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ecchymosis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12700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-Nasolacrimal Duct Injury(</a:t>
            </a:r>
            <a:r>
              <a:rPr lang="en-US" sz="2000" spc="-5" dirty="0" err="1">
                <a:solidFill>
                  <a:prstClr val="black"/>
                </a:solidFill>
                <a:cs typeface="Calibri"/>
              </a:rPr>
              <a:t>epiphora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)</a:t>
            </a:r>
          </a:p>
          <a:p>
            <a:pPr marL="12700" marR="50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 </a:t>
            </a:r>
            <a:r>
              <a:rPr lang="en-US" sz="2000" spc="-44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Disturbance</a:t>
            </a:r>
            <a:r>
              <a:rPr lang="en-US" sz="2000" spc="-2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in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 olfaction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n-US" sz="2000" spc="-10" dirty="0">
                <a:solidFill>
                  <a:prstClr val="black"/>
                </a:solidFill>
                <a:cs typeface="Calibri"/>
              </a:rPr>
              <a:t>-Dental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pain/lip</a:t>
            </a:r>
            <a:r>
              <a:rPr lang="en-US" sz="2000" spc="-4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pain</a:t>
            </a:r>
            <a:r>
              <a:rPr lang="en-US" sz="2000" spc="-1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or</a:t>
            </a:r>
            <a:r>
              <a:rPr lang="en-US" sz="2000" spc="-25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numbness</a:t>
            </a:r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C00000"/>
                </a:solidFill>
              </a:rPr>
              <a:t>Major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12700" marR="13912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-Orbital hematoma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     -</a:t>
            </a:r>
            <a:r>
              <a:rPr lang="en-US" sz="2000" spc="-5" dirty="0">
                <a:solidFill>
                  <a:prstClr val="black"/>
                </a:solidFill>
                <a:cs typeface="Calibri"/>
              </a:rPr>
              <a:t>Optic nerve </a:t>
            </a:r>
            <a:r>
              <a:rPr lang="en-US" sz="2000" dirty="0">
                <a:solidFill>
                  <a:prstClr val="black"/>
                </a:solidFill>
                <a:cs typeface="Calibri"/>
              </a:rPr>
              <a:t>injury</a:t>
            </a:r>
          </a:p>
          <a:p>
            <a:pPr marL="12700" marR="13912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-CSF leak</a:t>
            </a:r>
          </a:p>
          <a:p>
            <a:pPr marL="12700" marR="13912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-brain laceration</a:t>
            </a:r>
          </a:p>
          <a:p>
            <a:pPr marL="12700" marR="13912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prstClr val="black"/>
                </a:solidFill>
                <a:cs typeface="Calibri"/>
              </a:rPr>
              <a:t>-hemorrhage </a:t>
            </a:r>
            <a:r>
              <a:rPr lang="en-US" sz="2000" spc="-440" dirty="0">
                <a:solidFill>
                  <a:prstClr val="black"/>
                </a:solidFill>
                <a:cs typeface="Calibri"/>
              </a:rPr>
              <a:t> </a:t>
            </a:r>
          </a:p>
          <a:p>
            <a:pPr marL="927100" marR="508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-Ethmoid artery injury</a:t>
            </a:r>
          </a:p>
          <a:p>
            <a:pPr marL="927100" marR="508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-internal carotid artery to cavernous sinus fistula</a:t>
            </a:r>
          </a:p>
          <a:p>
            <a:pPr marL="927100" marR="508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en-US" sz="2000" spc="-5" dirty="0">
                <a:solidFill>
                  <a:prstClr val="black"/>
                </a:solidFill>
                <a:cs typeface="Calibri"/>
              </a:rPr>
              <a:t>-sphenopalatine artery injury</a:t>
            </a:r>
            <a:endParaRPr lang="en-US" sz="2000" dirty="0">
              <a:solidFill>
                <a:prstClr val="black"/>
              </a:solidFill>
              <a:cs typeface="Calibri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46E7C-7657-4AB0-B872-2C079EA18EB6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60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</a:t>
            </a:r>
            <a:r>
              <a:rPr lang="en-US" b="1" dirty="0" smtClean="0"/>
              <a:t>Conclusion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Chronic </a:t>
            </a:r>
            <a:r>
              <a:rPr lang="en-US" dirty="0" err="1"/>
              <a:t>Rhinosinusitis</a:t>
            </a:r>
            <a:r>
              <a:rPr lang="en-US" dirty="0"/>
              <a:t> is a persistent inflammatory condition of the nose and paranasal sinuses lasting more than 12 weeks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It often results from impaired </a:t>
            </a:r>
            <a:r>
              <a:rPr lang="en-US" dirty="0" err="1"/>
              <a:t>mucociliary</a:t>
            </a:r>
            <a:r>
              <a:rPr lang="en-US" dirty="0"/>
              <a:t> clearance and may follow infection or allergic inflammation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Accurate diagnosis, based on symptoms, endoscopic findings, and imaging, is essential for effective treatment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Medical therapy remains first-line, but surgery (FESS) is vital for refractory cases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Successful management requires a multidisciplinary approach to improve quality of life and prevent recurrence.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78EF-3502-4288-ABBD-0B44A87B268A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05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</a:t>
            </a:r>
            <a:r>
              <a:rPr lang="en-US" b="1" dirty="0" smtClean="0"/>
              <a:t>Source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Logan and Turner</a:t>
            </a:r>
          </a:p>
          <a:p>
            <a:r>
              <a:rPr lang="en-US" b="1" dirty="0" smtClean="0"/>
              <a:t>Scott-</a:t>
            </a:r>
            <a:r>
              <a:rPr lang="en-US" b="1" dirty="0" err="1" smtClean="0"/>
              <a:t>brownn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78EF-3502-4288-ABBD-0B44A87B268A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0FAB0-4C65-4A57-8CB1-08E0168A57C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3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743</Words>
  <Application>Microsoft Office PowerPoint</Application>
  <PresentationFormat>Widescreen</PresentationFormat>
  <Paragraphs>183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Carlito</vt:lpstr>
      <vt:lpstr>Times New Roman</vt:lpstr>
      <vt:lpstr>Verdana</vt:lpstr>
      <vt:lpstr>Office Theme</vt:lpstr>
      <vt:lpstr>Custom Design</vt:lpstr>
      <vt:lpstr>CHRONIC RHINOSINUSITIS</vt:lpstr>
      <vt:lpstr>  Learning outcome</vt:lpstr>
      <vt:lpstr>      Chronic Rhinosinusitis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CHRONIC RHINOSINUSITIS</vt:lpstr>
      <vt:lpstr> Classification(Sub-types of CRS)</vt:lpstr>
      <vt:lpstr> AFRS(allergic fungal rhinosinusitis) </vt:lpstr>
      <vt:lpstr> FACTORS ASSOCIATED WITH  CHRONIC RHINOSINUSITIS</vt:lpstr>
      <vt:lpstr>PowerPoint Presentation</vt:lpstr>
      <vt:lpstr>  Management </vt:lpstr>
      <vt:lpstr>PowerPoint Presentation</vt:lpstr>
      <vt:lpstr>PowerPoint Presentation</vt:lpstr>
      <vt:lpstr>PowerPoint Presentation</vt:lpstr>
      <vt:lpstr> Principal goal of FESS</vt:lpstr>
      <vt:lpstr>Complication of FESS</vt:lpstr>
      <vt:lpstr>              Conclusion </vt:lpstr>
      <vt:lpstr>                  Source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rhinosinusitis</dc:title>
  <dc:creator>hp</dc:creator>
  <cp:lastModifiedBy>hp</cp:lastModifiedBy>
  <cp:revision>9</cp:revision>
  <dcterms:created xsi:type="dcterms:W3CDTF">2025-10-11T15:50:29Z</dcterms:created>
  <dcterms:modified xsi:type="dcterms:W3CDTF">2025-10-12T19:27:59Z</dcterms:modified>
</cp:coreProperties>
</file>