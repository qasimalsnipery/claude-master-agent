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77" r:id="rId12"/>
    <p:sldId id="265" r:id="rId13"/>
    <p:sldId id="266" r:id="rId14"/>
    <p:sldId id="267" r:id="rId15"/>
    <p:sldId id="268" r:id="rId16"/>
    <p:sldId id="269" r:id="rId17"/>
    <p:sldId id="278" r:id="rId18"/>
    <p:sldId id="274" r:id="rId19"/>
    <p:sldId id="271" r:id="rId20"/>
    <p:sldId id="272" r:id="rId21"/>
    <p:sldId id="27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67AC8-A54F-4351-8B67-B092253AC143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FA2F1-D98B-4763-98A6-DD8A272BF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76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AFA12-A47A-4E0C-A3B9-FBA1B1C2AEF5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93868-5D26-4B4E-BAB4-A83B8CAC6564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35" y="92076"/>
            <a:ext cx="2231329" cy="6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82FD5-8E33-4147-968F-1B9E99A113E7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175EB-02DD-4053-AB49-9DB0D4802963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6A3F0-F21C-48A6-BE77-C5293D349575}" type="datetime1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76792-E004-4509-82B3-BB1C3AAA3DA4}" type="datetime1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45A5B-2823-492D-B8CB-EAC9EFD661A0}" type="datetime1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712B7-2038-4AC3-A6F9-2D2976BDBD88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A6A58-DF2F-4194-8C77-E97136F5EBE5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BFB9A-5FB5-4A8F-B063-08FDF5B4630B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62B1C-B990-4C16-92E7-6D2DA8D2D103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EE5F0-AB8F-4036-A015-5411BAD0A3A4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5400" b="1" dirty="0" smtClean="0"/>
              <a:t>Nasal Polyps</a:t>
            </a:r>
            <a:endParaRPr sz="5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lvl="0" defTabSz="914400">
              <a:lnSpc>
                <a:spcPct val="90000"/>
              </a:lnSpc>
              <a:spcBef>
                <a:spcPts val="1000"/>
              </a:spcBef>
            </a:pPr>
            <a:r>
              <a:rPr lang="en-US" sz="1900" b="1" dirty="0" err="1">
                <a:solidFill>
                  <a:prstClr val="black"/>
                </a:solidFill>
                <a:latin typeface="Calibri" panose="020F0502020204030204"/>
              </a:rPr>
              <a:t>Dr.Haval</a:t>
            </a:r>
            <a:r>
              <a:rPr lang="en-US" sz="1900" b="1" dirty="0">
                <a:solidFill>
                  <a:prstClr val="black"/>
                </a:solidFill>
                <a:latin typeface="Calibri" panose="020F0502020204030204"/>
              </a:rPr>
              <a:t> Ahmed Hama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</a:pPr>
            <a:r>
              <a:rPr lang="en-US" sz="1900" b="1" dirty="0" err="1">
                <a:solidFill>
                  <a:prstClr val="black"/>
                </a:solidFill>
                <a:latin typeface="Calibri" panose="020F0502020204030204"/>
              </a:rPr>
              <a:t>MBChB</a:t>
            </a:r>
            <a:r>
              <a:rPr lang="en-US" sz="1900" b="1" dirty="0">
                <a:solidFill>
                  <a:prstClr val="black"/>
                </a:solidFill>
                <a:latin typeface="Calibri" panose="020F0502020204030204"/>
              </a:rPr>
              <a:t>, F.K.B.M.S 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</a:pPr>
            <a:r>
              <a:rPr lang="en-US" sz="1900" b="1" dirty="0">
                <a:solidFill>
                  <a:prstClr val="black"/>
                </a:solidFill>
                <a:latin typeface="Calibri" panose="020F0502020204030204"/>
              </a:rPr>
              <a:t>(Otolaryngology, Head and Neck Surgeon)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</a:pPr>
            <a:r>
              <a:rPr lang="en-US" sz="1900" b="1" dirty="0">
                <a:solidFill>
                  <a:prstClr val="black"/>
                </a:solidFill>
                <a:latin typeface="Calibri" panose="020F0502020204030204"/>
              </a:rPr>
              <a:t>University of </a:t>
            </a:r>
            <a:r>
              <a:rPr lang="en-US" sz="1900" b="1" dirty="0" err="1">
                <a:solidFill>
                  <a:prstClr val="black"/>
                </a:solidFill>
                <a:latin typeface="Calibri" panose="020F0502020204030204"/>
              </a:rPr>
              <a:t>Sulaimani</a:t>
            </a:r>
            <a:r>
              <a:rPr lang="en-US" sz="1900" b="1" dirty="0">
                <a:solidFill>
                  <a:prstClr val="black"/>
                </a:solidFill>
                <a:latin typeface="Calibri" panose="020F0502020204030204"/>
              </a:rPr>
              <a:t>, College of Medicine.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</a:pPr>
            <a:r>
              <a:rPr lang="en-US" sz="1900" b="1" dirty="0">
                <a:solidFill>
                  <a:prstClr val="black"/>
                </a:solidFill>
                <a:latin typeface="Calibri" panose="020F0502020204030204"/>
              </a:rPr>
              <a:t>Branch of clinical science.</a:t>
            </a:r>
          </a:p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7942F-6726-46FE-91C5-059CBCD86957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11" t="44061" r="38889" b="26956"/>
          <a:stretch/>
        </p:blipFill>
        <p:spPr bwMode="auto">
          <a:xfrm>
            <a:off x="133350" y="76200"/>
            <a:ext cx="2228850" cy="609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b="1" dirty="0" smtClean="0"/>
              <a:t>Learning O</a:t>
            </a:r>
            <a:r>
              <a:rPr lang="en-US" b="1" dirty="0" smtClean="0"/>
              <a:t>utcomes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 smtClean="0"/>
              <a:t>• </a:t>
            </a:r>
            <a:r>
              <a:rPr dirty="0"/>
              <a:t>Define nasal polyps and explain their pathogenesis.</a:t>
            </a:r>
          </a:p>
          <a:p>
            <a:pPr marL="0" indent="0">
              <a:buNone/>
            </a:pPr>
            <a:r>
              <a:rPr dirty="0"/>
              <a:t>• Classify nasal polyps according to site and etiology.</a:t>
            </a:r>
          </a:p>
          <a:p>
            <a:pPr marL="0" indent="0">
              <a:buNone/>
            </a:pPr>
            <a:r>
              <a:rPr dirty="0"/>
              <a:t>• Describe the pathology, clinical features, and management of Ethmoidal Polyps.</a:t>
            </a:r>
          </a:p>
          <a:p>
            <a:pPr marL="0" indent="0">
              <a:buNone/>
            </a:pPr>
            <a:r>
              <a:rPr dirty="0"/>
              <a:t>• Describe the pathology, clinical features, and management of Antrochoanal Polyps.</a:t>
            </a:r>
          </a:p>
          <a:p>
            <a:pPr marL="0" indent="0">
              <a:buNone/>
            </a:pPr>
            <a:r>
              <a:rPr dirty="0"/>
              <a:t>• Discuss complications, recurrence, and preventive strategies.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6D9FF-A301-4E74-B379-5E6D0CF0EB2A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u="sng" dirty="0" smtClean="0">
                <a:solidFill>
                  <a:srgbClr val="FF0000"/>
                </a:solidFill>
              </a:rPr>
              <a:t>Nasal polyps</a:t>
            </a:r>
            <a:r>
              <a:rPr lang="en-US" b="1" u="sng" dirty="0" smtClean="0">
                <a:solidFill>
                  <a:srgbClr val="FF0000"/>
                </a:solidFill>
              </a:rPr>
              <a:t>:-</a:t>
            </a:r>
            <a:r>
              <a:rPr b="1" u="sng" dirty="0" smtClean="0">
                <a:solidFill>
                  <a:srgbClr val="FF0000"/>
                </a:solidFill>
              </a:rPr>
              <a:t> </a:t>
            </a:r>
            <a:r>
              <a:rPr dirty="0"/>
              <a:t>are benign, edematous inflammatory swellings of the nasal or paranasal sinus mucosa.</a:t>
            </a:r>
          </a:p>
          <a:p>
            <a:r>
              <a:rPr dirty="0" smtClean="0"/>
              <a:t> </a:t>
            </a:r>
            <a:r>
              <a:rPr dirty="0"/>
              <a:t>They arise due to chronic inflammation, allergy, or </a:t>
            </a:r>
            <a:r>
              <a:rPr dirty="0" err="1"/>
              <a:t>mucociliary</a:t>
            </a:r>
            <a:r>
              <a:rPr dirty="0"/>
              <a:t> dysfunction.</a:t>
            </a:r>
          </a:p>
          <a:p>
            <a:r>
              <a:rPr dirty="0" smtClean="0"/>
              <a:t> </a:t>
            </a:r>
            <a:r>
              <a:rPr dirty="0"/>
              <a:t>They are non-neoplastic and often associated with chronic </a:t>
            </a:r>
            <a:r>
              <a:rPr dirty="0" err="1"/>
              <a:t>rhinosinusitis</a:t>
            </a:r>
            <a:r>
              <a:rPr dirty="0"/>
              <a:t> or asthma.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48AE-1710-451F-8D40-360E287639C5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b="1" dirty="0" smtClean="0"/>
              <a:t>Etiology </a:t>
            </a:r>
            <a:r>
              <a:rPr b="1" dirty="0"/>
              <a:t>and Pathogenesis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smtClean="0"/>
              <a:t> </a:t>
            </a:r>
            <a:r>
              <a:rPr dirty="0"/>
              <a:t>Chronic mucosal inflammation leads to stromal edema and infiltration by eosinophils.</a:t>
            </a:r>
          </a:p>
          <a:p>
            <a:r>
              <a:rPr lang="en-US" dirty="0"/>
              <a:t> </a:t>
            </a:r>
            <a:r>
              <a:rPr dirty="0" smtClean="0"/>
              <a:t>Prolapse </a:t>
            </a:r>
            <a:r>
              <a:rPr dirty="0"/>
              <a:t>of edematous mucosa into nasal cavity forms a polyp.</a:t>
            </a:r>
          </a:p>
          <a:p>
            <a:pPr marL="0" indent="0">
              <a:buNone/>
            </a:pPr>
            <a:r>
              <a:rPr b="1" u="sng" dirty="0" smtClean="0"/>
              <a:t>Contributing </a:t>
            </a:r>
            <a:r>
              <a:rPr b="1" u="sng" dirty="0"/>
              <a:t>factors include: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– Allergy and asthma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– Aspirin intolerance (</a:t>
            </a:r>
            <a:r>
              <a:rPr dirty="0" err="1"/>
              <a:t>Samter’s</a:t>
            </a:r>
            <a:r>
              <a:rPr dirty="0"/>
              <a:t> triad)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– Chronic sinus infection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– Cystic fibrosis and ciliary dyskinesia</a:t>
            </a:r>
          </a:p>
          <a:p>
            <a:pPr marL="0" indent="0">
              <a:buNone/>
            </a:pPr>
            <a:r>
              <a:rPr dirty="0" smtClean="0"/>
              <a:t> </a:t>
            </a:r>
            <a:r>
              <a:rPr dirty="0"/>
              <a:t>– Fungal sinusitis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BE0DA-2A5E-4831-9A97-18EC5121EEF4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b="1" dirty="0" smtClean="0"/>
              <a:t>Classification </a:t>
            </a:r>
            <a:r>
              <a:rPr b="1" dirty="0"/>
              <a:t>of Nasal Polyps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 smtClean="0"/>
              <a:t>1.Ethmoidal polyps </a:t>
            </a:r>
            <a:r>
              <a:rPr dirty="0"/>
              <a:t>– Bilateral, multiple, allergic, arise from ethmoidal labyrinth.</a:t>
            </a:r>
          </a:p>
          <a:p>
            <a:pPr marL="0" indent="0">
              <a:buNone/>
            </a:pPr>
            <a:r>
              <a:rPr b="1" dirty="0" smtClean="0"/>
              <a:t>2.Antrochoanal polyp</a:t>
            </a:r>
            <a:r>
              <a:rPr dirty="0" smtClean="0"/>
              <a:t> </a:t>
            </a:r>
            <a:r>
              <a:rPr dirty="0"/>
              <a:t>– Solitary, unilateral, non-allergic, arises from maxillary sinus.</a:t>
            </a:r>
          </a:p>
          <a:p>
            <a:pPr marL="0" indent="0">
              <a:buNone/>
            </a:pPr>
            <a:r>
              <a:rPr b="1" dirty="0" smtClean="0"/>
              <a:t>3.Fungal/inflammatory polyps </a:t>
            </a:r>
            <a:r>
              <a:rPr dirty="0"/>
              <a:t>– Associated with fungal or chronic infective sinusitis.</a:t>
            </a:r>
          </a:p>
          <a:p>
            <a:pPr marL="0" indent="0">
              <a:buNone/>
            </a:pPr>
            <a:r>
              <a:rPr b="1" dirty="0" smtClean="0"/>
              <a:t>4.Secondary polyps </a:t>
            </a:r>
            <a:r>
              <a:rPr dirty="0"/>
              <a:t>– Arise secondary to neoplastic or anatomical obstruction.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69A81-38AE-4A31-9BF3-720747A83352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b="1" dirty="0" smtClean="0"/>
              <a:t>Ethmoidal </a:t>
            </a:r>
            <a:r>
              <a:rPr b="1" dirty="0"/>
              <a:t>Polyps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Arise from mucosa of ethmoidal labyrinth and middle meatus region.</a:t>
            </a:r>
          </a:p>
          <a:p>
            <a:pPr marL="0" indent="0">
              <a:buNone/>
            </a:pPr>
            <a:r>
              <a:rPr dirty="0"/>
              <a:t>• Usually bilateral and multiple.</a:t>
            </a:r>
          </a:p>
          <a:p>
            <a:pPr marL="0" indent="0">
              <a:buNone/>
            </a:pPr>
            <a:r>
              <a:rPr dirty="0"/>
              <a:t>• Associated with allergy, asthma, and chronic ethmoidal sinusitis.</a:t>
            </a:r>
          </a:p>
          <a:p>
            <a:pPr marL="0" indent="0">
              <a:buNone/>
            </a:pPr>
            <a:r>
              <a:rPr dirty="0"/>
              <a:t>• Common in adults.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4D9E-AA65-464D-BCA6-4CAED5E71AB8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b="1" dirty="0" smtClean="0"/>
              <a:t>Ethmoidal </a:t>
            </a:r>
            <a:r>
              <a:rPr b="1" dirty="0"/>
              <a:t>Polyps – Pathology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Composed of edematous stroma with plasma cells, lymphocytes, and eosinophils.</a:t>
            </a:r>
          </a:p>
          <a:p>
            <a:pPr marL="0" indent="0">
              <a:buNone/>
            </a:pPr>
            <a:r>
              <a:rPr dirty="0"/>
              <a:t>• Covered by respiratory epithelium with thickened basement membrane.</a:t>
            </a:r>
          </a:p>
          <a:p>
            <a:pPr marL="0" indent="0">
              <a:buNone/>
            </a:pPr>
            <a:r>
              <a:rPr dirty="0"/>
              <a:t>• Lacks glands and nerves → insensitive to touch.</a:t>
            </a:r>
          </a:p>
          <a:p>
            <a:pPr marL="0" indent="0">
              <a:buNone/>
            </a:pPr>
            <a:r>
              <a:rPr dirty="0"/>
              <a:t>• Often multiple, may fill nasal cavity and reach nasopharynx.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0AD32-BA55-4259-BF39-5474E82FE357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b="1" dirty="0" smtClean="0"/>
              <a:t>Ethmoidal </a:t>
            </a:r>
            <a:r>
              <a:rPr b="1" dirty="0"/>
              <a:t>Polyps – Clinical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dirty="0" smtClean="0"/>
              <a:t>•</a:t>
            </a:r>
            <a:r>
              <a:rPr lang="en-US" dirty="0" smtClean="0"/>
              <a:t> </a:t>
            </a:r>
            <a:r>
              <a:rPr dirty="0" smtClean="0"/>
              <a:t>Gradual</a:t>
            </a:r>
            <a:r>
              <a:rPr dirty="0"/>
              <a:t>, bilateral nasal obstruction.</a:t>
            </a:r>
          </a:p>
          <a:p>
            <a:pPr marL="0" indent="0">
              <a:buNone/>
            </a:pPr>
            <a:r>
              <a:rPr dirty="0"/>
              <a:t>• Watery nasal discharge and postnasal drip.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Hyposmia</a:t>
            </a:r>
            <a:r>
              <a:rPr dirty="0"/>
              <a:t> or anosmia.</a:t>
            </a:r>
          </a:p>
          <a:p>
            <a:pPr marL="0" indent="0">
              <a:buNone/>
            </a:pPr>
            <a:r>
              <a:rPr dirty="0"/>
              <a:t>• Dull frontal headache and mouth breathing.</a:t>
            </a:r>
          </a:p>
          <a:p>
            <a:pPr marL="0" indent="0">
              <a:buNone/>
            </a:pPr>
            <a:r>
              <a:rPr dirty="0"/>
              <a:t>• Nasal speech, especially in children.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8A65-B44D-40E5-A95B-C55629CB9B5A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b="1" dirty="0" smtClean="0"/>
              <a:t>Ethmoidal </a:t>
            </a:r>
            <a:r>
              <a:rPr b="1" dirty="0"/>
              <a:t>Polyps – Examination &amp; Investigations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r>
              <a:rPr dirty="0" smtClean="0"/>
              <a:t>• </a:t>
            </a:r>
            <a:r>
              <a:rPr dirty="0"/>
              <a:t>On endoscopy: smooth, glistening, pale masses in middle meatus.</a:t>
            </a:r>
          </a:p>
          <a:p>
            <a:pPr marL="0" indent="0">
              <a:buNone/>
            </a:pPr>
            <a:r>
              <a:rPr dirty="0"/>
              <a:t>• Move with respiration, insensitive, do not bleed.</a:t>
            </a:r>
          </a:p>
          <a:p>
            <a:pPr marL="0" indent="0">
              <a:buNone/>
            </a:pPr>
            <a:r>
              <a:rPr dirty="0"/>
              <a:t>• CT scan: </a:t>
            </a:r>
            <a:r>
              <a:rPr dirty="0" err="1"/>
              <a:t>opacified</a:t>
            </a:r>
            <a:r>
              <a:rPr dirty="0"/>
              <a:t> ethmoidal cells, possible extension into nasal cavity.</a:t>
            </a:r>
          </a:p>
          <a:p>
            <a:pPr marL="0" indent="0">
              <a:buNone/>
            </a:pPr>
            <a:r>
              <a:rPr dirty="0"/>
              <a:t>• Allergy testing if clinically indicated.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18CED-2DCE-4704-86CF-323EC946F037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6960" y="931044"/>
            <a:ext cx="7516939" cy="528910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93868-5D26-4B4E-BAB4-A83B8CAC6564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75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349" y="1083020"/>
            <a:ext cx="6886575" cy="5194006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93868-5D26-4B4E-BAB4-A83B8CAC6564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50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b="1" dirty="0" smtClean="0"/>
              <a:t>Ethmoidal </a:t>
            </a:r>
            <a:r>
              <a:rPr b="1" dirty="0"/>
              <a:t>Polyps –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 smtClean="0"/>
          </a:p>
          <a:p>
            <a:pPr marL="0" indent="0">
              <a:buNone/>
            </a:pPr>
            <a:r>
              <a:rPr b="1" u="sng" dirty="0" smtClean="0">
                <a:solidFill>
                  <a:srgbClr val="FF0000"/>
                </a:solidFill>
              </a:rPr>
              <a:t>Medical </a:t>
            </a:r>
            <a:r>
              <a:rPr b="1" u="sng" dirty="0">
                <a:solidFill>
                  <a:srgbClr val="FF0000"/>
                </a:solidFill>
              </a:rPr>
              <a:t>Treatment:</a:t>
            </a:r>
          </a:p>
          <a:p>
            <a:pPr marL="0" indent="0">
              <a:buNone/>
            </a:pPr>
            <a:r>
              <a:rPr dirty="0"/>
              <a:t>• Intranasal corticosteroids (mainstay)</a:t>
            </a:r>
          </a:p>
          <a:p>
            <a:pPr marL="0" indent="0">
              <a:buNone/>
            </a:pPr>
            <a:r>
              <a:rPr dirty="0"/>
              <a:t>• Short course of oral corticosteroids (for severe obstruction)</a:t>
            </a:r>
          </a:p>
          <a:p>
            <a:pPr marL="0" indent="0">
              <a:buNone/>
            </a:pPr>
            <a:r>
              <a:rPr dirty="0"/>
              <a:t>• Antihistamines and saline nasal irrigation</a:t>
            </a:r>
          </a:p>
          <a:p>
            <a:pPr marL="0" indent="0">
              <a:buNone/>
            </a:pPr>
            <a:r>
              <a:rPr dirty="0"/>
              <a:t>• Treat underlying allergy or infection</a:t>
            </a:r>
          </a:p>
          <a:p>
            <a:endParaRPr dirty="0"/>
          </a:p>
          <a:p>
            <a:pPr marL="0" indent="0">
              <a:buNone/>
            </a:pPr>
            <a:r>
              <a:rPr b="1" u="sng" dirty="0">
                <a:solidFill>
                  <a:srgbClr val="FF0000"/>
                </a:solidFill>
              </a:rPr>
              <a:t>Surgical Treatment:</a:t>
            </a:r>
          </a:p>
          <a:p>
            <a:pPr marL="0" indent="0">
              <a:buNone/>
            </a:pPr>
            <a:r>
              <a:rPr dirty="0"/>
              <a:t>• Functional Endoscopic Sinus Surgery (FESS) to remove polyps and clear ethmoidal air cells.</a:t>
            </a:r>
          </a:p>
          <a:p>
            <a:pPr marL="0" indent="0">
              <a:buNone/>
            </a:pPr>
            <a:r>
              <a:rPr dirty="0"/>
              <a:t>• Aim: restore ventilation and drainage.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CB215-AA44-4678-8077-69C2F4A1653C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b="1" dirty="0" smtClean="0"/>
              <a:t>Antrochoanal </a:t>
            </a:r>
            <a:r>
              <a:rPr b="1" dirty="0"/>
              <a:t>Polyp – Definition and Epidemiology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r>
              <a:rPr dirty="0" smtClean="0"/>
              <a:t>• </a:t>
            </a:r>
            <a:r>
              <a:rPr dirty="0"/>
              <a:t>A solitary polyp originating from the maxillary sinus mucosa.</a:t>
            </a:r>
          </a:p>
          <a:p>
            <a:pPr marL="0" indent="0">
              <a:buNone/>
            </a:pPr>
            <a:r>
              <a:rPr dirty="0"/>
              <a:t>• Passes through the accessory or natural ostium into the nasal cavity and extends to the </a:t>
            </a:r>
            <a:r>
              <a:rPr dirty="0" err="1"/>
              <a:t>choana</a:t>
            </a:r>
            <a:r>
              <a:rPr dirty="0"/>
              <a:t> or nasopharynx.</a:t>
            </a:r>
          </a:p>
          <a:p>
            <a:pPr marL="0" indent="0">
              <a:buNone/>
            </a:pPr>
            <a:r>
              <a:rPr dirty="0"/>
              <a:t>• Common in children and young adults.</a:t>
            </a:r>
          </a:p>
          <a:p>
            <a:pPr marL="0" indent="0">
              <a:buNone/>
            </a:pPr>
            <a:r>
              <a:rPr dirty="0"/>
              <a:t>• Usually unilateral and non-allergic in origin.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A07F2-D737-441D-951A-656C9B5DEB08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b="1" dirty="0" smtClean="0"/>
              <a:t>Antrochoanal </a:t>
            </a:r>
            <a:r>
              <a:rPr b="1" dirty="0"/>
              <a:t>Polyp – Pathogenesis and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en-US" dirty="0" smtClean="0"/>
          </a:p>
          <a:p>
            <a:pPr marL="0" indent="0">
              <a:buNone/>
            </a:pPr>
            <a:r>
              <a:rPr b="1" dirty="0" smtClean="0">
                <a:solidFill>
                  <a:srgbClr val="FF0000"/>
                </a:solidFill>
              </a:rPr>
              <a:t>Pathogenesis</a:t>
            </a:r>
            <a:r>
              <a:rPr b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dirty="0"/>
              <a:t>• Chronic infection in maxillary sinus → localized mucosal edema → pedunculated swelling → prolapse into nasal cavity.</a:t>
            </a:r>
          </a:p>
          <a:p>
            <a:endParaRPr dirty="0"/>
          </a:p>
          <a:p>
            <a:pPr marL="0" indent="0">
              <a:buNone/>
            </a:pPr>
            <a:r>
              <a:rPr b="1" dirty="0" smtClean="0">
                <a:solidFill>
                  <a:srgbClr val="FF0000"/>
                </a:solidFill>
              </a:rPr>
              <a:t>Stages:</a:t>
            </a:r>
            <a:endParaRPr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dirty="0"/>
              <a:t>1. Antral stage – confined to maxillary sinus.</a:t>
            </a:r>
          </a:p>
          <a:p>
            <a:pPr marL="0" indent="0">
              <a:buNone/>
            </a:pPr>
            <a:r>
              <a:rPr dirty="0"/>
              <a:t>2. Nasal stage – extends into nasal cavity.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dirty="0" err="1"/>
              <a:t>Choanal</a:t>
            </a:r>
            <a:r>
              <a:rPr dirty="0"/>
              <a:t> stage – extends into </a:t>
            </a:r>
            <a:r>
              <a:rPr dirty="0" err="1"/>
              <a:t>choana</a:t>
            </a:r>
            <a:r>
              <a:rPr dirty="0"/>
              <a:t>/nasopharynx.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7507-5038-466C-AE43-F8A4B42D60D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b="1" dirty="0" smtClean="0"/>
              <a:t>Antrochoanal </a:t>
            </a:r>
            <a:r>
              <a:rPr b="1" dirty="0"/>
              <a:t>Polyp – Clinical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r>
              <a:rPr dirty="0" smtClean="0"/>
              <a:t>• </a:t>
            </a:r>
            <a:r>
              <a:rPr dirty="0"/>
              <a:t>Unilateral nasal obstruction.</a:t>
            </a:r>
          </a:p>
          <a:p>
            <a:pPr marL="0" indent="0">
              <a:buNone/>
            </a:pPr>
            <a:r>
              <a:rPr dirty="0"/>
              <a:t>• Mucous nasal discharge and snoring.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Hyponasal</a:t>
            </a:r>
            <a:r>
              <a:rPr dirty="0"/>
              <a:t> speech.</a:t>
            </a:r>
          </a:p>
          <a:p>
            <a:pPr marL="0" indent="0">
              <a:buNone/>
            </a:pPr>
            <a:r>
              <a:rPr dirty="0"/>
              <a:t>• Mass visible in nasopharynx on endoscopy.</a:t>
            </a:r>
          </a:p>
          <a:p>
            <a:pPr marL="0" indent="0">
              <a:buNone/>
            </a:pPr>
            <a:r>
              <a:rPr dirty="0"/>
              <a:t>• May cause sleep disturbance or Eustachian tube dysfunction.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2E969-E23D-4ACA-B9CD-ABD5D6B5FA9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b="1" dirty="0" smtClean="0"/>
              <a:t>Investigations </a:t>
            </a:r>
            <a:r>
              <a:rPr b="1" dirty="0"/>
              <a:t>and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 smtClean="0"/>
          </a:p>
          <a:p>
            <a:pPr marL="0" indent="0">
              <a:buNone/>
            </a:pPr>
            <a:r>
              <a:rPr b="1" dirty="0" smtClean="0">
                <a:solidFill>
                  <a:srgbClr val="FF0000"/>
                </a:solidFill>
              </a:rPr>
              <a:t>Investigations</a:t>
            </a:r>
            <a:r>
              <a:rPr b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dirty="0"/>
              <a:t>• Nasal endoscopy – confirms origin and extent.</a:t>
            </a:r>
          </a:p>
          <a:p>
            <a:pPr marL="0" indent="0">
              <a:buNone/>
            </a:pPr>
            <a:r>
              <a:rPr dirty="0"/>
              <a:t>• CT scan – shows single mass filling maxillary sinus and extending posteriorly.</a:t>
            </a:r>
          </a:p>
          <a:p>
            <a:endParaRPr dirty="0"/>
          </a:p>
          <a:p>
            <a:pPr marL="0" indent="0">
              <a:buNone/>
            </a:pPr>
            <a:r>
              <a:rPr b="1" dirty="0">
                <a:solidFill>
                  <a:srgbClr val="FF0000"/>
                </a:solidFill>
              </a:rPr>
              <a:t>Management:</a:t>
            </a:r>
          </a:p>
          <a:p>
            <a:pPr marL="0" indent="0">
              <a:buNone/>
            </a:pPr>
            <a:r>
              <a:rPr dirty="0"/>
              <a:t>• Surgical removal of antral and nasal portions.</a:t>
            </a:r>
          </a:p>
          <a:p>
            <a:pPr marL="0" indent="0">
              <a:buNone/>
            </a:pPr>
            <a:r>
              <a:rPr dirty="0"/>
              <a:t>• Functional Endoscopic Sinus Surgery (FESS) – preferred.</a:t>
            </a:r>
          </a:p>
          <a:p>
            <a:pPr marL="0" indent="0">
              <a:buNone/>
            </a:pPr>
            <a:r>
              <a:rPr dirty="0"/>
              <a:t>• Caldwell-Luc operation in adults for recurrence or inaccessible antral part (avoid in children).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BFD9E-564C-485C-B51B-D3D979C09679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09775"/>
            <a:ext cx="9295915" cy="3325367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93868-5D26-4B4E-BAB4-A83B8CAC6564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38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Ethmoidal polyp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Mostly seen in </a:t>
            </a:r>
            <a:r>
              <a:rPr lang="en-US" sz="2000" dirty="0">
                <a:solidFill>
                  <a:srgbClr val="C00000"/>
                </a:solidFill>
              </a:rPr>
              <a:t>adults</a:t>
            </a: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Nasal stuffiness  leading to total </a:t>
            </a:r>
            <a:r>
              <a:rPr lang="en-US" sz="2000" dirty="0">
                <a:solidFill>
                  <a:srgbClr val="C00000"/>
                </a:solidFill>
              </a:rPr>
              <a:t>nasal obstruction </a:t>
            </a: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Partial/total </a:t>
            </a:r>
            <a:r>
              <a:rPr lang="en-US" sz="2000" dirty="0">
                <a:solidFill>
                  <a:srgbClr val="C00000"/>
                </a:solidFill>
              </a:rPr>
              <a:t>loss of smell </a:t>
            </a: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Headache</a:t>
            </a:r>
            <a:r>
              <a:rPr lang="en-US" sz="2000" dirty="0">
                <a:solidFill>
                  <a:prstClr val="black"/>
                </a:solidFill>
              </a:rPr>
              <a:t> (associated sinusitis) </a:t>
            </a: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On anterior </a:t>
            </a:r>
            <a:r>
              <a:rPr lang="en-US" sz="2000" dirty="0" err="1">
                <a:solidFill>
                  <a:prstClr val="black"/>
                </a:solidFill>
              </a:rPr>
              <a:t>rhinoscopy</a:t>
            </a:r>
            <a:r>
              <a:rPr lang="en-US" sz="2000" dirty="0">
                <a:solidFill>
                  <a:prstClr val="black"/>
                </a:solidFill>
              </a:rPr>
              <a:t>, polyps appear as – Smooth, glistening – </a:t>
            </a:r>
            <a:r>
              <a:rPr lang="en-US" sz="2000" dirty="0">
                <a:solidFill>
                  <a:srgbClr val="C00000"/>
                </a:solidFill>
              </a:rPr>
              <a:t>Grape</a:t>
            </a:r>
            <a:r>
              <a:rPr lang="en-US" sz="2000" dirty="0">
                <a:solidFill>
                  <a:prstClr val="black"/>
                </a:solidFill>
              </a:rPr>
              <a:t>-like masses – Often pale in color – May be sessile or pedunculated – Insensitive to probing – Do not bleed on touch – Often multiple and bilateral  </a:t>
            </a: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Purulent discharge </a:t>
            </a:r>
            <a:r>
              <a:rPr lang="en-US" sz="2000" dirty="0">
                <a:solidFill>
                  <a:prstClr val="black"/>
                </a:solidFill>
              </a:rPr>
              <a:t>(associated with sinusitis)</a:t>
            </a:r>
          </a:p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Antrochoanal polyp</a:t>
            </a:r>
          </a:p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Unilateral nasal obstruction </a:t>
            </a: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Bilateral nasal obstruction – when polyp grows into the nasopharynx – starts obstructing the opposite </a:t>
            </a:r>
            <a:r>
              <a:rPr lang="en-US" sz="2000" dirty="0" err="1">
                <a:solidFill>
                  <a:prstClr val="black"/>
                </a:solidFill>
              </a:rPr>
              <a:t>choana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Thick and dull voice – </a:t>
            </a:r>
            <a:r>
              <a:rPr lang="en-US" sz="2000" dirty="0" err="1">
                <a:solidFill>
                  <a:prstClr val="black"/>
                </a:solidFill>
              </a:rPr>
              <a:t>hyponasality</a:t>
            </a:r>
            <a:r>
              <a:rPr lang="en-US" sz="2000" dirty="0">
                <a:solidFill>
                  <a:prstClr val="black"/>
                </a:solidFill>
              </a:rPr>
              <a:t> • Nasal discharge – mostly mucoid </a:t>
            </a: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On Anterior </a:t>
            </a:r>
            <a:r>
              <a:rPr lang="en-US" sz="2000" dirty="0" err="1">
                <a:solidFill>
                  <a:prstClr val="black"/>
                </a:solidFill>
              </a:rPr>
              <a:t>rhinoscopy</a:t>
            </a:r>
            <a:r>
              <a:rPr lang="en-US" sz="2000" dirty="0">
                <a:solidFill>
                  <a:prstClr val="black"/>
                </a:solidFill>
              </a:rPr>
              <a:t> - may be missed as it grows posteriorly ,Large, smooth, greyish mass covered with nasal discharge , Soft, can be moved up and down with the probe </a:t>
            </a: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Posterior </a:t>
            </a:r>
            <a:r>
              <a:rPr lang="en-US" sz="2000" dirty="0" err="1">
                <a:solidFill>
                  <a:prstClr val="black"/>
                </a:solidFill>
              </a:rPr>
              <a:t>rhinoscopy</a:t>
            </a:r>
            <a:r>
              <a:rPr lang="en-US" sz="2000" dirty="0">
                <a:solidFill>
                  <a:prstClr val="black"/>
                </a:solidFill>
              </a:rPr>
              <a:t> – Globular mass filling the </a:t>
            </a:r>
            <a:r>
              <a:rPr lang="en-US" sz="2000" dirty="0" err="1">
                <a:solidFill>
                  <a:prstClr val="black"/>
                </a:solidFill>
              </a:rPr>
              <a:t>choana</a:t>
            </a:r>
            <a:r>
              <a:rPr lang="en-US" sz="2000" dirty="0">
                <a:solidFill>
                  <a:prstClr val="black"/>
                </a:solidFill>
              </a:rPr>
              <a:t> or the nasopharynx – A large polyp may hang down behind the soft palate and present in the oropharynx</a:t>
            </a:r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711BB-F958-416A-87C8-F288845BC51F}" type="datetime1">
              <a:rPr lang="en-US" smtClean="0"/>
              <a:t>10/12/2025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874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b="1" dirty="0" smtClean="0"/>
              <a:t>Complications </a:t>
            </a:r>
            <a:r>
              <a:rPr b="1" dirty="0"/>
              <a:t>and Prognosis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b="1" dirty="0">
                <a:solidFill>
                  <a:srgbClr val="FF0000"/>
                </a:solidFill>
              </a:rPr>
              <a:t>Complications:</a:t>
            </a:r>
          </a:p>
          <a:p>
            <a:pPr marL="0" indent="0">
              <a:buNone/>
            </a:pPr>
            <a:r>
              <a:rPr dirty="0"/>
              <a:t>• Chronic sinusitis</a:t>
            </a:r>
          </a:p>
          <a:p>
            <a:pPr marL="0" indent="0">
              <a:buNone/>
            </a:pPr>
            <a:r>
              <a:rPr dirty="0"/>
              <a:t>• Nasal deformity (rare)</a:t>
            </a:r>
          </a:p>
          <a:p>
            <a:pPr marL="0" indent="0">
              <a:buNone/>
            </a:pPr>
            <a:r>
              <a:rPr dirty="0"/>
              <a:t>• Secondary infection</a:t>
            </a:r>
          </a:p>
          <a:p>
            <a:pPr marL="0" indent="0">
              <a:buNone/>
            </a:pPr>
            <a:r>
              <a:rPr dirty="0"/>
              <a:t>• Recurrence (especially in ethmoidal type)</a:t>
            </a:r>
          </a:p>
          <a:p>
            <a:endParaRPr dirty="0"/>
          </a:p>
          <a:p>
            <a:pPr marL="0" indent="0">
              <a:buNone/>
            </a:pPr>
            <a:r>
              <a:rPr b="1" dirty="0">
                <a:solidFill>
                  <a:srgbClr val="FF0000"/>
                </a:solidFill>
              </a:rPr>
              <a:t>Prognosis:</a:t>
            </a:r>
          </a:p>
          <a:p>
            <a:pPr marL="0" indent="0">
              <a:buNone/>
            </a:pPr>
            <a:r>
              <a:rPr dirty="0"/>
              <a:t>• Excellent with complete surgical clearance and control of underlying allergy.</a:t>
            </a:r>
          </a:p>
          <a:p>
            <a:pPr marL="0" indent="0">
              <a:buNone/>
            </a:pPr>
            <a:r>
              <a:rPr dirty="0"/>
              <a:t>• Long-term intranasal steroid spray helps prevent recurrence.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17867-4815-4AE3-8253-4C2326506F8D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Conclusion</a:t>
            </a:r>
            <a:r>
              <a:rPr lang="en-US" dirty="0" smtClean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• Nasal polyps are benign mucosal swellings due to chronic inflammation.</a:t>
            </a:r>
          </a:p>
          <a:p>
            <a:pPr marL="0" indent="0">
              <a:buNone/>
            </a:pPr>
            <a:r>
              <a:rPr dirty="0"/>
              <a:t>• Ethmoidal polyps – bilateral, allergic, multiple.</a:t>
            </a:r>
          </a:p>
          <a:p>
            <a:pPr marL="0" indent="0">
              <a:buNone/>
            </a:pPr>
            <a:r>
              <a:rPr dirty="0"/>
              <a:t>• Antrochoanal polyp – unilateral, solitary, from maxillary sinus.</a:t>
            </a:r>
          </a:p>
          <a:p>
            <a:pPr marL="0" indent="0">
              <a:buNone/>
            </a:pPr>
            <a:r>
              <a:rPr dirty="0"/>
              <a:t>• Management combines medical therapy with surgical removal (FESS).</a:t>
            </a:r>
          </a:p>
          <a:p>
            <a:pPr marL="0" indent="0">
              <a:buNone/>
            </a:pPr>
            <a:r>
              <a:rPr dirty="0"/>
              <a:t>• Recurrence prevention requires long-term topical steroid therapy.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E8D7C-3160-44E2-BEFC-67E0D5DA053E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Source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7030" y="1626501"/>
            <a:ext cx="3669939" cy="4729849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93868-5D26-4B4E-BAB4-A83B8CAC6564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Dr.Haval Ahmed Hama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20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1027</Words>
  <Application>Microsoft Office PowerPoint</Application>
  <PresentationFormat>On-screen Show (4:3)</PresentationFormat>
  <Paragraphs>189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Nasal Polyps</vt:lpstr>
      <vt:lpstr> Learning Outcomes</vt:lpstr>
      <vt:lpstr>Definition</vt:lpstr>
      <vt:lpstr> Etiology and Pathogenesis</vt:lpstr>
      <vt:lpstr> Classification of Nasal Polyps</vt:lpstr>
      <vt:lpstr> Ethmoidal Polyps – Overview</vt:lpstr>
      <vt:lpstr> Ethmoidal Polyps – Pathology </vt:lpstr>
      <vt:lpstr>  Ethmoidal Polyps – Clinical Features</vt:lpstr>
      <vt:lpstr>  Ethmoidal Polyps – Examination &amp; Investigations</vt:lpstr>
      <vt:lpstr>PowerPoint Presentation</vt:lpstr>
      <vt:lpstr>PowerPoint Presentation</vt:lpstr>
      <vt:lpstr> Ethmoidal Polyps – Management</vt:lpstr>
      <vt:lpstr>  Antrochoanal Polyp – Definition and Epidemiology</vt:lpstr>
      <vt:lpstr> Antrochoanal Polyp – Pathogenesis and Stages</vt:lpstr>
      <vt:lpstr>  Antrochoanal Polyp – Clinical Features</vt:lpstr>
      <vt:lpstr> Investigations and Management</vt:lpstr>
      <vt:lpstr>PowerPoint Presentation</vt:lpstr>
      <vt:lpstr>PowerPoint Presentation</vt:lpstr>
      <vt:lpstr> Complications and Prognosis</vt:lpstr>
      <vt:lpstr>Conclusion </vt:lpstr>
      <vt:lpstr>Source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Nasal Polyps (Based on Logan &amp; Turner’s Diseases of the Nose, Throat and Ear)</dc:title>
  <dc:subject/>
  <dc:creator>hp</dc:creator>
  <cp:keywords/>
  <dc:description>generated using python-pptx</dc:description>
  <cp:lastModifiedBy>hp</cp:lastModifiedBy>
  <cp:revision>10</cp:revision>
  <dcterms:created xsi:type="dcterms:W3CDTF">2013-01-27T09:14:16Z</dcterms:created>
  <dcterms:modified xsi:type="dcterms:W3CDTF">2025-10-12T18:46:15Z</dcterms:modified>
  <cp:category/>
</cp:coreProperties>
</file>